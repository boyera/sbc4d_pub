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0" r:id="rId3"/>
    <p:sldId id="316" r:id="rId4"/>
    <p:sldId id="449" r:id="rId5"/>
    <p:sldId id="442" r:id="rId6"/>
    <p:sldId id="312" r:id="rId7"/>
    <p:sldId id="444" r:id="rId8"/>
    <p:sldId id="445" r:id="rId9"/>
    <p:sldId id="446" r:id="rId10"/>
    <p:sldId id="428" r:id="rId11"/>
    <p:sldId id="447" r:id="rId12"/>
    <p:sldId id="448" r:id="rId13"/>
    <p:sldId id="450" r:id="rId14"/>
    <p:sldId id="452" r:id="rId15"/>
    <p:sldId id="360" r:id="rId16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7AA6EC"/>
    <a:srgbClr val="50D450"/>
    <a:srgbClr val="29A428"/>
    <a:srgbClr val="1F547E"/>
    <a:srgbClr val="1F497D"/>
    <a:srgbClr val="005D92"/>
    <a:srgbClr val="B7A797"/>
    <a:srgbClr val="B1BCA4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7" autoAdjust="0"/>
    <p:restoredTop sz="91917" autoAdjust="0"/>
  </p:normalViewPr>
  <p:slideViewPr>
    <p:cSldViewPr snapToGrid="0">
      <p:cViewPr varScale="1">
        <p:scale>
          <a:sx n="76" d="100"/>
          <a:sy n="76" d="100"/>
        </p:scale>
        <p:origin x="1100" y="4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18/11/2019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18/11/2019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chemeClr val="bg1"/>
                </a:solidFill>
              </a:rPr>
              <a:t>Copyright © 2019. SB</a:t>
            </a:r>
            <a:r>
              <a:rPr lang="en-US" sz="1100" baseline="0" dirty="0">
                <a:solidFill>
                  <a:schemeClr val="bg1"/>
                </a:solidFill>
              </a:rPr>
              <a:t>C4D – http://wwww.sbc4d.com</a:t>
            </a:r>
            <a:r>
              <a:rPr lang="en-US" sz="1100" dirty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571" y="87834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2" name="Picture 2" descr="Awesome Image">
            <a:extLst>
              <a:ext uri="{FF2B5EF4-FFF2-40B4-BE49-F238E27FC236}">
                <a16:creationId xmlns:a16="http://schemas.microsoft.com/office/drawing/2014/main" id="{0475D78A-2A82-418F-BAC9-8E7A419E26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671" y="188778"/>
            <a:ext cx="1140908" cy="40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11/18/2019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42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to modify texte styles of the mask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fr-FR"/>
              <a:t>T</a:t>
            </a:r>
            <a:r>
              <a:rPr lang="en-US"/>
              <a:t>hird level</a:t>
            </a:r>
          </a:p>
          <a:p>
            <a:pPr lvl="3"/>
            <a:r>
              <a:rPr lang="fr-FR"/>
              <a:t>F</a:t>
            </a:r>
            <a:r>
              <a:rPr lang="en-US"/>
              <a:t>orth level</a:t>
            </a:r>
          </a:p>
          <a:p>
            <a:pPr lvl="4"/>
            <a:r>
              <a:rPr lang="fr-FR"/>
              <a:t>F</a:t>
            </a:r>
            <a:r>
              <a:rPr lang="en-US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Workshop Focus &amp; Objectives  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601874"/>
          </a:xfrm>
          <a:solidFill>
            <a:schemeClr val="tx1"/>
          </a:solidFill>
        </p:spPr>
        <p:txBody>
          <a:bodyPr/>
          <a:lstStyle/>
          <a:p>
            <a:r>
              <a:rPr lang="en-US" sz="1600" b="1" dirty="0" err="1">
                <a:solidFill>
                  <a:schemeClr val="bg1"/>
                </a:solidFill>
                <a:latin typeface="Trebuchet MS" pitchFamily="34" charset="0"/>
              </a:rPr>
              <a:t>Stéphane</a:t>
            </a:r>
            <a:r>
              <a:rPr lang="en-US" sz="1600" b="1" dirty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Trebuchet MS" pitchFamily="34" charset="0"/>
              </a:rPr>
              <a:t>Boyera</a:t>
            </a:r>
            <a:endParaRPr lang="en-US" sz="1600" b="1" dirty="0">
              <a:solidFill>
                <a:schemeClr val="bg1"/>
              </a:solidFill>
              <a:latin typeface="Trebuchet MS" pitchFamily="34" charset="0"/>
            </a:endParaRPr>
          </a:p>
          <a:p>
            <a:r>
              <a:rPr lang="fr-FR" sz="1600" b="1" dirty="0">
                <a:solidFill>
                  <a:schemeClr val="bg1"/>
                </a:solidFill>
                <a:latin typeface="Trebuchet MS" pitchFamily="34" charset="0"/>
              </a:rPr>
              <a:t>CEO</a:t>
            </a:r>
            <a:endParaRPr lang="en-US" sz="1600" b="1" dirty="0">
              <a:solidFill>
                <a:schemeClr val="bg1"/>
              </a:solidFill>
              <a:latin typeface="Trebuchet MS" pitchFamily="34" charset="0"/>
            </a:endParaRPr>
          </a:p>
          <a:p>
            <a:r>
              <a:rPr lang="fr-FR" sz="1600" b="1" dirty="0">
                <a:solidFill>
                  <a:schemeClr val="bg1"/>
                </a:solidFill>
                <a:latin typeface="Trebuchet MS" pitchFamily="34" charset="0"/>
              </a:rPr>
              <a:t>stephane@sbc4d.com</a:t>
            </a:r>
            <a:endParaRPr lang="en-US" sz="1600" b="1" dirty="0">
              <a:solidFill>
                <a:schemeClr val="bg1"/>
              </a:solidFill>
              <a:latin typeface="Trebuchet MS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Trebuchet MS" pitchFamily="34" charset="0"/>
              </a:rPr>
              <a:t>SBC4D – http://www.sbc4d.com</a:t>
            </a:r>
          </a:p>
          <a:p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  <p:pic>
        <p:nvPicPr>
          <p:cNvPr id="1026" name="Picture 2" descr="Awesome Image">
            <a:extLst>
              <a:ext uri="{FF2B5EF4-FFF2-40B4-BE49-F238E27FC236}">
                <a16:creationId xmlns:a16="http://schemas.microsoft.com/office/drawing/2014/main" id="{8B902C14-2A0F-4E41-AF06-A500E3731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627" y="5155894"/>
            <a:ext cx="2265564" cy="80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boyera\Desktop\WF\Work\visio icon\sbc4d2 - Copie.png">
            <a:extLst>
              <a:ext uri="{FF2B5EF4-FFF2-40B4-BE49-F238E27FC236}">
                <a16:creationId xmlns:a16="http://schemas.microsoft.com/office/drawing/2014/main" id="{3D434774-FA26-4AD8-B4CD-2E60ECEE3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311" y="5046954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Overview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519AF5B-1243-4865-B079-B5605EE1F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62" y="4350327"/>
            <a:ext cx="3082939" cy="1890869"/>
          </a:xfrm>
          <a:prstGeom prst="rect">
            <a:avLst/>
          </a:prstGeom>
        </p:spPr>
      </p:pic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B0A0CA2-7717-4EDA-9136-F6A3BDAAA953}"/>
              </a:ext>
            </a:extLst>
          </p:cNvPr>
          <p:cNvSpPr>
            <a:spLocks/>
          </p:cNvSpPr>
          <p:nvPr/>
        </p:nvSpPr>
        <p:spPr bwMode="auto">
          <a:xfrm>
            <a:off x="740624" y="1884495"/>
            <a:ext cx="7011304" cy="22510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Principles of farmer profiling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Farmers profiling &amp; Access to Finance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Key hypotheses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Workshop objectives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Workshop agenda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>
              <a:latin typeface="Trebuchet MS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1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Principles of Farmer Profiling</a:t>
            </a:r>
            <a:endParaRPr lang="en-US" dirty="0"/>
          </a:p>
        </p:txBody>
      </p:sp>
      <p:pic>
        <p:nvPicPr>
          <p:cNvPr id="5" name="Image 4" descr="Une image contenant carte, texte&#10;&#10;Description générée automatiquement">
            <a:extLst>
              <a:ext uri="{FF2B5EF4-FFF2-40B4-BE49-F238E27FC236}">
                <a16:creationId xmlns:a16="http://schemas.microsoft.com/office/drawing/2014/main" id="{20DEB95F-3A14-44DB-8AB8-74B0AF59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63" y="1224365"/>
            <a:ext cx="8856673" cy="512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5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Principles of Farmer Profiling (2)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E442E82-4AF5-4E92-BEC9-EDB7D9D7BBC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22" y="1472339"/>
            <a:ext cx="7702658" cy="4742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7568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3051"/>
            <a:ext cx="7303800" cy="812800"/>
          </a:xfrm>
        </p:spPr>
        <p:txBody>
          <a:bodyPr/>
          <a:lstStyle/>
          <a:p>
            <a:r>
              <a:rPr lang="en-US" sz="3200" dirty="0"/>
              <a:t>Services leveraging farmer profiles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B7F790C-6A75-4762-9F96-6C79720EA1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7" y="1115877"/>
            <a:ext cx="8911525" cy="5377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1081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737" y="0"/>
            <a:ext cx="7303800" cy="812800"/>
          </a:xfrm>
        </p:spPr>
        <p:txBody>
          <a:bodyPr/>
          <a:lstStyle/>
          <a:p>
            <a:r>
              <a:rPr lang="en-US" sz="3200" dirty="0"/>
              <a:t>Farmer profiling expected impact</a:t>
            </a:r>
            <a:endParaRPr lang="en-US" dirty="0"/>
          </a:p>
        </p:txBody>
      </p:sp>
      <p:pic>
        <p:nvPicPr>
          <p:cNvPr id="1026" name="Picture 2" descr="Image result for impact icon">
            <a:extLst>
              <a:ext uri="{FF2B5EF4-FFF2-40B4-BE49-F238E27FC236}">
                <a16:creationId xmlns:a16="http://schemas.microsoft.com/office/drawing/2014/main" id="{46F4D647-FDD3-4E3D-AE10-ED7857DAC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97"/>
          <a:stretch/>
        </p:blipFill>
        <p:spPr bwMode="auto">
          <a:xfrm>
            <a:off x="6232470" y="3580108"/>
            <a:ext cx="2959994" cy="294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37557" y="1687387"/>
            <a:ext cx="800000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Better policy based on real data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access to financial services by smallholder farmers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Easier access to extension and trade services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yields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income</a:t>
            </a:r>
          </a:p>
        </p:txBody>
      </p:sp>
    </p:spTree>
    <p:extLst>
      <p:ext uri="{BB962C8B-B14F-4D97-AF65-F5344CB8AC3E}">
        <p14:creationId xmlns:p14="http://schemas.microsoft.com/office/powerpoint/2010/main" val="312530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Building blocks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37557" y="1687387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Profile content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Which information needed for which service(s)?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Data collection and update model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Technical platform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Business model</a:t>
            </a:r>
          </a:p>
        </p:txBody>
      </p:sp>
      <p:pic>
        <p:nvPicPr>
          <p:cNvPr id="2050" name="Picture 2" descr="Image result for icon building block">
            <a:extLst>
              <a:ext uri="{FF2B5EF4-FFF2-40B4-BE49-F238E27FC236}">
                <a16:creationId xmlns:a16="http://schemas.microsoft.com/office/drawing/2014/main" id="{D927E575-E245-4F82-BB95-B02D26980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722" y="4225861"/>
            <a:ext cx="1708689" cy="170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10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7149947" cy="812800"/>
          </a:xfrm>
        </p:spPr>
        <p:txBody>
          <a:bodyPr/>
          <a:lstStyle/>
          <a:p>
            <a:r>
              <a:rPr lang="en-US" sz="2800" dirty="0"/>
              <a:t>Challenges of access to finance in agriculture</a:t>
            </a:r>
            <a:endParaRPr lang="en-US" sz="2400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24064" y="1321189"/>
            <a:ext cx="741660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Financial institutions have tough time evaluating risks associated with agricultural activities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Financial institutions have tough time delivering credit services in rural areas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Farmers don’t necessarily have the capacity to answer Financial institutions requests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Farmers find it difficult to fill in the credit dossier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074" name="Picture 2" descr="Image result for challenge icon">
            <a:extLst>
              <a:ext uri="{FF2B5EF4-FFF2-40B4-BE49-F238E27FC236}">
                <a16:creationId xmlns:a16="http://schemas.microsoft.com/office/drawing/2014/main" id="{33CE1EA6-A6BD-4DDF-904A-B8CD04598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247" y="4660812"/>
            <a:ext cx="1770884" cy="177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31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Hypotheses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37557" y="1448876"/>
            <a:ext cx="800000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Data about farmers and their activities (farmer profile) and the design of specific products (cash flow model, business plan, …) can help solve the issue of eligibility &amp; credit scoring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ICT and mobile phones can be a channel to connect financial institutions and farmers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028" y="4916186"/>
            <a:ext cx="4437529" cy="145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0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Objectives of the workshop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9694" y="1336324"/>
            <a:ext cx="6652963" cy="470379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What information would help financial institutions in evaluating risks and leveraging credits in agriculture?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Can we design a common credit scoring module that will be able to use farm-level raw data and generate usable information for Financial Institutions to take decisions?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What information is required for filling a credit dossier?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Are there financial institutions and other actors interested in piloting this approach?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098" name="Picture 2" descr="Related image">
            <a:extLst>
              <a:ext uri="{FF2B5EF4-FFF2-40B4-BE49-F238E27FC236}">
                <a16:creationId xmlns:a16="http://schemas.microsoft.com/office/drawing/2014/main" id="{6DF2C32C-E6B6-410B-B6F7-4031EF10C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657" y="4373536"/>
            <a:ext cx="1898541" cy="189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703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Workshop Agenda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80691" y="959068"/>
            <a:ext cx="7571237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Presentations to get into more details on challenges of access to finance in agriculture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From the perspective of farmers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From the perspective of financial institutions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Group work: 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Information needs linked to farmers for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Where is the required information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How to collect it?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What would be a trust model?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Common credit scoring module?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5122" name="Picture 2" descr="Image result for agenda icon">
            <a:extLst>
              <a:ext uri="{FF2B5EF4-FFF2-40B4-BE49-F238E27FC236}">
                <a16:creationId xmlns:a16="http://schemas.microsoft.com/office/drawing/2014/main" id="{116781E4-ABE0-4AE3-8BA2-8C09ECC4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105" y="3936570"/>
            <a:ext cx="1807659" cy="224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262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Workshop Agenda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65193" y="1105336"/>
            <a:ext cx="8719727" cy="514306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09:50 - 10:10 - Challenges for access to credit in agriculture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10:10 - 10:20 - Challenges to finance agriculture activities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10:20 - 10:30 – Q&amp;A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10:30 - 10:50 - Break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10:50 - 12:15 - Breakout session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12:15 - 13:15 - Debriefing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13:15 - 14:15 - Lunch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14:15 – 15:00 - Workshop output and next steps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15:00 – Wrap up and close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5122" name="Picture 2" descr="Image result for agenda icon">
            <a:extLst>
              <a:ext uri="{FF2B5EF4-FFF2-40B4-BE49-F238E27FC236}">
                <a16:creationId xmlns:a16="http://schemas.microsoft.com/office/drawing/2014/main" id="{116781E4-ABE0-4AE3-8BA2-8C09ECC4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105" y="3936570"/>
            <a:ext cx="1807659" cy="224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895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Breakout Session topics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0" y="1017488"/>
            <a:ext cx="9144000" cy="48230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What is the process of defining credit eligibility for a given farmers, and what are information that are needed for that process?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Where the required information is available?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How can it be verified?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How often it has to be updated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How FIs would trust the provided information?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How to design a common credit scoring module that would transform farm-level data and global data into usable information by FIs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After the decision on lending is positive, how to organize the credit dossier and deliver credit to farmers</a:t>
            </a:r>
          </a:p>
        </p:txBody>
      </p:sp>
    </p:spTree>
    <p:extLst>
      <p:ext uri="{BB962C8B-B14F-4D97-AF65-F5344CB8AC3E}">
        <p14:creationId xmlns:p14="http://schemas.microsoft.com/office/powerpoint/2010/main" val="3347064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524" y="0"/>
            <a:ext cx="7402878" cy="812800"/>
          </a:xfrm>
        </p:spPr>
        <p:txBody>
          <a:bodyPr/>
          <a:lstStyle/>
          <a:p>
            <a:r>
              <a:rPr lang="en-US" sz="3000" dirty="0"/>
              <a:t>Categories of information to consider</a:t>
            </a:r>
            <a:endParaRPr lang="fr-FR" sz="3000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4524" y="1017488"/>
            <a:ext cx="8897998" cy="48230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Farmer information: Personal details, household size,…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Financial information: bank account, ongoing credits, credit history, income(s),…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Legal information: Land title,…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Farms activities: Workforce &amp; equipment, livestock, Fields location, Farm area under cultivation and crops variety, Production (history, forecast), Certification &amp; farmer capacities,…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Access to service: Subsidies, Insurance, Extension service, 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Farm/crop business plan (financial needs across a production cycle)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Crop information: production, risks, market information,…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Method of sales: raw product vs transformation, customers (cooperatives, direct, etc.) 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Cooperative membership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Risks: Weather, Pest &amp; disease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Other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953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  <p:pic>
        <p:nvPicPr>
          <p:cNvPr id="7" name="Picture 2" descr="C:\Users\boyera\Desktop\icon-thank-you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79" y="1583564"/>
            <a:ext cx="4907641" cy="36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3766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60065</TotalTime>
  <Words>639</Words>
  <Application>Microsoft Office PowerPoint</Application>
  <PresentationFormat>Affichage à l'écran (4:3)</PresentationFormat>
  <Paragraphs>81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Wingdings</vt:lpstr>
      <vt:lpstr>Thème Office</vt:lpstr>
      <vt:lpstr>Workshop Focus &amp; Objectives  </vt:lpstr>
      <vt:lpstr>Overview</vt:lpstr>
      <vt:lpstr>Principles of Farmer Profiling</vt:lpstr>
      <vt:lpstr>Principles of Farmer Profiling (2)</vt:lpstr>
      <vt:lpstr>Services leveraging farmer profiles</vt:lpstr>
      <vt:lpstr>Farmer profiling expected impact</vt:lpstr>
      <vt:lpstr>Building blocks</vt:lpstr>
      <vt:lpstr>Challenges of access to finance in agriculture</vt:lpstr>
      <vt:lpstr>Hypotheses</vt:lpstr>
      <vt:lpstr>Objectives of the workshop</vt:lpstr>
      <vt:lpstr>Workshop Agenda</vt:lpstr>
      <vt:lpstr>Workshop Agenda</vt:lpstr>
      <vt:lpstr>Breakout Session topics</vt:lpstr>
      <vt:lpstr>Categories of information to consider</vt:lpstr>
      <vt:lpstr>Présentation PowerPoint</vt:lpstr>
    </vt:vector>
  </TitlesOfParts>
  <Company>WITHYOU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818</cp:revision>
  <cp:lastPrinted>2011-11-29T16:00:44Z</cp:lastPrinted>
  <dcterms:created xsi:type="dcterms:W3CDTF">2009-10-15T09:24:18Z</dcterms:created>
  <dcterms:modified xsi:type="dcterms:W3CDTF">2019-11-18T15:19:08Z</dcterms:modified>
</cp:coreProperties>
</file>