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0"/>
  </p:notesMasterIdLst>
  <p:sldIdLst>
    <p:sldId id="308" r:id="rId2"/>
    <p:sldId id="289" r:id="rId3"/>
    <p:sldId id="291" r:id="rId4"/>
    <p:sldId id="311" r:id="rId5"/>
    <p:sldId id="290" r:id="rId6"/>
    <p:sldId id="309" r:id="rId7"/>
    <p:sldId id="310" r:id="rId8"/>
    <p:sldId id="3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86212" autoAdjust="0"/>
  </p:normalViewPr>
  <p:slideViewPr>
    <p:cSldViewPr snapToGrid="0">
      <p:cViewPr varScale="1">
        <p:scale>
          <a:sx n="51" d="100"/>
          <a:sy n="51" d="100"/>
        </p:scale>
        <p:origin x="4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704AB-D7EB-4AD7-84CA-C3297B682335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A3107-A4E0-48DD-B702-56BD4710D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8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2A3107-A4E0-48DD-B702-56BD4710DE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2A3107-A4E0-48DD-B702-56BD4710DE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40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2A3107-A4E0-48DD-B702-56BD4710DE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8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CB PPT Template 02 December 2014-01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28"/>
          <a:stretch/>
        </p:blipFill>
        <p:spPr>
          <a:xfrm>
            <a:off x="-105835" y="-60779"/>
            <a:ext cx="12297836" cy="641712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963084" y="3000626"/>
            <a:ext cx="10363200" cy="675234"/>
          </a:xfrm>
        </p:spPr>
        <p:txBody>
          <a:bodyPr anchor="t"/>
          <a:lstStyle>
            <a:lvl1pPr algn="l">
              <a:defRPr sz="4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963084" y="3827497"/>
            <a:ext cx="10363200" cy="3528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/>
          <a:srcRect l="61462" t="92507"/>
          <a:stretch/>
        </p:blipFill>
        <p:spPr>
          <a:xfrm>
            <a:off x="0" y="430576"/>
            <a:ext cx="469900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68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6546"/>
            <a:ext cx="10972800" cy="8110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/>
          <a:srcRect l="61462" t="92507"/>
          <a:stretch/>
        </p:blipFill>
        <p:spPr>
          <a:xfrm>
            <a:off x="8153400" y="6404749"/>
            <a:ext cx="4039128" cy="44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2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57" y="-594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02588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00184"/>
            <a:ext cx="10363200" cy="455058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F497D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/>
          <a:srcRect l="61462" t="92507"/>
          <a:stretch/>
        </p:blipFill>
        <p:spPr>
          <a:xfrm>
            <a:off x="8175172" y="6398848"/>
            <a:ext cx="4016827" cy="43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16023"/>
            <a:ext cx="10972800" cy="80161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/>
          <a:srcRect l="61462" t="92507"/>
          <a:stretch/>
        </p:blipFill>
        <p:spPr>
          <a:xfrm>
            <a:off x="8026400" y="6403470"/>
            <a:ext cx="4165600" cy="4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1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22" y="-297"/>
            <a:ext cx="12217443" cy="68585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/>
          <a:srcRect l="61462" t="92873"/>
          <a:stretch/>
        </p:blipFill>
        <p:spPr>
          <a:xfrm>
            <a:off x="3102428" y="3125585"/>
            <a:ext cx="7384131" cy="76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10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32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96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30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51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66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782681D1-BECF-1C4B-ABB7-D2BA1FE76B1A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11/7/2019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FDB39712-DB56-4441-8059-331094EB14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9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ictionary.cambridge.org/dictionary/english/examine" TargetMode="External"/><Relationship Id="rId13" Type="http://schemas.openxmlformats.org/officeDocument/2006/relationships/hyperlink" Target="https://dictionary.cambridge.org/dictionary/english/store" TargetMode="External"/><Relationship Id="rId3" Type="http://schemas.openxmlformats.org/officeDocument/2006/relationships/hyperlink" Target="https://dictionary.cambridge.org/dictionary/english/information" TargetMode="External"/><Relationship Id="rId7" Type="http://schemas.openxmlformats.org/officeDocument/2006/relationships/hyperlink" Target="https://dictionary.cambridge.org/dictionary/english/collected" TargetMode="External"/><Relationship Id="rId12" Type="http://schemas.openxmlformats.org/officeDocument/2006/relationships/hyperlink" Target="https://dictionary.cambridge.org/dictionary/english/for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ctionary.cambridge.org/dictionary/english/number" TargetMode="External"/><Relationship Id="rId11" Type="http://schemas.openxmlformats.org/officeDocument/2006/relationships/hyperlink" Target="https://dictionary.cambridge.org/dictionary/english/electronic" TargetMode="External"/><Relationship Id="rId5" Type="http://schemas.openxmlformats.org/officeDocument/2006/relationships/hyperlink" Target="https://dictionary.cambridge.org/dictionary/english/fact" TargetMode="External"/><Relationship Id="rId10" Type="http://schemas.openxmlformats.org/officeDocument/2006/relationships/hyperlink" Target="https://dictionary.cambridge.org/dictionary/english/help" TargetMode="External"/><Relationship Id="rId4" Type="http://schemas.openxmlformats.org/officeDocument/2006/relationships/hyperlink" Target="https://dictionary.cambridge.org/dictionary/english/especially" TargetMode="External"/><Relationship Id="rId9" Type="http://schemas.openxmlformats.org/officeDocument/2006/relationships/hyperlink" Target="https://dictionary.cambridge.org/dictionary/english/considered" TargetMode="External"/><Relationship Id="rId14" Type="http://schemas.openxmlformats.org/officeDocument/2006/relationships/hyperlink" Target="https://dictionary.cambridge.org/dictionary/english/compute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avenirnext-demibold"/>
                <a:cs typeface="Arial" panose="020B0604020202020204" pitchFamily="34" charset="0"/>
              </a:rPr>
              <a:t>CHALLENGE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IN DATA FOR AGRIBUSINESS FINANCE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828032"/>
            <a:ext cx="10363200" cy="402336"/>
          </a:xfrm>
        </p:spPr>
        <p:txBody>
          <a:bodyPr/>
          <a:lstStyle/>
          <a:p>
            <a:pPr algn="ctr"/>
            <a:r>
              <a:rPr lang="en-US" b="1" dirty="0" smtClean="0"/>
              <a:t>By  ODILE MUKAYIRANGA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4864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venirnext-demibold"/>
              </a:rPr>
              <a:t>Key categories in data collections.</a:t>
            </a:r>
            <a:endParaRPr lang="en-US" sz="2800" b="1" dirty="0">
              <a:latin typeface="avenirnext-d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 defTabSz="914400">
              <a:spcBef>
                <a:spcPts val="0"/>
              </a:spcBef>
              <a:buFont typeface="Wingdings" pitchFamily="2" charset="2"/>
              <a:buChar char="Ø"/>
            </a:pPr>
            <a:endParaRPr lang="en-US" sz="2000" b="1" dirty="0" smtClean="0">
              <a:solidFill>
                <a:srgbClr val="505050"/>
              </a:solidFill>
              <a:latin typeface="avenirnext-demibold"/>
            </a:endParaRPr>
          </a:p>
          <a:p>
            <a:pPr marL="285750" lvl="0" indent="-285750" defTabSz="914400">
              <a:spcBef>
                <a:spcPts val="0"/>
              </a:spcBef>
              <a:buFont typeface="Wingdings" pitchFamily="2" charset="2"/>
              <a:buChar char="Ø"/>
            </a:pPr>
            <a:endParaRPr lang="en-US" sz="2000" b="1" dirty="0">
              <a:solidFill>
                <a:srgbClr val="505050"/>
              </a:solidFill>
              <a:latin typeface="avenirnext-demibold"/>
            </a:endParaRPr>
          </a:p>
          <a:p>
            <a:pPr marL="285750" lvl="0" indent="-285750" defTabSz="914400">
              <a:spcBef>
                <a:spcPts val="0"/>
              </a:spcBef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505050"/>
                </a:solidFill>
                <a:latin typeface="avenirnext-demibold"/>
              </a:rPr>
              <a:t>SUPPLY-SIDE DATA</a:t>
            </a:r>
          </a:p>
          <a:p>
            <a:pPr marL="0" lvl="0" indent="0" defTabSz="914400">
              <a:spcBef>
                <a:spcPts val="0"/>
              </a:spcBef>
              <a:buNone/>
            </a:pPr>
            <a:endParaRPr lang="en-US" dirty="0" smtClean="0">
              <a:solidFill>
                <a:prstClr val="black"/>
              </a:solidFill>
              <a:latin typeface="avenirnext-demibold"/>
              <a:ea typeface="Times New Roman"/>
              <a:cs typeface="Calibri"/>
            </a:endParaRPr>
          </a:p>
          <a:p>
            <a:pPr marL="285750" lvl="0" indent="-285750" defTabSz="914400">
              <a:spcBef>
                <a:spcPts val="0"/>
              </a:spcBef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505050"/>
                </a:solidFill>
                <a:latin typeface="avenirnext-demibold"/>
                <a:ea typeface="Times New Roman" panose="02020603050405020304" pitchFamily="18" charset="0"/>
                <a:cs typeface="Times New Roman" panose="02020603050405020304" pitchFamily="18" charset="0"/>
              </a:rPr>
              <a:t>DEMAND SIDE DATA</a:t>
            </a:r>
            <a:r>
              <a:rPr lang="en-US" dirty="0" smtClean="0">
                <a:solidFill>
                  <a:srgbClr val="505050"/>
                </a:solidFill>
                <a:latin typeface="avenirnext-demibold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lvl="0" indent="0" defTabSz="914400">
              <a:spcBef>
                <a:spcPts val="0"/>
              </a:spcBef>
              <a:buNone/>
            </a:pPr>
            <a:endParaRPr lang="en-US" dirty="0" smtClean="0">
              <a:solidFill>
                <a:prstClr val="black"/>
              </a:solidFill>
              <a:latin typeface="avenirnext-demibold"/>
              <a:ea typeface="Times New Roman"/>
              <a:cs typeface="Calibri"/>
            </a:endParaRPr>
          </a:p>
          <a:p>
            <a:pPr marL="285750" lvl="0" indent="-285750" defTabSz="914400">
              <a:spcBef>
                <a:spcPts val="0"/>
              </a:spcBef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505050"/>
                </a:solidFill>
                <a:latin typeface="avenirnext-demibold"/>
                <a:ea typeface="Times New Roman" panose="02020603050405020304" pitchFamily="18" charset="0"/>
                <a:cs typeface="Times New Roman" panose="02020603050405020304" pitchFamily="18" charset="0"/>
              </a:rPr>
              <a:t>IMPACT DATA</a:t>
            </a:r>
            <a:r>
              <a:rPr lang="en-US" dirty="0" smtClean="0">
                <a:solidFill>
                  <a:srgbClr val="505050"/>
                </a:solidFill>
                <a:latin typeface="avenirnext-demibold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solidFill>
                <a:prstClr val="black"/>
              </a:solidFill>
              <a:latin typeface="avenirnext-demibold"/>
              <a:ea typeface="Times New Roman"/>
              <a:cs typeface="Calibri"/>
            </a:endParaRPr>
          </a:p>
          <a:p>
            <a:pPr marL="0" lvl="0" indent="0" defTabSz="914400">
              <a:spcBef>
                <a:spcPts val="0"/>
              </a:spcBef>
              <a:buNone/>
            </a:pPr>
            <a:endParaRPr lang="en-US" sz="2000" dirty="0">
              <a:solidFill>
                <a:prstClr val="black"/>
              </a:solidFill>
              <a:latin typeface="avenirnext-demibold"/>
              <a:ea typeface="Times New Roman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97408"/>
            <a:ext cx="10972800" cy="536448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latin typeface="avenirnext-demibold"/>
                <a:ea typeface="Calibri" panose="020F0502020204030204" pitchFamily="34" charset="0"/>
                <a:cs typeface="Times New Roman" panose="02020603050405020304" pitchFamily="18" charset="0"/>
              </a:rPr>
              <a:t>ENABLERS IN DEALING WITH DATA CHALLENGES</a:t>
            </a:r>
            <a:endParaRPr lang="en-US" sz="2000" b="1" dirty="0">
              <a:effectLst/>
              <a:latin typeface="avenirnext-demibold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58112" y="1133856"/>
            <a:ext cx="8753856" cy="5084064"/>
          </a:xfrm>
          <a:prstGeom prst="rect">
            <a:avLst/>
          </a:prstGeom>
        </p:spPr>
      </p:pic>
      <p:sp>
        <p:nvSpPr>
          <p:cNvPr id="5" name="AutoShape 4" descr="https://www.raflearning.org/sites/default/files/2018-02-19_1739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ttps://www.raflearning.org/sites/default/files/2018-02-19_1739.png"/>
          <p:cNvSpPr>
            <a:spLocks noChangeAspect="1" noChangeArrowheads="1"/>
          </p:cNvSpPr>
          <p:nvPr/>
        </p:nvSpPr>
        <p:spPr bwMode="auto">
          <a:xfrm>
            <a:off x="307975" y="-16079"/>
            <a:ext cx="304800" cy="32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4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avenirnext-demibold"/>
              </a:rPr>
              <a:t>DATA</a:t>
            </a:r>
            <a:endParaRPr lang="en-US" sz="3200" b="1" dirty="0">
              <a:latin typeface="avenirnext-d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b="1" dirty="0" smtClean="0">
                <a:latin typeface="avenirnext-demibold"/>
              </a:rPr>
              <a:t>Data definition</a:t>
            </a:r>
            <a:r>
              <a:rPr lang="en-US" sz="2400" dirty="0" smtClean="0">
                <a:latin typeface="avenirnext-demibold"/>
              </a:rPr>
              <a:t>:</a:t>
            </a:r>
          </a:p>
          <a:p>
            <a:pPr marL="0" indent="0">
              <a:buNone/>
            </a:pPr>
            <a:r>
              <a:rPr lang="en-US" sz="2400" dirty="0" smtClean="0">
                <a:latin typeface="avenirnext-demibold"/>
                <a:hlinkClick r:id="rId3" tooltip="information"/>
              </a:rPr>
              <a:t> Information</a:t>
            </a:r>
            <a:r>
              <a:rPr lang="en-US" sz="2400" dirty="0">
                <a:latin typeface="avenirnext-demibold"/>
              </a:rPr>
              <a:t>, </a:t>
            </a:r>
            <a:r>
              <a:rPr lang="en-US" sz="2400" dirty="0">
                <a:latin typeface="avenirnext-demibold"/>
                <a:hlinkClick r:id="rId4" tooltip="especially"/>
              </a:rPr>
              <a:t>especially</a:t>
            </a:r>
            <a:r>
              <a:rPr lang="en-US" sz="2400" dirty="0">
                <a:latin typeface="avenirnext-demibold"/>
              </a:rPr>
              <a:t> </a:t>
            </a:r>
            <a:r>
              <a:rPr lang="en-US" sz="2400" dirty="0">
                <a:latin typeface="avenirnext-demibold"/>
                <a:hlinkClick r:id="rId5" tooltip="facts"/>
              </a:rPr>
              <a:t>facts</a:t>
            </a:r>
            <a:r>
              <a:rPr lang="en-US" sz="2400" dirty="0">
                <a:latin typeface="avenirnext-demibold"/>
              </a:rPr>
              <a:t> or </a:t>
            </a:r>
            <a:r>
              <a:rPr lang="en-US" sz="2400" dirty="0">
                <a:latin typeface="avenirnext-demibold"/>
                <a:hlinkClick r:id="rId6" tooltip="numbers"/>
              </a:rPr>
              <a:t>numbers</a:t>
            </a:r>
            <a:r>
              <a:rPr lang="en-US" sz="2400" dirty="0">
                <a:latin typeface="avenirnext-demibold"/>
              </a:rPr>
              <a:t>, </a:t>
            </a:r>
            <a:r>
              <a:rPr lang="en-US" sz="2400" dirty="0">
                <a:latin typeface="avenirnext-demibold"/>
                <a:hlinkClick r:id="rId7" tooltip="collected"/>
              </a:rPr>
              <a:t>collected</a:t>
            </a:r>
            <a:r>
              <a:rPr lang="en-US" sz="2400" dirty="0">
                <a:latin typeface="avenirnext-demibold"/>
              </a:rPr>
              <a:t> to be </a:t>
            </a:r>
            <a:r>
              <a:rPr lang="en-US" sz="2400" dirty="0">
                <a:latin typeface="avenirnext-demibold"/>
                <a:hlinkClick r:id="rId8" tooltip="examined"/>
              </a:rPr>
              <a:t>examined</a:t>
            </a:r>
            <a:r>
              <a:rPr lang="en-US" sz="2400" dirty="0">
                <a:latin typeface="avenirnext-demibold"/>
              </a:rPr>
              <a:t> and </a:t>
            </a:r>
            <a:r>
              <a:rPr lang="en-US" sz="2400" dirty="0">
                <a:latin typeface="avenirnext-demibold"/>
                <a:hlinkClick r:id="rId9" tooltip="considered"/>
              </a:rPr>
              <a:t>considered</a:t>
            </a:r>
            <a:r>
              <a:rPr lang="en-US" sz="2400" dirty="0">
                <a:latin typeface="avenirnext-demibold"/>
              </a:rPr>
              <a:t> and used to </a:t>
            </a:r>
            <a:r>
              <a:rPr lang="en-US" sz="2400" dirty="0">
                <a:latin typeface="avenirnext-demibold"/>
                <a:hlinkClick r:id="rId10" tooltip="help"/>
              </a:rPr>
              <a:t>help</a:t>
            </a:r>
            <a:r>
              <a:rPr lang="en-US" sz="2400" dirty="0">
                <a:latin typeface="avenirnext-demibold"/>
              </a:rPr>
              <a:t> decision-making, or </a:t>
            </a:r>
            <a:r>
              <a:rPr lang="en-US" sz="2400" dirty="0">
                <a:latin typeface="avenirnext-demibold"/>
                <a:hlinkClick r:id="rId3" tooltip="information"/>
              </a:rPr>
              <a:t>information</a:t>
            </a:r>
            <a:r>
              <a:rPr lang="en-US" sz="2400" dirty="0">
                <a:latin typeface="avenirnext-demibold"/>
              </a:rPr>
              <a:t> in an </a:t>
            </a:r>
            <a:r>
              <a:rPr lang="en-US" sz="2400" dirty="0">
                <a:latin typeface="avenirnext-demibold"/>
                <a:hlinkClick r:id="rId11" tooltip="electronic"/>
              </a:rPr>
              <a:t>electronic</a:t>
            </a:r>
            <a:r>
              <a:rPr lang="en-US" sz="2400" dirty="0">
                <a:latin typeface="avenirnext-demibold"/>
              </a:rPr>
              <a:t> </a:t>
            </a:r>
            <a:r>
              <a:rPr lang="en-US" sz="2400" dirty="0">
                <a:latin typeface="avenirnext-demibold"/>
                <a:hlinkClick r:id="rId12" tooltip="form"/>
              </a:rPr>
              <a:t>form</a:t>
            </a:r>
            <a:r>
              <a:rPr lang="en-US" sz="2400" dirty="0">
                <a:latin typeface="avenirnext-demibold"/>
              </a:rPr>
              <a:t> that can be </a:t>
            </a:r>
            <a:r>
              <a:rPr lang="en-US" sz="2400" dirty="0">
                <a:latin typeface="avenirnext-demibold"/>
                <a:hlinkClick r:id="rId13" tooltip="stored"/>
              </a:rPr>
              <a:t>stored</a:t>
            </a:r>
            <a:r>
              <a:rPr lang="en-US" sz="2400" dirty="0">
                <a:latin typeface="avenirnext-demibold"/>
              </a:rPr>
              <a:t> and used by a </a:t>
            </a:r>
            <a:r>
              <a:rPr lang="en-US" sz="2400" dirty="0" err="1" smtClean="0">
                <a:latin typeface="avenirnext-demibold"/>
                <a:hlinkClick r:id="rId14" tooltip="computer"/>
              </a:rPr>
              <a:t>computer</a:t>
            </a:r>
            <a:r>
              <a:rPr lang="en-US" sz="2400" dirty="0" err="1">
                <a:latin typeface="avenirnext-demibold"/>
              </a:rPr>
              <a:t>.</a:t>
            </a:r>
            <a:r>
              <a:rPr lang="en-US" sz="1400" dirty="0" err="1" smtClean="0">
                <a:latin typeface="avenirnext-demibold"/>
              </a:rPr>
              <a:t>Cambridge</a:t>
            </a:r>
            <a:r>
              <a:rPr lang="en-US" sz="1400" dirty="0" smtClean="0">
                <a:latin typeface="avenirnext-demibold"/>
              </a:rPr>
              <a:t> Dictionary</a:t>
            </a:r>
            <a:endParaRPr lang="en-US" sz="1400" dirty="0">
              <a:latin typeface="avenirnext-demibold"/>
            </a:endParaRPr>
          </a:p>
          <a:p>
            <a:endParaRPr lang="en-US" sz="2400" b="1" dirty="0" smtClean="0">
              <a:latin typeface="avenirnext-demibold"/>
            </a:endParaRPr>
          </a:p>
          <a:p>
            <a:r>
              <a:rPr lang="en-US" sz="2400" b="1" dirty="0" smtClean="0">
                <a:latin typeface="avenirnext-demibold"/>
              </a:rPr>
              <a:t>Challenges in data collection: </a:t>
            </a:r>
            <a:r>
              <a:rPr lang="aa-ET" sz="2400" dirty="0">
                <a:latin typeface="avenirnext-demibold"/>
              </a:rPr>
              <a:t>are reported below under the following themes: </a:t>
            </a:r>
            <a:endParaRPr lang="en-US" sz="2400" dirty="0" smtClean="0">
              <a:latin typeface="avenirnext-demibold"/>
            </a:endParaRPr>
          </a:p>
          <a:p>
            <a:pPr marL="0" indent="0">
              <a:buNone/>
            </a:pPr>
            <a:r>
              <a:rPr lang="aa-ET" sz="2400" dirty="0" smtClean="0">
                <a:latin typeface="avenirnext-demibold"/>
              </a:rPr>
              <a:t>1</a:t>
            </a:r>
            <a:r>
              <a:rPr lang="aa-ET" sz="2400" dirty="0">
                <a:latin typeface="avenirnext-demibold"/>
              </a:rPr>
              <a:t>) </a:t>
            </a:r>
            <a:r>
              <a:rPr lang="aa-ET" sz="2400" dirty="0" smtClean="0">
                <a:latin typeface="avenirnext-demibold"/>
              </a:rPr>
              <a:t>location,</a:t>
            </a:r>
            <a:endParaRPr lang="en-US" sz="2400" dirty="0" smtClean="0">
              <a:latin typeface="avenirnext-demibold"/>
            </a:endParaRPr>
          </a:p>
          <a:p>
            <a:pPr marL="0" indent="0">
              <a:buNone/>
            </a:pPr>
            <a:r>
              <a:rPr lang="aa-ET" sz="2400" dirty="0" smtClean="0">
                <a:latin typeface="avenirnext-demibold"/>
              </a:rPr>
              <a:t>2</a:t>
            </a:r>
            <a:r>
              <a:rPr lang="aa-ET" sz="2400" dirty="0">
                <a:latin typeface="avenirnext-demibold"/>
              </a:rPr>
              <a:t>) health literacy and language of </a:t>
            </a:r>
            <a:r>
              <a:rPr lang="aa-ET" sz="2400" b="1" dirty="0">
                <a:latin typeface="avenirnext-demibold"/>
              </a:rPr>
              <a:t>data collection</a:t>
            </a:r>
            <a:r>
              <a:rPr lang="aa-ET" sz="2400" dirty="0">
                <a:latin typeface="avenirnext-demibold"/>
              </a:rPr>
              <a:t> instrument</a:t>
            </a:r>
            <a:r>
              <a:rPr lang="aa-ET" sz="2400" dirty="0" smtClean="0">
                <a:latin typeface="avenirnext-demibold"/>
              </a:rPr>
              <a:t>,</a:t>
            </a:r>
            <a:endParaRPr lang="en-US" sz="2400" dirty="0" smtClean="0">
              <a:latin typeface="avenirnext-demibold"/>
            </a:endParaRPr>
          </a:p>
          <a:p>
            <a:pPr marL="0" indent="0">
              <a:buNone/>
            </a:pPr>
            <a:r>
              <a:rPr lang="aa-ET" sz="2400" dirty="0" smtClean="0">
                <a:latin typeface="avenirnext-demibold"/>
              </a:rPr>
              <a:t> </a:t>
            </a:r>
            <a:r>
              <a:rPr lang="aa-ET" sz="2400" dirty="0">
                <a:latin typeface="avenirnext-demibold"/>
              </a:rPr>
              <a:t>3) duration of </a:t>
            </a:r>
            <a:r>
              <a:rPr lang="aa-ET" sz="2400" b="1" dirty="0">
                <a:latin typeface="avenirnext-demibold"/>
              </a:rPr>
              <a:t>data collection</a:t>
            </a:r>
            <a:r>
              <a:rPr lang="aa-ET" sz="2400" dirty="0">
                <a:latin typeface="avenirnext-demibold"/>
              </a:rPr>
              <a:t>, </a:t>
            </a:r>
            <a:endParaRPr lang="en-US" sz="2400" dirty="0" smtClean="0">
              <a:latin typeface="avenirnext-demibold"/>
            </a:endParaRPr>
          </a:p>
          <a:p>
            <a:pPr marL="0" indent="0">
              <a:buNone/>
            </a:pPr>
            <a:r>
              <a:rPr lang="aa-ET" sz="2400" dirty="0" smtClean="0">
                <a:latin typeface="avenirnext-demibold"/>
              </a:rPr>
              <a:t>4</a:t>
            </a:r>
            <a:r>
              <a:rPr lang="aa-ET" sz="2400" dirty="0">
                <a:latin typeface="avenirnext-demibold"/>
              </a:rPr>
              <a:t>) researcher fatigue, and </a:t>
            </a:r>
            <a:endParaRPr lang="en-US" sz="2400" dirty="0" smtClean="0">
              <a:latin typeface="avenirnext-demibold"/>
            </a:endParaRPr>
          </a:p>
          <a:p>
            <a:pPr marL="0" indent="0">
              <a:buNone/>
            </a:pPr>
            <a:r>
              <a:rPr lang="aa-ET" sz="2400" dirty="0" smtClean="0">
                <a:latin typeface="avenirnext-demibold"/>
              </a:rPr>
              <a:t>5</a:t>
            </a:r>
            <a:r>
              <a:rPr lang="aa-ET" sz="2400" dirty="0">
                <a:latin typeface="avenirnext-demibold"/>
              </a:rPr>
              <a:t>) sensitive </a:t>
            </a:r>
            <a:r>
              <a:rPr lang="aa-ET" sz="2400" dirty="0" smtClean="0">
                <a:latin typeface="avenirnext-demibold"/>
              </a:rPr>
              <a:t>information</a:t>
            </a:r>
            <a:r>
              <a:rPr lang="en-US" sz="2400" dirty="0" smtClean="0">
                <a:latin typeface="avenirnext-demibold"/>
              </a:rPr>
              <a:t>.</a:t>
            </a:r>
            <a:endParaRPr lang="en-US" sz="2400" b="1" dirty="0">
              <a:latin typeface="avenirnext-d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8827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77824"/>
            <a:ext cx="10972800" cy="950976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avenirnext-demibold"/>
                <a:ea typeface="Times New Roman"/>
                <a:cs typeface="Calibri"/>
              </a:rPr>
              <a:t>SUPPLY DATA CHALLENGES</a:t>
            </a:r>
            <a:r>
              <a:rPr lang="en-US" dirty="0">
                <a:latin typeface="Century Gothic"/>
                <a:ea typeface="Times New Roman"/>
                <a:cs typeface="Calibri"/>
              </a:rPr>
              <a:t/>
            </a:r>
            <a:br>
              <a:rPr lang="en-US" dirty="0">
                <a:latin typeface="Century Gothic"/>
                <a:ea typeface="Times New Roman"/>
                <a:cs typeface="Calibri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venirnext-demibold"/>
              </a:rPr>
              <a:t>T</a:t>
            </a:r>
            <a:r>
              <a:rPr lang="en-US" sz="2000" dirty="0" smtClean="0">
                <a:latin typeface="avenirnext-demibold"/>
              </a:rPr>
              <a:t>here </a:t>
            </a:r>
            <a:r>
              <a:rPr lang="en-US" sz="2000" dirty="0">
                <a:latin typeface="avenirnext-demibold"/>
              </a:rPr>
              <a:t>are three critical challenges providers face in regards to </a:t>
            </a:r>
            <a:r>
              <a:rPr lang="en-US" sz="2000" b="1" dirty="0">
                <a:latin typeface="avenirnext-demibold"/>
              </a:rPr>
              <a:t>supply-side</a:t>
            </a:r>
            <a:r>
              <a:rPr lang="en-US" sz="2000" dirty="0">
                <a:latin typeface="avenirnext-demibold"/>
              </a:rPr>
              <a:t> </a:t>
            </a:r>
            <a:r>
              <a:rPr lang="en-US" sz="2000" dirty="0" smtClean="0">
                <a:latin typeface="avenirnext-demibold"/>
              </a:rPr>
              <a:t>data: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000" dirty="0" smtClean="0">
                <a:latin typeface="avenirnext-demibold"/>
              </a:rPr>
              <a:t>There </a:t>
            </a:r>
            <a:r>
              <a:rPr lang="en-US" sz="2000" dirty="0">
                <a:latin typeface="avenirnext-demibold"/>
              </a:rPr>
              <a:t>is a </a:t>
            </a:r>
            <a:r>
              <a:rPr lang="en-US" sz="2000" b="1" dirty="0">
                <a:latin typeface="avenirnext-demibold"/>
              </a:rPr>
              <a:t>limited number of efforts aggregating </a:t>
            </a:r>
            <a:r>
              <a:rPr lang="en-US" sz="2000" b="1" dirty="0" smtClean="0">
                <a:latin typeface="avenirnext-demibold"/>
              </a:rPr>
              <a:t>data;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000" dirty="0">
                <a:latin typeface="avenirnext-demibold"/>
              </a:rPr>
              <a:t>T</a:t>
            </a:r>
            <a:r>
              <a:rPr lang="en-US" sz="2000" dirty="0" smtClean="0">
                <a:latin typeface="avenirnext-demibold"/>
              </a:rPr>
              <a:t>hose </a:t>
            </a:r>
            <a:r>
              <a:rPr lang="en-US" sz="2000" dirty="0">
                <a:latin typeface="avenirnext-demibold"/>
              </a:rPr>
              <a:t>that are aggregating data, often </a:t>
            </a:r>
            <a:r>
              <a:rPr lang="en-US" sz="2000" b="1" dirty="0">
                <a:latin typeface="avenirnext-demibold"/>
              </a:rPr>
              <a:t>fail to provide </a:t>
            </a:r>
            <a:r>
              <a:rPr lang="en-US" sz="2000" b="1" dirty="0" smtClean="0">
                <a:latin typeface="avenirnext-demibold"/>
              </a:rPr>
              <a:t>enough</a:t>
            </a:r>
            <a:r>
              <a:rPr lang="en-US" sz="2000" dirty="0">
                <a:solidFill>
                  <a:srgbClr val="222222"/>
                </a:solidFill>
                <a:latin typeface="avenirnext-demibold"/>
              </a:rPr>
              <a:t> </a:t>
            </a:r>
            <a:r>
              <a:rPr lang="en-US" sz="2000" b="1" dirty="0">
                <a:solidFill>
                  <a:srgbClr val="222222"/>
                </a:solidFill>
                <a:latin typeface="avenirnext-demibold"/>
              </a:rPr>
              <a:t>level of detail</a:t>
            </a:r>
            <a:r>
              <a:rPr lang="en-US" sz="2000" dirty="0">
                <a:solidFill>
                  <a:srgbClr val="222222"/>
                </a:solidFill>
                <a:latin typeface="avenirnext-demibold"/>
              </a:rPr>
              <a:t> </a:t>
            </a:r>
            <a:r>
              <a:rPr lang="en-US" sz="2000" b="1" dirty="0" smtClean="0">
                <a:latin typeface="avenirnext-demibold"/>
              </a:rPr>
              <a:t>for </a:t>
            </a:r>
            <a:r>
              <a:rPr lang="en-US" sz="2000" b="1" dirty="0">
                <a:latin typeface="avenirnext-demibold"/>
              </a:rPr>
              <a:t>it to be </a:t>
            </a:r>
            <a:r>
              <a:rPr lang="en-US" sz="2000" b="1" dirty="0" smtClean="0">
                <a:latin typeface="avenirnext-demibold"/>
              </a:rPr>
              <a:t>valuable</a:t>
            </a:r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sz="2000" dirty="0">
                <a:latin typeface="avenirnext-demibold"/>
              </a:rPr>
              <a:t>P</a:t>
            </a:r>
            <a:r>
              <a:rPr lang="en-US" sz="2000" dirty="0" smtClean="0">
                <a:latin typeface="avenirnext-demibold"/>
              </a:rPr>
              <a:t>roviders </a:t>
            </a:r>
            <a:r>
              <a:rPr lang="en-US" sz="2000" dirty="0">
                <a:latin typeface="avenirnext-demibold"/>
              </a:rPr>
              <a:t>themselves are often </a:t>
            </a:r>
            <a:r>
              <a:rPr lang="en-US" sz="2000" b="1" dirty="0">
                <a:latin typeface="avenirnext-demibold"/>
              </a:rPr>
              <a:t>unwilling to share data publicly</a:t>
            </a:r>
            <a:r>
              <a:rPr lang="en-US" sz="2000" dirty="0">
                <a:latin typeface="avenirnext-demibold"/>
              </a:rPr>
              <a:t> on their business model given competitive market risks</a:t>
            </a:r>
            <a:endParaRPr lang="en-US" sz="2000" dirty="0">
              <a:latin typeface="avenirnext-demibold"/>
              <a:ea typeface="Times New Roman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039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avenirnext-demibold"/>
              </a:rPr>
              <a:t>CHALLENGES RELATED TO DEMAND SIDE DATA IN FI</a:t>
            </a:r>
            <a:endParaRPr lang="en-US" sz="2800" b="1" dirty="0">
              <a:latin typeface="avenirnext-d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avenirnext-demibold"/>
              </a:rPr>
              <a:t>Making </a:t>
            </a:r>
            <a:r>
              <a:rPr lang="en-US" sz="2400" dirty="0">
                <a:latin typeface="avenirnext-demibold"/>
              </a:rPr>
              <a:t>the data usable for a given </a:t>
            </a:r>
            <a:r>
              <a:rPr lang="en-US" sz="2400" dirty="0" smtClean="0">
                <a:latin typeface="avenirnext-demibold"/>
              </a:rPr>
              <a:t>audience in order to;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venirnext-demibold"/>
              </a:rPr>
              <a:t>To effectively provide financial solutions </a:t>
            </a:r>
            <a:r>
              <a:rPr lang="en-US" sz="2400" dirty="0" smtClean="0">
                <a:latin typeface="avenirnext-demibold"/>
              </a:rPr>
              <a:t>for a given segment of customers.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venirnext-demibold"/>
              </a:rPr>
              <a:t> Providers </a:t>
            </a:r>
            <a:r>
              <a:rPr lang="en-US" sz="2400" dirty="0">
                <a:latin typeface="avenirnext-demibold"/>
              </a:rPr>
              <a:t>must gather and analyze data to understand who their target customer is and how to better serve </a:t>
            </a:r>
            <a:r>
              <a:rPr lang="en-US" sz="2400" dirty="0" smtClean="0">
                <a:latin typeface="avenirnext-demibold"/>
              </a:rPr>
              <a:t>them.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venirnext-demibold"/>
              </a:rPr>
              <a:t>T</a:t>
            </a:r>
            <a:r>
              <a:rPr lang="en-US" sz="2400" dirty="0" smtClean="0">
                <a:latin typeface="avenirnext-demibold"/>
              </a:rPr>
              <a:t>he collector of such data has a great influence on how the data will be presented, availed and managed.</a:t>
            </a:r>
            <a:endParaRPr lang="en-US" sz="2400" dirty="0">
              <a:latin typeface="avenirnext-demibold"/>
            </a:endParaRPr>
          </a:p>
        </p:txBody>
      </p:sp>
    </p:spTree>
    <p:extLst>
      <p:ext uri="{BB962C8B-B14F-4D97-AF65-F5344CB8AC3E}">
        <p14:creationId xmlns:p14="http://schemas.microsoft.com/office/powerpoint/2010/main" val="402278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venirnext-demibold"/>
              </a:rPr>
              <a:t>IMPACT DATA</a:t>
            </a:r>
            <a:endParaRPr lang="en-US" dirty="0">
              <a:latin typeface="avenirnext-demi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venirnext-demibold"/>
              </a:rPr>
              <a:t>Research institutions and think-tanks tend to play a heavy role in gathering and sharing impact related </a:t>
            </a:r>
            <a:r>
              <a:rPr lang="en-US" sz="2400" dirty="0" smtClean="0">
                <a:latin typeface="avenirnext-demibold"/>
              </a:rPr>
              <a:t>data.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venirnext-demibold"/>
              </a:rPr>
              <a:t>However</a:t>
            </a:r>
            <a:r>
              <a:rPr lang="en-US" sz="2400" dirty="0">
                <a:latin typeface="avenirnext-demibold"/>
              </a:rPr>
              <a:t>, smaller on-the-ground organizations often lack the resources to implement impact measurement activities at scale, particularly </a:t>
            </a:r>
            <a:r>
              <a:rPr lang="en-US" sz="2400" dirty="0">
                <a:solidFill>
                  <a:schemeClr val="tx2"/>
                </a:solidFill>
                <a:latin typeface="avenirnext-demibold"/>
              </a:rPr>
              <a:t>rigorous</a:t>
            </a:r>
            <a:r>
              <a:rPr lang="en-US" sz="2400" dirty="0">
                <a:latin typeface="avenirnext-demibold"/>
              </a:rPr>
              <a:t> impact evaluations. </a:t>
            </a:r>
            <a:endParaRPr lang="en-US" sz="2400" dirty="0" smtClean="0">
              <a:latin typeface="avenirnext-demibold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venirnext-demibold"/>
              </a:rPr>
              <a:t>Few </a:t>
            </a:r>
            <a:r>
              <a:rPr lang="en-US" sz="2400" dirty="0">
                <a:latin typeface="avenirnext-demibold"/>
              </a:rPr>
              <a:t>organizations are aggregating and collecting sector-wide evidence to compare impact evidence across different institution types.</a:t>
            </a:r>
          </a:p>
        </p:txBody>
      </p:sp>
    </p:spTree>
    <p:extLst>
      <p:ext uri="{BB962C8B-B14F-4D97-AF65-F5344CB8AC3E}">
        <p14:creationId xmlns:p14="http://schemas.microsoft.com/office/powerpoint/2010/main" val="191541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847109"/>
            <a:ext cx="10363200" cy="98038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avenirnext-demibold"/>
              </a:rPr>
              <a:t>Thank You/ MURAKOZE/ MERCI.</a:t>
            </a:r>
            <a:endParaRPr lang="en-US" dirty="0">
              <a:latin typeface="avenirnext-demibol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979717"/>
            <a:ext cx="10363200" cy="87283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latin typeface="avenirnext-demibold"/>
              </a:rPr>
              <a:t>Questions and suggestions are welcome.</a:t>
            </a:r>
            <a:endParaRPr lang="en-US" b="1" dirty="0">
              <a:latin typeface="avenirnext-d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3160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3917</TotalTime>
  <Words>281</Words>
  <Application>Microsoft Office PowerPoint</Application>
  <PresentationFormat>Widescreen</PresentationFormat>
  <Paragraphs>40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avenirnext-demibold</vt:lpstr>
      <vt:lpstr>Calibri</vt:lpstr>
      <vt:lpstr>Century Gothic</vt:lpstr>
      <vt:lpstr>Times New Roman</vt:lpstr>
      <vt:lpstr>Wingdings</vt:lpstr>
      <vt:lpstr>1_Office Theme</vt:lpstr>
      <vt:lpstr>CHALLENGE IN DATA FOR AGRIBUSINESS FINANCE</vt:lpstr>
      <vt:lpstr>Key categories in data collections.</vt:lpstr>
      <vt:lpstr>ENABLERS IN DEALING WITH DATA CHALLENGES</vt:lpstr>
      <vt:lpstr>DATA</vt:lpstr>
      <vt:lpstr>SUPPLY DATA CHALLENGES </vt:lpstr>
      <vt:lpstr>CHALLENGES RELATED TO DEMAND SIDE DATA IN FI</vt:lpstr>
      <vt:lpstr>IMPACT DATA</vt:lpstr>
      <vt:lpstr>Thank You/ MURAKOZE/ MERCI.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Odile Mukayiranga</dc:creator>
  <cp:lastModifiedBy>Odile Mukayiranga</cp:lastModifiedBy>
  <cp:revision>31</cp:revision>
  <dcterms:created xsi:type="dcterms:W3CDTF">2019-05-28T10:40:54Z</dcterms:created>
  <dcterms:modified xsi:type="dcterms:W3CDTF">2019-11-07T08:32:32Z</dcterms:modified>
</cp:coreProperties>
</file>