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0" r:id="rId3"/>
    <p:sldId id="316" r:id="rId4"/>
    <p:sldId id="449" r:id="rId5"/>
    <p:sldId id="442" r:id="rId6"/>
    <p:sldId id="312" r:id="rId7"/>
    <p:sldId id="444" r:id="rId8"/>
    <p:sldId id="445" r:id="rId9"/>
    <p:sldId id="428" r:id="rId10"/>
    <p:sldId id="447" r:id="rId11"/>
    <p:sldId id="448" r:id="rId12"/>
    <p:sldId id="450" r:id="rId13"/>
    <p:sldId id="360" r:id="rId14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A6EC"/>
    <a:srgbClr val="50D450"/>
    <a:srgbClr val="29A428"/>
    <a:srgbClr val="1F547E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97" autoAdjust="0"/>
    <p:restoredTop sz="91917" autoAdjust="0"/>
  </p:normalViewPr>
  <p:slideViewPr>
    <p:cSldViewPr snapToGrid="0">
      <p:cViewPr varScale="1">
        <p:scale>
          <a:sx n="76" d="100"/>
          <a:sy n="76" d="100"/>
        </p:scale>
        <p:origin x="1100" y="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18/11/2019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18/11/2019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Copyright © 2019. SB</a:t>
            </a:r>
            <a:r>
              <a:rPr lang="en-US" sz="1100" baseline="0" dirty="0">
                <a:solidFill>
                  <a:schemeClr val="bg1"/>
                </a:solidFill>
              </a:rPr>
              <a:t>C4D – http://wwww.sbc4d.com</a:t>
            </a:r>
            <a:r>
              <a:rPr lang="en-US" sz="1100" dirty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753" y="101600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Picture 2" descr="Awesome Image">
            <a:extLst>
              <a:ext uri="{FF2B5EF4-FFF2-40B4-BE49-F238E27FC236}">
                <a16:creationId xmlns:a16="http://schemas.microsoft.com/office/drawing/2014/main" id="{1F3F7102-DA50-43CA-B99E-6764948308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08" y="195338"/>
            <a:ext cx="1140908" cy="40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11/18/2019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42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Workshop Focus &amp; Objectives 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789725"/>
            <a:ext cx="8305800" cy="1385106"/>
          </a:xfrm>
          <a:solidFill>
            <a:schemeClr val="tx1"/>
          </a:solidFill>
        </p:spPr>
        <p:txBody>
          <a:bodyPr/>
          <a:lstStyle/>
          <a:p>
            <a:r>
              <a:rPr lang="en-US" sz="1600" b="1" dirty="0" err="1">
                <a:solidFill>
                  <a:schemeClr val="bg1"/>
                </a:solidFill>
                <a:latin typeface="Trebuchet MS" pitchFamily="34" charset="0"/>
              </a:rPr>
              <a:t>Stéphane</a:t>
            </a: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Trebuchet MS" pitchFamily="34" charset="0"/>
              </a:rPr>
              <a:t>Boyera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Trebuchet MS" pitchFamily="34" charset="0"/>
              </a:rPr>
              <a:t>CEO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Trebuchet MS" pitchFamily="34" charset="0"/>
              </a:rPr>
              <a:t>stephane@sbc4d.com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Trebuchet MS" pitchFamily="34" charset="0"/>
              </a:rPr>
              <a:t>SBC4D – http://www.sbc4d</a:t>
            </a:r>
            <a:r>
              <a:rPr lang="en-US" sz="1600" b="1" dirty="0">
                <a:latin typeface="Trebuchet MS" pitchFamily="34" charset="0"/>
              </a:rPr>
              <a:t>.com</a:t>
            </a:r>
          </a:p>
          <a:p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  <p:pic>
        <p:nvPicPr>
          <p:cNvPr id="4" name="Picture 2" descr="Awesome Image">
            <a:extLst>
              <a:ext uri="{FF2B5EF4-FFF2-40B4-BE49-F238E27FC236}">
                <a16:creationId xmlns:a16="http://schemas.microsoft.com/office/drawing/2014/main" id="{B48651E3-B958-4C1A-98F6-616BC577F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306" y="5077470"/>
            <a:ext cx="2265564" cy="80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boyera\Desktop\WF\Work\visio icon\sbc4d2 - Copie.png">
            <a:extLst>
              <a:ext uri="{FF2B5EF4-FFF2-40B4-BE49-F238E27FC236}">
                <a16:creationId xmlns:a16="http://schemas.microsoft.com/office/drawing/2014/main" id="{936C6596-2A24-4CAF-BB13-013EA4EA5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210" y="4865501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Overview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19AF5B-1243-4865-B079-B5605EE1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2" y="4350327"/>
            <a:ext cx="3082939" cy="1890869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B0A0CA2-7717-4EDA-9136-F6A3BDAAA953}"/>
              </a:ext>
            </a:extLst>
          </p:cNvPr>
          <p:cNvSpPr>
            <a:spLocks/>
          </p:cNvSpPr>
          <p:nvPr/>
        </p:nvSpPr>
        <p:spPr bwMode="auto">
          <a:xfrm>
            <a:off x="594376" y="1838000"/>
            <a:ext cx="701130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Principles of farmer profiling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Data collection and update model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Workshop objectives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Workshop agenda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</a:t>
            </a:r>
            <a:endParaRPr lang="en-US" dirty="0"/>
          </a:p>
        </p:txBody>
      </p:sp>
      <p:pic>
        <p:nvPicPr>
          <p:cNvPr id="5" name="Image 4" descr="Une image contenant carte, texte&#10;&#10;Description générée automatiquement">
            <a:extLst>
              <a:ext uri="{FF2B5EF4-FFF2-40B4-BE49-F238E27FC236}">
                <a16:creationId xmlns:a16="http://schemas.microsoft.com/office/drawing/2014/main" id="{20DEB95F-3A14-44DB-8AB8-74B0AF59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3" y="1224365"/>
            <a:ext cx="8856673" cy="51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5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 (2)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442E82-4AF5-4E92-BEC9-EDB7D9D7BBC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22" y="1472339"/>
            <a:ext cx="7702658" cy="4742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56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237" y="0"/>
            <a:ext cx="7303800" cy="812800"/>
          </a:xfrm>
        </p:spPr>
        <p:txBody>
          <a:bodyPr/>
          <a:lstStyle/>
          <a:p>
            <a:r>
              <a:rPr lang="en-US" sz="3200" dirty="0"/>
              <a:t>Services leveraging farmer profiles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7F790C-6A75-4762-9F96-6C79720EA1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7" y="1115877"/>
            <a:ext cx="8911525" cy="5377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08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Farmer profiling expected impact</a:t>
            </a:r>
            <a:endParaRPr lang="en-US" dirty="0"/>
          </a:p>
        </p:txBody>
      </p:sp>
      <p:pic>
        <p:nvPicPr>
          <p:cNvPr id="1026" name="Picture 2" descr="Image result for impact icon">
            <a:extLst>
              <a:ext uri="{FF2B5EF4-FFF2-40B4-BE49-F238E27FC236}">
                <a16:creationId xmlns:a16="http://schemas.microsoft.com/office/drawing/2014/main" id="{46F4D647-FDD3-4E3D-AE10-ED7857DAC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97"/>
          <a:stretch/>
        </p:blipFill>
        <p:spPr bwMode="auto">
          <a:xfrm>
            <a:off x="6232470" y="3580108"/>
            <a:ext cx="2959994" cy="294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80000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Better policy based on real data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access to financial services by smallholder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Easier access to extension and trade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yields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income</a:t>
            </a:r>
          </a:p>
        </p:txBody>
      </p:sp>
    </p:spTree>
    <p:extLst>
      <p:ext uri="{BB962C8B-B14F-4D97-AF65-F5344CB8AC3E}">
        <p14:creationId xmlns:p14="http://schemas.microsoft.com/office/powerpoint/2010/main" val="312530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Building blocks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Profile content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Which information needed for which services?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Data collection and update model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Technical platform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</p:txBody>
      </p:sp>
      <p:pic>
        <p:nvPicPr>
          <p:cNvPr id="2050" name="Picture 2" descr="Image result for icon building block">
            <a:extLst>
              <a:ext uri="{FF2B5EF4-FFF2-40B4-BE49-F238E27FC236}">
                <a16:creationId xmlns:a16="http://schemas.microsoft.com/office/drawing/2014/main" id="{D927E575-E245-4F82-BB95-B02D2698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2" y="4225861"/>
            <a:ext cx="1708689" cy="17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0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293166" cy="812800"/>
          </a:xfrm>
        </p:spPr>
        <p:txBody>
          <a:bodyPr/>
          <a:lstStyle/>
          <a:p>
            <a:r>
              <a:rPr lang="en-US" sz="2800" dirty="0"/>
              <a:t>Challenge of data collection &amp; update model</a:t>
            </a:r>
            <a:endParaRPr lang="en-US" sz="2400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80000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Who can do the in-person data collection (capacities, availability, incentives, equipment,…)  and how?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How to ensure trust and contribution from farmers?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How to update data on regular basis?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Who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How (technologies/process/…)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How to verify data?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074" name="Picture 2" descr="Image result for challenge icon">
            <a:extLst>
              <a:ext uri="{FF2B5EF4-FFF2-40B4-BE49-F238E27FC236}">
                <a16:creationId xmlns:a16="http://schemas.microsoft.com/office/drawing/2014/main" id="{33CE1EA6-A6BD-4DDF-904A-B8CD04598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247" y="4660812"/>
            <a:ext cx="1770884" cy="17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1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Objectives of the workshop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9694" y="1347817"/>
            <a:ext cx="73038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Identify a workable data collection process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Awareness raising process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Trust building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People: Training, Equipment, Incentives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Technology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Identify a workable data update model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Incentives for farmer-driven update?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People: Farmer promoters, youth volunteer, ICT ambassadors, youth in agriculture,…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Profile &amp; equipment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Technology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Timing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6DF2C32C-E6B6-410B-B6F7-4031EF10C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657" y="4373536"/>
            <a:ext cx="1898541" cy="189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70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Workshop Agenda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96236" y="1756266"/>
            <a:ext cx="6652963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Presentations of examples of data collection and update model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SNS example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 err="1">
                <a:latin typeface="Trebuchet MS" pitchFamily="34" charset="0"/>
                <a:cs typeface="ＭＳ Ｐゴシック" pitchFamily="34" charset="-128"/>
              </a:rPr>
              <a:t>Loda</a:t>
            </a: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 example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Group work on data collection &amp; update model</a:t>
            </a: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122" name="Picture 2" descr="Image result for agenda icon">
            <a:extLst>
              <a:ext uri="{FF2B5EF4-FFF2-40B4-BE49-F238E27FC236}">
                <a16:creationId xmlns:a16="http://schemas.microsoft.com/office/drawing/2014/main" id="{116781E4-ABE0-4AE3-8BA2-8C09ECC4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105" y="3936570"/>
            <a:ext cx="1807659" cy="224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26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Workshop Agenda (2)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96236" y="1525058"/>
            <a:ext cx="8258828" cy="48230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09:50 - 10:10 - SNS model (RAB)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10:10 - 11:25 - Breakout session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11:25 – 11:40 – Coffee Break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11:40 - 12:40 - Debriefing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12:40 - 13:40 – Lunch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13:40 – 14:00 – Presentation of </a:t>
            </a:r>
            <a:r>
              <a:rPr lang="en-US" sz="2300" dirty="0" err="1">
                <a:latin typeface="Trebuchet MS" pitchFamily="34" charset="0"/>
                <a:cs typeface="ＭＳ Ｐゴシック" pitchFamily="34" charset="-128"/>
              </a:rPr>
              <a:t>Loda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household profiling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14:00 – 15:00 - Workshop output and next steps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15:00 - End of workshop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122" name="Picture 2" descr="Image result for agenda icon">
            <a:extLst>
              <a:ext uri="{FF2B5EF4-FFF2-40B4-BE49-F238E27FC236}">
                <a16:creationId xmlns:a16="http://schemas.microsoft.com/office/drawing/2014/main" id="{116781E4-ABE0-4AE3-8BA2-8C09ECC4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240" y="4494508"/>
            <a:ext cx="1492811" cy="185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89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Breakout Session topics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0" y="1017488"/>
            <a:ext cx="9144000" cy="48230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lvl="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How to mobilize farmers and ensure they provide accurate information?</a:t>
            </a:r>
            <a:endParaRPr lang="fr-FR" sz="2000" dirty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What could be the incentives/blocking factors for farmers to contribute proactively?</a:t>
            </a:r>
            <a:endParaRPr lang="fr-FR" sz="2000" dirty="0">
              <a:latin typeface="+mj-lt"/>
            </a:endParaRP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Who are the most appropriate enumerators (local or external enumerators)?</a:t>
            </a:r>
            <a:endParaRPr lang="fr-FR" sz="2000" dirty="0">
              <a:latin typeface="+mj-lt"/>
            </a:endParaRP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Training requirements &amp; Ability to use advanced ICT equipment (tablet &amp; survey software)?</a:t>
            </a: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How to update profile data?</a:t>
            </a: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What are point of contacts between farmers and MINAGRI, and what are capacities, equipment and availability of connectivity for each </a:t>
            </a:r>
          </a:p>
          <a:p>
            <a:pPr marL="1200150" lvl="2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Extension agents, Farmer promoters, ICT Ambassadors, Call center,…</a:t>
            </a:r>
            <a:endParaRPr lang="fr-FR" sz="2000" dirty="0">
              <a:latin typeface="+mj-lt"/>
            </a:endParaRPr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What are potential incentives for farmers to proactively provide data update?</a:t>
            </a: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Subsidies, government insurance, subsidized loans, extension service, call center,…</a:t>
            </a:r>
          </a:p>
          <a:p>
            <a:pPr marL="742950" lvl="1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Who is the point of contact for updating profile information?</a:t>
            </a:r>
            <a:endParaRPr lang="fr-FR" sz="2000" dirty="0">
              <a:latin typeface="+mj-lt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706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9" y="1583564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60116</TotalTime>
  <Words>438</Words>
  <Application>Microsoft Office PowerPoint</Application>
  <PresentationFormat>Affichage à l'écran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</vt:lpstr>
      <vt:lpstr>Thème Office</vt:lpstr>
      <vt:lpstr>Workshop Focus &amp; Objectives  </vt:lpstr>
      <vt:lpstr>Overview</vt:lpstr>
      <vt:lpstr>Principles of Farmer Profiling</vt:lpstr>
      <vt:lpstr>Principles of Farmer Profiling (2)</vt:lpstr>
      <vt:lpstr>Services leveraging farmer profiles</vt:lpstr>
      <vt:lpstr>Farmer profiling expected impact</vt:lpstr>
      <vt:lpstr>Building blocks</vt:lpstr>
      <vt:lpstr>Challenge of data collection &amp; update model</vt:lpstr>
      <vt:lpstr>Objectives of the workshop</vt:lpstr>
      <vt:lpstr>Workshop Agenda</vt:lpstr>
      <vt:lpstr>Workshop Agenda (2)</vt:lpstr>
      <vt:lpstr>Breakout Session topics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816</cp:revision>
  <cp:lastPrinted>2011-11-29T16:00:44Z</cp:lastPrinted>
  <dcterms:created xsi:type="dcterms:W3CDTF">2009-10-15T09:24:18Z</dcterms:created>
  <dcterms:modified xsi:type="dcterms:W3CDTF">2019-11-18T15:19:35Z</dcterms:modified>
</cp:coreProperties>
</file>