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9" r:id="rId2"/>
    <p:sldId id="308" r:id="rId3"/>
    <p:sldId id="311" r:id="rId4"/>
    <p:sldId id="318" r:id="rId5"/>
    <p:sldId id="319" r:id="rId6"/>
    <p:sldId id="371" r:id="rId7"/>
    <p:sldId id="320" r:id="rId8"/>
    <p:sldId id="34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arina Weber" initials="KW" lastIdx="0" clrIdx="0">
    <p:extLst>
      <p:ext uri="{19B8F6BF-5375-455C-9EA6-DF929625EA0E}">
        <p15:presenceInfo xmlns:p15="http://schemas.microsoft.com/office/powerpoint/2012/main" userId="Katharina Web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3" autoAdjust="0"/>
    <p:restoredTop sz="86415" autoAdjust="0"/>
  </p:normalViewPr>
  <p:slideViewPr>
    <p:cSldViewPr snapToGrid="0">
      <p:cViewPr varScale="1">
        <p:scale>
          <a:sx n="63" d="100"/>
          <a:sy n="63" d="100"/>
        </p:scale>
        <p:origin x="9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1FC242-D6D1-458E-9EB8-B630FF1A95DF}" type="doc">
      <dgm:prSet loTypeId="urn:microsoft.com/office/officeart/2005/8/layout/chevron1" loCatId="process" qsTypeId="urn:microsoft.com/office/officeart/2005/8/quickstyle/simple5" qsCatId="simple" csTypeId="urn:microsoft.com/office/officeart/2005/8/colors/colorful4" csCatId="colorful" phldr="1"/>
      <dgm:spPr/>
    </dgm:pt>
    <dgm:pt modelId="{46E1446D-E8D5-46A4-B174-6BE95940E344}">
      <dgm:prSet phldrT="[Text]" custT="1"/>
      <dgm:spPr/>
      <dgm:t>
        <a:bodyPr/>
        <a:lstStyle/>
        <a:p>
          <a:r>
            <a:rPr lang="en-US" sz="2400" b="1" dirty="0"/>
            <a:t>2013</a:t>
          </a:r>
        </a:p>
      </dgm:t>
    </dgm:pt>
    <dgm:pt modelId="{66C5B29B-3B6C-47B9-AF40-1DA4FCB82919}" type="parTrans" cxnId="{8AB1DF6C-F682-4B5D-ADA6-2857881575C5}">
      <dgm:prSet/>
      <dgm:spPr/>
      <dgm:t>
        <a:bodyPr/>
        <a:lstStyle/>
        <a:p>
          <a:endParaRPr lang="en-US"/>
        </a:p>
      </dgm:t>
    </dgm:pt>
    <dgm:pt modelId="{E2B754F5-EFD7-4C51-84B5-BBA656F89834}" type="sibTrans" cxnId="{8AB1DF6C-F682-4B5D-ADA6-2857881575C5}">
      <dgm:prSet/>
      <dgm:spPr/>
      <dgm:t>
        <a:bodyPr/>
        <a:lstStyle/>
        <a:p>
          <a:endParaRPr lang="en-US"/>
        </a:p>
      </dgm:t>
    </dgm:pt>
    <dgm:pt modelId="{54087FE6-68D7-4EB1-9FAB-2480C8B6471E}">
      <dgm:prSet phldrT="[Text]" custT="1"/>
      <dgm:spPr/>
      <dgm:t>
        <a:bodyPr/>
        <a:lstStyle/>
        <a:p>
          <a:r>
            <a:rPr lang="en-US" sz="2400" b="1" dirty="0"/>
            <a:t>2015</a:t>
          </a:r>
        </a:p>
      </dgm:t>
    </dgm:pt>
    <dgm:pt modelId="{34AEE485-3394-455B-AED4-7FFAE2C75516}" type="parTrans" cxnId="{EF1F74AA-DE60-4605-8750-58E8FFB9EE44}">
      <dgm:prSet/>
      <dgm:spPr/>
      <dgm:t>
        <a:bodyPr/>
        <a:lstStyle/>
        <a:p>
          <a:endParaRPr lang="en-US"/>
        </a:p>
      </dgm:t>
    </dgm:pt>
    <dgm:pt modelId="{0E55058B-F2DF-4607-92E7-6DF4B74C59BD}" type="sibTrans" cxnId="{EF1F74AA-DE60-4605-8750-58E8FFB9EE44}">
      <dgm:prSet/>
      <dgm:spPr/>
      <dgm:t>
        <a:bodyPr/>
        <a:lstStyle/>
        <a:p>
          <a:endParaRPr lang="en-US"/>
        </a:p>
      </dgm:t>
    </dgm:pt>
    <dgm:pt modelId="{4129DAF3-7A2E-4313-91BE-1E7F9267F8B4}">
      <dgm:prSet phldrT="[Text]" custT="1"/>
      <dgm:spPr/>
      <dgm:t>
        <a:bodyPr/>
        <a:lstStyle/>
        <a:p>
          <a:r>
            <a:rPr lang="en-US" sz="2400" b="1" dirty="0"/>
            <a:t>2016</a:t>
          </a:r>
        </a:p>
      </dgm:t>
    </dgm:pt>
    <dgm:pt modelId="{86B27347-3B52-43AD-9FEE-257DFAC7483D}" type="parTrans" cxnId="{DF8633D3-8E58-49F3-917B-4C1551A5D3E1}">
      <dgm:prSet/>
      <dgm:spPr/>
      <dgm:t>
        <a:bodyPr/>
        <a:lstStyle/>
        <a:p>
          <a:endParaRPr lang="en-US"/>
        </a:p>
      </dgm:t>
    </dgm:pt>
    <dgm:pt modelId="{00CA92A6-D8D8-4D10-A44F-4B1557B1252C}" type="sibTrans" cxnId="{DF8633D3-8E58-49F3-917B-4C1551A5D3E1}">
      <dgm:prSet/>
      <dgm:spPr/>
      <dgm:t>
        <a:bodyPr/>
        <a:lstStyle/>
        <a:p>
          <a:endParaRPr lang="en-US"/>
        </a:p>
      </dgm:t>
    </dgm:pt>
    <dgm:pt modelId="{FA94977D-C397-487F-933D-F6D5E07930AB}">
      <dgm:prSet custT="1"/>
      <dgm:spPr/>
      <dgm:t>
        <a:bodyPr/>
        <a:lstStyle/>
        <a:p>
          <a:pPr marL="0" algn="ctr">
            <a:buNone/>
          </a:pPr>
          <a:endParaRPr lang="en-US" sz="2000" dirty="0">
            <a:solidFill>
              <a:schemeClr val="accent6">
                <a:lumMod val="50000"/>
              </a:schemeClr>
            </a:solidFill>
          </a:endParaRPr>
        </a:p>
      </dgm:t>
    </dgm:pt>
    <dgm:pt modelId="{3461A00E-6158-4634-A34E-4333972ED76F}" type="parTrans" cxnId="{3CA3187C-347D-45A4-B831-77860BE05410}">
      <dgm:prSet/>
      <dgm:spPr/>
      <dgm:t>
        <a:bodyPr/>
        <a:lstStyle/>
        <a:p>
          <a:endParaRPr lang="en-US"/>
        </a:p>
      </dgm:t>
    </dgm:pt>
    <dgm:pt modelId="{D05BCFBD-DE0F-43D8-AD9B-5E880013C715}" type="sibTrans" cxnId="{3CA3187C-347D-45A4-B831-77860BE05410}">
      <dgm:prSet/>
      <dgm:spPr/>
      <dgm:t>
        <a:bodyPr/>
        <a:lstStyle/>
        <a:p>
          <a:endParaRPr lang="en-US"/>
        </a:p>
      </dgm:t>
    </dgm:pt>
    <dgm:pt modelId="{FF382557-7383-49CD-B70E-2624DC43C2F1}">
      <dgm:prSet custT="1"/>
      <dgm:spPr/>
      <dgm:t>
        <a:bodyPr anchor="ctr"/>
        <a:lstStyle/>
        <a:p>
          <a:pPr marL="0" algn="ctr">
            <a:buNone/>
          </a:pPr>
          <a:endParaRPr lang="en-US" sz="2000" dirty="0">
            <a:solidFill>
              <a:schemeClr val="accent6">
                <a:lumMod val="50000"/>
              </a:schemeClr>
            </a:solidFill>
          </a:endParaRPr>
        </a:p>
      </dgm:t>
    </dgm:pt>
    <dgm:pt modelId="{9B47C4BB-91B5-4E47-9C83-6D52D58672B5}" type="parTrans" cxnId="{25D6C6D1-DE82-477A-BEB9-64203DAF6E07}">
      <dgm:prSet/>
      <dgm:spPr/>
      <dgm:t>
        <a:bodyPr/>
        <a:lstStyle/>
        <a:p>
          <a:endParaRPr lang="en-US"/>
        </a:p>
      </dgm:t>
    </dgm:pt>
    <dgm:pt modelId="{4EBD186A-3D55-4D79-8C51-6FC4EF20F8EC}" type="sibTrans" cxnId="{25D6C6D1-DE82-477A-BEB9-64203DAF6E07}">
      <dgm:prSet/>
      <dgm:spPr/>
      <dgm:t>
        <a:bodyPr/>
        <a:lstStyle/>
        <a:p>
          <a:endParaRPr lang="en-US"/>
        </a:p>
      </dgm:t>
    </dgm:pt>
    <dgm:pt modelId="{C6C735B6-5E45-419E-8D0F-A8FBD4D4EBEE}">
      <dgm:prSet custT="1"/>
      <dgm:spPr/>
      <dgm:t>
        <a:bodyPr/>
        <a:lstStyle/>
        <a:p>
          <a:pPr marL="0" indent="0" algn="ctr">
            <a:buNone/>
          </a:pPr>
          <a:endParaRPr lang="en-US" sz="2000" dirty="0">
            <a:solidFill>
              <a:schemeClr val="accent6">
                <a:lumMod val="50000"/>
              </a:schemeClr>
            </a:solidFill>
          </a:endParaRPr>
        </a:p>
      </dgm:t>
    </dgm:pt>
    <dgm:pt modelId="{41F48E43-27E5-4628-B1DF-21B595A3C653}" type="parTrans" cxnId="{9E576467-27FF-4988-B5A9-EE52C29F495E}">
      <dgm:prSet/>
      <dgm:spPr/>
      <dgm:t>
        <a:bodyPr/>
        <a:lstStyle/>
        <a:p>
          <a:endParaRPr lang="en-US"/>
        </a:p>
      </dgm:t>
    </dgm:pt>
    <dgm:pt modelId="{6551D711-951D-4B12-BB65-439E235D8C94}" type="sibTrans" cxnId="{9E576467-27FF-4988-B5A9-EE52C29F495E}">
      <dgm:prSet/>
      <dgm:spPr/>
      <dgm:t>
        <a:bodyPr/>
        <a:lstStyle/>
        <a:p>
          <a:endParaRPr lang="en-US"/>
        </a:p>
      </dgm:t>
    </dgm:pt>
    <dgm:pt modelId="{D2FC1A72-D8C6-4F5F-9343-5564A5ED635A}">
      <dgm:prSet custT="1"/>
      <dgm:spPr/>
      <dgm:t>
        <a:bodyPr/>
        <a:lstStyle/>
        <a:p>
          <a:r>
            <a:rPr lang="en-US" sz="2400" b="1" dirty="0"/>
            <a:t>2017</a:t>
          </a:r>
        </a:p>
      </dgm:t>
    </dgm:pt>
    <dgm:pt modelId="{A8B62521-63C7-489E-A324-AD64B2F8574F}" type="sibTrans" cxnId="{4F4D9A68-8C68-40FD-8D92-72A9D09AAFA3}">
      <dgm:prSet/>
      <dgm:spPr/>
      <dgm:t>
        <a:bodyPr/>
        <a:lstStyle/>
        <a:p>
          <a:endParaRPr lang="en-US"/>
        </a:p>
      </dgm:t>
    </dgm:pt>
    <dgm:pt modelId="{BE66F2C7-B9CF-4768-8904-1A3ED97DAC5A}" type="parTrans" cxnId="{4F4D9A68-8C68-40FD-8D92-72A9D09AAFA3}">
      <dgm:prSet/>
      <dgm:spPr/>
      <dgm:t>
        <a:bodyPr/>
        <a:lstStyle/>
        <a:p>
          <a:endParaRPr lang="en-US"/>
        </a:p>
      </dgm:t>
    </dgm:pt>
    <dgm:pt modelId="{23554042-F76A-4FD4-B70B-9D1F474B8EDD}">
      <dgm:prSet/>
      <dgm:spPr/>
      <dgm:t>
        <a:bodyPr/>
        <a:lstStyle/>
        <a:p>
          <a:pPr marL="0" algn="ctr">
            <a:buNone/>
          </a:pPr>
          <a:endParaRPr lang="en-US" dirty="0">
            <a:solidFill>
              <a:schemeClr val="accent6">
                <a:lumMod val="50000"/>
              </a:schemeClr>
            </a:solidFill>
          </a:endParaRPr>
        </a:p>
      </dgm:t>
    </dgm:pt>
    <dgm:pt modelId="{4A0253EE-8835-44F2-9999-FA2E68B81C2E}" type="sibTrans" cxnId="{364BBA4F-70BF-44B6-AC78-EC1C7E353CEA}">
      <dgm:prSet/>
      <dgm:spPr/>
      <dgm:t>
        <a:bodyPr/>
        <a:lstStyle/>
        <a:p>
          <a:endParaRPr lang="en-US"/>
        </a:p>
      </dgm:t>
    </dgm:pt>
    <dgm:pt modelId="{E7CE04F2-BDEA-4AF1-8310-5DCF553AFF0A}" type="parTrans" cxnId="{364BBA4F-70BF-44B6-AC78-EC1C7E353CEA}">
      <dgm:prSet/>
      <dgm:spPr/>
      <dgm:t>
        <a:bodyPr/>
        <a:lstStyle/>
        <a:p>
          <a:endParaRPr lang="en-US"/>
        </a:p>
      </dgm:t>
    </dgm:pt>
    <dgm:pt modelId="{BF841D00-BAAD-43E7-8274-F267F4D21901}">
      <dgm:prSet custT="1"/>
      <dgm:spPr/>
      <dgm:t>
        <a:bodyPr/>
        <a:lstStyle/>
        <a:p>
          <a:r>
            <a:rPr lang="en-US" sz="2400" b="1" dirty="0"/>
            <a:t>2019</a:t>
          </a:r>
        </a:p>
      </dgm:t>
    </dgm:pt>
    <dgm:pt modelId="{0358F67F-C01C-4255-BBB5-3D2A599A8F0A}" type="parTrans" cxnId="{36D6CB25-8375-43C5-AB56-FE57D28533FA}">
      <dgm:prSet/>
      <dgm:spPr/>
      <dgm:t>
        <a:bodyPr/>
        <a:lstStyle/>
        <a:p>
          <a:endParaRPr lang="en-US"/>
        </a:p>
      </dgm:t>
    </dgm:pt>
    <dgm:pt modelId="{9F80D499-1349-4D42-B44C-2383D7A06143}" type="sibTrans" cxnId="{36D6CB25-8375-43C5-AB56-FE57D28533FA}">
      <dgm:prSet/>
      <dgm:spPr/>
      <dgm:t>
        <a:bodyPr/>
        <a:lstStyle/>
        <a:p>
          <a:endParaRPr lang="en-US"/>
        </a:p>
      </dgm:t>
    </dgm:pt>
    <dgm:pt modelId="{573D918D-EC9E-4BAF-A1F4-445A876F8FF9}">
      <dgm:prSet/>
      <dgm:spPr/>
      <dgm:t>
        <a:bodyPr/>
        <a:lstStyle/>
        <a:p>
          <a:pPr marL="0" algn="ctr">
            <a:buNone/>
          </a:pPr>
          <a:endParaRPr lang="en-US" dirty="0">
            <a:solidFill>
              <a:schemeClr val="accent6">
                <a:lumMod val="50000"/>
              </a:schemeClr>
            </a:solidFill>
          </a:endParaRPr>
        </a:p>
      </dgm:t>
    </dgm:pt>
    <dgm:pt modelId="{9FC08864-AD8B-41D8-8FD9-71BD8E36EA34}" type="parTrans" cxnId="{08841A12-04AA-4F62-8A0B-3A79E280257B}">
      <dgm:prSet/>
      <dgm:spPr/>
      <dgm:t>
        <a:bodyPr/>
        <a:lstStyle/>
        <a:p>
          <a:endParaRPr lang="en-US"/>
        </a:p>
      </dgm:t>
    </dgm:pt>
    <dgm:pt modelId="{803477EA-F6D3-400B-8C85-55D5B88E1C57}" type="sibTrans" cxnId="{08841A12-04AA-4F62-8A0B-3A79E280257B}">
      <dgm:prSet/>
      <dgm:spPr/>
      <dgm:t>
        <a:bodyPr/>
        <a:lstStyle/>
        <a:p>
          <a:endParaRPr lang="en-US"/>
        </a:p>
      </dgm:t>
    </dgm:pt>
    <dgm:pt modelId="{4769F42F-960D-43F3-B997-BC6D41497043}" type="pres">
      <dgm:prSet presAssocID="{E11FC242-D6D1-458E-9EB8-B630FF1A95DF}" presName="Name0" presStyleCnt="0">
        <dgm:presLayoutVars>
          <dgm:dir/>
          <dgm:animLvl val="lvl"/>
          <dgm:resizeHandles val="exact"/>
        </dgm:presLayoutVars>
      </dgm:prSet>
      <dgm:spPr/>
    </dgm:pt>
    <dgm:pt modelId="{0E0D5B9F-EEA8-4BE7-A83C-998FC45584AD}" type="pres">
      <dgm:prSet presAssocID="{46E1446D-E8D5-46A4-B174-6BE95940E344}" presName="composite" presStyleCnt="0"/>
      <dgm:spPr/>
    </dgm:pt>
    <dgm:pt modelId="{A3D05FB9-AFDF-48AE-B62D-9A9951C4E129}" type="pres">
      <dgm:prSet presAssocID="{46E1446D-E8D5-46A4-B174-6BE95940E344}" presName="parTx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61639B-290E-47B8-9D02-461D71B66478}" type="pres">
      <dgm:prSet presAssocID="{46E1446D-E8D5-46A4-B174-6BE95940E344}" presName="desTx" presStyleLbl="revTx" presStyleIdx="0" presStyleCnt="5" custScaleX="9800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6B7438-6163-4816-ABDA-BE4A183CBAAE}" type="pres">
      <dgm:prSet presAssocID="{E2B754F5-EFD7-4C51-84B5-BBA656F89834}" presName="space" presStyleCnt="0"/>
      <dgm:spPr/>
    </dgm:pt>
    <dgm:pt modelId="{ED0D2963-0C21-48B2-9E9A-6F81B2CCCCC9}" type="pres">
      <dgm:prSet presAssocID="{54087FE6-68D7-4EB1-9FAB-2480C8B6471E}" presName="composite" presStyleCnt="0"/>
      <dgm:spPr/>
    </dgm:pt>
    <dgm:pt modelId="{EB980626-C9F3-4E27-BB87-41E0BAB04230}" type="pres">
      <dgm:prSet presAssocID="{54087FE6-68D7-4EB1-9FAB-2480C8B6471E}" presName="parTx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35DDD9-1593-4195-A8E2-A4FDD1FEF69A}" type="pres">
      <dgm:prSet presAssocID="{54087FE6-68D7-4EB1-9FAB-2480C8B6471E}" presName="desTx" presStyleLbl="revTx" presStyleIdx="1" presStyleCnt="5" custLinFactY="-63503" custLinFactNeighborX="877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778C1C-5D82-4B09-A1B9-C00FCBB4F73F}" type="pres">
      <dgm:prSet presAssocID="{0E55058B-F2DF-4607-92E7-6DF4B74C59BD}" presName="space" presStyleCnt="0"/>
      <dgm:spPr/>
    </dgm:pt>
    <dgm:pt modelId="{395853BB-93A6-461F-AAB8-A0FDF9176C9B}" type="pres">
      <dgm:prSet presAssocID="{4129DAF3-7A2E-4313-91BE-1E7F9267F8B4}" presName="composite" presStyleCnt="0"/>
      <dgm:spPr/>
    </dgm:pt>
    <dgm:pt modelId="{8D295DA3-F28C-4563-9B86-EE837E68355B}" type="pres">
      <dgm:prSet presAssocID="{4129DAF3-7A2E-4313-91BE-1E7F9267F8B4}" presName="parTx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04B944-E229-4518-BA24-E58593555CFD}" type="pres">
      <dgm:prSet presAssocID="{4129DAF3-7A2E-4313-91BE-1E7F9267F8B4}" presName="desTx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BC4636-69DD-4150-9FF0-7836046B28F7}" type="pres">
      <dgm:prSet presAssocID="{00CA92A6-D8D8-4D10-A44F-4B1557B1252C}" presName="space" presStyleCnt="0"/>
      <dgm:spPr/>
    </dgm:pt>
    <dgm:pt modelId="{FF33804A-D04A-4877-BCB9-3602D7CB7F81}" type="pres">
      <dgm:prSet presAssocID="{D2FC1A72-D8C6-4F5F-9343-5564A5ED635A}" presName="composite" presStyleCnt="0"/>
      <dgm:spPr/>
    </dgm:pt>
    <dgm:pt modelId="{C82D163F-18CA-4B46-B016-33C010C8FE83}" type="pres">
      <dgm:prSet presAssocID="{D2FC1A72-D8C6-4F5F-9343-5564A5ED635A}" presName="parTx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611262-DF5A-49A5-93B5-A0EAC8440400}" type="pres">
      <dgm:prSet presAssocID="{D2FC1A72-D8C6-4F5F-9343-5564A5ED635A}" presName="desTx" presStyleLbl="revTx" presStyleIdx="3" presStyleCnt="5" custLinFactY="-71997" custLinFactNeighborX="3654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F2BE98-8E5C-44FF-A803-ED3A8599C52D}" type="pres">
      <dgm:prSet presAssocID="{A8B62521-63C7-489E-A324-AD64B2F8574F}" presName="space" presStyleCnt="0"/>
      <dgm:spPr/>
    </dgm:pt>
    <dgm:pt modelId="{02B6B31D-4B1B-4C0A-842C-2F4DAA56ACFA}" type="pres">
      <dgm:prSet presAssocID="{BF841D00-BAAD-43E7-8274-F267F4D21901}" presName="composite" presStyleCnt="0"/>
      <dgm:spPr/>
    </dgm:pt>
    <dgm:pt modelId="{01603E10-64C9-49B1-B655-9779FE4593A3}" type="pres">
      <dgm:prSet presAssocID="{BF841D00-BAAD-43E7-8274-F267F4D21901}" presName="parTx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B15408-1D9E-4AE3-8382-4B17D15BBBFF}" type="pres">
      <dgm:prSet presAssocID="{BF841D00-BAAD-43E7-8274-F267F4D21901}" presName="desTx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8841A12-04AA-4F62-8A0B-3A79E280257B}" srcId="{BF841D00-BAAD-43E7-8274-F267F4D21901}" destId="{573D918D-EC9E-4BAF-A1F4-445A876F8FF9}" srcOrd="0" destOrd="0" parTransId="{9FC08864-AD8B-41D8-8FD9-71BD8E36EA34}" sibTransId="{803477EA-F6D3-400B-8C85-55D5B88E1C57}"/>
    <dgm:cxn modelId="{791B82B2-0704-4C5E-9780-5C7A3E6FD3FD}" type="presOf" srcId="{23554042-F76A-4FD4-B70B-9D1F474B8EDD}" destId="{70611262-DF5A-49A5-93B5-A0EAC8440400}" srcOrd="0" destOrd="0" presId="urn:microsoft.com/office/officeart/2005/8/layout/chevron1"/>
    <dgm:cxn modelId="{364BBA4F-70BF-44B6-AC78-EC1C7E353CEA}" srcId="{D2FC1A72-D8C6-4F5F-9343-5564A5ED635A}" destId="{23554042-F76A-4FD4-B70B-9D1F474B8EDD}" srcOrd="0" destOrd="0" parTransId="{E7CE04F2-BDEA-4AF1-8310-5DCF553AFF0A}" sibTransId="{4A0253EE-8835-44F2-9999-FA2E68B81C2E}"/>
    <dgm:cxn modelId="{36D6CB25-8375-43C5-AB56-FE57D28533FA}" srcId="{E11FC242-D6D1-458E-9EB8-B630FF1A95DF}" destId="{BF841D00-BAAD-43E7-8274-F267F4D21901}" srcOrd="4" destOrd="0" parTransId="{0358F67F-C01C-4255-BBB5-3D2A599A8F0A}" sibTransId="{9F80D499-1349-4D42-B44C-2383D7A06143}"/>
    <dgm:cxn modelId="{7C63AF63-0382-424D-AE5A-AD27209DD0C6}" type="presOf" srcId="{54087FE6-68D7-4EB1-9FAB-2480C8B6471E}" destId="{EB980626-C9F3-4E27-BB87-41E0BAB04230}" srcOrd="0" destOrd="0" presId="urn:microsoft.com/office/officeart/2005/8/layout/chevron1"/>
    <dgm:cxn modelId="{AA1BC69E-4C0D-4186-A142-B2A8F10B0117}" type="presOf" srcId="{E11FC242-D6D1-458E-9EB8-B630FF1A95DF}" destId="{4769F42F-960D-43F3-B997-BC6D41497043}" srcOrd="0" destOrd="0" presId="urn:microsoft.com/office/officeart/2005/8/layout/chevron1"/>
    <dgm:cxn modelId="{CE16C57A-9D25-403C-B212-1D8111290A0D}" type="presOf" srcId="{46E1446D-E8D5-46A4-B174-6BE95940E344}" destId="{A3D05FB9-AFDF-48AE-B62D-9A9951C4E129}" srcOrd="0" destOrd="0" presId="urn:microsoft.com/office/officeart/2005/8/layout/chevron1"/>
    <dgm:cxn modelId="{9E576467-27FF-4988-B5A9-EE52C29F495E}" srcId="{4129DAF3-7A2E-4313-91BE-1E7F9267F8B4}" destId="{C6C735B6-5E45-419E-8D0F-A8FBD4D4EBEE}" srcOrd="0" destOrd="0" parTransId="{41F48E43-27E5-4628-B1DF-21B595A3C653}" sibTransId="{6551D711-951D-4B12-BB65-439E235D8C94}"/>
    <dgm:cxn modelId="{79B26736-DE61-4579-A48B-542FC613B9F1}" type="presOf" srcId="{D2FC1A72-D8C6-4F5F-9343-5564A5ED635A}" destId="{C82D163F-18CA-4B46-B016-33C010C8FE83}" srcOrd="0" destOrd="0" presId="urn:microsoft.com/office/officeart/2005/8/layout/chevron1"/>
    <dgm:cxn modelId="{DF8633D3-8E58-49F3-917B-4C1551A5D3E1}" srcId="{E11FC242-D6D1-458E-9EB8-B630FF1A95DF}" destId="{4129DAF3-7A2E-4313-91BE-1E7F9267F8B4}" srcOrd="2" destOrd="0" parTransId="{86B27347-3B52-43AD-9FEE-257DFAC7483D}" sibTransId="{00CA92A6-D8D8-4D10-A44F-4B1557B1252C}"/>
    <dgm:cxn modelId="{DDE47A5B-1598-4F38-855E-142622E61F4C}" type="presOf" srcId="{573D918D-EC9E-4BAF-A1F4-445A876F8FF9}" destId="{E4B15408-1D9E-4AE3-8382-4B17D15BBBFF}" srcOrd="0" destOrd="0" presId="urn:microsoft.com/office/officeart/2005/8/layout/chevron1"/>
    <dgm:cxn modelId="{111A2C90-3A78-4C6E-8F41-1AE14F913994}" type="presOf" srcId="{BF841D00-BAAD-43E7-8274-F267F4D21901}" destId="{01603E10-64C9-49B1-B655-9779FE4593A3}" srcOrd="0" destOrd="0" presId="urn:microsoft.com/office/officeart/2005/8/layout/chevron1"/>
    <dgm:cxn modelId="{34902D2B-8A0B-417B-AA03-89A84F84FAD5}" type="presOf" srcId="{C6C735B6-5E45-419E-8D0F-A8FBD4D4EBEE}" destId="{AC04B944-E229-4518-BA24-E58593555CFD}" srcOrd="0" destOrd="0" presId="urn:microsoft.com/office/officeart/2005/8/layout/chevron1"/>
    <dgm:cxn modelId="{25D6C6D1-DE82-477A-BEB9-64203DAF6E07}" srcId="{54087FE6-68D7-4EB1-9FAB-2480C8B6471E}" destId="{FF382557-7383-49CD-B70E-2624DC43C2F1}" srcOrd="0" destOrd="0" parTransId="{9B47C4BB-91B5-4E47-9C83-6D52D58672B5}" sibTransId="{4EBD186A-3D55-4D79-8C51-6FC4EF20F8EC}"/>
    <dgm:cxn modelId="{4F4D9A68-8C68-40FD-8D92-72A9D09AAFA3}" srcId="{E11FC242-D6D1-458E-9EB8-B630FF1A95DF}" destId="{D2FC1A72-D8C6-4F5F-9343-5564A5ED635A}" srcOrd="3" destOrd="0" parTransId="{BE66F2C7-B9CF-4768-8904-1A3ED97DAC5A}" sibTransId="{A8B62521-63C7-489E-A324-AD64B2F8574F}"/>
    <dgm:cxn modelId="{81D188C6-86D8-46FC-B06E-3BB19B21C5E7}" type="presOf" srcId="{4129DAF3-7A2E-4313-91BE-1E7F9267F8B4}" destId="{8D295DA3-F28C-4563-9B86-EE837E68355B}" srcOrd="0" destOrd="0" presId="urn:microsoft.com/office/officeart/2005/8/layout/chevron1"/>
    <dgm:cxn modelId="{3CA3187C-347D-45A4-B831-77860BE05410}" srcId="{46E1446D-E8D5-46A4-B174-6BE95940E344}" destId="{FA94977D-C397-487F-933D-F6D5E07930AB}" srcOrd="0" destOrd="0" parTransId="{3461A00E-6158-4634-A34E-4333972ED76F}" sibTransId="{D05BCFBD-DE0F-43D8-AD9B-5E880013C715}"/>
    <dgm:cxn modelId="{7CC2D97C-8197-4185-9756-217787A033FA}" type="presOf" srcId="{FF382557-7383-49CD-B70E-2624DC43C2F1}" destId="{0A35DDD9-1593-4195-A8E2-A4FDD1FEF69A}" srcOrd="0" destOrd="0" presId="urn:microsoft.com/office/officeart/2005/8/layout/chevron1"/>
    <dgm:cxn modelId="{7FEAA0B2-03D4-4A4C-B705-D6491AA3B936}" type="presOf" srcId="{FA94977D-C397-487F-933D-F6D5E07930AB}" destId="{CA61639B-290E-47B8-9D02-461D71B66478}" srcOrd="0" destOrd="0" presId="urn:microsoft.com/office/officeart/2005/8/layout/chevron1"/>
    <dgm:cxn modelId="{8AB1DF6C-F682-4B5D-ADA6-2857881575C5}" srcId="{E11FC242-D6D1-458E-9EB8-B630FF1A95DF}" destId="{46E1446D-E8D5-46A4-B174-6BE95940E344}" srcOrd="0" destOrd="0" parTransId="{66C5B29B-3B6C-47B9-AF40-1DA4FCB82919}" sibTransId="{E2B754F5-EFD7-4C51-84B5-BBA656F89834}"/>
    <dgm:cxn modelId="{EF1F74AA-DE60-4605-8750-58E8FFB9EE44}" srcId="{E11FC242-D6D1-458E-9EB8-B630FF1A95DF}" destId="{54087FE6-68D7-4EB1-9FAB-2480C8B6471E}" srcOrd="1" destOrd="0" parTransId="{34AEE485-3394-455B-AED4-7FFAE2C75516}" sibTransId="{0E55058B-F2DF-4607-92E7-6DF4B74C59BD}"/>
    <dgm:cxn modelId="{059BB4B9-1529-4C8E-A676-03E512BDBF47}" type="presParOf" srcId="{4769F42F-960D-43F3-B997-BC6D41497043}" destId="{0E0D5B9F-EEA8-4BE7-A83C-998FC45584AD}" srcOrd="0" destOrd="0" presId="urn:microsoft.com/office/officeart/2005/8/layout/chevron1"/>
    <dgm:cxn modelId="{01362267-2203-4503-87CE-A1317ECCE05B}" type="presParOf" srcId="{0E0D5B9F-EEA8-4BE7-A83C-998FC45584AD}" destId="{A3D05FB9-AFDF-48AE-B62D-9A9951C4E129}" srcOrd="0" destOrd="0" presId="urn:microsoft.com/office/officeart/2005/8/layout/chevron1"/>
    <dgm:cxn modelId="{C10AEDEB-FF07-433C-B8AF-0AA5A4809027}" type="presParOf" srcId="{0E0D5B9F-EEA8-4BE7-A83C-998FC45584AD}" destId="{CA61639B-290E-47B8-9D02-461D71B66478}" srcOrd="1" destOrd="0" presId="urn:microsoft.com/office/officeart/2005/8/layout/chevron1"/>
    <dgm:cxn modelId="{368E1F99-5473-458F-AE4F-00A1CA06BB69}" type="presParOf" srcId="{4769F42F-960D-43F3-B997-BC6D41497043}" destId="{E16B7438-6163-4816-ABDA-BE4A183CBAAE}" srcOrd="1" destOrd="0" presId="urn:microsoft.com/office/officeart/2005/8/layout/chevron1"/>
    <dgm:cxn modelId="{59F880A2-4FC4-42A6-B8B3-5864E5497C92}" type="presParOf" srcId="{4769F42F-960D-43F3-B997-BC6D41497043}" destId="{ED0D2963-0C21-48B2-9E9A-6F81B2CCCCC9}" srcOrd="2" destOrd="0" presId="urn:microsoft.com/office/officeart/2005/8/layout/chevron1"/>
    <dgm:cxn modelId="{FF4A2099-73FB-426E-9CFC-2FB0DA760F95}" type="presParOf" srcId="{ED0D2963-0C21-48B2-9E9A-6F81B2CCCCC9}" destId="{EB980626-C9F3-4E27-BB87-41E0BAB04230}" srcOrd="0" destOrd="0" presId="urn:microsoft.com/office/officeart/2005/8/layout/chevron1"/>
    <dgm:cxn modelId="{18AAE558-7BC8-46EF-8DDC-5B059738007C}" type="presParOf" srcId="{ED0D2963-0C21-48B2-9E9A-6F81B2CCCCC9}" destId="{0A35DDD9-1593-4195-A8E2-A4FDD1FEF69A}" srcOrd="1" destOrd="0" presId="urn:microsoft.com/office/officeart/2005/8/layout/chevron1"/>
    <dgm:cxn modelId="{B49CCABE-005B-481B-BB09-EBA05FCE23D6}" type="presParOf" srcId="{4769F42F-960D-43F3-B997-BC6D41497043}" destId="{4E778C1C-5D82-4B09-A1B9-C00FCBB4F73F}" srcOrd="3" destOrd="0" presId="urn:microsoft.com/office/officeart/2005/8/layout/chevron1"/>
    <dgm:cxn modelId="{FF079E36-DF10-4116-89C7-F1BC901043F1}" type="presParOf" srcId="{4769F42F-960D-43F3-B997-BC6D41497043}" destId="{395853BB-93A6-461F-AAB8-A0FDF9176C9B}" srcOrd="4" destOrd="0" presId="urn:microsoft.com/office/officeart/2005/8/layout/chevron1"/>
    <dgm:cxn modelId="{C55FA709-10AA-45BD-B1FB-D2DC019CC3B1}" type="presParOf" srcId="{395853BB-93A6-461F-AAB8-A0FDF9176C9B}" destId="{8D295DA3-F28C-4563-9B86-EE837E68355B}" srcOrd="0" destOrd="0" presId="urn:microsoft.com/office/officeart/2005/8/layout/chevron1"/>
    <dgm:cxn modelId="{DCAF6883-C1DA-48E3-B8A4-7736BA295161}" type="presParOf" srcId="{395853BB-93A6-461F-AAB8-A0FDF9176C9B}" destId="{AC04B944-E229-4518-BA24-E58593555CFD}" srcOrd="1" destOrd="0" presId="urn:microsoft.com/office/officeart/2005/8/layout/chevron1"/>
    <dgm:cxn modelId="{A1AA7FF2-71EA-4F5C-9A12-00F5D291D3BA}" type="presParOf" srcId="{4769F42F-960D-43F3-B997-BC6D41497043}" destId="{E8BC4636-69DD-4150-9FF0-7836046B28F7}" srcOrd="5" destOrd="0" presId="urn:microsoft.com/office/officeart/2005/8/layout/chevron1"/>
    <dgm:cxn modelId="{65607378-3060-43F8-9DBF-80B34B093804}" type="presParOf" srcId="{4769F42F-960D-43F3-B997-BC6D41497043}" destId="{FF33804A-D04A-4877-BCB9-3602D7CB7F81}" srcOrd="6" destOrd="0" presId="urn:microsoft.com/office/officeart/2005/8/layout/chevron1"/>
    <dgm:cxn modelId="{03DB24FF-474E-4000-80F8-BD5E508685B6}" type="presParOf" srcId="{FF33804A-D04A-4877-BCB9-3602D7CB7F81}" destId="{C82D163F-18CA-4B46-B016-33C010C8FE83}" srcOrd="0" destOrd="0" presId="urn:microsoft.com/office/officeart/2005/8/layout/chevron1"/>
    <dgm:cxn modelId="{EE4EC29E-B581-4617-A899-09F1A141325A}" type="presParOf" srcId="{FF33804A-D04A-4877-BCB9-3602D7CB7F81}" destId="{70611262-DF5A-49A5-93B5-A0EAC8440400}" srcOrd="1" destOrd="0" presId="urn:microsoft.com/office/officeart/2005/8/layout/chevron1"/>
    <dgm:cxn modelId="{B4BBEBE7-1C71-4534-AF1B-02FC301386B7}" type="presParOf" srcId="{4769F42F-960D-43F3-B997-BC6D41497043}" destId="{06F2BE98-8E5C-44FF-A803-ED3A8599C52D}" srcOrd="7" destOrd="0" presId="urn:microsoft.com/office/officeart/2005/8/layout/chevron1"/>
    <dgm:cxn modelId="{53879992-D45E-46FD-B9E0-AA9B1B857DD5}" type="presParOf" srcId="{4769F42F-960D-43F3-B997-BC6D41497043}" destId="{02B6B31D-4B1B-4C0A-842C-2F4DAA56ACFA}" srcOrd="8" destOrd="0" presId="urn:microsoft.com/office/officeart/2005/8/layout/chevron1"/>
    <dgm:cxn modelId="{26A4098C-7447-46B1-89D5-30430AF535C1}" type="presParOf" srcId="{02B6B31D-4B1B-4C0A-842C-2F4DAA56ACFA}" destId="{01603E10-64C9-49B1-B655-9779FE4593A3}" srcOrd="0" destOrd="0" presId="urn:microsoft.com/office/officeart/2005/8/layout/chevron1"/>
    <dgm:cxn modelId="{2C8CFB43-3A8C-495C-B194-718D0D555767}" type="presParOf" srcId="{02B6B31D-4B1B-4C0A-842C-2F4DAA56ACFA}" destId="{E4B15408-1D9E-4AE3-8382-4B17D15BBBFF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D05FB9-AFDF-48AE-B62D-9A9951C4E129}">
      <dsp:nvSpPr>
        <dsp:cNvPr id="0" name=""/>
        <dsp:cNvSpPr/>
      </dsp:nvSpPr>
      <dsp:spPr>
        <a:xfrm>
          <a:off x="3893" y="140208"/>
          <a:ext cx="1907405" cy="762962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/>
            <a:t>2013</a:t>
          </a:r>
        </a:p>
      </dsp:txBody>
      <dsp:txXfrm>
        <a:off x="385374" y="140208"/>
        <a:ext cx="1144443" cy="762962"/>
      </dsp:txXfrm>
    </dsp:sp>
    <dsp:sp modelId="{CA61639B-290E-47B8-9D02-461D71B66478}">
      <dsp:nvSpPr>
        <dsp:cNvPr id="0" name=""/>
        <dsp:cNvSpPr/>
      </dsp:nvSpPr>
      <dsp:spPr>
        <a:xfrm>
          <a:off x="19144" y="998541"/>
          <a:ext cx="1495421" cy="11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0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19144" y="998541"/>
        <a:ext cx="1495421" cy="1170000"/>
      </dsp:txXfrm>
    </dsp:sp>
    <dsp:sp modelId="{EB980626-C9F3-4E27-BB87-41E0BAB04230}">
      <dsp:nvSpPr>
        <dsp:cNvPr id="0" name=""/>
        <dsp:cNvSpPr/>
      </dsp:nvSpPr>
      <dsp:spPr>
        <a:xfrm>
          <a:off x="1695299" y="140208"/>
          <a:ext cx="1907405" cy="762962"/>
        </a:xfrm>
        <a:prstGeom prst="chevron">
          <a:avLst/>
        </a:prstGeom>
        <a:gradFill rotWithShape="0">
          <a:gsLst>
            <a:gs pos="0">
              <a:schemeClr val="accent4">
                <a:hueOff val="2450223"/>
                <a:satOff val="-10194"/>
                <a:lumOff val="2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450223"/>
                <a:satOff val="-10194"/>
                <a:lumOff val="2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450223"/>
                <a:satOff val="-10194"/>
                <a:lumOff val="2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/>
            <a:t>2015</a:t>
          </a:r>
        </a:p>
      </dsp:txBody>
      <dsp:txXfrm>
        <a:off x="2076780" y="140208"/>
        <a:ext cx="1144443" cy="762962"/>
      </dsp:txXfrm>
    </dsp:sp>
    <dsp:sp modelId="{0A35DDD9-1593-4195-A8E2-A4FDD1FEF69A}">
      <dsp:nvSpPr>
        <dsp:cNvPr id="0" name=""/>
        <dsp:cNvSpPr/>
      </dsp:nvSpPr>
      <dsp:spPr>
        <a:xfrm>
          <a:off x="1829122" y="0"/>
          <a:ext cx="1525924" cy="11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0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1829122" y="0"/>
        <a:ext cx="1525924" cy="1170000"/>
      </dsp:txXfrm>
    </dsp:sp>
    <dsp:sp modelId="{8D295DA3-F28C-4563-9B86-EE837E68355B}">
      <dsp:nvSpPr>
        <dsp:cNvPr id="0" name=""/>
        <dsp:cNvSpPr/>
      </dsp:nvSpPr>
      <dsp:spPr>
        <a:xfrm>
          <a:off x="3386705" y="140208"/>
          <a:ext cx="1907405" cy="762962"/>
        </a:xfrm>
        <a:prstGeom prst="chevron">
          <a:avLst/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/>
            <a:t>2016</a:t>
          </a:r>
        </a:p>
      </dsp:txBody>
      <dsp:txXfrm>
        <a:off x="3768186" y="140208"/>
        <a:ext cx="1144443" cy="762962"/>
      </dsp:txXfrm>
    </dsp:sp>
    <dsp:sp modelId="{AC04B944-E229-4518-BA24-E58593555CFD}">
      <dsp:nvSpPr>
        <dsp:cNvPr id="0" name=""/>
        <dsp:cNvSpPr/>
      </dsp:nvSpPr>
      <dsp:spPr>
        <a:xfrm>
          <a:off x="3386705" y="998541"/>
          <a:ext cx="1525924" cy="11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1" indent="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0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3386705" y="998541"/>
        <a:ext cx="1525924" cy="1170000"/>
      </dsp:txXfrm>
    </dsp:sp>
    <dsp:sp modelId="{C82D163F-18CA-4B46-B016-33C010C8FE83}">
      <dsp:nvSpPr>
        <dsp:cNvPr id="0" name=""/>
        <dsp:cNvSpPr/>
      </dsp:nvSpPr>
      <dsp:spPr>
        <a:xfrm>
          <a:off x="5078110" y="140208"/>
          <a:ext cx="1907405" cy="762962"/>
        </a:xfrm>
        <a:prstGeom prst="chevron">
          <a:avLst/>
        </a:prstGeom>
        <a:gradFill rotWithShape="0">
          <a:gsLst>
            <a:gs pos="0">
              <a:schemeClr val="accent4">
                <a:hueOff val="7350668"/>
                <a:satOff val="-30583"/>
                <a:lumOff val="72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7350668"/>
                <a:satOff val="-30583"/>
                <a:lumOff val="72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7350668"/>
                <a:satOff val="-30583"/>
                <a:lumOff val="72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/>
            <a:t>2017</a:t>
          </a:r>
        </a:p>
      </dsp:txBody>
      <dsp:txXfrm>
        <a:off x="5459591" y="140208"/>
        <a:ext cx="1144443" cy="762962"/>
      </dsp:txXfrm>
    </dsp:sp>
    <dsp:sp modelId="{70611262-DF5A-49A5-93B5-A0EAC8440400}">
      <dsp:nvSpPr>
        <dsp:cNvPr id="0" name=""/>
        <dsp:cNvSpPr/>
      </dsp:nvSpPr>
      <dsp:spPr>
        <a:xfrm>
          <a:off x="5133868" y="0"/>
          <a:ext cx="1525924" cy="11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1" indent="-285750" algn="ctr" defTabSz="2889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65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5133868" y="0"/>
        <a:ext cx="1525924" cy="1170000"/>
      </dsp:txXfrm>
    </dsp:sp>
    <dsp:sp modelId="{01603E10-64C9-49B1-B655-9779FE4593A3}">
      <dsp:nvSpPr>
        <dsp:cNvPr id="0" name=""/>
        <dsp:cNvSpPr/>
      </dsp:nvSpPr>
      <dsp:spPr>
        <a:xfrm>
          <a:off x="6769516" y="140208"/>
          <a:ext cx="1907405" cy="762962"/>
        </a:xfrm>
        <a:prstGeom prst="chevron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/>
            <a:t>2019</a:t>
          </a:r>
        </a:p>
      </dsp:txBody>
      <dsp:txXfrm>
        <a:off x="7150997" y="140208"/>
        <a:ext cx="1144443" cy="762962"/>
      </dsp:txXfrm>
    </dsp:sp>
    <dsp:sp modelId="{E4B15408-1D9E-4AE3-8382-4B17D15BBBFF}">
      <dsp:nvSpPr>
        <dsp:cNvPr id="0" name=""/>
        <dsp:cNvSpPr/>
      </dsp:nvSpPr>
      <dsp:spPr>
        <a:xfrm>
          <a:off x="6769516" y="998541"/>
          <a:ext cx="1525924" cy="11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1" indent="-285750" algn="ctr" defTabSz="2889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65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6769516" y="998541"/>
        <a:ext cx="1525924" cy="117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A5097-9273-4264-AA24-6D98071DE342}" type="datetimeFigureOut">
              <a:rPr lang="en-US" smtClean="0"/>
              <a:t>11/6/2019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88045-61A3-4951-9C2B-5C89552795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77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6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8045-61A3-4951-9C2B-5C89552795D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862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8045-61A3-4951-9C2B-5C89552795D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431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Irembo has integrated with LODA MIS/Ubudehe Database. This will enable all updates made in the database to be accessible to citizens in real time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LODA  has developed an interface with NIDA to retrieve and validate citizens information from NIDA database</a:t>
            </a:r>
          </a:p>
          <a:p>
            <a:endParaRPr lang="en-US" dirty="0"/>
          </a:p>
          <a:p>
            <a:r>
              <a:rPr lang="en-US" dirty="0"/>
              <a:t>Irembo has developed an interface for citizens to access Ubudehe database information via USSD/Web (*909#)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Once citizen retrieve their information from Ubudehe database can proceed making payment through Irembo platform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354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472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9615"/>
            <a:ext cx="7772400" cy="2010347"/>
          </a:xfrm>
        </p:spPr>
        <p:txBody>
          <a:bodyPr anchor="b"/>
          <a:lstStyle>
            <a:lvl1pPr algn="ctr">
              <a:defRPr sz="6000" b="1">
                <a:solidFill>
                  <a:srgbClr val="00B0F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7437D5E6-BCAC-4229-92F5-B5CB2C8A476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7F2CFF-8054-4A6A-9AF0-FF8EBAEE2A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022"/>
            <a:ext cx="2403735" cy="8693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8D5F2B-6F28-4CA1-899B-9228D2C499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05622" y="90743"/>
            <a:ext cx="634679" cy="86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5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762" y="832101"/>
            <a:ext cx="8131302" cy="676659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B0F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762" y="1508760"/>
            <a:ext cx="8131302" cy="4663631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7437D5E6-BCAC-4229-92F5-B5CB2C8A47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18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solidFill>
                  <a:srgbClr val="00B0F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7437D5E6-BCAC-4229-92F5-B5CB2C8A47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02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7437D5E6-BCAC-4229-92F5-B5CB2C8A47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69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66777"/>
            <a:ext cx="7886700" cy="823912"/>
          </a:xfr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7437D5E6-BCAC-4229-92F5-B5CB2C8A47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827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7437D5E6-BCAC-4229-92F5-B5CB2C8A47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45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D5E6-BCAC-4229-92F5-B5CB2C8A47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2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MEIS Workshop 6-7 June 2018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1295400"/>
            <a:ext cx="4038600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648200" y="1295400"/>
            <a:ext cx="4038600" cy="48768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127001"/>
            <a:ext cx="8229600" cy="812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10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MEIS Workshop 6-7 June 2018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1295400"/>
            <a:ext cx="2667000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3238500" y="1295400"/>
            <a:ext cx="2667000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6019800" y="1295400"/>
            <a:ext cx="2667000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127001"/>
            <a:ext cx="8229600" cy="812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438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MEIS Workshop 6-7 June 2018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1295400"/>
            <a:ext cx="4038600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648200" y="1295400"/>
            <a:ext cx="4038600" cy="48768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127001"/>
            <a:ext cx="8229600" cy="812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704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MEIS Workshop 6-7 June 2018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1295400"/>
            <a:ext cx="4038600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648200" y="1295400"/>
            <a:ext cx="4038600" cy="48768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127001"/>
            <a:ext cx="8229600" cy="812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3962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MEIS Workshop 6-7 June 2018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57200" y="1295400"/>
            <a:ext cx="4038600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648200" y="1295400"/>
            <a:ext cx="4038600" cy="48768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127001"/>
            <a:ext cx="8229600" cy="812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1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914400"/>
            <a:ext cx="7886700" cy="776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850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37D5E6-BCAC-4229-92F5-B5CB2C8A476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14A06-8571-4766-9ADB-6ED6879CD10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45022"/>
            <a:ext cx="2403735" cy="8693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37731C-80E5-429C-A029-CA01B445933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405622" y="90743"/>
            <a:ext cx="634679" cy="86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8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1.png"/><Relationship Id="rId18" Type="http://schemas.openxmlformats.org/officeDocument/2006/relationships/image" Target="../media/image22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image" Target="../media/image16.sv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9.png"/><Relationship Id="rId1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111F-6C8C-437F-B9D9-14727D6F4A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4800" dirty="0"/>
              <a:t>MEIS System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883AF-7D98-4107-A249-41DF573E9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227262"/>
          </a:xfrm>
        </p:spPr>
        <p:txBody>
          <a:bodyPr>
            <a:noAutofit/>
          </a:bodyPr>
          <a:lstStyle/>
          <a:p>
            <a:r>
              <a:rPr lang="en-GB" dirty="0"/>
              <a:t>What are main MEIS functionalities and what benefits does the MEIS bring for LODA and Local Government?</a:t>
            </a: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24E5E-E701-4C0C-8BB7-61E939DE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D5E6-BCAC-4229-92F5-B5CB2C8A476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35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4B86B85-E952-4701-958C-80876E83B9CB}"/>
              </a:ext>
            </a:extLst>
          </p:cNvPr>
          <p:cNvSpPr/>
          <p:nvPr/>
        </p:nvSpPr>
        <p:spPr>
          <a:xfrm>
            <a:off x="165450" y="970910"/>
            <a:ext cx="8764859" cy="5754029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2"/>
          <p:cNvSpPr/>
          <p:nvPr/>
        </p:nvSpPr>
        <p:spPr>
          <a:xfrm>
            <a:off x="6376154" y="2857361"/>
            <a:ext cx="1567496" cy="199037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  <a:alpha val="70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1350" kern="0" dirty="0">
              <a:solidFill>
                <a:sysClr val="window" lastClr="FFFFFF"/>
              </a:solidFill>
              <a:cs typeface="Arial" pitchFamily="34" charset="0"/>
            </a:endParaRPr>
          </a:p>
        </p:txBody>
      </p:sp>
      <p:sp>
        <p:nvSpPr>
          <p:cNvPr id="15" name="Title 92"/>
          <p:cNvSpPr>
            <a:spLocks noGrp="1"/>
          </p:cNvSpPr>
          <p:nvPr>
            <p:ph type="title"/>
          </p:nvPr>
        </p:nvSpPr>
        <p:spPr>
          <a:xfrm>
            <a:off x="433080" y="970910"/>
            <a:ext cx="8229600" cy="533450"/>
          </a:xfrm>
        </p:spPr>
        <p:txBody>
          <a:bodyPr>
            <a:noAutofit/>
          </a:bodyPr>
          <a:lstStyle/>
          <a:p>
            <a:r>
              <a:rPr lang="en-US" sz="3600" b="1" dirty="0"/>
              <a:t>LODA 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108" y="1720840"/>
            <a:ext cx="79183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983" eaLnBrk="0" fontAlgn="base" hangingPunct="0">
              <a:spcAft>
                <a:spcPct val="0"/>
              </a:spcAft>
              <a:buClr>
                <a:srgbClr val="93A299"/>
              </a:buClr>
              <a:buSzPct val="85000"/>
              <a:defRPr/>
            </a:pPr>
            <a:r>
              <a:rPr lang="en-GB" sz="3600" b="1" dirty="0">
                <a:solidFill>
                  <a:schemeClr val="accent6">
                    <a:lumMod val="75000"/>
                  </a:schemeClr>
                </a:solidFill>
              </a:rPr>
              <a:t>“To effectively and efficiently contribute to sustainable development and poverty reduction through fund mobilization for decentralised entities</a:t>
            </a:r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C13A75-2F51-417F-AFE0-8040382C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D5E6-BCAC-4229-92F5-B5CB2C8A476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52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3AC3-6404-4B1A-A25B-4CF471A27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 of MEIS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C563326-D62F-442A-8015-A74D5AB655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8178908"/>
              </p:ext>
            </p:extLst>
          </p:nvPr>
        </p:nvGraphicFramePr>
        <p:xfrm>
          <a:off x="231592" y="2874318"/>
          <a:ext cx="8680816" cy="230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CC0685-6EF7-4FAF-AF6D-EC57E2E3EC52}"/>
              </a:ext>
            </a:extLst>
          </p:cNvPr>
          <p:cNvSpPr txBox="1"/>
          <p:nvPr/>
        </p:nvSpPr>
        <p:spPr>
          <a:xfrm>
            <a:off x="477467" y="1674932"/>
            <a:ext cx="7665571" cy="105560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6"/>
                </a:solidFill>
              </a:rPr>
              <a:t>Tool to manage Local Development projects and Social Protection activities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826B0B-CF63-4F5F-A4B8-505EF3E2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3300" y="6156457"/>
            <a:ext cx="2057400" cy="365125"/>
          </a:xfrm>
        </p:spPr>
        <p:txBody>
          <a:bodyPr/>
          <a:lstStyle/>
          <a:p>
            <a:fld id="{7437D5E6-BCAC-4229-92F5-B5CB2C8A4767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C7323-F2A3-456C-9339-BD3DF8E03F23}"/>
              </a:ext>
            </a:extLst>
          </p:cNvPr>
          <p:cNvSpPr txBox="1"/>
          <p:nvPr/>
        </p:nvSpPr>
        <p:spPr>
          <a:xfrm>
            <a:off x="4258915" y="3932703"/>
            <a:ext cx="2822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Extended to project management tool and by SP workflows (DS, PW payrolls, payments, …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E5D10-A397-4CFB-AA01-E827342653B8}"/>
              </a:ext>
            </a:extLst>
          </p:cNvPr>
          <p:cNvSpPr txBox="1"/>
          <p:nvPr/>
        </p:nvSpPr>
        <p:spPr>
          <a:xfrm>
            <a:off x="1903344" y="3893131"/>
            <a:ext cx="1639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prototype available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D08B0-C484-4E41-9BD9-C2FE0E959C7E}"/>
              </a:ext>
            </a:extLst>
          </p:cNvPr>
          <p:cNvSpPr txBox="1"/>
          <p:nvPr/>
        </p:nvSpPr>
        <p:spPr>
          <a:xfrm>
            <a:off x="247490" y="3886537"/>
            <a:ext cx="1639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development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05A579-6B83-4D3F-8C53-C4D7DF719B5C}"/>
              </a:ext>
            </a:extLst>
          </p:cNvPr>
          <p:cNvSpPr txBox="1"/>
          <p:nvPr/>
        </p:nvSpPr>
        <p:spPr>
          <a:xfrm>
            <a:off x="7603433" y="3886536"/>
            <a:ext cx="16399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Upcoming ICT project to develop towards District enterprise resource system</a:t>
            </a:r>
            <a:endParaRPr lang="en-GB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3" name="Graphic 12" descr="Exclamation mark">
            <a:extLst>
              <a:ext uri="{FF2B5EF4-FFF2-40B4-BE49-F238E27FC236}">
                <a16:creationId xmlns:a16="http://schemas.microsoft.com/office/drawing/2014/main" id="{3C3A116A-D84C-43E4-BF3A-EF818708786B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885331" y="393270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0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676DC4-2EA2-4766-98A7-82CDABBF2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33" y="1508760"/>
            <a:ext cx="8673534" cy="41489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F21774-32A0-435D-AE7F-6435ADA6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b="1" dirty="0"/>
              <a:t>MEIS toda</a:t>
            </a:r>
            <a:r>
              <a:rPr lang="en-GB" dirty="0"/>
              <a:t>y</a:t>
            </a:r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08E27-371F-43A0-96D5-3ED3D12B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D5E6-BCAC-4229-92F5-B5CB2C8A476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50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9FF0-31DD-451D-A5FB-7A18967A0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62" y="832101"/>
            <a:ext cx="8131302" cy="676659"/>
          </a:xfrm>
        </p:spPr>
        <p:txBody>
          <a:bodyPr/>
          <a:lstStyle/>
          <a:p>
            <a:r>
              <a:rPr lang="en-GB" dirty="0"/>
              <a:t>MEIS as a management and data tool </a:t>
            </a:r>
            <a:r>
              <a:rPr lang="en-GB" b="1" dirty="0"/>
              <a:t> </a:t>
            </a:r>
          </a:p>
        </p:txBody>
      </p:sp>
      <p:pic>
        <p:nvPicPr>
          <p:cNvPr id="20" name="Content Placeholder 19" descr="Computer">
            <a:extLst>
              <a:ext uri="{FF2B5EF4-FFF2-40B4-BE49-F238E27FC236}">
                <a16:creationId xmlns:a16="http://schemas.microsoft.com/office/drawing/2014/main" id="{E22D6815-B1AA-481F-ADB9-E446490BC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705137" y="1682268"/>
            <a:ext cx="1020307" cy="1020307"/>
          </a:xfrm>
        </p:spPr>
      </p:pic>
      <p:pic>
        <p:nvPicPr>
          <p:cNvPr id="11" name="Graphic 10" descr="Team">
            <a:extLst>
              <a:ext uri="{FF2B5EF4-FFF2-40B4-BE49-F238E27FC236}">
                <a16:creationId xmlns:a16="http://schemas.microsoft.com/office/drawing/2014/main" id="{55E69B78-8D59-41C5-A642-2F3DAE0CAA1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259369" y="1448685"/>
            <a:ext cx="685979" cy="685979"/>
          </a:xfrm>
          <a:prstGeom prst="rect">
            <a:avLst/>
          </a:prstGeom>
        </p:spPr>
      </p:pic>
      <p:pic>
        <p:nvPicPr>
          <p:cNvPr id="13" name="Graphic 12" descr="Family with two children">
            <a:extLst>
              <a:ext uri="{FF2B5EF4-FFF2-40B4-BE49-F238E27FC236}">
                <a16:creationId xmlns:a16="http://schemas.microsoft.com/office/drawing/2014/main" id="{7DC0238D-312C-4668-9EE2-FFB4CA54639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240517" y="4729665"/>
            <a:ext cx="800190" cy="80019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BD0E50B-C90E-4881-B43F-C4A5FADA581D}"/>
              </a:ext>
            </a:extLst>
          </p:cNvPr>
          <p:cNvSpPr/>
          <p:nvPr/>
        </p:nvSpPr>
        <p:spPr>
          <a:xfrm>
            <a:off x="3732585" y="3368504"/>
            <a:ext cx="914400" cy="685979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Data</a:t>
            </a:r>
          </a:p>
        </p:txBody>
      </p:sp>
      <p:pic>
        <p:nvPicPr>
          <p:cNvPr id="15" name="Graphic 14" descr="Building">
            <a:extLst>
              <a:ext uri="{FF2B5EF4-FFF2-40B4-BE49-F238E27FC236}">
                <a16:creationId xmlns:a16="http://schemas.microsoft.com/office/drawing/2014/main" id="{0793DB3C-D7E7-4E0F-9841-9996268E60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592314" y="3223687"/>
            <a:ext cx="1257628" cy="1257628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6D7C154B-3661-4D8E-BEEF-4877A7DAD4D7}"/>
              </a:ext>
            </a:extLst>
          </p:cNvPr>
          <p:cNvSpPr/>
          <p:nvPr/>
        </p:nvSpPr>
        <p:spPr>
          <a:xfrm>
            <a:off x="5915443" y="3327020"/>
            <a:ext cx="1058039" cy="714293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Reports</a:t>
            </a:r>
          </a:p>
        </p:txBody>
      </p:sp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DDE07DD2-C2C4-4123-9276-47D9A77B9295}"/>
              </a:ext>
            </a:extLst>
          </p:cNvPr>
          <p:cNvSpPr/>
          <p:nvPr/>
        </p:nvSpPr>
        <p:spPr>
          <a:xfrm>
            <a:off x="4563157" y="2523860"/>
            <a:ext cx="1389280" cy="685979"/>
          </a:xfrm>
          <a:prstGeom prst="flowChartDocumen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MEIS</a:t>
            </a:r>
          </a:p>
        </p:txBody>
      </p:sp>
      <p:sp>
        <p:nvSpPr>
          <p:cNvPr id="18" name="Flowchart: Multidocument 17">
            <a:extLst>
              <a:ext uri="{FF2B5EF4-FFF2-40B4-BE49-F238E27FC236}">
                <a16:creationId xmlns:a16="http://schemas.microsoft.com/office/drawing/2014/main" id="{67DD1065-D46D-42C7-B9EE-6BD3DB73FAC9}"/>
              </a:ext>
            </a:extLst>
          </p:cNvPr>
          <p:cNvSpPr/>
          <p:nvPr/>
        </p:nvSpPr>
        <p:spPr>
          <a:xfrm>
            <a:off x="6829844" y="3711493"/>
            <a:ext cx="1852070" cy="1962176"/>
          </a:xfrm>
          <a:prstGeom prst="flowChartMultidocumen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Cabinet,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Technical Ministries,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Development Partner,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etc.</a:t>
            </a:r>
          </a:p>
        </p:txBody>
      </p:sp>
      <p:pic>
        <p:nvPicPr>
          <p:cNvPr id="22" name="Graphic 21" descr="Bank">
            <a:extLst>
              <a:ext uri="{FF2B5EF4-FFF2-40B4-BE49-F238E27FC236}">
                <a16:creationId xmlns:a16="http://schemas.microsoft.com/office/drawing/2014/main" id="{891C4A2A-40D3-449D-9605-84ED4CC9DE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875690" y="2236679"/>
            <a:ext cx="1503486" cy="1503486"/>
          </a:xfrm>
          <a:prstGeom prst="rect">
            <a:avLst/>
          </a:prstGeom>
        </p:spPr>
      </p:pic>
      <p:pic>
        <p:nvPicPr>
          <p:cNvPr id="4" name="Graphic 3" descr="Excavator">
            <a:extLst>
              <a:ext uri="{FF2B5EF4-FFF2-40B4-BE49-F238E27FC236}">
                <a16:creationId xmlns:a16="http://schemas.microsoft.com/office/drawing/2014/main" id="{C5AFD802-189C-41D9-AC1F-6CAE87EB4326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173665" y="3808141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DDEDD0-BC88-48ED-ABD3-67377A35A552}"/>
              </a:ext>
            </a:extLst>
          </p:cNvPr>
          <p:cNvSpPr txBox="1"/>
          <p:nvPr/>
        </p:nvSpPr>
        <p:spPr>
          <a:xfrm>
            <a:off x="43717" y="1465909"/>
            <a:ext cx="1103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Needs &amp; Profiling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D2BE1-8C54-49DC-9E7D-13F11CCCDF65}"/>
              </a:ext>
            </a:extLst>
          </p:cNvPr>
          <p:cNvSpPr txBox="1"/>
          <p:nvPr/>
        </p:nvSpPr>
        <p:spPr>
          <a:xfrm>
            <a:off x="70367" y="4097903"/>
            <a:ext cx="110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Works</a:t>
            </a:r>
            <a:endParaRPr lang="en-GB" dirty="0"/>
          </a:p>
        </p:txBody>
      </p:sp>
      <p:pic>
        <p:nvPicPr>
          <p:cNvPr id="9" name="Graphic 8" descr="Money">
            <a:extLst>
              <a:ext uri="{FF2B5EF4-FFF2-40B4-BE49-F238E27FC236}">
                <a16:creationId xmlns:a16="http://schemas.microsoft.com/office/drawing/2014/main" id="{71D51637-E6E5-4140-9A1F-8DC28418D104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1173665" y="2950273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0E4119-9E4C-43EC-8F4F-5EB04FE02C15}"/>
              </a:ext>
            </a:extLst>
          </p:cNvPr>
          <p:cNvSpPr txBox="1"/>
          <p:nvPr/>
        </p:nvSpPr>
        <p:spPr>
          <a:xfrm>
            <a:off x="-56050" y="3292651"/>
            <a:ext cx="110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Budget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1E1DE8-6F92-4E00-93C8-FD6EAD7EB61A}"/>
              </a:ext>
            </a:extLst>
          </p:cNvPr>
          <p:cNvSpPr txBox="1"/>
          <p:nvPr/>
        </p:nvSpPr>
        <p:spPr>
          <a:xfrm>
            <a:off x="8735" y="4758473"/>
            <a:ext cx="1226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Social Protection</a:t>
            </a:r>
            <a:endParaRPr lang="en-US" dirty="0"/>
          </a:p>
        </p:txBody>
      </p:sp>
      <p:pic>
        <p:nvPicPr>
          <p:cNvPr id="12" name="Graphic 11" descr="Teacher">
            <a:extLst>
              <a:ext uri="{FF2B5EF4-FFF2-40B4-BE49-F238E27FC236}">
                <a16:creationId xmlns:a16="http://schemas.microsoft.com/office/drawing/2014/main" id="{A118A3B3-6620-482C-A8C7-80430022D076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1083166" y="2145021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65D374C-A65C-4519-ABF0-01331CC9272F}"/>
              </a:ext>
            </a:extLst>
          </p:cNvPr>
          <p:cNvSpPr txBox="1"/>
          <p:nvPr/>
        </p:nvSpPr>
        <p:spPr>
          <a:xfrm>
            <a:off x="136646" y="2383211"/>
            <a:ext cx="110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Planning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E8EA8D-E311-4709-ACB6-25F081D3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D5E6-BCAC-4229-92F5-B5CB2C8A4767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D549F57F-73BF-45C3-8551-FB07B4DCA974}"/>
              </a:ext>
            </a:extLst>
          </p:cNvPr>
          <p:cNvSpPr/>
          <p:nvPr/>
        </p:nvSpPr>
        <p:spPr>
          <a:xfrm>
            <a:off x="2196548" y="1498690"/>
            <a:ext cx="1200463" cy="646331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Citizen priorities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41341326-1DCA-4BF3-9058-C4470A4F65C7}"/>
              </a:ext>
            </a:extLst>
          </p:cNvPr>
          <p:cNvSpPr/>
          <p:nvPr/>
        </p:nvSpPr>
        <p:spPr>
          <a:xfrm>
            <a:off x="2196548" y="2298148"/>
            <a:ext cx="1200463" cy="646331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Profiling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" name="Cylinder 28">
            <a:extLst>
              <a:ext uri="{FF2B5EF4-FFF2-40B4-BE49-F238E27FC236}">
                <a16:creationId xmlns:a16="http://schemas.microsoft.com/office/drawing/2014/main" id="{F3B8CAE7-DFB5-41F0-A0FC-7F837D6B787B}"/>
              </a:ext>
            </a:extLst>
          </p:cNvPr>
          <p:cNvSpPr/>
          <p:nvPr/>
        </p:nvSpPr>
        <p:spPr>
          <a:xfrm>
            <a:off x="2196548" y="3097606"/>
            <a:ext cx="1200463" cy="646331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PPDs and OPAFs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8C55EF8F-E76D-474B-9B31-64A929F1DD45}"/>
              </a:ext>
            </a:extLst>
          </p:cNvPr>
          <p:cNvSpPr/>
          <p:nvPr/>
        </p:nvSpPr>
        <p:spPr>
          <a:xfrm>
            <a:off x="2196548" y="3897064"/>
            <a:ext cx="1200463" cy="646331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LED Projects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1" name="Cylinder 30">
            <a:extLst>
              <a:ext uri="{FF2B5EF4-FFF2-40B4-BE49-F238E27FC236}">
                <a16:creationId xmlns:a16="http://schemas.microsoft.com/office/drawing/2014/main" id="{02F682B6-7084-4E05-A756-63E94A99028F}"/>
              </a:ext>
            </a:extLst>
          </p:cNvPr>
          <p:cNvSpPr/>
          <p:nvPr/>
        </p:nvSpPr>
        <p:spPr>
          <a:xfrm>
            <a:off x="2196548" y="4696522"/>
            <a:ext cx="1200463" cy="646331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Monitoring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1309910E-B778-4A4F-8CCE-A3083A3C2136}"/>
              </a:ext>
            </a:extLst>
          </p:cNvPr>
          <p:cNvSpPr/>
          <p:nvPr/>
        </p:nvSpPr>
        <p:spPr>
          <a:xfrm>
            <a:off x="2196548" y="5495978"/>
            <a:ext cx="1200463" cy="899484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IFMIS budget interface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5D113583-A138-4318-A01E-B25EC259C99A}"/>
              </a:ext>
            </a:extLst>
          </p:cNvPr>
          <p:cNvSpPr/>
          <p:nvPr/>
        </p:nvSpPr>
        <p:spPr>
          <a:xfrm>
            <a:off x="818027" y="5519091"/>
            <a:ext cx="1200463" cy="899484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SP workflows (DS, PW, FS)</a:t>
            </a: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22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System Interconnections and interfaces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62" y="1791626"/>
            <a:ext cx="8113698" cy="4460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773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92"/>
          <p:cNvSpPr txBox="1">
            <a:spLocks/>
          </p:cNvSpPr>
          <p:nvPr/>
        </p:nvSpPr>
        <p:spPr>
          <a:xfrm>
            <a:off x="412470" y="1028075"/>
            <a:ext cx="8540621" cy="5334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001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770111"/>
              </p:ext>
            </p:extLst>
          </p:nvPr>
        </p:nvGraphicFramePr>
        <p:xfrm>
          <a:off x="412470" y="1828383"/>
          <a:ext cx="4223923" cy="38942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83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0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381">
                <a:tc>
                  <a:txBody>
                    <a:bodyPr/>
                    <a:lstStyle/>
                    <a:p>
                      <a:r>
                        <a:rPr lang="en-US" sz="1800" b="1" noProof="0" dirty="0"/>
                        <a:t>Users</a:t>
                      </a:r>
                    </a:p>
                  </a:txBody>
                  <a:tcPr marL="68598" marR="68598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2,088 active users registered </a:t>
                      </a:r>
                    </a:p>
                  </a:txBody>
                  <a:tcPr marL="68598" marR="68598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1387">
                <a:tc>
                  <a:txBody>
                    <a:bodyPr/>
                    <a:lstStyle/>
                    <a:p>
                      <a:r>
                        <a:rPr lang="en-US" sz="1800" b="1" noProof="0" dirty="0"/>
                        <a:t>Trans-actions</a:t>
                      </a:r>
                    </a:p>
                  </a:txBody>
                  <a:tcPr marL="68598" marR="68598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-180000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6.7 million transactions (data records changed)</a:t>
                      </a:r>
                    </a:p>
                    <a:p>
                      <a:pPr marL="180000" indent="-180000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On average 63,000 transactions per day</a:t>
                      </a:r>
                    </a:p>
                  </a:txBody>
                  <a:tcPr marL="68598" marR="68598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4496">
                <a:tc>
                  <a:txBody>
                    <a:bodyPr/>
                    <a:lstStyle/>
                    <a:p>
                      <a:r>
                        <a:rPr lang="en-US" sz="1800" b="1" noProof="0" dirty="0"/>
                        <a:t>Data </a:t>
                      </a:r>
                    </a:p>
                  </a:txBody>
                  <a:tcPr marL="68598" marR="68598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-18000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content: 5.5 gigabyte binary data </a:t>
                      </a:r>
                    </a:p>
                    <a:p>
                      <a:pPr marL="180000" indent="-18000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base size: 2.7 gigabyte </a:t>
                      </a:r>
                    </a:p>
                    <a:p>
                      <a:pPr marL="180000" indent="-18000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Relational data base system: 39 gigabyte</a:t>
                      </a:r>
                    </a:p>
                    <a:p>
                      <a:pPr marL="180000" indent="-18000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4,899 files uploaded </a:t>
                      </a:r>
                    </a:p>
                  </a:txBody>
                  <a:tcPr marL="68598" marR="68598" marT="34299" marB="3429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Gruppieren 5">
            <a:extLst>
              <a:ext uri="{FF2B5EF4-FFF2-40B4-BE49-F238E27FC236}">
                <a16:creationId xmlns:a16="http://schemas.microsoft.com/office/drawing/2014/main" id="{D504CC7E-E29C-4B41-9F2A-818262E7E8F8}"/>
              </a:ext>
            </a:extLst>
          </p:cNvPr>
          <p:cNvGrpSpPr/>
          <p:nvPr/>
        </p:nvGrpSpPr>
        <p:grpSpPr>
          <a:xfrm>
            <a:off x="7647552" y="4144157"/>
            <a:ext cx="1263890" cy="1578491"/>
            <a:chOff x="5759090" y="3559948"/>
            <a:chExt cx="958540" cy="1197135"/>
          </a:xfrm>
        </p:grpSpPr>
        <p:pic>
          <p:nvPicPr>
            <p:cNvPr id="6" name="Picture 92867">
              <a:extLst>
                <a:ext uri="{FF2B5EF4-FFF2-40B4-BE49-F238E27FC236}">
                  <a16:creationId xmlns:a16="http://schemas.microsoft.com/office/drawing/2014/main" id="{B3B835B6-68D2-43E7-BB37-6D19846FEE3A}"/>
                </a:ext>
              </a:extLst>
            </p:cNvPr>
            <p:cNvPicPr/>
            <p:nvPr/>
          </p:nvPicPr>
          <p:blipFill rotWithShape="1">
            <a:blip r:embed="rId3"/>
            <a:srcRect l="47229" t="52956" r="33267" b="11305"/>
            <a:stretch/>
          </p:blipFill>
          <p:spPr>
            <a:xfrm>
              <a:off x="5759090" y="3559948"/>
              <a:ext cx="839378" cy="1197135"/>
            </a:xfrm>
            <a:prstGeom prst="rect">
              <a:avLst/>
            </a:prstGeom>
          </p:spPr>
        </p:pic>
        <p:sp>
          <p:nvSpPr>
            <p:cNvPr id="7" name="Ellipse 7">
              <a:extLst>
                <a:ext uri="{FF2B5EF4-FFF2-40B4-BE49-F238E27FC236}">
                  <a16:creationId xmlns:a16="http://schemas.microsoft.com/office/drawing/2014/main" id="{F525BD42-5184-41EC-8751-A7B9240DC7BE}"/>
                </a:ext>
              </a:extLst>
            </p:cNvPr>
            <p:cNvSpPr/>
            <p:nvPr/>
          </p:nvSpPr>
          <p:spPr>
            <a:xfrm>
              <a:off x="6429598" y="4242527"/>
              <a:ext cx="288032" cy="31191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5" dirty="0"/>
            </a:p>
          </p:txBody>
        </p:sp>
      </p:grpSp>
      <p:cxnSp>
        <p:nvCxnSpPr>
          <p:cNvPr id="8" name="Gerade Verbindung mit Pfeil 9">
            <a:extLst>
              <a:ext uri="{FF2B5EF4-FFF2-40B4-BE49-F238E27FC236}">
                <a16:creationId xmlns:a16="http://schemas.microsoft.com/office/drawing/2014/main" id="{766B735B-DBCE-4571-94C9-22D8F9A00B6D}"/>
              </a:ext>
            </a:extLst>
          </p:cNvPr>
          <p:cNvCxnSpPr>
            <a:cxnSpLocks/>
          </p:cNvCxnSpPr>
          <p:nvPr/>
        </p:nvCxnSpPr>
        <p:spPr>
          <a:xfrm>
            <a:off x="7382718" y="3089677"/>
            <a:ext cx="529668" cy="1018442"/>
          </a:xfrm>
          <a:prstGeom prst="straightConnector1">
            <a:avLst/>
          </a:prstGeom>
          <a:ln w="28575">
            <a:solidFill>
              <a:srgbClr val="002060"/>
            </a:solidFill>
            <a:headEnd type="none"/>
            <a:tailEnd type="triangle"/>
          </a:ln>
          <a:effectLst>
            <a:glow rad="127000">
              <a:schemeClr val="bg1"/>
            </a:glow>
            <a:outerShdw blurRad="50800" dist="50800" dir="5400000" algn="ctr" rotWithShape="0">
              <a:schemeClr val="bg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4" descr="http://www.clker.com/cliparts/8/5/4/0/11954453491524554631johnny_automatic_computer_keyboard_1.svg.med.png">
            <a:extLst>
              <a:ext uri="{FF2B5EF4-FFF2-40B4-BE49-F238E27FC236}">
                <a16:creationId xmlns:a16="http://schemas.microsoft.com/office/drawing/2014/main" id="{08C65654-CA5D-446E-96BF-BBAE84B1E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515" y="3524218"/>
            <a:ext cx="1607762" cy="50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ihandform 17">
            <a:extLst>
              <a:ext uri="{FF2B5EF4-FFF2-40B4-BE49-F238E27FC236}">
                <a16:creationId xmlns:a16="http://schemas.microsoft.com/office/drawing/2014/main" id="{0E816F72-7328-4AAE-A26F-56949CEDF0E1}"/>
              </a:ext>
            </a:extLst>
          </p:cNvPr>
          <p:cNvSpPr/>
          <p:nvPr/>
        </p:nvSpPr>
        <p:spPr>
          <a:xfrm>
            <a:off x="6019763" y="3014902"/>
            <a:ext cx="819585" cy="583570"/>
          </a:xfrm>
          <a:custGeom>
            <a:avLst/>
            <a:gdLst>
              <a:gd name="connsiteX0" fmla="*/ 180754 w 1456661"/>
              <a:gd name="connsiteY0" fmla="*/ 1233376 h 1233376"/>
              <a:gd name="connsiteX1" fmla="*/ 191386 w 1456661"/>
              <a:gd name="connsiteY1" fmla="*/ 1180214 h 1233376"/>
              <a:gd name="connsiteX2" fmla="*/ 159489 w 1456661"/>
              <a:gd name="connsiteY2" fmla="*/ 1031358 h 1233376"/>
              <a:gd name="connsiteX3" fmla="*/ 148856 w 1456661"/>
              <a:gd name="connsiteY3" fmla="*/ 956930 h 1233376"/>
              <a:gd name="connsiteX4" fmla="*/ 127591 w 1456661"/>
              <a:gd name="connsiteY4" fmla="*/ 818707 h 1233376"/>
              <a:gd name="connsiteX5" fmla="*/ 85061 w 1456661"/>
              <a:gd name="connsiteY5" fmla="*/ 733646 h 1233376"/>
              <a:gd name="connsiteX6" fmla="*/ 53163 w 1456661"/>
              <a:gd name="connsiteY6" fmla="*/ 637953 h 1233376"/>
              <a:gd name="connsiteX7" fmla="*/ 21265 w 1456661"/>
              <a:gd name="connsiteY7" fmla="*/ 531628 h 1233376"/>
              <a:gd name="connsiteX8" fmla="*/ 10633 w 1456661"/>
              <a:gd name="connsiteY8" fmla="*/ 499730 h 1233376"/>
              <a:gd name="connsiteX9" fmla="*/ 0 w 1456661"/>
              <a:gd name="connsiteY9" fmla="*/ 457200 h 1233376"/>
              <a:gd name="connsiteX10" fmla="*/ 10633 w 1456661"/>
              <a:gd name="connsiteY10" fmla="*/ 340242 h 1233376"/>
              <a:gd name="connsiteX11" fmla="*/ 31898 w 1456661"/>
              <a:gd name="connsiteY11" fmla="*/ 318976 h 1233376"/>
              <a:gd name="connsiteX12" fmla="*/ 42531 w 1456661"/>
              <a:gd name="connsiteY12" fmla="*/ 287079 h 1233376"/>
              <a:gd name="connsiteX13" fmla="*/ 106326 w 1456661"/>
              <a:gd name="connsiteY13" fmla="*/ 255181 h 1233376"/>
              <a:gd name="connsiteX14" fmla="*/ 191386 w 1456661"/>
              <a:gd name="connsiteY14" fmla="*/ 233916 h 1233376"/>
              <a:gd name="connsiteX15" fmla="*/ 372140 w 1456661"/>
              <a:gd name="connsiteY15" fmla="*/ 244549 h 1233376"/>
              <a:gd name="connsiteX16" fmla="*/ 404037 w 1456661"/>
              <a:gd name="connsiteY16" fmla="*/ 255181 h 1233376"/>
              <a:gd name="connsiteX17" fmla="*/ 446568 w 1456661"/>
              <a:gd name="connsiteY17" fmla="*/ 265814 h 1233376"/>
              <a:gd name="connsiteX18" fmla="*/ 478465 w 1456661"/>
              <a:gd name="connsiteY18" fmla="*/ 287079 h 1233376"/>
              <a:gd name="connsiteX19" fmla="*/ 584791 w 1456661"/>
              <a:gd name="connsiteY19" fmla="*/ 329609 h 1233376"/>
              <a:gd name="connsiteX20" fmla="*/ 648586 w 1456661"/>
              <a:gd name="connsiteY20" fmla="*/ 372139 h 1233376"/>
              <a:gd name="connsiteX21" fmla="*/ 680484 w 1456661"/>
              <a:gd name="connsiteY21" fmla="*/ 404037 h 1233376"/>
              <a:gd name="connsiteX22" fmla="*/ 712382 w 1456661"/>
              <a:gd name="connsiteY22" fmla="*/ 414669 h 1233376"/>
              <a:gd name="connsiteX23" fmla="*/ 776177 w 1456661"/>
              <a:gd name="connsiteY23" fmla="*/ 467832 h 1233376"/>
              <a:gd name="connsiteX24" fmla="*/ 818707 w 1456661"/>
              <a:gd name="connsiteY24" fmla="*/ 510363 h 1233376"/>
              <a:gd name="connsiteX25" fmla="*/ 861237 w 1456661"/>
              <a:gd name="connsiteY25" fmla="*/ 531628 h 1233376"/>
              <a:gd name="connsiteX26" fmla="*/ 935665 w 1456661"/>
              <a:gd name="connsiteY26" fmla="*/ 552893 h 1233376"/>
              <a:gd name="connsiteX27" fmla="*/ 1084521 w 1456661"/>
              <a:gd name="connsiteY27" fmla="*/ 584790 h 1233376"/>
              <a:gd name="connsiteX28" fmla="*/ 1318437 w 1456661"/>
              <a:gd name="connsiteY28" fmla="*/ 563525 h 1233376"/>
              <a:gd name="connsiteX29" fmla="*/ 1382233 w 1456661"/>
              <a:gd name="connsiteY29" fmla="*/ 542260 h 1233376"/>
              <a:gd name="connsiteX30" fmla="*/ 1392865 w 1456661"/>
              <a:gd name="connsiteY30" fmla="*/ 499730 h 1233376"/>
              <a:gd name="connsiteX31" fmla="*/ 1403498 w 1456661"/>
              <a:gd name="connsiteY31" fmla="*/ 435935 h 1233376"/>
              <a:gd name="connsiteX32" fmla="*/ 1424763 w 1456661"/>
              <a:gd name="connsiteY32" fmla="*/ 372139 h 1233376"/>
              <a:gd name="connsiteX33" fmla="*/ 1435396 w 1456661"/>
              <a:gd name="connsiteY33" fmla="*/ 42530 h 1233376"/>
              <a:gd name="connsiteX34" fmla="*/ 1456661 w 1456661"/>
              <a:gd name="connsiteY34" fmla="*/ 0 h 123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56661" h="1233376">
                <a:moveTo>
                  <a:pt x="180754" y="1233376"/>
                </a:moveTo>
                <a:cubicBezTo>
                  <a:pt x="184298" y="1215655"/>
                  <a:pt x="191386" y="1198286"/>
                  <a:pt x="191386" y="1180214"/>
                </a:cubicBezTo>
                <a:cubicBezTo>
                  <a:pt x="191386" y="1137016"/>
                  <a:pt x="165056" y="1070328"/>
                  <a:pt x="159489" y="1031358"/>
                </a:cubicBezTo>
                <a:cubicBezTo>
                  <a:pt x="155945" y="1006549"/>
                  <a:pt x="152168" y="981771"/>
                  <a:pt x="148856" y="956930"/>
                </a:cubicBezTo>
                <a:cubicBezTo>
                  <a:pt x="144704" y="925793"/>
                  <a:pt x="138312" y="854444"/>
                  <a:pt x="127591" y="818707"/>
                </a:cubicBezTo>
                <a:cubicBezTo>
                  <a:pt x="88651" y="688910"/>
                  <a:pt x="125569" y="824790"/>
                  <a:pt x="85061" y="733646"/>
                </a:cubicBezTo>
                <a:cubicBezTo>
                  <a:pt x="63810" y="685831"/>
                  <a:pt x="69105" y="677809"/>
                  <a:pt x="53163" y="637953"/>
                </a:cubicBezTo>
                <a:cubicBezTo>
                  <a:pt x="15067" y="542712"/>
                  <a:pt x="45223" y="627460"/>
                  <a:pt x="21265" y="531628"/>
                </a:cubicBezTo>
                <a:cubicBezTo>
                  <a:pt x="18547" y="520755"/>
                  <a:pt x="13712" y="510507"/>
                  <a:pt x="10633" y="499730"/>
                </a:cubicBezTo>
                <a:cubicBezTo>
                  <a:pt x="6619" y="485679"/>
                  <a:pt x="3544" y="471377"/>
                  <a:pt x="0" y="457200"/>
                </a:cubicBezTo>
                <a:cubicBezTo>
                  <a:pt x="3544" y="418214"/>
                  <a:pt x="1830" y="378386"/>
                  <a:pt x="10633" y="340242"/>
                </a:cubicBezTo>
                <a:cubicBezTo>
                  <a:pt x="12887" y="330474"/>
                  <a:pt x="26740" y="327572"/>
                  <a:pt x="31898" y="318976"/>
                </a:cubicBezTo>
                <a:cubicBezTo>
                  <a:pt x="37664" y="309366"/>
                  <a:pt x="35530" y="295831"/>
                  <a:pt x="42531" y="287079"/>
                </a:cubicBezTo>
                <a:cubicBezTo>
                  <a:pt x="56035" y="270199"/>
                  <a:pt x="86616" y="260556"/>
                  <a:pt x="106326" y="255181"/>
                </a:cubicBezTo>
                <a:cubicBezTo>
                  <a:pt x="134522" y="247491"/>
                  <a:pt x="191386" y="233916"/>
                  <a:pt x="191386" y="233916"/>
                </a:cubicBezTo>
                <a:cubicBezTo>
                  <a:pt x="251637" y="237460"/>
                  <a:pt x="312084" y="238543"/>
                  <a:pt x="372140" y="244549"/>
                </a:cubicBezTo>
                <a:cubicBezTo>
                  <a:pt x="383292" y="245664"/>
                  <a:pt x="393261" y="252102"/>
                  <a:pt x="404037" y="255181"/>
                </a:cubicBezTo>
                <a:cubicBezTo>
                  <a:pt x="418088" y="259196"/>
                  <a:pt x="432391" y="262270"/>
                  <a:pt x="446568" y="265814"/>
                </a:cubicBezTo>
                <a:cubicBezTo>
                  <a:pt x="457200" y="272902"/>
                  <a:pt x="466788" y="281889"/>
                  <a:pt x="478465" y="287079"/>
                </a:cubicBezTo>
                <a:cubicBezTo>
                  <a:pt x="556714" y="321856"/>
                  <a:pt x="522624" y="292309"/>
                  <a:pt x="584791" y="329609"/>
                </a:cubicBezTo>
                <a:cubicBezTo>
                  <a:pt x="606706" y="342758"/>
                  <a:pt x="630514" y="354067"/>
                  <a:pt x="648586" y="372139"/>
                </a:cubicBezTo>
                <a:cubicBezTo>
                  <a:pt x="659219" y="382772"/>
                  <a:pt x="667973" y="395696"/>
                  <a:pt x="680484" y="404037"/>
                </a:cubicBezTo>
                <a:cubicBezTo>
                  <a:pt x="689809" y="410254"/>
                  <a:pt x="701749" y="411125"/>
                  <a:pt x="712382" y="414669"/>
                </a:cubicBezTo>
                <a:cubicBezTo>
                  <a:pt x="756941" y="481508"/>
                  <a:pt x="704230" y="413871"/>
                  <a:pt x="776177" y="467832"/>
                </a:cubicBezTo>
                <a:cubicBezTo>
                  <a:pt x="792216" y="479862"/>
                  <a:pt x="802668" y="498333"/>
                  <a:pt x="818707" y="510363"/>
                </a:cubicBezTo>
                <a:cubicBezTo>
                  <a:pt x="831387" y="519873"/>
                  <a:pt x="846669" y="525384"/>
                  <a:pt x="861237" y="531628"/>
                </a:cubicBezTo>
                <a:cubicBezTo>
                  <a:pt x="879828" y="539595"/>
                  <a:pt x="917688" y="549041"/>
                  <a:pt x="935665" y="552893"/>
                </a:cubicBezTo>
                <a:cubicBezTo>
                  <a:pt x="1104614" y="589097"/>
                  <a:pt x="987401" y="560511"/>
                  <a:pt x="1084521" y="584790"/>
                </a:cubicBezTo>
                <a:cubicBezTo>
                  <a:pt x="1115631" y="582568"/>
                  <a:pt x="1268022" y="574328"/>
                  <a:pt x="1318437" y="563525"/>
                </a:cubicBezTo>
                <a:cubicBezTo>
                  <a:pt x="1340355" y="558828"/>
                  <a:pt x="1382233" y="542260"/>
                  <a:pt x="1382233" y="542260"/>
                </a:cubicBezTo>
                <a:cubicBezTo>
                  <a:pt x="1385777" y="528083"/>
                  <a:pt x="1389999" y="514059"/>
                  <a:pt x="1392865" y="499730"/>
                </a:cubicBezTo>
                <a:cubicBezTo>
                  <a:pt x="1397093" y="478590"/>
                  <a:pt x="1398269" y="456850"/>
                  <a:pt x="1403498" y="435935"/>
                </a:cubicBezTo>
                <a:cubicBezTo>
                  <a:pt x="1408935" y="414189"/>
                  <a:pt x="1417675" y="393404"/>
                  <a:pt x="1424763" y="372139"/>
                </a:cubicBezTo>
                <a:cubicBezTo>
                  <a:pt x="1428307" y="262269"/>
                  <a:pt x="1428941" y="152267"/>
                  <a:pt x="1435396" y="42530"/>
                </a:cubicBezTo>
                <a:cubicBezTo>
                  <a:pt x="1436923" y="16566"/>
                  <a:pt x="1442883" y="13777"/>
                  <a:pt x="1456661" y="0"/>
                </a:cubicBezTo>
              </a:path>
            </a:pathLst>
          </a:custGeom>
          <a:noFill/>
          <a:ln w="38100">
            <a:solidFill>
              <a:srgbClr val="0F1F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 dirty="0"/>
          </a:p>
        </p:txBody>
      </p:sp>
      <p:pic>
        <p:nvPicPr>
          <p:cNvPr id="11" name="Picture 92867">
            <a:extLst>
              <a:ext uri="{FF2B5EF4-FFF2-40B4-BE49-F238E27FC236}">
                <a16:creationId xmlns:a16="http://schemas.microsoft.com/office/drawing/2014/main" id="{2B3E16E1-3D29-4EC0-BD5E-2ED8F010CA0C}"/>
              </a:ext>
            </a:extLst>
          </p:cNvPr>
          <p:cNvPicPr/>
          <p:nvPr/>
        </p:nvPicPr>
        <p:blipFill rotWithShape="1">
          <a:blip r:embed="rId3"/>
          <a:srcRect l="13043" t="14204" r="60869" b="62761"/>
          <a:stretch/>
        </p:blipFill>
        <p:spPr>
          <a:xfrm>
            <a:off x="6371181" y="1898558"/>
            <a:ext cx="1694417" cy="120031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4FFC0BA-07AA-415D-A656-820FC160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62" y="832101"/>
            <a:ext cx="8131302" cy="676659"/>
          </a:xfrm>
        </p:spPr>
        <p:txBody>
          <a:bodyPr>
            <a:noAutofit/>
          </a:bodyPr>
          <a:lstStyle/>
          <a:p>
            <a:r>
              <a:rPr lang="en-GB" sz="3600" b="1" dirty="0"/>
              <a:t>MEIS in numbers (2018)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304C7B-E6B6-47AE-9FF1-9644CC0D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D5E6-BCAC-4229-92F5-B5CB2C8A476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686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BDBD-0F71-42EA-AA2F-726C86C54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Murakoze cyane</a:t>
            </a:r>
            <a:br>
              <a:rPr lang="en-US" b="1" dirty="0"/>
            </a:br>
            <a:r>
              <a:rPr lang="en-US" b="1" dirty="0"/>
              <a:t>Thank you very much</a:t>
            </a: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D900C-7A7A-4BFF-9D60-D311FAED4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02B5-349E-48BB-922A-55563B93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D5E6-BCAC-4229-92F5-B5CB2C8A476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23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IS_Logos" id="{C1CF37DB-AA62-426F-97A5-83379357971F}" vid="{D8E42C63-A94F-428A-BEB3-6A58380DD4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MEIS_Logos</Template>
  <TotalTime>217</TotalTime>
  <Words>284</Words>
  <Application>Microsoft Office PowerPoint</Application>
  <PresentationFormat>On-screen Show (4:3)</PresentationFormat>
  <Paragraphs>67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MEIS System Overview</vt:lpstr>
      <vt:lpstr>LODA vision</vt:lpstr>
      <vt:lpstr>History of MEIS </vt:lpstr>
      <vt:lpstr>MEIS today</vt:lpstr>
      <vt:lpstr>MEIS as a management and data tool  </vt:lpstr>
      <vt:lpstr>System Interconnections and interfaces </vt:lpstr>
      <vt:lpstr>MEIS in numbers (2018)</vt:lpstr>
      <vt:lpstr>Murakoze cyane Thank you very much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MEIS Overview</dc:title>
  <dc:creator>Jost Guntermann</dc:creator>
  <cp:lastModifiedBy>mkampogo</cp:lastModifiedBy>
  <cp:revision>163</cp:revision>
  <dcterms:created xsi:type="dcterms:W3CDTF">2018-05-30T10:40:57Z</dcterms:created>
  <dcterms:modified xsi:type="dcterms:W3CDTF">2019-11-06T14:16:34Z</dcterms:modified>
</cp:coreProperties>
</file>