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4" r:id="rId5"/>
    <p:sldId id="295" r:id="rId6"/>
    <p:sldId id="296" r:id="rId7"/>
    <p:sldId id="259" r:id="rId8"/>
    <p:sldId id="260" r:id="rId9"/>
    <p:sldId id="261" r:id="rId10"/>
    <p:sldId id="280" r:id="rId11"/>
    <p:sldId id="262" r:id="rId12"/>
    <p:sldId id="263" r:id="rId13"/>
    <p:sldId id="282" r:id="rId14"/>
    <p:sldId id="289" r:id="rId15"/>
    <p:sldId id="281" r:id="rId16"/>
    <p:sldId id="283" r:id="rId17"/>
    <p:sldId id="284" r:id="rId18"/>
    <p:sldId id="285" r:id="rId19"/>
    <p:sldId id="286" r:id="rId20"/>
    <p:sldId id="287" r:id="rId21"/>
    <p:sldId id="297" r:id="rId22"/>
    <p:sldId id="288" r:id="rId23"/>
  </p:sldIdLst>
  <p:sldSz cx="9144000" cy="5715000" type="screen16x1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EBE8"/>
    <a:srgbClr val="C5DFE0"/>
    <a:srgbClr val="1A2E80"/>
    <a:srgbClr val="0C3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120" d="100"/>
          <a:sy n="120" d="100"/>
        </p:scale>
        <p:origin x="-534" y="-3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12" descr="Spark_logo_ignitesAmbition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000" y="2465828"/>
            <a:ext cx="5400000" cy="78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300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12" descr="Spark_logo_ignitesAmbition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233764"/>
            <a:ext cx="1800000" cy="261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68000" y="661256"/>
            <a:ext cx="8208000" cy="43568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108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cobalt &amp;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7340"/>
            <a:ext cx="9144000" cy="4297660"/>
          </a:xfrm>
          <a:prstGeom prst="rect">
            <a:avLst/>
          </a:prstGeom>
          <a:solidFill>
            <a:srgbClr val="C5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7544" y="1489348"/>
            <a:ext cx="8208912" cy="3528392"/>
          </a:xfrm>
        </p:spPr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  <a:lvl2pPr>
              <a:defRPr>
                <a:solidFill>
                  <a:srgbClr val="1A2E80"/>
                </a:solidFill>
              </a:defRPr>
            </a:lvl2pPr>
            <a:lvl3pPr>
              <a:defRPr>
                <a:solidFill>
                  <a:srgbClr val="1A2E80"/>
                </a:solidFill>
              </a:defRPr>
            </a:lvl3pPr>
            <a:lvl4pPr>
              <a:defRPr>
                <a:solidFill>
                  <a:srgbClr val="1A2E80"/>
                </a:solidFill>
              </a:defRPr>
            </a:lvl4pPr>
            <a:lvl5pPr>
              <a:defRPr>
                <a:solidFill>
                  <a:srgbClr val="1A2E8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1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nude &amp; mint">
    <p:bg>
      <p:bgPr>
        <a:solidFill>
          <a:srgbClr val="F3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417340"/>
            <a:ext cx="9144000" cy="4297660"/>
          </a:xfrm>
          <a:prstGeom prst="rect">
            <a:avLst/>
          </a:prstGeom>
          <a:solidFill>
            <a:srgbClr val="C5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  <a:lvl2pPr>
              <a:defRPr>
                <a:solidFill>
                  <a:srgbClr val="1A2E80"/>
                </a:solidFill>
              </a:defRPr>
            </a:lvl2pPr>
            <a:lvl3pPr>
              <a:defRPr>
                <a:solidFill>
                  <a:srgbClr val="1A2E80"/>
                </a:solidFill>
              </a:defRPr>
            </a:lvl3pPr>
            <a:lvl4pPr>
              <a:defRPr>
                <a:solidFill>
                  <a:srgbClr val="1A2E80"/>
                </a:solidFill>
              </a:defRPr>
            </a:lvl4pPr>
            <a:lvl5pPr>
              <a:defRPr>
                <a:solidFill>
                  <a:srgbClr val="1A2E8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5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dark ocean &amp; nude">
    <p:bg>
      <p:bgPr>
        <a:solidFill>
          <a:srgbClr val="F3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417340"/>
            <a:ext cx="9144000" cy="4297660"/>
          </a:xfrm>
          <a:prstGeom prst="rect">
            <a:avLst/>
          </a:prstGeom>
          <a:solidFill>
            <a:srgbClr val="1A2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F3EBE8"/>
                </a:solidFill>
              </a:defRPr>
            </a:lvl1pPr>
            <a:lvl2pPr>
              <a:defRPr>
                <a:solidFill>
                  <a:srgbClr val="F3EBE8"/>
                </a:solidFill>
              </a:defRPr>
            </a:lvl2pPr>
            <a:lvl3pPr>
              <a:defRPr>
                <a:solidFill>
                  <a:srgbClr val="F3EBE8"/>
                </a:solidFill>
              </a:defRPr>
            </a:lvl3pPr>
            <a:lvl4pPr>
              <a:defRPr>
                <a:solidFill>
                  <a:srgbClr val="F3EBE8"/>
                </a:solidFill>
              </a:defRPr>
            </a:lvl4pPr>
            <a:lvl5pPr>
              <a:defRPr>
                <a:solidFill>
                  <a:srgbClr val="F3EBE8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7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dark ocean &amp; mint">
    <p:bg>
      <p:bgPr>
        <a:solidFill>
          <a:srgbClr val="C5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417340"/>
            <a:ext cx="9144000" cy="4297660"/>
          </a:xfrm>
          <a:prstGeom prst="rect">
            <a:avLst/>
          </a:prstGeom>
          <a:solidFill>
            <a:srgbClr val="1A2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C5DFE0"/>
                </a:solidFill>
              </a:defRPr>
            </a:lvl1pPr>
            <a:lvl2pPr>
              <a:defRPr>
                <a:solidFill>
                  <a:srgbClr val="C5DFE0"/>
                </a:solidFill>
              </a:defRPr>
            </a:lvl2pPr>
            <a:lvl3pPr>
              <a:defRPr>
                <a:solidFill>
                  <a:srgbClr val="C5DFE0"/>
                </a:solidFill>
              </a:defRPr>
            </a:lvl3pPr>
            <a:lvl4pPr>
              <a:defRPr>
                <a:solidFill>
                  <a:srgbClr val="C5DFE0"/>
                </a:solidFill>
              </a:defRPr>
            </a:lvl4pPr>
            <a:lvl5pPr>
              <a:defRPr>
                <a:solidFill>
                  <a:srgbClr val="C5DFE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9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nude">
    <p:bg>
      <p:bgPr>
        <a:solidFill>
          <a:srgbClr val="F3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  <a:lvl2pPr>
              <a:defRPr>
                <a:solidFill>
                  <a:srgbClr val="1A2E80"/>
                </a:solidFill>
              </a:defRPr>
            </a:lvl2pPr>
            <a:lvl3pPr>
              <a:defRPr>
                <a:solidFill>
                  <a:srgbClr val="1A2E80"/>
                </a:solidFill>
              </a:defRPr>
            </a:lvl3pPr>
            <a:lvl4pPr>
              <a:defRPr>
                <a:solidFill>
                  <a:srgbClr val="1A2E80"/>
                </a:solidFill>
              </a:defRPr>
            </a:lvl4pPr>
            <a:lvl5pPr>
              <a:defRPr>
                <a:solidFill>
                  <a:srgbClr val="1A2E8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6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mint">
    <p:bg>
      <p:bgPr>
        <a:solidFill>
          <a:srgbClr val="C5D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  <a:lvl2pPr>
              <a:defRPr>
                <a:solidFill>
                  <a:srgbClr val="1A2E80"/>
                </a:solidFill>
              </a:defRPr>
            </a:lvl2pPr>
            <a:lvl3pPr>
              <a:defRPr>
                <a:solidFill>
                  <a:srgbClr val="1A2E80"/>
                </a:solidFill>
              </a:defRPr>
            </a:lvl3pPr>
            <a:lvl4pPr>
              <a:defRPr>
                <a:solidFill>
                  <a:srgbClr val="1A2E80"/>
                </a:solidFill>
              </a:defRPr>
            </a:lvl4pPr>
            <a:lvl5pPr>
              <a:defRPr>
                <a:solidFill>
                  <a:srgbClr val="1A2E8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1A2E80"/>
                </a:solidFill>
              </a:defRPr>
            </a:lvl1pPr>
            <a:lvl2pPr>
              <a:defRPr>
                <a:solidFill>
                  <a:srgbClr val="1A2E80"/>
                </a:solidFill>
              </a:defRPr>
            </a:lvl2pPr>
            <a:lvl3pPr>
              <a:defRPr>
                <a:solidFill>
                  <a:srgbClr val="1A2E80"/>
                </a:solidFill>
              </a:defRPr>
            </a:lvl3pPr>
            <a:lvl4pPr>
              <a:defRPr>
                <a:solidFill>
                  <a:srgbClr val="1A2E80"/>
                </a:solidFill>
              </a:defRPr>
            </a:lvl4pPr>
            <a:lvl5pPr>
              <a:defRPr>
                <a:solidFill>
                  <a:srgbClr val="1A2E8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2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C5DFE0"/>
                </a:solidFill>
              </a:defRPr>
            </a:lvl1pPr>
            <a:lvl2pPr>
              <a:defRPr>
                <a:solidFill>
                  <a:srgbClr val="C5DFE0"/>
                </a:solidFill>
              </a:defRPr>
            </a:lvl2pPr>
            <a:lvl3pPr>
              <a:defRPr>
                <a:solidFill>
                  <a:srgbClr val="C5DFE0"/>
                </a:solidFill>
              </a:defRPr>
            </a:lvl3pPr>
            <a:lvl4pPr>
              <a:defRPr>
                <a:solidFill>
                  <a:srgbClr val="C5DFE0"/>
                </a:solidFill>
              </a:defRPr>
            </a:lvl4pPr>
            <a:lvl5pPr>
              <a:defRPr>
                <a:solidFill>
                  <a:srgbClr val="C5DFE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4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dark ocean blue">
    <p:bg>
      <p:bgPr>
        <a:solidFill>
          <a:srgbClr val="0C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0"/>
          </p:nvPr>
        </p:nvSpPr>
        <p:spPr>
          <a:xfrm>
            <a:off x="468000" y="1489348"/>
            <a:ext cx="8208000" cy="3528392"/>
          </a:xfrm>
        </p:spPr>
        <p:txBody>
          <a:bodyPr/>
          <a:lstStyle>
            <a:lvl1pPr>
              <a:defRPr>
                <a:solidFill>
                  <a:srgbClr val="C5DFE0"/>
                </a:solidFill>
              </a:defRPr>
            </a:lvl1pPr>
            <a:lvl2pPr>
              <a:defRPr>
                <a:solidFill>
                  <a:srgbClr val="C5DFE0"/>
                </a:solidFill>
              </a:defRPr>
            </a:lvl2pPr>
            <a:lvl3pPr>
              <a:defRPr>
                <a:solidFill>
                  <a:srgbClr val="C5DFE0"/>
                </a:solidFill>
              </a:defRPr>
            </a:lvl3pPr>
            <a:lvl4pPr>
              <a:defRPr>
                <a:solidFill>
                  <a:srgbClr val="C5DFE0"/>
                </a:solidFill>
              </a:defRPr>
            </a:lvl4pPr>
            <a:lvl5pPr>
              <a:defRPr>
                <a:solidFill>
                  <a:srgbClr val="C5DFE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2" y="4959078"/>
            <a:ext cx="1152000" cy="8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96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map of SPARK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2" r="9610" b="27094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5212"/>
            <a:ext cx="1800000" cy="1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2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FD53B-BE4E-445B-9681-BEED5EDEC0F7}" type="datetimeFigureOut">
              <a:rPr lang="nl-NL" smtClean="0"/>
              <a:t>7-11-2019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04F7E-B8C4-42C2-91F3-A24CFE2E2E5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352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9" r:id="rId5"/>
    <p:sldLayoutId id="2147483660" r:id="rId6"/>
    <p:sldLayoutId id="2147483655" r:id="rId7"/>
    <p:sldLayoutId id="2147483656" r:id="rId8"/>
    <p:sldLayoutId id="2147483657" r:id="rId9"/>
    <p:sldLayoutId id="2147483653" r:id="rId10"/>
    <p:sldLayoutId id="2147483654" r:id="rId11"/>
    <p:sldLayoutId id="2147483658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rgbClr val="C5DFE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E20613"/>
        </a:buClr>
        <a:buFont typeface="Arial" panose="020B0604020202020204" pitchFamily="34" charset="0"/>
        <a:buChar char="•"/>
        <a:defRPr sz="2800" kern="1200">
          <a:solidFill>
            <a:srgbClr val="C5DFE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E20613"/>
        </a:buClr>
        <a:buFont typeface="Arial" panose="020B0604020202020204" pitchFamily="34" charset="0"/>
        <a:buChar char="•"/>
        <a:defRPr sz="2400" kern="1200">
          <a:solidFill>
            <a:srgbClr val="C5DF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E20613"/>
        </a:buClr>
        <a:buFont typeface="Arial" panose="020B0604020202020204" pitchFamily="34" charset="0"/>
        <a:buChar char="•"/>
        <a:defRPr sz="2000" kern="1200">
          <a:solidFill>
            <a:srgbClr val="C5DF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E20613"/>
        </a:buClr>
        <a:buFont typeface="Arial" panose="020B0604020202020204" pitchFamily="34" charset="0"/>
        <a:buChar char="•"/>
        <a:defRPr sz="1800" kern="1200">
          <a:solidFill>
            <a:srgbClr val="C5DF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E20613"/>
        </a:buClr>
        <a:buFont typeface="Arial" panose="020B0604020202020204" pitchFamily="34" charset="0"/>
        <a:buChar char="•"/>
        <a:defRPr sz="1800" kern="1200">
          <a:solidFill>
            <a:srgbClr val="C5DF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42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403498"/>
            <a:ext cx="9144000" cy="290180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CHALLENGES FARMERS </a:t>
            </a:r>
            <a:r>
              <a:rPr lang="en-US" sz="4800" b="1" dirty="0" smtClean="0">
                <a:solidFill>
                  <a:schemeClr val="bg1"/>
                </a:solidFill>
              </a:rPr>
              <a:t/>
            </a:r>
            <a:br>
              <a:rPr lang="en-US" sz="4800" b="1" dirty="0" smtClean="0">
                <a:solidFill>
                  <a:schemeClr val="bg1"/>
                </a:solidFill>
              </a:rPr>
            </a:br>
            <a:r>
              <a:rPr lang="en-US" sz="4800" b="1" dirty="0" smtClean="0">
                <a:solidFill>
                  <a:schemeClr val="bg1"/>
                </a:solidFill>
              </a:rPr>
              <a:t>FACE </a:t>
            </a:r>
            <a:r>
              <a:rPr lang="en-US" sz="4800" b="1" dirty="0">
                <a:solidFill>
                  <a:schemeClr val="bg1"/>
                </a:solidFill>
              </a:rPr>
              <a:t>TO ACCESS </a:t>
            </a:r>
            <a:r>
              <a:rPr lang="en-US" sz="4800" b="1" dirty="0" smtClean="0">
                <a:solidFill>
                  <a:schemeClr val="bg1"/>
                </a:solidFill>
              </a:rPr>
              <a:t/>
            </a:r>
            <a:br>
              <a:rPr lang="en-US" sz="4800" b="1" dirty="0" smtClean="0">
                <a:solidFill>
                  <a:schemeClr val="bg1"/>
                </a:solidFill>
              </a:rPr>
            </a:br>
            <a:r>
              <a:rPr lang="en-US" sz="4800" b="1" dirty="0" smtClean="0">
                <a:solidFill>
                  <a:schemeClr val="bg1"/>
                </a:solidFill>
              </a:rPr>
              <a:t>FINANCIAL </a:t>
            </a:r>
            <a:r>
              <a:rPr lang="en-US" sz="4800" b="1" dirty="0">
                <a:solidFill>
                  <a:schemeClr val="bg1"/>
                </a:solidFill>
              </a:rPr>
              <a:t>SERVICES 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4419600" y="4533900"/>
            <a:ext cx="4550400" cy="1053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2800" kern="1200">
                <a:solidFill>
                  <a:srgbClr val="C5DFE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2400" kern="1200">
                <a:solidFill>
                  <a:srgbClr val="C5DFE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2000" kern="1200">
                <a:solidFill>
                  <a:srgbClr val="C5DFE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1800" kern="1200">
                <a:solidFill>
                  <a:srgbClr val="C5DFE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1800" kern="1200">
                <a:solidFill>
                  <a:srgbClr val="C5DFE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By : </a:t>
            </a:r>
            <a:r>
              <a:rPr lang="en-US" sz="1800" b="1" dirty="0" err="1" smtClean="0">
                <a:solidFill>
                  <a:schemeClr val="bg1"/>
                </a:solidFill>
              </a:rPr>
              <a:t>Marthe</a:t>
            </a:r>
            <a:r>
              <a:rPr lang="en-US" sz="1800" b="1" dirty="0" smtClean="0">
                <a:solidFill>
                  <a:schemeClr val="bg1"/>
                </a:solidFill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</a:rPr>
              <a:t>Paauwe</a:t>
            </a:r>
            <a:r>
              <a:rPr lang="en-US" sz="1800" b="1" dirty="0" smtClean="0">
                <a:solidFill>
                  <a:schemeClr val="bg1"/>
                </a:solidFill>
              </a:rPr>
              <a:t> (Regional Programme Director</a:t>
            </a:r>
            <a:r>
              <a:rPr lang="en-GB" sz="1800" b="1" dirty="0" smtClean="0">
                <a:solidFill>
                  <a:schemeClr val="bg1"/>
                </a:solidFill>
              </a:rPr>
              <a:t>) &amp; Jean de </a:t>
            </a:r>
            <a:r>
              <a:rPr lang="en-GB" sz="1800" b="1" dirty="0" err="1" smtClean="0">
                <a:solidFill>
                  <a:schemeClr val="bg1"/>
                </a:solidFill>
              </a:rPr>
              <a:t>Dieu</a:t>
            </a:r>
            <a:r>
              <a:rPr lang="en-GB" sz="1800" b="1" dirty="0">
                <a:solidFill>
                  <a:schemeClr val="bg1"/>
                </a:solidFill>
              </a:rPr>
              <a:t> </a:t>
            </a:r>
            <a:r>
              <a:rPr lang="en-GB" sz="1800" b="1" dirty="0" err="1" smtClean="0">
                <a:solidFill>
                  <a:schemeClr val="bg1"/>
                </a:solidFill>
              </a:rPr>
              <a:t>Ndacyayisenga</a:t>
            </a:r>
            <a:r>
              <a:rPr lang="en-GB" sz="1800" b="1" dirty="0" smtClean="0">
                <a:solidFill>
                  <a:schemeClr val="bg1"/>
                </a:solidFill>
              </a:rPr>
              <a:t> (Project Manager) </a:t>
            </a:r>
            <a:endParaRPr lang="en-US" sz="1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92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Contents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SPARK Overview</a:t>
            </a:r>
          </a:p>
          <a:p>
            <a:r>
              <a:rPr lang="en-US" dirty="0" smtClean="0"/>
              <a:t>Introduction </a:t>
            </a:r>
            <a:endParaRPr lang="nl-NL" dirty="0"/>
          </a:p>
          <a:p>
            <a:r>
              <a:rPr lang="en-US" dirty="0" smtClean="0"/>
              <a:t>Smallholder Farmers Challenges in accessing financial </a:t>
            </a:r>
            <a:r>
              <a:rPr lang="en-US" dirty="0"/>
              <a:t>services </a:t>
            </a:r>
            <a:endParaRPr lang="nl-NL" dirty="0"/>
          </a:p>
          <a:p>
            <a:r>
              <a:rPr lang="en-US" dirty="0" smtClean="0"/>
              <a:t>From Challenges to Solutions</a:t>
            </a:r>
          </a:p>
          <a:p>
            <a:r>
              <a:rPr lang="en-US" dirty="0" smtClean="0"/>
              <a:t>Role </a:t>
            </a:r>
            <a:r>
              <a:rPr lang="en-US" dirty="0"/>
              <a:t>of </a:t>
            </a:r>
            <a:r>
              <a:rPr lang="en-US" dirty="0" smtClean="0"/>
              <a:t>cooperatives</a:t>
            </a:r>
          </a:p>
          <a:p>
            <a:r>
              <a:rPr lang="en-US" dirty="0" smtClean="0"/>
              <a:t>Other Key Partners Intervention required</a:t>
            </a:r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5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C5DFE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FFFFFF"/>
                </a:solidFill>
              </a:rPr>
              <a:t>SPARK OVERVIEW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34836" y="1365071"/>
            <a:ext cx="5410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dirty="0" smtClean="0"/>
              <a:t>e aim to spark: </a:t>
            </a:r>
          </a:p>
          <a:p>
            <a:pPr algn="ctr"/>
            <a:r>
              <a:rPr lang="en-US" dirty="0" smtClean="0"/>
              <a:t>Job Creation and Economic empowerment</a:t>
            </a:r>
          </a:p>
          <a:p>
            <a:pPr algn="ctr"/>
            <a:r>
              <a:rPr lang="en-US" dirty="0" smtClean="0"/>
              <a:t>With a strong focus on Youth and Rural communities 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97" t="33518" r="24271" b="19074"/>
          <a:stretch/>
        </p:blipFill>
        <p:spPr bwMode="auto">
          <a:xfrm>
            <a:off x="6629400" y="2565398"/>
            <a:ext cx="3310878" cy="318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0" t="19227" r="24336" b="21052"/>
          <a:stretch/>
        </p:blipFill>
        <p:spPr bwMode="auto">
          <a:xfrm>
            <a:off x="-228600" y="2565400"/>
            <a:ext cx="4646761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3" t="35555" r="62552" b="24637"/>
          <a:stretch/>
        </p:blipFill>
        <p:spPr bwMode="auto">
          <a:xfrm>
            <a:off x="23159" y="2933700"/>
            <a:ext cx="1272241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86" t="55741" r="19271" b="12870"/>
          <a:stretch/>
        </p:blipFill>
        <p:spPr bwMode="auto">
          <a:xfrm>
            <a:off x="4052012" y="3543300"/>
            <a:ext cx="2577388" cy="2171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3" t="60301" r="57329" b="24979"/>
          <a:stretch/>
        </p:blipFill>
        <p:spPr bwMode="auto">
          <a:xfrm>
            <a:off x="4052012" y="2565399"/>
            <a:ext cx="2577388" cy="977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99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09600" y="2623136"/>
            <a:ext cx="5475136" cy="1590730"/>
            <a:chOff x="620864" y="2074209"/>
            <a:chExt cx="5475136" cy="1663004"/>
          </a:xfrm>
        </p:grpSpPr>
        <p:sp>
          <p:nvSpPr>
            <p:cNvPr id="7" name="Flowchart: Alternate Process 6"/>
            <p:cNvSpPr/>
            <p:nvPr/>
          </p:nvSpPr>
          <p:spPr>
            <a:xfrm>
              <a:off x="3124200" y="2476500"/>
              <a:ext cx="2590800" cy="990600"/>
            </a:xfrm>
            <a:prstGeom prst="flowChartAlternateProcess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/>
                <a:t>SPARK Rwanda</a:t>
              </a:r>
              <a:endParaRPr lang="en-US" sz="3200" b="1" dirty="0"/>
            </a:p>
          </p:txBody>
        </p:sp>
        <p:sp>
          <p:nvSpPr>
            <p:cNvPr id="8" name="Up-Down Arrow 7"/>
            <p:cNvSpPr/>
            <p:nvPr/>
          </p:nvSpPr>
          <p:spPr>
            <a:xfrm>
              <a:off x="4419600" y="2074209"/>
              <a:ext cx="228600" cy="402291"/>
            </a:xfrm>
            <a:prstGeom prst="up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eft-Right Arrow 13"/>
            <p:cNvSpPr/>
            <p:nvPr/>
          </p:nvSpPr>
          <p:spPr>
            <a:xfrm>
              <a:off x="5715000" y="2856659"/>
              <a:ext cx="381000" cy="229441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0864" y="2476500"/>
              <a:ext cx="2181970" cy="1260713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r>
                <a:rPr lang="en-US" b="1" dirty="0" smtClean="0"/>
                <a:t>Agriculture Cooperatives &amp; Agri-business support</a:t>
              </a:r>
              <a:endParaRPr lang="en-US" b="1" dirty="0"/>
            </a:p>
            <a:p>
              <a:pPr algn="ctr"/>
              <a:endParaRPr lang="en-US" dirty="0"/>
            </a:p>
          </p:txBody>
        </p:sp>
        <p:sp>
          <p:nvSpPr>
            <p:cNvPr id="16" name="Left-Right Arrow 15"/>
            <p:cNvSpPr/>
            <p:nvPr/>
          </p:nvSpPr>
          <p:spPr>
            <a:xfrm>
              <a:off x="2802834" y="2856659"/>
              <a:ext cx="321366" cy="229441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C5DFE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FFFFFF"/>
                </a:solidFill>
              </a:rPr>
              <a:t>SPARK OVERVIEW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76599" y="1485900"/>
            <a:ext cx="2304553" cy="1154668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b="1" dirty="0" smtClean="0"/>
              <a:t>Enterprise Development</a:t>
            </a:r>
          </a:p>
          <a:p>
            <a:pPr algn="ctr"/>
            <a:r>
              <a:rPr lang="en-US" b="1" dirty="0" smtClean="0"/>
              <a:t>(start-ups &amp; growing SMEs)</a:t>
            </a:r>
            <a:endParaRPr lang="en-US" b="1" dirty="0"/>
          </a:p>
          <a:p>
            <a:pPr algn="ctr"/>
            <a:endParaRPr lang="en-US" dirty="0"/>
          </a:p>
        </p:txBody>
      </p:sp>
      <p:sp>
        <p:nvSpPr>
          <p:cNvPr id="19" name="Up-Down Arrow 18"/>
          <p:cNvSpPr/>
          <p:nvPr/>
        </p:nvSpPr>
        <p:spPr>
          <a:xfrm>
            <a:off x="4388972" y="3955492"/>
            <a:ext cx="228600" cy="384807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115336" y="2878755"/>
            <a:ext cx="2181970" cy="1205923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Access to Market &amp; Access to Finance strengthening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3399182" y="4340299"/>
            <a:ext cx="2181970" cy="1205923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(Digital) innovations to ignite ambitions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25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562600" y="2798400"/>
            <a:ext cx="3581400" cy="196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training &amp; Proximity coaching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Enhancement of market position of farmers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Implementation of Digital Platform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Increasing financial literacy and building trust 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7" t="18710" r="38367" b="63443"/>
          <a:stretch/>
        </p:blipFill>
        <p:spPr bwMode="auto">
          <a:xfrm>
            <a:off x="24000" y="2383200"/>
            <a:ext cx="2643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Awesome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00" y="4686300"/>
            <a:ext cx="1638299" cy="5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71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409700"/>
            <a:ext cx="8458200" cy="3810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Smallholder </a:t>
            </a:r>
            <a:r>
              <a:rPr lang="en-US" dirty="0"/>
              <a:t>farmers represent the biggest employment sector in rural areas of the developing </a:t>
            </a:r>
            <a:r>
              <a:rPr lang="en-US" dirty="0" smtClean="0"/>
              <a:t>world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Farmers </a:t>
            </a:r>
            <a:r>
              <a:rPr lang="en-US" dirty="0"/>
              <a:t>are also the most important contributors to the Rwanda food production </a:t>
            </a:r>
            <a:r>
              <a:rPr lang="en-US" dirty="0" smtClean="0"/>
              <a:t>and thus food security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Smallholder Farmers need</a:t>
            </a:r>
            <a:r>
              <a:rPr lang="en-US" b="1" dirty="0" smtClean="0"/>
              <a:t> </a:t>
            </a:r>
            <a:r>
              <a:rPr lang="en-US" b="1" dirty="0"/>
              <a:t>financial services </a:t>
            </a:r>
            <a:r>
              <a:rPr lang="en-US" dirty="0"/>
              <a:t>to </a:t>
            </a:r>
            <a:r>
              <a:rPr lang="en-US" dirty="0" smtClean="0"/>
              <a:t>finance </a:t>
            </a:r>
            <a:r>
              <a:rPr lang="en-US" dirty="0"/>
              <a:t>their agriculture </a:t>
            </a:r>
            <a:r>
              <a:rPr lang="en-US" dirty="0" smtClean="0"/>
              <a:t>activities and other household needs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568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 </a:t>
            </a:r>
            <a:r>
              <a:rPr lang="en-US" b="1" dirty="0" err="1" smtClean="0"/>
              <a:t>Con’t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l-NL" b="1" dirty="0" smtClean="0"/>
              <a:t>Supply side</a:t>
            </a:r>
          </a:p>
          <a:p>
            <a:pPr marL="0" indent="0">
              <a:buNone/>
            </a:pPr>
            <a:r>
              <a:rPr lang="nl-NL" dirty="0"/>
              <a:t>H</a:t>
            </a:r>
            <a:r>
              <a:rPr lang="nl-NL" dirty="0" smtClean="0"/>
              <a:t>igh willingness </a:t>
            </a:r>
            <a:r>
              <a:rPr lang="nl-NL" dirty="0"/>
              <a:t>of </a:t>
            </a:r>
            <a:r>
              <a:rPr lang="nl-NL" dirty="0" smtClean="0"/>
              <a:t>goverment </a:t>
            </a:r>
            <a:r>
              <a:rPr lang="nl-NL" dirty="0"/>
              <a:t>and </a:t>
            </a:r>
            <a:r>
              <a:rPr lang="nl-NL" dirty="0" smtClean="0"/>
              <a:t>donors in: </a:t>
            </a:r>
          </a:p>
          <a:p>
            <a:pPr>
              <a:buFontTx/>
              <a:buChar char="-"/>
            </a:pPr>
            <a:r>
              <a:rPr lang="nl-NL" dirty="0"/>
              <a:t>C</a:t>
            </a:r>
            <a:r>
              <a:rPr lang="nl-NL" dirty="0" smtClean="0"/>
              <a:t>reating </a:t>
            </a:r>
            <a:r>
              <a:rPr lang="nl-NL" dirty="0"/>
              <a:t>supportive </a:t>
            </a:r>
            <a:r>
              <a:rPr lang="nl-NL" dirty="0" smtClean="0"/>
              <a:t>ecosytems and policies;</a:t>
            </a:r>
          </a:p>
          <a:p>
            <a:pPr>
              <a:buFontTx/>
              <a:buChar char="-"/>
            </a:pPr>
            <a:r>
              <a:rPr lang="nl-NL" dirty="0"/>
              <a:t>I</a:t>
            </a:r>
            <a:r>
              <a:rPr lang="nl-NL" dirty="0" smtClean="0"/>
              <a:t>n </a:t>
            </a:r>
            <a:r>
              <a:rPr lang="nl-NL" dirty="0" smtClean="0"/>
              <a:t>developing appropriate </a:t>
            </a:r>
            <a:r>
              <a:rPr lang="nl-NL" dirty="0"/>
              <a:t>f</a:t>
            </a:r>
            <a:r>
              <a:rPr lang="nl-NL" dirty="0" smtClean="0"/>
              <a:t>inancial </a:t>
            </a:r>
            <a:r>
              <a:rPr lang="nl-NL" dirty="0"/>
              <a:t>services and </a:t>
            </a:r>
            <a:r>
              <a:rPr lang="nl-NL" dirty="0" smtClean="0"/>
              <a:t>products </a:t>
            </a:r>
            <a:r>
              <a:rPr lang="nl-NL" dirty="0"/>
              <a:t>like </a:t>
            </a:r>
            <a:r>
              <a:rPr lang="nl-NL" dirty="0" smtClean="0"/>
              <a:t>mobile services</a:t>
            </a:r>
            <a:r>
              <a:rPr lang="nl-NL" dirty="0"/>
              <a:t> </a:t>
            </a:r>
            <a:r>
              <a:rPr lang="nl-NL" dirty="0" smtClean="0"/>
              <a:t>and </a:t>
            </a:r>
            <a:r>
              <a:rPr lang="nl-NL" dirty="0"/>
              <a:t>innovative </a:t>
            </a:r>
            <a:r>
              <a:rPr lang="nl-NL" dirty="0" smtClean="0"/>
              <a:t>ways </a:t>
            </a:r>
            <a:r>
              <a:rPr lang="nl-NL" dirty="0"/>
              <a:t>to capture </a:t>
            </a:r>
            <a:r>
              <a:rPr lang="nl-NL" dirty="0" smtClean="0"/>
              <a:t>farmers </a:t>
            </a:r>
            <a:r>
              <a:rPr lang="nl-NL" dirty="0"/>
              <a:t>information (</a:t>
            </a:r>
            <a:r>
              <a:rPr lang="nl-NL" dirty="0" smtClean="0"/>
              <a:t>sensor’s, drones,  </a:t>
            </a:r>
            <a:r>
              <a:rPr lang="nl-NL" dirty="0" smtClean="0"/>
              <a:t>phones, etc</a:t>
            </a:r>
            <a:r>
              <a:rPr lang="nl-NL" dirty="0" smtClean="0"/>
              <a:t>.)</a:t>
            </a:r>
          </a:p>
          <a:p>
            <a:pPr>
              <a:buFontTx/>
              <a:buChar char="-"/>
            </a:pPr>
            <a:r>
              <a:rPr lang="nl-NL" dirty="0"/>
              <a:t>I</a:t>
            </a:r>
            <a:r>
              <a:rPr lang="nl-NL" dirty="0" smtClean="0"/>
              <a:t>n </a:t>
            </a:r>
            <a:r>
              <a:rPr lang="nl-NL" dirty="0" smtClean="0"/>
              <a:t>introducing agriculture </a:t>
            </a:r>
            <a:r>
              <a:rPr lang="nl-NL" dirty="0"/>
              <a:t>insurance schemes </a:t>
            </a:r>
            <a:r>
              <a:rPr lang="nl-NL" dirty="0" smtClean="0"/>
              <a:t>for the smallholder formers.</a:t>
            </a:r>
          </a:p>
          <a:p>
            <a:pPr marL="0" indent="0">
              <a:buNone/>
            </a:pPr>
            <a:endParaRPr lang="nl-NL" dirty="0" smtClean="0"/>
          </a:p>
          <a:p>
            <a:pPr marL="0" indent="0">
              <a:buNone/>
            </a:pPr>
            <a:r>
              <a:rPr lang="nl-NL" b="1" dirty="0" smtClean="0"/>
              <a:t>Demand side </a:t>
            </a:r>
          </a:p>
          <a:p>
            <a:pPr marL="0" indent="0">
              <a:buNone/>
            </a:pPr>
            <a:r>
              <a:rPr lang="nl-NL" u="sng" dirty="0" smtClean="0"/>
              <a:t>Farmers </a:t>
            </a:r>
            <a:r>
              <a:rPr lang="nl-NL" u="sng" dirty="0"/>
              <a:t>are still </a:t>
            </a:r>
            <a:r>
              <a:rPr lang="nl-NL" u="sng" dirty="0" smtClean="0"/>
              <a:t>facing a </a:t>
            </a:r>
            <a:r>
              <a:rPr lang="nl-NL" u="sng" dirty="0"/>
              <a:t>lot </a:t>
            </a:r>
            <a:r>
              <a:rPr lang="nl-NL" u="sng" dirty="0" smtClean="0"/>
              <a:t>of </a:t>
            </a:r>
            <a:r>
              <a:rPr lang="nl-NL" u="sng" dirty="0"/>
              <a:t>challlenges towards </a:t>
            </a:r>
            <a:r>
              <a:rPr lang="nl-NL" b="1" u="sng" dirty="0"/>
              <a:t>accessing</a:t>
            </a:r>
            <a:r>
              <a:rPr lang="nl-NL" u="sng" dirty="0"/>
              <a:t> financial </a:t>
            </a:r>
            <a:r>
              <a:rPr lang="nl-NL" u="sng" dirty="0" smtClean="0"/>
              <a:t>services to increase production and income levels</a:t>
            </a:r>
            <a:r>
              <a:rPr lang="nl-NL" dirty="0" smtClean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3238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"/>
            <a:ext cx="8229600" cy="11429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MAIN CHALLENGES FARMERS FACING TO FINANCIAL SERVICES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485900"/>
            <a:ext cx="8524056" cy="3810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Small holder Farmers are not considered as Potential clients </a:t>
            </a:r>
            <a:r>
              <a:rPr lang="en-US" dirty="0" smtClean="0"/>
              <a:t>by most </a:t>
            </a:r>
            <a:r>
              <a:rPr lang="en-US" dirty="0"/>
              <a:t>Financial Institutions</a:t>
            </a:r>
          </a:p>
          <a:p>
            <a:r>
              <a:rPr lang="en-US" dirty="0" smtClean="0"/>
              <a:t>Lack </a:t>
            </a:r>
            <a:r>
              <a:rPr lang="en-US" dirty="0"/>
              <a:t>of farmers </a:t>
            </a:r>
            <a:r>
              <a:rPr lang="en-US" dirty="0" smtClean="0"/>
              <a:t>data for financial institutions</a:t>
            </a:r>
            <a:endParaRPr lang="en-US" dirty="0"/>
          </a:p>
          <a:p>
            <a:r>
              <a:rPr lang="en-US" dirty="0"/>
              <a:t>High cost to serve </a:t>
            </a:r>
            <a:r>
              <a:rPr lang="en-US" dirty="0" smtClean="0"/>
              <a:t>isolated farmers</a:t>
            </a:r>
            <a:endParaRPr lang="en-US" dirty="0"/>
          </a:p>
          <a:p>
            <a:r>
              <a:rPr lang="en-US" dirty="0" smtClean="0"/>
              <a:t>Lack </a:t>
            </a:r>
            <a:r>
              <a:rPr lang="en-US" dirty="0"/>
              <a:t>of </a:t>
            </a:r>
            <a:r>
              <a:rPr lang="en-US" dirty="0" smtClean="0"/>
              <a:t>collateral</a:t>
            </a:r>
          </a:p>
          <a:p>
            <a:r>
              <a:rPr lang="en-US" dirty="0"/>
              <a:t>Lack of agriculture or crop insurance scheme </a:t>
            </a:r>
          </a:p>
          <a:p>
            <a:r>
              <a:rPr lang="en-US" dirty="0" smtClean="0"/>
              <a:t>Limited </a:t>
            </a:r>
            <a:r>
              <a:rPr lang="en-US" dirty="0"/>
              <a:t>understanding of Agriculture value chain by FIs</a:t>
            </a:r>
          </a:p>
          <a:p>
            <a:r>
              <a:rPr lang="en-US" dirty="0" smtClean="0"/>
              <a:t>Farmers’ </a:t>
            </a:r>
            <a:r>
              <a:rPr lang="en-US" dirty="0"/>
              <a:t>i</a:t>
            </a:r>
            <a:r>
              <a:rPr lang="en-US" dirty="0" smtClean="0"/>
              <a:t>lliteracy &amp; trust towards new technology</a:t>
            </a:r>
          </a:p>
        </p:txBody>
      </p:sp>
    </p:spTree>
    <p:extLst>
      <p:ext uri="{BB962C8B-B14F-4D97-AF65-F5344CB8AC3E}">
        <p14:creationId xmlns:p14="http://schemas.microsoft.com/office/powerpoint/2010/main" val="288061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864"/>
            <a:ext cx="8991600" cy="1180835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SMALL HOLDER FARMERS ARE NOT CONSIDERED AS POTENTIAL CLIENTS BY FINANCIAL INSTITUTIONS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489348"/>
            <a:ext cx="8610600" cy="3528392"/>
          </a:xfrm>
        </p:spPr>
        <p:txBody>
          <a:bodyPr>
            <a:normAutofit/>
          </a:bodyPr>
          <a:lstStyle/>
          <a:p>
            <a:r>
              <a:rPr lang="en-US" dirty="0" smtClean="0"/>
              <a:t>Too risky</a:t>
            </a:r>
          </a:p>
          <a:p>
            <a:r>
              <a:rPr lang="en-US" dirty="0" smtClean="0"/>
              <a:t>Too scattered </a:t>
            </a:r>
          </a:p>
          <a:p>
            <a:r>
              <a:rPr lang="en-US" dirty="0" smtClean="0"/>
              <a:t>Too poor</a:t>
            </a:r>
            <a:endParaRPr lang="en-US" dirty="0"/>
          </a:p>
        </p:txBody>
      </p:sp>
      <p:pic>
        <p:nvPicPr>
          <p:cNvPr id="3078" name="Picture 6" descr="Image result for no entry cartoon farmer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22" b="6322"/>
          <a:stretch/>
        </p:blipFill>
        <p:spPr bwMode="auto">
          <a:xfrm>
            <a:off x="6248400" y="1943100"/>
            <a:ext cx="1809750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98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LACK OF FARMERS’ 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489348"/>
            <a:ext cx="8524056" cy="373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Issues for </a:t>
            </a:r>
            <a:r>
              <a:rPr lang="en-US" dirty="0" smtClean="0"/>
              <a:t>FIs </a:t>
            </a:r>
            <a:r>
              <a:rPr lang="en-US" dirty="0"/>
              <a:t>in farmer data information that help them to build a credit profile and deliver loans to </a:t>
            </a:r>
            <a:r>
              <a:rPr lang="en-US" dirty="0" smtClean="0"/>
              <a:t>smallholder:</a:t>
            </a:r>
            <a:endParaRPr lang="en-US" dirty="0" smtClean="0"/>
          </a:p>
          <a:p>
            <a:r>
              <a:rPr lang="en-US" dirty="0" smtClean="0"/>
              <a:t>Not having such data at all;</a:t>
            </a:r>
          </a:p>
          <a:p>
            <a:r>
              <a:rPr lang="en-US" dirty="0" smtClean="0"/>
              <a:t>or not complete (incentives for farmers, fear)</a:t>
            </a:r>
          </a:p>
          <a:p>
            <a:r>
              <a:rPr lang="en-US" dirty="0" smtClean="0"/>
              <a:t>or not reliable (built in control mechanisms) </a:t>
            </a:r>
          </a:p>
          <a:p>
            <a:r>
              <a:rPr lang="en-US" dirty="0" smtClean="0"/>
              <a:t>or a mismatch between owner and user in case of collection through phone</a:t>
            </a:r>
          </a:p>
        </p:txBody>
      </p:sp>
    </p:spTree>
    <p:extLst>
      <p:ext uri="{BB962C8B-B14F-4D97-AF65-F5344CB8AC3E}">
        <p14:creationId xmlns:p14="http://schemas.microsoft.com/office/powerpoint/2010/main" val="111283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HIGH COST TO SERVE ISOLATED FARMERS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The fact that many farmers are not  </a:t>
            </a:r>
            <a:r>
              <a:rPr lang="en-US" dirty="0" smtClean="0">
                <a:solidFill>
                  <a:schemeClr val="accent4"/>
                </a:solidFill>
              </a:rPr>
              <a:t>collectively organized result </a:t>
            </a:r>
            <a:r>
              <a:rPr lang="en-US" dirty="0" smtClean="0">
                <a:solidFill>
                  <a:schemeClr val="accent4"/>
                </a:solidFill>
              </a:rPr>
              <a:t>in high costs. Isolation results in:</a:t>
            </a:r>
            <a:endParaRPr lang="en-US" dirty="0" smtClean="0">
              <a:solidFill>
                <a:schemeClr val="accent4"/>
              </a:solidFill>
            </a:endParaRPr>
          </a:p>
          <a:p>
            <a:pPr lvl="1"/>
            <a:r>
              <a:rPr lang="en-US" dirty="0" smtClean="0">
                <a:solidFill>
                  <a:schemeClr val="accent4"/>
                </a:solidFill>
              </a:rPr>
              <a:t>Lack of information vis a vis finance </a:t>
            </a:r>
          </a:p>
          <a:p>
            <a:pPr lvl="1"/>
            <a:r>
              <a:rPr lang="en-US" dirty="0" smtClean="0">
                <a:solidFill>
                  <a:schemeClr val="accent4"/>
                </a:solidFill>
              </a:rPr>
              <a:t>Lack </a:t>
            </a:r>
            <a:r>
              <a:rPr lang="en-US" dirty="0">
                <a:solidFill>
                  <a:schemeClr val="accent4"/>
                </a:solidFill>
              </a:rPr>
              <a:t>of power of </a:t>
            </a:r>
            <a:r>
              <a:rPr lang="en-US" dirty="0" smtClean="0">
                <a:solidFill>
                  <a:schemeClr val="accent4"/>
                </a:solidFill>
              </a:rPr>
              <a:t>advocacy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L</a:t>
            </a:r>
            <a:r>
              <a:rPr lang="en-US" dirty="0" smtClean="0">
                <a:solidFill>
                  <a:schemeClr val="accent4"/>
                </a:solidFill>
              </a:rPr>
              <a:t>ack </a:t>
            </a:r>
            <a:r>
              <a:rPr lang="en-US" dirty="0">
                <a:solidFill>
                  <a:schemeClr val="accent4"/>
                </a:solidFill>
              </a:rPr>
              <a:t>of </a:t>
            </a:r>
            <a:r>
              <a:rPr lang="en-US" dirty="0" smtClean="0">
                <a:solidFill>
                  <a:schemeClr val="accent4"/>
                </a:solidFill>
              </a:rPr>
              <a:t>access to trainings/coaching </a:t>
            </a:r>
            <a:r>
              <a:rPr lang="en-US" dirty="0">
                <a:solidFill>
                  <a:schemeClr val="accent4"/>
                </a:solidFill>
              </a:rPr>
              <a:t>on financial </a:t>
            </a:r>
            <a:r>
              <a:rPr lang="en-US" dirty="0" smtClean="0">
                <a:solidFill>
                  <a:schemeClr val="accent4"/>
                </a:solidFill>
              </a:rPr>
              <a:t>education, business plan, financial literacy, entrepreneurship, etc. </a:t>
            </a:r>
            <a:r>
              <a:rPr lang="en-US" dirty="0">
                <a:solidFill>
                  <a:schemeClr val="accent4"/>
                </a:solidFill>
              </a:rPr>
              <a:t>which led to the </a:t>
            </a:r>
            <a:r>
              <a:rPr lang="en-US" b="1" dirty="0">
                <a:solidFill>
                  <a:srgbClr val="FF0000"/>
                </a:solidFill>
              </a:rPr>
              <a:t>poor mindset </a:t>
            </a:r>
            <a:r>
              <a:rPr lang="en-US" dirty="0">
                <a:solidFill>
                  <a:schemeClr val="accent4"/>
                </a:solidFill>
              </a:rPr>
              <a:t>towards finance </a:t>
            </a:r>
            <a:r>
              <a:rPr lang="en-US" dirty="0" smtClean="0">
                <a:solidFill>
                  <a:schemeClr val="accent4"/>
                </a:solidFill>
              </a:rPr>
              <a:t>access and being a reliable client for banks.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02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19100"/>
            <a:ext cx="8686800" cy="9525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/>
              <a:t>LACK OF COLLATERAL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423283"/>
            <a:ext cx="8208912" cy="3594457"/>
          </a:xfrm>
        </p:spPr>
        <p:txBody>
          <a:bodyPr>
            <a:normAutofit/>
          </a:bodyPr>
          <a:lstStyle/>
          <a:p>
            <a:r>
              <a:rPr lang="en-US" dirty="0" smtClean="0"/>
              <a:t>Smallholder farmers </a:t>
            </a:r>
            <a:r>
              <a:rPr lang="en-US" dirty="0" smtClean="0"/>
              <a:t>do </a:t>
            </a:r>
            <a:r>
              <a:rPr lang="en-US" dirty="0"/>
              <a:t>not own the land  </a:t>
            </a:r>
            <a:endParaRPr lang="en-US" dirty="0" smtClean="0"/>
          </a:p>
          <a:p>
            <a:r>
              <a:rPr lang="en-US" dirty="0" smtClean="0"/>
              <a:t>Others do not own </a:t>
            </a:r>
            <a:r>
              <a:rPr lang="en-US" dirty="0"/>
              <a:t>fixed </a:t>
            </a:r>
            <a:r>
              <a:rPr lang="en-US" dirty="0" smtClean="0"/>
              <a:t>assets</a:t>
            </a:r>
          </a:p>
          <a:p>
            <a:r>
              <a:rPr lang="en-US" dirty="0" smtClean="0"/>
              <a:t>Others are </a:t>
            </a:r>
            <a:r>
              <a:rPr lang="en-US" dirty="0"/>
              <a:t>renting land</a:t>
            </a:r>
          </a:p>
          <a:p>
            <a:r>
              <a:rPr lang="en-US" dirty="0"/>
              <a:t>Lack of farmers’ guarantee fund</a:t>
            </a:r>
          </a:p>
          <a:p>
            <a:r>
              <a:rPr lang="en-US" dirty="0"/>
              <a:t>Financial institution accept </a:t>
            </a:r>
            <a:r>
              <a:rPr lang="en-US" dirty="0">
                <a:solidFill>
                  <a:schemeClr val="bg1"/>
                </a:solidFill>
              </a:rPr>
              <a:t>FIXED ASSETS </a:t>
            </a:r>
            <a:r>
              <a:rPr lang="en-US" dirty="0"/>
              <a:t>to access financial services (Agriculture loan)</a:t>
            </a:r>
          </a:p>
        </p:txBody>
      </p:sp>
    </p:spTree>
    <p:extLst>
      <p:ext uri="{BB962C8B-B14F-4D97-AF65-F5344CB8AC3E}">
        <p14:creationId xmlns:p14="http://schemas.microsoft.com/office/powerpoint/2010/main" val="21898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28864"/>
            <a:ext cx="8991600" cy="1104635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/>
              <a:t>LACK OF AGRICULTURE OR CROP INSURANCE SCHEME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Lack of insurance scheme on agriculture value chain</a:t>
            </a:r>
          </a:p>
          <a:p>
            <a:r>
              <a:rPr lang="en-US" dirty="0" smtClean="0"/>
              <a:t>Lack of guarantee fund for crop insurance</a:t>
            </a:r>
          </a:p>
          <a:p>
            <a:r>
              <a:rPr lang="en-US" dirty="0" smtClean="0"/>
              <a:t>Lack of farmers awareness on agriculture insurance</a:t>
            </a:r>
          </a:p>
          <a:p>
            <a:r>
              <a:rPr lang="en-US" dirty="0" smtClean="0"/>
              <a:t>Limited skills on agriculture insurance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26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1"/>
            <a:ext cx="9067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LIMITED UNDERSTANDING OF AGRICULTURE VALUE CHAIN BY FIS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409700"/>
            <a:ext cx="8371656" cy="3810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No research conducted</a:t>
            </a:r>
            <a:r>
              <a:rPr lang="en-US" dirty="0"/>
              <a:t> </a:t>
            </a:r>
            <a:r>
              <a:rPr lang="en-US" dirty="0" smtClean="0"/>
              <a:t>to decide whether to invest in Agri-loan and related to suitable Financial Products</a:t>
            </a:r>
          </a:p>
          <a:p>
            <a:r>
              <a:rPr lang="en-US" dirty="0"/>
              <a:t>H</a:t>
            </a:r>
            <a:r>
              <a:rPr lang="en-US" dirty="0" smtClean="0"/>
              <a:t>igh </a:t>
            </a:r>
            <a:r>
              <a:rPr lang="en-US" b="1" dirty="0"/>
              <a:t>interest </a:t>
            </a:r>
            <a:r>
              <a:rPr lang="en-US" b="1" dirty="0" smtClean="0"/>
              <a:t>rate </a:t>
            </a:r>
            <a:r>
              <a:rPr lang="en-US" dirty="0" smtClean="0"/>
              <a:t>for available products</a:t>
            </a:r>
          </a:p>
          <a:p>
            <a:r>
              <a:rPr lang="en-US" dirty="0"/>
              <a:t>Lack of </a:t>
            </a:r>
            <a:r>
              <a:rPr lang="en-US" b="1" dirty="0"/>
              <a:t>financial product </a:t>
            </a:r>
            <a:r>
              <a:rPr lang="en-US" dirty="0" smtClean="0"/>
              <a:t>in agriculture to address farmers’ challenges</a:t>
            </a:r>
          </a:p>
          <a:p>
            <a:r>
              <a:rPr lang="en-US" dirty="0" smtClean="0"/>
              <a:t>FIs fear the agriculture risks (</a:t>
            </a:r>
            <a:r>
              <a:rPr lang="en-US" b="1" dirty="0" smtClean="0"/>
              <a:t>High Risk</a:t>
            </a:r>
            <a:r>
              <a:rPr lang="en-US" dirty="0" smtClean="0"/>
              <a:t>)</a:t>
            </a:r>
          </a:p>
          <a:p>
            <a:r>
              <a:rPr lang="en-US" dirty="0" smtClean="0"/>
              <a:t>FIs always look at </a:t>
            </a:r>
            <a:r>
              <a:rPr lang="en-US" b="1" dirty="0" smtClean="0"/>
              <a:t>Formal Business Contract </a:t>
            </a:r>
            <a:r>
              <a:rPr lang="en-US" dirty="0" smtClean="0"/>
              <a:t>and other collaterals.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25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FARMERS’ ILLITERACY TO NEW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409700"/>
            <a:ext cx="8229600" cy="3733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Many </a:t>
            </a:r>
            <a:r>
              <a:rPr lang="en-US" dirty="0"/>
              <a:t>Farmers are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illiterate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/>
              <a:t>which </a:t>
            </a:r>
            <a:r>
              <a:rPr lang="en-US" dirty="0"/>
              <a:t>is affect  their usage and accessible ICT </a:t>
            </a:r>
            <a:r>
              <a:rPr lang="en-US" dirty="0" smtClean="0"/>
              <a:t>services</a:t>
            </a:r>
          </a:p>
          <a:p>
            <a:r>
              <a:rPr lang="en-US" dirty="0" smtClean="0"/>
              <a:t>Lack of skills and knowledge on ICT tools</a:t>
            </a:r>
          </a:p>
          <a:p>
            <a:r>
              <a:rPr lang="en-US" dirty="0" smtClean="0"/>
              <a:t>Lack of </a:t>
            </a:r>
            <a:r>
              <a:rPr lang="en-US" b="1" dirty="0" smtClean="0"/>
              <a:t>appropriate product </a:t>
            </a:r>
            <a:r>
              <a:rPr lang="en-US" dirty="0" smtClean="0"/>
              <a:t>for both literate and illiterate farmers</a:t>
            </a:r>
          </a:p>
          <a:p>
            <a:r>
              <a:rPr lang="en-US" dirty="0" smtClean="0"/>
              <a:t>Farmers’ </a:t>
            </a:r>
            <a:r>
              <a:rPr lang="en-US" b="1" dirty="0" smtClean="0"/>
              <a:t>don’t trust technology </a:t>
            </a:r>
            <a:r>
              <a:rPr lang="en-US" dirty="0" smtClean="0"/>
              <a:t>lead to lack of accurate information (Mindset)</a:t>
            </a:r>
          </a:p>
          <a:p>
            <a:r>
              <a:rPr lang="en-US" dirty="0" smtClean="0"/>
              <a:t>Farmers’ providing wrong information in using technology</a:t>
            </a:r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96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66700"/>
            <a:ext cx="8839200" cy="114299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/>
              <a:t>ROLE OF FARMERS ORGANIZATIONS (COOPERATIVE) IN ADDRESSING CHALLENGES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Agriculture cooperatives has the great role in solving financing problems of smallholder farmers due to different factors such as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Planning </a:t>
            </a:r>
            <a:r>
              <a:rPr lang="en-US" b="1" dirty="0"/>
              <a:t>&amp; </a:t>
            </a:r>
            <a:r>
              <a:rPr lang="en-US" b="1" dirty="0" smtClean="0"/>
              <a:t>Strategy</a:t>
            </a:r>
          </a:p>
          <a:p>
            <a:pPr lvl="1"/>
            <a:r>
              <a:rPr lang="en-US" b="1" dirty="0" smtClean="0"/>
              <a:t>Easy </a:t>
            </a:r>
            <a:r>
              <a:rPr lang="en-US" b="1" dirty="0"/>
              <a:t>Provision of data for </a:t>
            </a:r>
            <a:r>
              <a:rPr lang="en-US" b="1" dirty="0" smtClean="0"/>
              <a:t>farmers</a:t>
            </a:r>
          </a:p>
          <a:p>
            <a:pPr lvl="1"/>
            <a:r>
              <a:rPr lang="en-US" b="1" dirty="0" smtClean="0"/>
              <a:t>Easy </a:t>
            </a:r>
            <a:r>
              <a:rPr lang="en-US" b="1" dirty="0"/>
              <a:t>awareness campaign </a:t>
            </a:r>
            <a:r>
              <a:rPr lang="en-US" b="1" dirty="0" smtClean="0"/>
              <a:t>raising</a:t>
            </a:r>
          </a:p>
          <a:p>
            <a:pPr lvl="1"/>
            <a:endParaRPr lang="en-US" b="1" dirty="0" smtClean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0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8229600" cy="9525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PLANNING &amp;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489348"/>
            <a:ext cx="8600256" cy="3528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Agriculture </a:t>
            </a:r>
            <a:r>
              <a:rPr lang="en-US" dirty="0"/>
              <a:t>cooperative has a deep understanding of their member allows cooperative </a:t>
            </a:r>
            <a:endParaRPr lang="en-US" dirty="0" smtClean="0"/>
          </a:p>
          <a:p>
            <a:pPr lvl="1"/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define </a:t>
            </a:r>
            <a:r>
              <a:rPr lang="en-US" dirty="0" smtClean="0"/>
              <a:t>their </a:t>
            </a:r>
            <a:r>
              <a:rPr lang="en-US" b="1" dirty="0" smtClean="0"/>
              <a:t>roadmap</a:t>
            </a:r>
            <a:endParaRPr lang="en-US" dirty="0" smtClean="0"/>
          </a:p>
          <a:p>
            <a:pPr lvl="1"/>
            <a:r>
              <a:rPr lang="en-US" dirty="0" smtClean="0"/>
              <a:t>It also </a:t>
            </a:r>
            <a:r>
              <a:rPr lang="en-US" dirty="0"/>
              <a:t>allows them to make </a:t>
            </a:r>
            <a:r>
              <a:rPr lang="en-US" b="1" dirty="0"/>
              <a:t>financial forecasts </a:t>
            </a:r>
            <a:endParaRPr lang="en-US" dirty="0" smtClean="0"/>
          </a:p>
          <a:p>
            <a:pPr lvl="1"/>
            <a:r>
              <a:rPr lang="en-US" dirty="0" smtClean="0"/>
              <a:t>Evaluate </a:t>
            </a:r>
            <a:r>
              <a:rPr lang="en-US" dirty="0"/>
              <a:t>with </a:t>
            </a:r>
            <a:r>
              <a:rPr lang="en-US" b="1" dirty="0"/>
              <a:t>high precision potential markets </a:t>
            </a:r>
            <a:r>
              <a:rPr lang="en-US" dirty="0"/>
              <a:t>for various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9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19100"/>
            <a:ext cx="9144000" cy="99059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EASY PROVISION OF DATA FOR FARMERS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000" y="1409700"/>
            <a:ext cx="8763000" cy="3810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smtClean="0"/>
              <a:t>Profiling </a:t>
            </a:r>
            <a:r>
              <a:rPr lang="en-US" b="1" dirty="0"/>
              <a:t>farmers </a:t>
            </a:r>
            <a:r>
              <a:rPr lang="en-US" dirty="0"/>
              <a:t>to credit requires </a:t>
            </a:r>
            <a:r>
              <a:rPr lang="en-US" dirty="0" smtClean="0"/>
              <a:t>a lot of data needed notably:</a:t>
            </a:r>
          </a:p>
          <a:p>
            <a:pPr algn="just"/>
            <a:r>
              <a:rPr lang="en-US" dirty="0"/>
              <a:t>I</a:t>
            </a:r>
            <a:r>
              <a:rPr lang="en-US" dirty="0" smtClean="0"/>
              <a:t>nformation </a:t>
            </a:r>
            <a:r>
              <a:rPr lang="en-US" dirty="0"/>
              <a:t>about Personal identification, </a:t>
            </a:r>
            <a:endParaRPr lang="en-US" dirty="0" smtClean="0"/>
          </a:p>
          <a:p>
            <a:pPr algn="just"/>
            <a:r>
              <a:rPr lang="en-US" dirty="0" smtClean="0"/>
              <a:t>Production </a:t>
            </a:r>
            <a:r>
              <a:rPr lang="en-US" dirty="0"/>
              <a:t>information</a:t>
            </a:r>
            <a:r>
              <a:rPr lang="en-US" dirty="0" smtClean="0"/>
              <a:t>,</a:t>
            </a:r>
          </a:p>
          <a:p>
            <a:pPr algn="just"/>
            <a:r>
              <a:rPr lang="en-US" dirty="0" smtClean="0"/>
              <a:t>Supply or Bankable data, </a:t>
            </a:r>
            <a:r>
              <a:rPr lang="en-US" dirty="0"/>
              <a:t>etc…. </a:t>
            </a:r>
            <a:endParaRPr lang="en-US" dirty="0" smtClean="0"/>
          </a:p>
          <a:p>
            <a:pPr algn="just"/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cooperative </a:t>
            </a:r>
            <a:r>
              <a:rPr lang="en-US" dirty="0" smtClean="0"/>
              <a:t>can play </a:t>
            </a:r>
            <a:r>
              <a:rPr lang="en-US" dirty="0"/>
              <a:t>a great role in </a:t>
            </a:r>
            <a:r>
              <a:rPr lang="en-US" b="1" i="1" dirty="0"/>
              <a:t>provision of those information </a:t>
            </a:r>
            <a:r>
              <a:rPr lang="en-US" dirty="0"/>
              <a:t>towards  access to finance services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530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09699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EASY AWARENESS CAMPAIGN RAISING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smtClean="0"/>
              <a:t>Innovation </a:t>
            </a:r>
            <a:r>
              <a:rPr lang="en-US" sz="3200" dirty="0"/>
              <a:t>paths  require the </a:t>
            </a:r>
            <a:r>
              <a:rPr lang="en-US" sz="3200" b="1" dirty="0"/>
              <a:t>intensive and regular awareness campaign</a:t>
            </a:r>
            <a:r>
              <a:rPr lang="en-US" sz="3200" dirty="0"/>
              <a:t> to get  farmers aware those services </a:t>
            </a:r>
            <a:r>
              <a:rPr lang="en-US" sz="3200" dirty="0" smtClean="0"/>
              <a:t>that are </a:t>
            </a:r>
            <a:r>
              <a:rPr lang="en-US" sz="3200" dirty="0"/>
              <a:t>not going to </a:t>
            </a:r>
            <a:r>
              <a:rPr lang="en-US" sz="3200" b="1" dirty="0"/>
              <a:t>weaken </a:t>
            </a:r>
            <a:r>
              <a:rPr lang="en-US" sz="3200" dirty="0"/>
              <a:t>their position  in Value </a:t>
            </a:r>
            <a:r>
              <a:rPr lang="en-US" sz="3200" dirty="0" smtClean="0"/>
              <a:t>chain, </a:t>
            </a:r>
            <a:r>
              <a:rPr lang="en-US" sz="3200" dirty="0"/>
              <a:t>their rights  and obligations in the process </a:t>
            </a:r>
          </a:p>
          <a:p>
            <a:pPr marL="0" indent="0"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3064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"/>
            <a:ext cx="8229600" cy="1142999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From challenges to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-152400" y="1409700"/>
            <a:ext cx="3723456" cy="4114800"/>
          </a:xfrm>
        </p:spPr>
        <p:txBody>
          <a:bodyPr>
            <a:normAutofit fontScale="62500" lnSpcReduction="20000"/>
          </a:bodyPr>
          <a:lstStyle/>
          <a:p>
            <a:r>
              <a:rPr lang="en-US" i="1" dirty="0"/>
              <a:t>Small holder Farmers are not considered as Potential clients </a:t>
            </a:r>
            <a:r>
              <a:rPr lang="en-US" i="1" dirty="0" smtClean="0"/>
              <a:t>by most </a:t>
            </a:r>
            <a:r>
              <a:rPr lang="en-US" i="1" dirty="0"/>
              <a:t>Financial Institutions</a:t>
            </a:r>
          </a:p>
          <a:p>
            <a:r>
              <a:rPr lang="en-US" i="1" dirty="0" smtClean="0"/>
              <a:t>Lack </a:t>
            </a:r>
            <a:r>
              <a:rPr lang="en-US" i="1" dirty="0"/>
              <a:t>of farmers </a:t>
            </a:r>
            <a:r>
              <a:rPr lang="en-US" i="1" dirty="0" smtClean="0"/>
              <a:t>data for financial institutions</a:t>
            </a:r>
            <a:endParaRPr lang="en-US" i="1" dirty="0"/>
          </a:p>
          <a:p>
            <a:r>
              <a:rPr lang="en-US" i="1" dirty="0"/>
              <a:t>High cost to serve </a:t>
            </a:r>
            <a:r>
              <a:rPr lang="en-US" i="1" dirty="0" smtClean="0"/>
              <a:t>isolated farmers</a:t>
            </a:r>
            <a:endParaRPr lang="en-US" i="1" dirty="0"/>
          </a:p>
          <a:p>
            <a:r>
              <a:rPr lang="en-US" i="1" dirty="0" smtClean="0"/>
              <a:t>Lack </a:t>
            </a:r>
            <a:r>
              <a:rPr lang="en-US" i="1" dirty="0"/>
              <a:t>of </a:t>
            </a:r>
            <a:r>
              <a:rPr lang="en-US" i="1" dirty="0" smtClean="0"/>
              <a:t>collateral</a:t>
            </a:r>
          </a:p>
          <a:p>
            <a:r>
              <a:rPr lang="en-US" i="1" dirty="0"/>
              <a:t>Lack of agriculture or crop insurance scheme </a:t>
            </a:r>
          </a:p>
          <a:p>
            <a:r>
              <a:rPr lang="en-US" i="1" dirty="0" smtClean="0"/>
              <a:t>Limited </a:t>
            </a:r>
            <a:r>
              <a:rPr lang="en-US" i="1" dirty="0"/>
              <a:t>understanding of Agriculture value chain by FIs</a:t>
            </a:r>
          </a:p>
          <a:p>
            <a:r>
              <a:rPr lang="en-US" i="1" dirty="0" smtClean="0"/>
              <a:t>Farmers’ </a:t>
            </a:r>
            <a:r>
              <a:rPr lang="en-US" i="1" dirty="0"/>
              <a:t>i</a:t>
            </a:r>
            <a:r>
              <a:rPr lang="en-US" i="1" dirty="0" smtClean="0"/>
              <a:t>lliteracy &amp; trust towards new technology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86200" y="30586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81600" y="1485900"/>
            <a:ext cx="3723456" cy="411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2800" kern="1200">
                <a:solidFill>
                  <a:srgbClr val="1A2E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2400" kern="1200">
                <a:solidFill>
                  <a:srgbClr val="1A2E8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2000" kern="1200">
                <a:solidFill>
                  <a:srgbClr val="1A2E8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1800" kern="1200">
                <a:solidFill>
                  <a:srgbClr val="1A2E8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E20613"/>
              </a:buClr>
              <a:buFont typeface="Arial" panose="020B0604020202020204" pitchFamily="34" charset="0"/>
              <a:buChar char="•"/>
              <a:defRPr sz="1800" kern="1200">
                <a:solidFill>
                  <a:srgbClr val="1A2E8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Build the business case of farmers </a:t>
            </a:r>
          </a:p>
          <a:p>
            <a:r>
              <a:rPr lang="en-US" dirty="0" smtClean="0"/>
              <a:t>Create bankable data through historical supplier and buyers records </a:t>
            </a:r>
          </a:p>
          <a:p>
            <a:r>
              <a:rPr lang="en-US" dirty="0" smtClean="0"/>
              <a:t>Cooperatives as entry point </a:t>
            </a:r>
          </a:p>
          <a:p>
            <a:r>
              <a:rPr lang="en-US" dirty="0" smtClean="0"/>
              <a:t>Train FI staff on VC financing</a:t>
            </a:r>
          </a:p>
          <a:p>
            <a:r>
              <a:rPr lang="en-US" dirty="0" smtClean="0"/>
              <a:t>Awareness campaign raising &amp; mind-set change</a:t>
            </a:r>
          </a:p>
          <a:p>
            <a:r>
              <a:rPr lang="en-US" dirty="0" smtClean="0"/>
              <a:t>Financial literacy trainings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755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Other Key Partners </a:t>
            </a:r>
            <a:r>
              <a:rPr lang="en-US" b="1" dirty="0" smtClean="0"/>
              <a:t>Interventions required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409700"/>
            <a:ext cx="8208912" cy="360804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GoR to improve strategy and policy level</a:t>
            </a:r>
          </a:p>
          <a:p>
            <a:r>
              <a:rPr lang="en-US" dirty="0" smtClean="0"/>
              <a:t>Financial Institutions to remove barriers to farmers in accessing financial services 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Digital Services Providers in developing digital solutions with appropriate business models and user friendly interfaces</a:t>
            </a:r>
          </a:p>
          <a:p>
            <a:r>
              <a:rPr lang="en-US" dirty="0" smtClean="0"/>
              <a:t>Civil society Organizations for empowering farmers.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0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ARK_presentation template_2019">
  <a:themeElements>
    <a:clrScheme name="SPARK Colour theme 2017">
      <a:dk1>
        <a:srgbClr val="001B2C"/>
      </a:dk1>
      <a:lt1>
        <a:srgbClr val="0C3751"/>
      </a:lt1>
      <a:dk2>
        <a:srgbClr val="1A2E80"/>
      </a:dk2>
      <a:lt2>
        <a:srgbClr val="C5DFE0"/>
      </a:lt2>
      <a:accent1>
        <a:srgbClr val="F3EBE8"/>
      </a:accent1>
      <a:accent2>
        <a:srgbClr val="E20613"/>
      </a:accent2>
      <a:accent3>
        <a:srgbClr val="001B2C"/>
      </a:accent3>
      <a:accent4>
        <a:srgbClr val="0C3751"/>
      </a:accent4>
      <a:accent5>
        <a:srgbClr val="1A2E80"/>
      </a:accent5>
      <a:accent6>
        <a:srgbClr val="C5DFE0"/>
      </a:accent6>
      <a:hlink>
        <a:srgbClr val="F3EBE8"/>
      </a:hlink>
      <a:folHlink>
        <a:srgbClr val="E20613"/>
      </a:folHlink>
    </a:clrScheme>
    <a:fontScheme name="SPARK 2017 Powerpoint 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SPARK_presentation template_2019</Template>
  <TotalTime>301</TotalTime>
  <Words>947</Words>
  <Application>Microsoft Office PowerPoint</Application>
  <PresentationFormat>On-screen Show (16:10)</PresentationFormat>
  <Paragraphs>127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SPARK_presentation template_2019</vt:lpstr>
      <vt:lpstr>PowerPoint Presentation</vt:lpstr>
      <vt:lpstr>CHALLENGES FARMERS  FACE TO ACCESS  FINANCIAL SERVICES </vt:lpstr>
      <vt:lpstr>Contents</vt:lpstr>
      <vt:lpstr>SPARK OVERVIEW</vt:lpstr>
      <vt:lpstr>SPARK OVERVIEW</vt:lpstr>
      <vt:lpstr>PowerPoint Presentation</vt:lpstr>
      <vt:lpstr>Introduction</vt:lpstr>
      <vt:lpstr>Introduction Con’t</vt:lpstr>
      <vt:lpstr>MAIN CHALLENGES FARMERS FACING TO FINANCIAL SERVICES </vt:lpstr>
      <vt:lpstr>SMALL HOLDER FARMERS ARE NOT CONSIDERED AS POTENTIAL CLIENTS BY FINANCIAL INSTITUTIONS</vt:lpstr>
      <vt:lpstr>LACK OF FARMERS’ DATA </vt:lpstr>
      <vt:lpstr>HIGH COST TO SERVE ISOLATED FARMERS</vt:lpstr>
      <vt:lpstr>LACK OF COLLATERAL</vt:lpstr>
      <vt:lpstr>LACK OF AGRICULTURE OR CROP INSURANCE SCHEME </vt:lpstr>
      <vt:lpstr>LIMITED UNDERSTANDING OF AGRICULTURE VALUE CHAIN BY FIS</vt:lpstr>
      <vt:lpstr>FARMERS’ ILLITERACY TO NEW TECHNOLOGY</vt:lpstr>
      <vt:lpstr>ROLE OF FARMERS ORGANIZATIONS (COOPERATIVE) IN ADDRESSING CHALLENGES</vt:lpstr>
      <vt:lpstr>PLANNING &amp; STRATEGY</vt:lpstr>
      <vt:lpstr>EASY PROVISION OF DATA FOR FARMERS</vt:lpstr>
      <vt:lpstr>EASY AWARENESS CAMPAIGN RAISING</vt:lpstr>
      <vt:lpstr>From challenges to Solutions</vt:lpstr>
      <vt:lpstr>Other Key Partners Interventions required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75</cp:revision>
  <dcterms:created xsi:type="dcterms:W3CDTF">2019-10-29T21:25:56Z</dcterms:created>
  <dcterms:modified xsi:type="dcterms:W3CDTF">2019-11-07T07:40:16Z</dcterms:modified>
</cp:coreProperties>
</file>