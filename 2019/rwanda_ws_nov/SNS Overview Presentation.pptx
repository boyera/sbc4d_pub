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colors1.xml" ContentType="application/vnd.openxmlformats-officedocument.drawingml.diagramColors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5076" r:id="rId1"/>
  </p:sldMasterIdLst>
  <p:notesMasterIdLst>
    <p:notesMasterId r:id="rId8"/>
  </p:notesMasterIdLst>
  <p:sldIdLst>
    <p:sldId id="256" r:id="rId2"/>
    <p:sldId id="257" r:id="rId3"/>
    <p:sldId id="260" r:id="rId4"/>
    <p:sldId id="259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1122" autoAdjust="0"/>
  </p:normalViewPr>
  <p:slideViewPr>
    <p:cSldViewPr snapToGrid="0">
      <p:cViewPr varScale="1">
        <p:scale>
          <a:sx n="71" d="100"/>
          <a:sy n="71" d="100"/>
        </p:scale>
        <p:origin x="-690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313367B-138C-4486-9711-61A5E8C8D495}" type="doc">
      <dgm:prSet loTypeId="urn:microsoft.com/office/officeart/2009/3/layout/StepUp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CF859CF-DE26-4247-9628-21647618ABBB}">
      <dgm:prSet phldrT="[Text]" custT="1"/>
      <dgm:spPr/>
      <dgm:t>
        <a:bodyPr/>
        <a:lstStyle/>
        <a:p>
          <a:r>
            <a:rPr lang="en-US" sz="2000" dirty="0" smtClean="0"/>
            <a:t>2008 – Launch of the Subsidy Program under the </a:t>
          </a:r>
          <a:r>
            <a:rPr lang="en-US" sz="2000" b="0" dirty="0" smtClean="0"/>
            <a:t>CIP</a:t>
          </a:r>
          <a:r>
            <a:rPr lang="en-US" sz="2000" dirty="0" smtClean="0"/>
            <a:t> ; administered by MINAGRI</a:t>
          </a:r>
          <a:endParaRPr lang="en-US" sz="2000" dirty="0"/>
        </a:p>
      </dgm:t>
    </dgm:pt>
    <dgm:pt modelId="{0D4BEACB-B1B1-43EB-BA45-4B85B1D4A989}" type="parTrans" cxnId="{8FBE7298-7810-4701-90AD-BA3D220728DB}">
      <dgm:prSet/>
      <dgm:spPr/>
      <dgm:t>
        <a:bodyPr/>
        <a:lstStyle/>
        <a:p>
          <a:endParaRPr lang="en-US"/>
        </a:p>
      </dgm:t>
    </dgm:pt>
    <dgm:pt modelId="{D82ADE41-4E1A-494C-AEFA-3C9C08CD92CE}" type="sibTrans" cxnId="{8FBE7298-7810-4701-90AD-BA3D220728DB}">
      <dgm:prSet/>
      <dgm:spPr/>
      <dgm:t>
        <a:bodyPr/>
        <a:lstStyle/>
        <a:p>
          <a:endParaRPr lang="en-US"/>
        </a:p>
      </dgm:t>
    </dgm:pt>
    <dgm:pt modelId="{16CF0C4B-8016-4794-9D2F-B6C2654F6D18}">
      <dgm:prSet phldrT="[Text]" custT="1"/>
      <dgm:spPr/>
      <dgm:t>
        <a:bodyPr/>
        <a:lstStyle/>
        <a:p>
          <a:r>
            <a:rPr lang="en-US" sz="2000" dirty="0" smtClean="0"/>
            <a:t>2015 – The Subsidy program expands from 4 to 10 crops</a:t>
          </a:r>
          <a:endParaRPr lang="en-US" sz="2000" dirty="0"/>
        </a:p>
      </dgm:t>
    </dgm:pt>
    <dgm:pt modelId="{74EEF529-3001-4CB3-A6EC-6078E48B5BA7}" type="parTrans" cxnId="{F7926CEE-18F7-4823-9527-3916590AE60E}">
      <dgm:prSet/>
      <dgm:spPr/>
      <dgm:t>
        <a:bodyPr/>
        <a:lstStyle/>
        <a:p>
          <a:endParaRPr lang="en-US"/>
        </a:p>
      </dgm:t>
    </dgm:pt>
    <dgm:pt modelId="{6D039C56-68EF-4BD1-97B3-BA4B42E95BB3}" type="sibTrans" cxnId="{F7926CEE-18F7-4823-9527-3916590AE60E}">
      <dgm:prSet/>
      <dgm:spPr/>
      <dgm:t>
        <a:bodyPr/>
        <a:lstStyle/>
        <a:p>
          <a:endParaRPr lang="en-US"/>
        </a:p>
      </dgm:t>
    </dgm:pt>
    <dgm:pt modelId="{6CF1982E-D2D0-41A6-9594-06C4FEBE9D83}">
      <dgm:prSet phldrT="[Text]" custT="1"/>
      <dgm:spPr/>
      <dgm:t>
        <a:bodyPr/>
        <a:lstStyle/>
        <a:p>
          <a:r>
            <a:rPr lang="en-US" sz="2000" dirty="0" smtClean="0"/>
            <a:t>2018 – Subsidy system reaches &gt; 1,000,000 farmers and 1016 agro-dealers</a:t>
          </a:r>
          <a:endParaRPr lang="en-US" sz="2000" dirty="0"/>
        </a:p>
      </dgm:t>
    </dgm:pt>
    <dgm:pt modelId="{D0F1B731-BCA8-48CA-877D-1F2694E01649}" type="parTrans" cxnId="{204570A8-1DDF-4152-B2BA-881B47BA834F}">
      <dgm:prSet/>
      <dgm:spPr/>
      <dgm:t>
        <a:bodyPr/>
        <a:lstStyle/>
        <a:p>
          <a:endParaRPr lang="en-US"/>
        </a:p>
      </dgm:t>
    </dgm:pt>
    <dgm:pt modelId="{6F222F7E-4409-454C-B20B-20E191C855F4}" type="sibTrans" cxnId="{204570A8-1DDF-4152-B2BA-881B47BA834F}">
      <dgm:prSet/>
      <dgm:spPr/>
      <dgm:t>
        <a:bodyPr/>
        <a:lstStyle/>
        <a:p>
          <a:endParaRPr lang="en-US"/>
        </a:p>
      </dgm:t>
    </dgm:pt>
    <dgm:pt modelId="{8D9F095A-5A2B-4326-BC86-AF59571BC165}">
      <dgm:prSet phldrT="[Text]" custT="1"/>
      <dgm:spPr/>
      <dgm:t>
        <a:bodyPr/>
        <a:lstStyle/>
        <a:p>
          <a:pPr algn="l"/>
          <a:r>
            <a:rPr lang="en-US" sz="2000" dirty="0" smtClean="0">
              <a:latin typeface="+mn-lt"/>
            </a:rPr>
            <a:t>2018 – Local government authorities join SNS platform:  30 Directors of Agriculture, 30 Districts Agronomists and 416 Sector Agronomists </a:t>
          </a:r>
          <a:endParaRPr lang="en-US" sz="2000" dirty="0">
            <a:latin typeface="+mn-lt"/>
          </a:endParaRPr>
        </a:p>
      </dgm:t>
    </dgm:pt>
    <dgm:pt modelId="{AF0E911D-3C46-4F6E-80E6-937500E12440}" type="parTrans" cxnId="{F10DEEE4-364C-4930-A31D-9CF93E37FCB7}">
      <dgm:prSet/>
      <dgm:spPr/>
      <dgm:t>
        <a:bodyPr/>
        <a:lstStyle/>
        <a:p>
          <a:endParaRPr lang="en-US"/>
        </a:p>
      </dgm:t>
    </dgm:pt>
    <dgm:pt modelId="{A934666E-95AB-4B89-BE62-9B92AB00C890}" type="sibTrans" cxnId="{F10DEEE4-364C-4930-A31D-9CF93E37FCB7}">
      <dgm:prSet/>
      <dgm:spPr/>
      <dgm:t>
        <a:bodyPr/>
        <a:lstStyle/>
        <a:p>
          <a:endParaRPr lang="en-US"/>
        </a:p>
      </dgm:t>
    </dgm:pt>
    <dgm:pt modelId="{FD91A071-F158-47EC-B026-57B1662B9175}">
      <dgm:prSet phldrT="[Text]" custT="1"/>
      <dgm:spPr/>
      <dgm:t>
        <a:bodyPr/>
        <a:lstStyle/>
        <a:p>
          <a:endParaRPr lang="en-US" sz="2000" dirty="0">
            <a:solidFill>
              <a:schemeClr val="tx1"/>
            </a:solidFill>
          </a:endParaRPr>
        </a:p>
      </dgm:t>
    </dgm:pt>
    <dgm:pt modelId="{80DC4764-3A98-4078-B791-BEE5B045699A}" type="parTrans" cxnId="{FD8A9EF2-4290-4032-9A5E-0541EBF2840D}">
      <dgm:prSet/>
      <dgm:spPr/>
      <dgm:t>
        <a:bodyPr/>
        <a:lstStyle/>
        <a:p>
          <a:endParaRPr lang="en-US"/>
        </a:p>
      </dgm:t>
    </dgm:pt>
    <dgm:pt modelId="{AD2BF0E1-456D-4217-9FA5-20BE5E695369}" type="sibTrans" cxnId="{FD8A9EF2-4290-4032-9A5E-0541EBF2840D}">
      <dgm:prSet/>
      <dgm:spPr/>
      <dgm:t>
        <a:bodyPr/>
        <a:lstStyle/>
        <a:p>
          <a:endParaRPr lang="en-US"/>
        </a:p>
      </dgm:t>
    </dgm:pt>
    <dgm:pt modelId="{8B0DAD71-2FD2-4222-9A42-D542D168BDAB}" type="pres">
      <dgm:prSet presAssocID="{5313367B-138C-4486-9711-61A5E8C8D495}" presName="rootnode" presStyleCnt="0">
        <dgm:presLayoutVars>
          <dgm:chMax/>
          <dgm:chPref/>
          <dgm:dir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B0CDAADF-FCF9-41F6-9397-C484E180A349}" type="pres">
      <dgm:prSet presAssocID="{0CF859CF-DE26-4247-9628-21647618ABBB}" presName="composite" presStyleCnt="0"/>
      <dgm:spPr/>
      <dgm:t>
        <a:bodyPr/>
        <a:lstStyle/>
        <a:p>
          <a:endParaRPr lang="en-US"/>
        </a:p>
      </dgm:t>
    </dgm:pt>
    <dgm:pt modelId="{235A499D-F7BC-4B3A-8C1D-4DC06C1F7DDB}" type="pres">
      <dgm:prSet presAssocID="{0CF859CF-DE26-4247-9628-21647618ABBB}" presName="LShape" presStyleLbl="alignNode1" presStyleIdx="0" presStyleCnt="9"/>
      <dgm:spPr/>
      <dgm:t>
        <a:bodyPr/>
        <a:lstStyle/>
        <a:p>
          <a:endParaRPr lang="en-US"/>
        </a:p>
      </dgm:t>
    </dgm:pt>
    <dgm:pt modelId="{FA35B3B3-5886-42CF-B635-79D55EFBA6BA}" type="pres">
      <dgm:prSet presAssocID="{0CF859CF-DE26-4247-9628-21647618ABBB}" presName="ParentText" presStyleLbl="revTx" presStyleIdx="0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254E576-69C1-44CA-9829-2AC60B91C589}" type="pres">
      <dgm:prSet presAssocID="{0CF859CF-DE26-4247-9628-21647618ABBB}" presName="Triangle" presStyleLbl="alignNode1" presStyleIdx="1" presStyleCnt="9"/>
      <dgm:spPr/>
      <dgm:t>
        <a:bodyPr/>
        <a:lstStyle/>
        <a:p>
          <a:endParaRPr lang="en-US"/>
        </a:p>
      </dgm:t>
    </dgm:pt>
    <dgm:pt modelId="{2CFA1C57-5B32-4B10-9E97-0B55E70BB755}" type="pres">
      <dgm:prSet presAssocID="{D82ADE41-4E1A-494C-AEFA-3C9C08CD92CE}" presName="sibTrans" presStyleCnt="0"/>
      <dgm:spPr/>
      <dgm:t>
        <a:bodyPr/>
        <a:lstStyle/>
        <a:p>
          <a:endParaRPr lang="en-US"/>
        </a:p>
      </dgm:t>
    </dgm:pt>
    <dgm:pt modelId="{6D20AB39-308E-4640-852F-799AE83CFE55}" type="pres">
      <dgm:prSet presAssocID="{D82ADE41-4E1A-494C-AEFA-3C9C08CD92CE}" presName="space" presStyleCnt="0"/>
      <dgm:spPr/>
      <dgm:t>
        <a:bodyPr/>
        <a:lstStyle/>
        <a:p>
          <a:endParaRPr lang="en-US"/>
        </a:p>
      </dgm:t>
    </dgm:pt>
    <dgm:pt modelId="{2BF84718-3563-4E58-B982-82A88BAFD2D0}" type="pres">
      <dgm:prSet presAssocID="{16CF0C4B-8016-4794-9D2F-B6C2654F6D18}" presName="composite" presStyleCnt="0"/>
      <dgm:spPr/>
      <dgm:t>
        <a:bodyPr/>
        <a:lstStyle/>
        <a:p>
          <a:endParaRPr lang="en-US"/>
        </a:p>
      </dgm:t>
    </dgm:pt>
    <dgm:pt modelId="{34CD5AE5-87D9-47FA-A519-B07B13CACC57}" type="pres">
      <dgm:prSet presAssocID="{16CF0C4B-8016-4794-9D2F-B6C2654F6D18}" presName="LShape" presStyleLbl="alignNode1" presStyleIdx="2" presStyleCnt="9"/>
      <dgm:spPr/>
      <dgm:t>
        <a:bodyPr/>
        <a:lstStyle/>
        <a:p>
          <a:endParaRPr lang="en-US"/>
        </a:p>
      </dgm:t>
    </dgm:pt>
    <dgm:pt modelId="{D3584214-3347-401B-81A9-3A36D38B112D}" type="pres">
      <dgm:prSet presAssocID="{16CF0C4B-8016-4794-9D2F-B6C2654F6D18}" presName="ParentText" presStyleLbl="revTx" presStyleIdx="1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A19AAF1-1BDB-481F-9E45-611DEA1865C6}" type="pres">
      <dgm:prSet presAssocID="{16CF0C4B-8016-4794-9D2F-B6C2654F6D18}" presName="Triangle" presStyleLbl="alignNode1" presStyleIdx="3" presStyleCnt="9"/>
      <dgm:spPr/>
      <dgm:t>
        <a:bodyPr/>
        <a:lstStyle/>
        <a:p>
          <a:endParaRPr lang="en-US"/>
        </a:p>
      </dgm:t>
    </dgm:pt>
    <dgm:pt modelId="{C42C3EBF-B309-40CC-A967-6F379DD3FE57}" type="pres">
      <dgm:prSet presAssocID="{6D039C56-68EF-4BD1-97B3-BA4B42E95BB3}" presName="sibTrans" presStyleCnt="0"/>
      <dgm:spPr/>
      <dgm:t>
        <a:bodyPr/>
        <a:lstStyle/>
        <a:p>
          <a:endParaRPr lang="en-US"/>
        </a:p>
      </dgm:t>
    </dgm:pt>
    <dgm:pt modelId="{F2FBC089-F3D0-4A8A-BE7F-A4E0EC50E916}" type="pres">
      <dgm:prSet presAssocID="{6D039C56-68EF-4BD1-97B3-BA4B42E95BB3}" presName="space" presStyleCnt="0"/>
      <dgm:spPr/>
      <dgm:t>
        <a:bodyPr/>
        <a:lstStyle/>
        <a:p>
          <a:endParaRPr lang="en-US"/>
        </a:p>
      </dgm:t>
    </dgm:pt>
    <dgm:pt modelId="{B835150C-572A-4298-A782-32888EFD33B6}" type="pres">
      <dgm:prSet presAssocID="{6CF1982E-D2D0-41A6-9594-06C4FEBE9D83}" presName="composite" presStyleCnt="0"/>
      <dgm:spPr/>
      <dgm:t>
        <a:bodyPr/>
        <a:lstStyle/>
        <a:p>
          <a:endParaRPr lang="en-US"/>
        </a:p>
      </dgm:t>
    </dgm:pt>
    <dgm:pt modelId="{18427EA5-99B7-42F2-B516-B6EA8B0ABC92}" type="pres">
      <dgm:prSet presAssocID="{6CF1982E-D2D0-41A6-9594-06C4FEBE9D83}" presName="LShape" presStyleLbl="alignNode1" presStyleIdx="4" presStyleCnt="9" custLinFactNeighborY="-9700"/>
      <dgm:spPr/>
      <dgm:t>
        <a:bodyPr/>
        <a:lstStyle/>
        <a:p>
          <a:endParaRPr lang="en-US"/>
        </a:p>
      </dgm:t>
    </dgm:pt>
    <dgm:pt modelId="{547B4D32-D55B-401D-BF87-1E335635CD32}" type="pres">
      <dgm:prSet presAssocID="{6CF1982E-D2D0-41A6-9594-06C4FEBE9D83}" presName="ParentText" presStyleLbl="revTx" presStyleIdx="2" presStyleCnt="5" custLinFactX="27113" custLinFactNeighborX="100000" custLinFactNeighborY="-3195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8613724-706E-4447-A11F-78FA1CCE8A28}" type="pres">
      <dgm:prSet presAssocID="{6CF1982E-D2D0-41A6-9594-06C4FEBE9D83}" presName="Triangle" presStyleLbl="alignNode1" presStyleIdx="5" presStyleCnt="9"/>
      <dgm:spPr/>
      <dgm:t>
        <a:bodyPr/>
        <a:lstStyle/>
        <a:p>
          <a:endParaRPr lang="en-US"/>
        </a:p>
      </dgm:t>
    </dgm:pt>
    <dgm:pt modelId="{20E01B2A-C389-40C2-96C3-C7DB0091E33F}" type="pres">
      <dgm:prSet presAssocID="{6F222F7E-4409-454C-B20B-20E191C855F4}" presName="sibTrans" presStyleCnt="0"/>
      <dgm:spPr/>
      <dgm:t>
        <a:bodyPr/>
        <a:lstStyle/>
        <a:p>
          <a:endParaRPr lang="en-US"/>
        </a:p>
      </dgm:t>
    </dgm:pt>
    <dgm:pt modelId="{7611D990-506A-4987-B82C-6AF4642C39DF}" type="pres">
      <dgm:prSet presAssocID="{6F222F7E-4409-454C-B20B-20E191C855F4}" presName="space" presStyleCnt="0"/>
      <dgm:spPr/>
      <dgm:t>
        <a:bodyPr/>
        <a:lstStyle/>
        <a:p>
          <a:endParaRPr lang="en-US"/>
        </a:p>
      </dgm:t>
    </dgm:pt>
    <dgm:pt modelId="{86FAF8D8-3915-498B-9808-ACD371E18AC3}" type="pres">
      <dgm:prSet presAssocID="{FD91A071-F158-47EC-B026-57B1662B9175}" presName="composite" presStyleCnt="0"/>
      <dgm:spPr/>
      <dgm:t>
        <a:bodyPr/>
        <a:lstStyle/>
        <a:p>
          <a:endParaRPr lang="en-US"/>
        </a:p>
      </dgm:t>
    </dgm:pt>
    <dgm:pt modelId="{9D953446-3BDF-45E4-BDF6-F0BB8C2C8E1D}" type="pres">
      <dgm:prSet presAssocID="{FD91A071-F158-47EC-B026-57B1662B9175}" presName="LShape" presStyleLbl="alignNode1" presStyleIdx="6" presStyleCnt="9"/>
      <dgm:spPr/>
      <dgm:t>
        <a:bodyPr/>
        <a:lstStyle/>
        <a:p>
          <a:endParaRPr lang="en-US"/>
        </a:p>
      </dgm:t>
    </dgm:pt>
    <dgm:pt modelId="{87FED8EC-8322-470D-8355-FFA084FAAF71}" type="pres">
      <dgm:prSet presAssocID="{FD91A071-F158-47EC-B026-57B1662B9175}" presName="ParentText" presStyleLbl="revTx" presStyleIdx="3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E7D74A9-2808-48D0-8570-64F7FCECE685}" type="pres">
      <dgm:prSet presAssocID="{FD91A071-F158-47EC-B026-57B1662B9175}" presName="Triangle" presStyleLbl="alignNode1" presStyleIdx="7" presStyleCnt="9"/>
      <dgm:spPr/>
      <dgm:t>
        <a:bodyPr/>
        <a:lstStyle/>
        <a:p>
          <a:endParaRPr lang="en-US"/>
        </a:p>
      </dgm:t>
    </dgm:pt>
    <dgm:pt modelId="{FC89CF7F-5AC0-49BA-BFF6-530818CBC0FF}" type="pres">
      <dgm:prSet presAssocID="{AD2BF0E1-456D-4217-9FA5-20BE5E695369}" presName="sibTrans" presStyleCnt="0"/>
      <dgm:spPr/>
      <dgm:t>
        <a:bodyPr/>
        <a:lstStyle/>
        <a:p>
          <a:endParaRPr lang="en-US"/>
        </a:p>
      </dgm:t>
    </dgm:pt>
    <dgm:pt modelId="{F6E041A4-C1FC-498A-834A-E8B104C46CA0}" type="pres">
      <dgm:prSet presAssocID="{AD2BF0E1-456D-4217-9FA5-20BE5E695369}" presName="space" presStyleCnt="0"/>
      <dgm:spPr/>
      <dgm:t>
        <a:bodyPr/>
        <a:lstStyle/>
        <a:p>
          <a:endParaRPr lang="en-US"/>
        </a:p>
      </dgm:t>
    </dgm:pt>
    <dgm:pt modelId="{40C32E0E-490A-4028-8ADE-8E85253CD149}" type="pres">
      <dgm:prSet presAssocID="{8D9F095A-5A2B-4326-BC86-AF59571BC165}" presName="composite" presStyleCnt="0"/>
      <dgm:spPr/>
      <dgm:t>
        <a:bodyPr/>
        <a:lstStyle/>
        <a:p>
          <a:endParaRPr lang="en-US"/>
        </a:p>
      </dgm:t>
    </dgm:pt>
    <dgm:pt modelId="{3529CEFC-EF73-4A68-9038-CDCC9E8C45E7}" type="pres">
      <dgm:prSet presAssocID="{8D9F095A-5A2B-4326-BC86-AF59571BC165}" presName="LShape" presStyleLbl="alignNode1" presStyleIdx="8" presStyleCnt="9" custLinFactNeighborY="6745"/>
      <dgm:spPr/>
      <dgm:t>
        <a:bodyPr/>
        <a:lstStyle/>
        <a:p>
          <a:endParaRPr lang="en-US"/>
        </a:p>
      </dgm:t>
    </dgm:pt>
    <dgm:pt modelId="{E25C5F63-184F-4177-B0C7-4F5C47009967}" type="pres">
      <dgm:prSet presAssocID="{8D9F095A-5A2B-4326-BC86-AF59571BC165}" presName="ParentText" presStyleLbl="revTx" presStyleIdx="4" presStyleCnt="5" custLinFactNeighborY="7599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04570A8-1DDF-4152-B2BA-881B47BA834F}" srcId="{5313367B-138C-4486-9711-61A5E8C8D495}" destId="{6CF1982E-D2D0-41A6-9594-06C4FEBE9D83}" srcOrd="2" destOrd="0" parTransId="{D0F1B731-BCA8-48CA-877D-1F2694E01649}" sibTransId="{6F222F7E-4409-454C-B20B-20E191C855F4}"/>
    <dgm:cxn modelId="{F10DEEE4-364C-4930-A31D-9CF93E37FCB7}" srcId="{5313367B-138C-4486-9711-61A5E8C8D495}" destId="{8D9F095A-5A2B-4326-BC86-AF59571BC165}" srcOrd="4" destOrd="0" parTransId="{AF0E911D-3C46-4F6E-80E6-937500E12440}" sibTransId="{A934666E-95AB-4B89-BE62-9B92AB00C890}"/>
    <dgm:cxn modelId="{75DDF2E9-51E8-44A9-8978-D8619B038A44}" type="presOf" srcId="{8D9F095A-5A2B-4326-BC86-AF59571BC165}" destId="{E25C5F63-184F-4177-B0C7-4F5C47009967}" srcOrd="0" destOrd="0" presId="urn:microsoft.com/office/officeart/2009/3/layout/StepUpProcess"/>
    <dgm:cxn modelId="{BB9FA4BE-7F69-4F85-BB12-A2940944D480}" type="presOf" srcId="{16CF0C4B-8016-4794-9D2F-B6C2654F6D18}" destId="{D3584214-3347-401B-81A9-3A36D38B112D}" srcOrd="0" destOrd="0" presId="urn:microsoft.com/office/officeart/2009/3/layout/StepUpProcess"/>
    <dgm:cxn modelId="{F7926CEE-18F7-4823-9527-3916590AE60E}" srcId="{5313367B-138C-4486-9711-61A5E8C8D495}" destId="{16CF0C4B-8016-4794-9D2F-B6C2654F6D18}" srcOrd="1" destOrd="0" parTransId="{74EEF529-3001-4CB3-A6EC-6078E48B5BA7}" sibTransId="{6D039C56-68EF-4BD1-97B3-BA4B42E95BB3}"/>
    <dgm:cxn modelId="{8FBE7298-7810-4701-90AD-BA3D220728DB}" srcId="{5313367B-138C-4486-9711-61A5E8C8D495}" destId="{0CF859CF-DE26-4247-9628-21647618ABBB}" srcOrd="0" destOrd="0" parTransId="{0D4BEACB-B1B1-43EB-BA45-4B85B1D4A989}" sibTransId="{D82ADE41-4E1A-494C-AEFA-3C9C08CD92CE}"/>
    <dgm:cxn modelId="{FD8A9EF2-4290-4032-9A5E-0541EBF2840D}" srcId="{5313367B-138C-4486-9711-61A5E8C8D495}" destId="{FD91A071-F158-47EC-B026-57B1662B9175}" srcOrd="3" destOrd="0" parTransId="{80DC4764-3A98-4078-B791-BEE5B045699A}" sibTransId="{AD2BF0E1-456D-4217-9FA5-20BE5E695369}"/>
    <dgm:cxn modelId="{AA12D689-D90E-4AE6-B141-4DA0B7DC70AD}" type="presOf" srcId="{FD91A071-F158-47EC-B026-57B1662B9175}" destId="{87FED8EC-8322-470D-8355-FFA084FAAF71}" srcOrd="0" destOrd="0" presId="urn:microsoft.com/office/officeart/2009/3/layout/StepUpProcess"/>
    <dgm:cxn modelId="{FEA00C92-0937-4978-9907-77E98775EAE1}" type="presOf" srcId="{6CF1982E-D2D0-41A6-9594-06C4FEBE9D83}" destId="{547B4D32-D55B-401D-BF87-1E335635CD32}" srcOrd="0" destOrd="0" presId="urn:microsoft.com/office/officeart/2009/3/layout/StepUpProcess"/>
    <dgm:cxn modelId="{A33F7E4D-9A64-4461-9C25-6E2DA0D50AC1}" type="presOf" srcId="{0CF859CF-DE26-4247-9628-21647618ABBB}" destId="{FA35B3B3-5886-42CF-B635-79D55EFBA6BA}" srcOrd="0" destOrd="0" presId="urn:microsoft.com/office/officeart/2009/3/layout/StepUpProcess"/>
    <dgm:cxn modelId="{D60AB2BF-FEE7-4461-8B50-8177C88F42C2}" type="presOf" srcId="{5313367B-138C-4486-9711-61A5E8C8D495}" destId="{8B0DAD71-2FD2-4222-9A42-D542D168BDAB}" srcOrd="0" destOrd="0" presId="urn:microsoft.com/office/officeart/2009/3/layout/StepUpProcess"/>
    <dgm:cxn modelId="{AE611C3A-D53A-4DAA-8FB2-A8C4D0629008}" type="presParOf" srcId="{8B0DAD71-2FD2-4222-9A42-D542D168BDAB}" destId="{B0CDAADF-FCF9-41F6-9397-C484E180A349}" srcOrd="0" destOrd="0" presId="urn:microsoft.com/office/officeart/2009/3/layout/StepUpProcess"/>
    <dgm:cxn modelId="{AD0E4857-85C8-4CBC-84B8-DC8117D34B18}" type="presParOf" srcId="{B0CDAADF-FCF9-41F6-9397-C484E180A349}" destId="{235A499D-F7BC-4B3A-8C1D-4DC06C1F7DDB}" srcOrd="0" destOrd="0" presId="urn:microsoft.com/office/officeart/2009/3/layout/StepUpProcess"/>
    <dgm:cxn modelId="{ACC81DC5-D831-4992-B346-8E331E687C5D}" type="presParOf" srcId="{B0CDAADF-FCF9-41F6-9397-C484E180A349}" destId="{FA35B3B3-5886-42CF-B635-79D55EFBA6BA}" srcOrd="1" destOrd="0" presId="urn:microsoft.com/office/officeart/2009/3/layout/StepUpProcess"/>
    <dgm:cxn modelId="{D74E30A0-4552-42BD-B9F8-A27335FFB914}" type="presParOf" srcId="{B0CDAADF-FCF9-41F6-9397-C484E180A349}" destId="{B254E576-69C1-44CA-9829-2AC60B91C589}" srcOrd="2" destOrd="0" presId="urn:microsoft.com/office/officeart/2009/3/layout/StepUpProcess"/>
    <dgm:cxn modelId="{C64FFA19-924B-441C-938D-8631F4D66010}" type="presParOf" srcId="{8B0DAD71-2FD2-4222-9A42-D542D168BDAB}" destId="{2CFA1C57-5B32-4B10-9E97-0B55E70BB755}" srcOrd="1" destOrd="0" presId="urn:microsoft.com/office/officeart/2009/3/layout/StepUpProcess"/>
    <dgm:cxn modelId="{68244C0D-347E-47F9-9BDF-FDFCA8C3783A}" type="presParOf" srcId="{2CFA1C57-5B32-4B10-9E97-0B55E70BB755}" destId="{6D20AB39-308E-4640-852F-799AE83CFE55}" srcOrd="0" destOrd="0" presId="urn:microsoft.com/office/officeart/2009/3/layout/StepUpProcess"/>
    <dgm:cxn modelId="{9E5C0032-57BF-4ED7-9975-AE19CE288385}" type="presParOf" srcId="{8B0DAD71-2FD2-4222-9A42-D542D168BDAB}" destId="{2BF84718-3563-4E58-B982-82A88BAFD2D0}" srcOrd="2" destOrd="0" presId="urn:microsoft.com/office/officeart/2009/3/layout/StepUpProcess"/>
    <dgm:cxn modelId="{9EDFDA41-625D-4CAC-935C-C5ED33510B32}" type="presParOf" srcId="{2BF84718-3563-4E58-B982-82A88BAFD2D0}" destId="{34CD5AE5-87D9-47FA-A519-B07B13CACC57}" srcOrd="0" destOrd="0" presId="urn:microsoft.com/office/officeart/2009/3/layout/StepUpProcess"/>
    <dgm:cxn modelId="{61C4041E-7120-4536-97B4-8877C0D2E857}" type="presParOf" srcId="{2BF84718-3563-4E58-B982-82A88BAFD2D0}" destId="{D3584214-3347-401B-81A9-3A36D38B112D}" srcOrd="1" destOrd="0" presId="urn:microsoft.com/office/officeart/2009/3/layout/StepUpProcess"/>
    <dgm:cxn modelId="{4276B6AE-F7FD-41EC-8863-837EB0673E73}" type="presParOf" srcId="{2BF84718-3563-4E58-B982-82A88BAFD2D0}" destId="{CA19AAF1-1BDB-481F-9E45-611DEA1865C6}" srcOrd="2" destOrd="0" presId="urn:microsoft.com/office/officeart/2009/3/layout/StepUpProcess"/>
    <dgm:cxn modelId="{CB2E18DE-E1AD-4854-8F40-60CF1F64AE43}" type="presParOf" srcId="{8B0DAD71-2FD2-4222-9A42-D542D168BDAB}" destId="{C42C3EBF-B309-40CC-A967-6F379DD3FE57}" srcOrd="3" destOrd="0" presId="urn:microsoft.com/office/officeart/2009/3/layout/StepUpProcess"/>
    <dgm:cxn modelId="{857B3D76-B517-4B65-A669-4AF43F9457B5}" type="presParOf" srcId="{C42C3EBF-B309-40CC-A967-6F379DD3FE57}" destId="{F2FBC089-F3D0-4A8A-BE7F-A4E0EC50E916}" srcOrd="0" destOrd="0" presId="urn:microsoft.com/office/officeart/2009/3/layout/StepUpProcess"/>
    <dgm:cxn modelId="{F22AF1F7-C398-4E2F-A322-182B0CCC6150}" type="presParOf" srcId="{8B0DAD71-2FD2-4222-9A42-D542D168BDAB}" destId="{B835150C-572A-4298-A782-32888EFD33B6}" srcOrd="4" destOrd="0" presId="urn:microsoft.com/office/officeart/2009/3/layout/StepUpProcess"/>
    <dgm:cxn modelId="{9BCCB3BC-E359-48B6-B0F7-FFC4BEB6E779}" type="presParOf" srcId="{B835150C-572A-4298-A782-32888EFD33B6}" destId="{18427EA5-99B7-42F2-B516-B6EA8B0ABC92}" srcOrd="0" destOrd="0" presId="urn:microsoft.com/office/officeart/2009/3/layout/StepUpProcess"/>
    <dgm:cxn modelId="{9EEE8864-8500-43E6-88EB-2CAF69B6B086}" type="presParOf" srcId="{B835150C-572A-4298-A782-32888EFD33B6}" destId="{547B4D32-D55B-401D-BF87-1E335635CD32}" srcOrd="1" destOrd="0" presId="urn:microsoft.com/office/officeart/2009/3/layout/StepUpProcess"/>
    <dgm:cxn modelId="{BAB8941E-F429-4DA4-A52B-9476690C459B}" type="presParOf" srcId="{B835150C-572A-4298-A782-32888EFD33B6}" destId="{E8613724-706E-4447-A11F-78FA1CCE8A28}" srcOrd="2" destOrd="0" presId="urn:microsoft.com/office/officeart/2009/3/layout/StepUpProcess"/>
    <dgm:cxn modelId="{87452A4B-33A5-4299-8799-40BB3AF11633}" type="presParOf" srcId="{8B0DAD71-2FD2-4222-9A42-D542D168BDAB}" destId="{20E01B2A-C389-40C2-96C3-C7DB0091E33F}" srcOrd="5" destOrd="0" presId="urn:microsoft.com/office/officeart/2009/3/layout/StepUpProcess"/>
    <dgm:cxn modelId="{4E04CC55-9772-4122-B9A3-A27A051DC9B8}" type="presParOf" srcId="{20E01B2A-C389-40C2-96C3-C7DB0091E33F}" destId="{7611D990-506A-4987-B82C-6AF4642C39DF}" srcOrd="0" destOrd="0" presId="urn:microsoft.com/office/officeart/2009/3/layout/StepUpProcess"/>
    <dgm:cxn modelId="{D436D682-4B4F-43BC-9C7E-4FE1F0FD7E20}" type="presParOf" srcId="{8B0DAD71-2FD2-4222-9A42-D542D168BDAB}" destId="{86FAF8D8-3915-498B-9808-ACD371E18AC3}" srcOrd="6" destOrd="0" presId="urn:microsoft.com/office/officeart/2009/3/layout/StepUpProcess"/>
    <dgm:cxn modelId="{A8FE8E6E-B9A7-47B1-94D0-6622CBBE3724}" type="presParOf" srcId="{86FAF8D8-3915-498B-9808-ACD371E18AC3}" destId="{9D953446-3BDF-45E4-BDF6-F0BB8C2C8E1D}" srcOrd="0" destOrd="0" presId="urn:microsoft.com/office/officeart/2009/3/layout/StepUpProcess"/>
    <dgm:cxn modelId="{9BD4A9E3-0957-4510-AD4D-E5F645C0C842}" type="presParOf" srcId="{86FAF8D8-3915-498B-9808-ACD371E18AC3}" destId="{87FED8EC-8322-470D-8355-FFA084FAAF71}" srcOrd="1" destOrd="0" presId="urn:microsoft.com/office/officeart/2009/3/layout/StepUpProcess"/>
    <dgm:cxn modelId="{5653D519-EE77-462D-8955-30CAA0CB33B4}" type="presParOf" srcId="{86FAF8D8-3915-498B-9808-ACD371E18AC3}" destId="{9E7D74A9-2808-48D0-8570-64F7FCECE685}" srcOrd="2" destOrd="0" presId="urn:microsoft.com/office/officeart/2009/3/layout/StepUpProcess"/>
    <dgm:cxn modelId="{ED988487-0E1F-43DE-BB22-262945722149}" type="presParOf" srcId="{8B0DAD71-2FD2-4222-9A42-D542D168BDAB}" destId="{FC89CF7F-5AC0-49BA-BFF6-530818CBC0FF}" srcOrd="7" destOrd="0" presId="urn:microsoft.com/office/officeart/2009/3/layout/StepUpProcess"/>
    <dgm:cxn modelId="{705B86B6-6B2A-409A-A201-B52A7FD20044}" type="presParOf" srcId="{FC89CF7F-5AC0-49BA-BFF6-530818CBC0FF}" destId="{F6E041A4-C1FC-498A-834A-E8B104C46CA0}" srcOrd="0" destOrd="0" presId="urn:microsoft.com/office/officeart/2009/3/layout/StepUpProcess"/>
    <dgm:cxn modelId="{E62C9394-FC7B-4076-B124-26CFD1D84B7A}" type="presParOf" srcId="{8B0DAD71-2FD2-4222-9A42-D542D168BDAB}" destId="{40C32E0E-490A-4028-8ADE-8E85253CD149}" srcOrd="8" destOrd="0" presId="urn:microsoft.com/office/officeart/2009/3/layout/StepUpProcess"/>
    <dgm:cxn modelId="{6BADFB7A-FE6E-4FCE-A357-82B9A101F494}" type="presParOf" srcId="{40C32E0E-490A-4028-8ADE-8E85253CD149}" destId="{3529CEFC-EF73-4A68-9038-CDCC9E8C45E7}" srcOrd="0" destOrd="0" presId="urn:microsoft.com/office/officeart/2009/3/layout/StepUpProcess"/>
    <dgm:cxn modelId="{D16D235D-23C8-4936-AF40-4C9C8C518953}" type="presParOf" srcId="{40C32E0E-490A-4028-8ADE-8E85253CD149}" destId="{E25C5F63-184F-4177-B0C7-4F5C47009967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235A499D-F7BC-4B3A-8C1D-4DC06C1F7DDB}">
      <dsp:nvSpPr>
        <dsp:cNvPr id="0" name=""/>
        <dsp:cNvSpPr/>
      </dsp:nvSpPr>
      <dsp:spPr>
        <a:xfrm rot="5400000">
          <a:off x="414461" y="2129137"/>
          <a:ext cx="1244080" cy="2070121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35B3B3-5886-42CF-B635-79D55EFBA6BA}">
      <dsp:nvSpPr>
        <dsp:cNvPr id="0" name=""/>
        <dsp:cNvSpPr/>
      </dsp:nvSpPr>
      <dsp:spPr>
        <a:xfrm>
          <a:off x="206793" y="2747658"/>
          <a:ext cx="1868917" cy="16382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2008 – Launch of the Subsidy Program under the </a:t>
          </a:r>
          <a:r>
            <a:rPr lang="en-US" sz="2000" b="0" kern="1200" dirty="0" smtClean="0"/>
            <a:t>CIP</a:t>
          </a:r>
          <a:r>
            <a:rPr lang="en-US" sz="2000" kern="1200" dirty="0" smtClean="0"/>
            <a:t> ; administered by MINAGRI</a:t>
          </a:r>
          <a:endParaRPr lang="en-US" sz="2000" kern="1200" dirty="0"/>
        </a:p>
      </dsp:txBody>
      <dsp:txXfrm>
        <a:off x="206793" y="2747658"/>
        <a:ext cx="1868917" cy="1638215"/>
      </dsp:txXfrm>
    </dsp:sp>
    <dsp:sp modelId="{B254E576-69C1-44CA-9829-2AC60B91C589}">
      <dsp:nvSpPr>
        <dsp:cNvPr id="0" name=""/>
        <dsp:cNvSpPr/>
      </dsp:nvSpPr>
      <dsp:spPr>
        <a:xfrm>
          <a:off x="1723085" y="1976733"/>
          <a:ext cx="352625" cy="352625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CD5AE5-87D9-47FA-A519-B07B13CACC57}">
      <dsp:nvSpPr>
        <dsp:cNvPr id="0" name=""/>
        <dsp:cNvSpPr/>
      </dsp:nvSpPr>
      <dsp:spPr>
        <a:xfrm rot="5400000">
          <a:off x="2702381" y="1562989"/>
          <a:ext cx="1244080" cy="2070121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584214-3347-401B-81A9-3A36D38B112D}">
      <dsp:nvSpPr>
        <dsp:cNvPr id="0" name=""/>
        <dsp:cNvSpPr/>
      </dsp:nvSpPr>
      <dsp:spPr>
        <a:xfrm>
          <a:off x="2494713" y="2181510"/>
          <a:ext cx="1868917" cy="16382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2015 – The Subsidy program expands from 4 to 10 crops</a:t>
          </a:r>
          <a:endParaRPr lang="en-US" sz="2000" kern="1200" dirty="0"/>
        </a:p>
      </dsp:txBody>
      <dsp:txXfrm>
        <a:off x="2494713" y="2181510"/>
        <a:ext cx="1868917" cy="1638215"/>
      </dsp:txXfrm>
    </dsp:sp>
    <dsp:sp modelId="{CA19AAF1-1BDB-481F-9E45-611DEA1865C6}">
      <dsp:nvSpPr>
        <dsp:cNvPr id="0" name=""/>
        <dsp:cNvSpPr/>
      </dsp:nvSpPr>
      <dsp:spPr>
        <a:xfrm>
          <a:off x="4011004" y="1410585"/>
          <a:ext cx="352625" cy="352625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427EA5-99B7-42F2-B516-B6EA8B0ABC92}">
      <dsp:nvSpPr>
        <dsp:cNvPr id="0" name=""/>
        <dsp:cNvSpPr/>
      </dsp:nvSpPr>
      <dsp:spPr>
        <a:xfrm rot="5400000">
          <a:off x="4990301" y="876166"/>
          <a:ext cx="1244080" cy="2070121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7B4D32-D55B-401D-BF87-1E335635CD32}">
      <dsp:nvSpPr>
        <dsp:cNvPr id="0" name=""/>
        <dsp:cNvSpPr/>
      </dsp:nvSpPr>
      <dsp:spPr>
        <a:xfrm>
          <a:off x="7158269" y="1091919"/>
          <a:ext cx="1868917" cy="16382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2018 – Subsidy system reaches &gt; 1,000,000 farmers and 1016 agro-dealers</a:t>
          </a:r>
          <a:endParaRPr lang="en-US" sz="2000" kern="1200" dirty="0"/>
        </a:p>
      </dsp:txBody>
      <dsp:txXfrm>
        <a:off x="7158269" y="1091919"/>
        <a:ext cx="1868917" cy="1638215"/>
      </dsp:txXfrm>
    </dsp:sp>
    <dsp:sp modelId="{E8613724-706E-4447-A11F-78FA1CCE8A28}">
      <dsp:nvSpPr>
        <dsp:cNvPr id="0" name=""/>
        <dsp:cNvSpPr/>
      </dsp:nvSpPr>
      <dsp:spPr>
        <a:xfrm>
          <a:off x="6298924" y="844437"/>
          <a:ext cx="352625" cy="352625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953446-3BDF-45E4-BDF6-F0BB8C2C8E1D}">
      <dsp:nvSpPr>
        <dsp:cNvPr id="0" name=""/>
        <dsp:cNvSpPr/>
      </dsp:nvSpPr>
      <dsp:spPr>
        <a:xfrm rot="5400000">
          <a:off x="7278220" y="430693"/>
          <a:ext cx="1244080" cy="2070121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FED8EC-8322-470D-8355-FFA084FAAF71}">
      <dsp:nvSpPr>
        <dsp:cNvPr id="0" name=""/>
        <dsp:cNvSpPr/>
      </dsp:nvSpPr>
      <dsp:spPr>
        <a:xfrm>
          <a:off x="7070552" y="1049214"/>
          <a:ext cx="1868917" cy="16382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000" kern="1200" dirty="0">
            <a:solidFill>
              <a:schemeClr val="tx1"/>
            </a:solidFill>
          </a:endParaRPr>
        </a:p>
      </dsp:txBody>
      <dsp:txXfrm>
        <a:off x="7070552" y="1049214"/>
        <a:ext cx="1868917" cy="1638215"/>
      </dsp:txXfrm>
    </dsp:sp>
    <dsp:sp modelId="{9E7D74A9-2808-48D0-8570-64F7FCECE685}">
      <dsp:nvSpPr>
        <dsp:cNvPr id="0" name=""/>
        <dsp:cNvSpPr/>
      </dsp:nvSpPr>
      <dsp:spPr>
        <a:xfrm>
          <a:off x="8586844" y="278289"/>
          <a:ext cx="352625" cy="352625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29CEFC-EF73-4A68-9038-CDCC9E8C45E7}">
      <dsp:nvSpPr>
        <dsp:cNvPr id="0" name=""/>
        <dsp:cNvSpPr/>
      </dsp:nvSpPr>
      <dsp:spPr>
        <a:xfrm rot="5400000">
          <a:off x="9566140" y="-51540"/>
          <a:ext cx="1244080" cy="2070121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5C5F63-184F-4177-B0C7-4F5C47009967}">
      <dsp:nvSpPr>
        <dsp:cNvPr id="0" name=""/>
        <dsp:cNvSpPr/>
      </dsp:nvSpPr>
      <dsp:spPr>
        <a:xfrm>
          <a:off x="9358472" y="607554"/>
          <a:ext cx="1868917" cy="16382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+mn-lt"/>
            </a:rPr>
            <a:t>2018 – Local government authorities join SNS platform:  30 Directors of Agriculture, 30 Districts Agronomists and 416 Sector Agronomists </a:t>
          </a:r>
          <a:endParaRPr lang="en-US" sz="2000" kern="1200" dirty="0">
            <a:latin typeface="+mn-lt"/>
          </a:endParaRPr>
        </a:p>
      </dsp:txBody>
      <dsp:txXfrm>
        <a:off x="9358472" y="607554"/>
        <a:ext cx="1868917" cy="16382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A07127-E420-40E0-A68F-5AF8DC79B6A3}" type="datetimeFigureOut">
              <a:rPr lang="en-US" smtClean="0"/>
              <a:pPr/>
              <a:t>11/6/2019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FFE5E2-3593-4298-9009-32FBAF7753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62249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Today,</a:t>
            </a:r>
            <a:r>
              <a:rPr lang="en-US" baseline="0" dirty="0" smtClean="0"/>
              <a:t> we are proud to introduce to you the Smart </a:t>
            </a:r>
            <a:r>
              <a:rPr lang="en-US" baseline="0" dirty="0" err="1" smtClean="0"/>
              <a:t>Nkunganire</a:t>
            </a:r>
            <a:r>
              <a:rPr lang="en-US" baseline="0" dirty="0" smtClean="0"/>
              <a:t> System.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FFE5E2-3593-4298-9009-32FBAF7753E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66587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SNS  Objectives:</a:t>
            </a:r>
          </a:p>
          <a:p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Create a digital database of all stakeholders involved in the agro-input Subsidy Program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 </a:t>
            </a:r>
            <a:r>
              <a:rPr lang="en-US" dirty="0" smtClean="0"/>
              <a:t>Digitize the agro-input subsidies payments’ processes via a built-in capability to issue Instant Electronic Pay Slips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 </a:t>
            </a:r>
            <a:r>
              <a:rPr lang="en-US" dirty="0" smtClean="0"/>
              <a:t>Bridge the communication gap between all stakeholders in the ecosystem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 </a:t>
            </a:r>
            <a:r>
              <a:rPr lang="en-US" dirty="0" smtClean="0"/>
              <a:t>Improve stock management at all levels in the supply chain and give decision makers at all level real time visibility on Supply Vs Demand for agro-input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 </a:t>
            </a:r>
            <a:r>
              <a:rPr lang="en-US" dirty="0" smtClean="0"/>
              <a:t>Promote Cashless transaction through any integrated financial institution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 </a:t>
            </a:r>
            <a:r>
              <a:rPr lang="en-US" dirty="0" smtClean="0"/>
              <a:t>Promote Green Economy by significantly cutting down the use of paper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 </a:t>
            </a:r>
            <a:r>
              <a:rPr lang="en-US" dirty="0" smtClean="0"/>
              <a:t>Reduce Fraud and Human Errors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 </a:t>
            </a:r>
            <a:r>
              <a:rPr lang="en-US" dirty="0" smtClean="0"/>
              <a:t>Empower decision makers at all levels with real time analytics powered reports</a:t>
            </a:r>
            <a:endParaRPr lang="en-US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FFE5E2-3593-4298-9009-32FBAF7753E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183644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FFE5E2-3593-4298-9009-32FBAF7753E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49846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A8225C7-62D9-449C-816C-3B2AAF7F141A}" type="datetimeFigureOut">
              <a:rPr lang="en-US" smtClean="0"/>
              <a:pPr/>
              <a:t>11/6/2019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0EEBCBA-831D-4E99-8B00-63CF35FC08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69620425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225C7-62D9-449C-816C-3B2AAF7F141A}" type="datetimeFigureOut">
              <a:rPr lang="en-US" smtClean="0"/>
              <a:pPr/>
              <a:t>11/6/2019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C0EEBCBA-831D-4E99-8B00-63CF35FC08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55995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A8225C7-62D9-449C-816C-3B2AAF7F141A}" type="datetimeFigureOut">
              <a:rPr lang="en-US" smtClean="0"/>
              <a:pPr/>
              <a:t>11/6/2019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0EEBCBA-831D-4E99-8B00-63CF35FC08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47780124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225C7-62D9-449C-816C-3B2AAF7F141A}" type="datetimeFigureOut">
              <a:rPr lang="en-US" smtClean="0"/>
              <a:pPr/>
              <a:t>11/6/2019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EBCBA-831D-4E99-8B00-63CF35FC08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8375816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225C7-62D9-449C-816C-3B2AAF7F141A}" type="datetimeFigureOut">
              <a:rPr lang="en-US" smtClean="0"/>
              <a:pPr/>
              <a:t>11/6/2019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EBCBA-831D-4E99-8B00-63CF35FC08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688091674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225C7-62D9-449C-816C-3B2AAF7F141A}" type="datetimeFigureOut">
              <a:rPr lang="en-US" smtClean="0"/>
              <a:pPr/>
              <a:t>11/6/2019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EBCBA-831D-4E99-8B00-63CF35FC08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41389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225C7-62D9-449C-816C-3B2AAF7F141A}" type="datetimeFigureOut">
              <a:rPr lang="en-US" smtClean="0"/>
              <a:pPr/>
              <a:t>11/6/2019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EBCBA-831D-4E99-8B00-63CF35FC08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62754512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A8225C7-62D9-449C-816C-3B2AAF7F141A}" type="datetimeFigureOut">
              <a:rPr lang="en-US" smtClean="0"/>
              <a:pPr/>
              <a:t>11/6/2019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0EEBCBA-831D-4E99-8B00-63CF35FC08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22211417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225C7-62D9-449C-816C-3B2AAF7F141A}" type="datetimeFigureOut">
              <a:rPr lang="en-US" smtClean="0"/>
              <a:pPr/>
              <a:t>11/6/2019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EBCBA-831D-4E99-8B00-63CF35FC08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02700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225C7-62D9-449C-816C-3B2AAF7F141A}" type="datetimeFigureOut">
              <a:rPr lang="en-US" smtClean="0"/>
              <a:pPr/>
              <a:t>11/6/2019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EBCBA-831D-4E99-8B00-63CF35FC08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39928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A8225C7-62D9-449C-816C-3B2AAF7F141A}" type="datetimeFigureOut">
              <a:rPr lang="en-US" smtClean="0"/>
              <a:pPr/>
              <a:t>11/6/2019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0EEBCBA-831D-4E99-8B00-63CF35FC08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9632752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2A8225C7-62D9-449C-816C-3B2AAF7F141A}" type="datetimeFigureOut">
              <a:rPr lang="en-US" smtClean="0"/>
              <a:pPr/>
              <a:t>11/6/2019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C0EEBCBA-831D-4E99-8B00-63CF35FC08B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xmlns="" val="4141745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77" r:id="rId1"/>
    <p:sldLayoutId id="2147485078" r:id="rId2"/>
    <p:sldLayoutId id="2147485079" r:id="rId3"/>
    <p:sldLayoutId id="2147485080" r:id="rId4"/>
    <p:sldLayoutId id="2147485081" r:id="rId5"/>
    <p:sldLayoutId id="2147485082" r:id="rId6"/>
    <p:sldLayoutId id="2147485083" r:id="rId7"/>
    <p:sldLayoutId id="2147485084" r:id="rId8"/>
    <p:sldLayoutId id="2147485085" r:id="rId9"/>
    <p:sldLayoutId id="2147485086" r:id="rId10"/>
    <p:sldLayoutId id="2147485087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smartnkunganire.rw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martnkunginare.rw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245" t="7151" r="164" b="7459"/>
          <a:stretch/>
        </p:blipFill>
        <p:spPr>
          <a:xfrm>
            <a:off x="0" y="-77098"/>
            <a:ext cx="12172013" cy="695758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-279814" y="6166300"/>
            <a:ext cx="784984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b="1" i="0" dirty="0" smtClean="0">
                <a:solidFill>
                  <a:srgbClr val="FFFFFF"/>
                </a:solidFill>
                <a:effectLst/>
                <a:latin typeface="+mj-lt"/>
              </a:rPr>
              <a:t>Smart </a:t>
            </a:r>
            <a:r>
              <a:rPr lang="en-US" sz="4400" b="1" i="0" dirty="0" err="1" smtClean="0">
                <a:solidFill>
                  <a:srgbClr val="FFFFFF"/>
                </a:solidFill>
                <a:effectLst/>
                <a:latin typeface="+mj-lt"/>
              </a:rPr>
              <a:t>Nkunganire</a:t>
            </a:r>
            <a:r>
              <a:rPr lang="en-US" sz="4400" b="1" i="0" dirty="0" smtClean="0">
                <a:solidFill>
                  <a:srgbClr val="FFFFFF"/>
                </a:solidFill>
                <a:effectLst/>
                <a:latin typeface="+mj-lt"/>
              </a:rPr>
              <a:t> System</a:t>
            </a:r>
          </a:p>
          <a:p>
            <a:r>
              <a:rPr lang="en-US" b="0" i="0" u="none" strike="noStrike" dirty="0" smtClean="0">
                <a:solidFill>
                  <a:srgbClr val="FFFFFF"/>
                </a:solidFill>
                <a:effectLst/>
                <a:latin typeface="Montserrat"/>
                <a:hlinkClick r:id="rId4"/>
              </a:rPr>
              <a:t/>
            </a:r>
            <a:br>
              <a:rPr lang="en-US" b="0" i="0" u="none" strike="noStrike" dirty="0" smtClean="0">
                <a:solidFill>
                  <a:srgbClr val="FFFFFF"/>
                </a:solidFill>
                <a:effectLst/>
                <a:latin typeface="Montserrat"/>
                <a:hlinkClick r:id="rId4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99682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71363"/>
            <a:ext cx="10058400" cy="1450757"/>
          </a:xfrm>
        </p:spPr>
        <p:txBody>
          <a:bodyPr>
            <a:normAutofit/>
          </a:bodyPr>
          <a:lstStyle/>
          <a:p>
            <a:pPr algn="ctr"/>
            <a:r>
              <a:rPr lang="en-US" dirty="0" smtClean="0"/>
              <a:t>History of </a:t>
            </a:r>
            <a:r>
              <a:rPr lang="en-US" dirty="0" err="1" smtClean="0"/>
              <a:t>Nkunganire</a:t>
            </a:r>
            <a:r>
              <a:rPr lang="en-US" dirty="0" smtClean="0"/>
              <a:t> (SUBSIDY) in Rwanda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xmlns="" val="291821211"/>
              </p:ext>
            </p:extLst>
          </p:nvPr>
        </p:nvGraphicFramePr>
        <p:xfrm>
          <a:off x="493776" y="1956816"/>
          <a:ext cx="11228831" cy="46634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321808" y="3493008"/>
            <a:ext cx="199339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000" dirty="0" smtClean="0"/>
              <a:t>2017 – RAB and BK </a:t>
            </a:r>
            <a:r>
              <a:rPr lang="en-US" sz="2000" dirty="0" err="1" smtClean="0"/>
              <a:t>Techouse</a:t>
            </a:r>
            <a:r>
              <a:rPr lang="en-US" sz="2000" dirty="0" smtClean="0"/>
              <a:t> sign the MOU guiding the development and Implementation of </a:t>
            </a:r>
          </a:p>
          <a:p>
            <a:pPr lvl="0"/>
            <a:r>
              <a:rPr lang="en-US" sz="2000" b="1" dirty="0" smtClean="0"/>
              <a:t>Smart </a:t>
            </a:r>
            <a:r>
              <a:rPr lang="en-US" sz="2000" b="1" dirty="0" err="1" smtClean="0"/>
              <a:t>Nkunganire</a:t>
            </a:r>
            <a:r>
              <a:rPr lang="en-US" sz="2000" b="1" dirty="0" smtClean="0"/>
              <a:t> System</a:t>
            </a:r>
          </a:p>
        </p:txBody>
      </p:sp>
    </p:spTree>
    <p:extLst>
      <p:ext uri="{BB962C8B-B14F-4D97-AF65-F5344CB8AC3E}">
        <p14:creationId xmlns:p14="http://schemas.microsoft.com/office/powerpoint/2010/main" xmlns="" val="3079635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SNS Progress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D7CBC1F2-534D-DA4B-9B26-B7214191B71D}"/>
              </a:ext>
            </a:extLst>
          </p:cNvPr>
          <p:cNvGrpSpPr/>
          <p:nvPr/>
        </p:nvGrpSpPr>
        <p:grpSpPr>
          <a:xfrm>
            <a:off x="468061" y="1920240"/>
            <a:ext cx="10489499" cy="3639312"/>
            <a:chOff x="468061" y="2051615"/>
            <a:chExt cx="10489499" cy="430361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xmlns="" id="{980FA726-5796-F642-ABF4-6498CE38521A}"/>
                </a:ext>
              </a:extLst>
            </p:cNvPr>
            <p:cNvSpPr txBox="1"/>
            <p:nvPr/>
          </p:nvSpPr>
          <p:spPr>
            <a:xfrm>
              <a:off x="3459480" y="2280215"/>
              <a:ext cx="7498080" cy="4075010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</p:spPr>
          <p:txBody>
            <a:bodyPr wrap="square" lIns="182880" tIns="182880" rIns="182880" bIns="182880" rtlCol="0" anchor="t">
              <a:noAutofit/>
            </a:bodyPr>
            <a:lstStyle/>
            <a:p>
              <a:pPr marL="434340" indent="-342900" defTabSz="457200">
                <a:spcAft>
                  <a:spcPts val="1400"/>
                </a:spcAft>
                <a:buFont typeface="Arial" pitchFamily="34" charset="0"/>
                <a:buChar char="•"/>
              </a:pPr>
              <a:r>
                <a:rPr lang="en-US" sz="2000" kern="0" dirty="0" smtClean="0">
                  <a:solidFill>
                    <a:srgbClr val="1F5B43"/>
                  </a:solidFill>
                </a:rPr>
                <a:t>Integration with NIDA and LAIS platforms has been completed</a:t>
              </a:r>
            </a:p>
            <a:p>
              <a:pPr marL="434340" indent="-342900" defTabSz="457200">
                <a:spcAft>
                  <a:spcPts val="1400"/>
                </a:spcAft>
                <a:buFont typeface="Arial" pitchFamily="34" charset="0"/>
                <a:buChar char="•"/>
              </a:pPr>
              <a:r>
                <a:rPr lang="en-US" sz="2000" b="1" kern="0" dirty="0" smtClean="0">
                  <a:solidFill>
                    <a:srgbClr val="1F5B43"/>
                  </a:solidFill>
                </a:rPr>
                <a:t>1,233,944</a:t>
              </a:r>
              <a:r>
                <a:rPr lang="en-US" sz="2000" kern="0" dirty="0" smtClean="0">
                  <a:solidFill>
                    <a:srgbClr val="1F5B43"/>
                  </a:solidFill>
                </a:rPr>
                <a:t> farmers</a:t>
              </a:r>
              <a:r>
                <a:rPr lang="en-US" sz="2000" kern="0" dirty="0" smtClean="0"/>
                <a:t> </a:t>
              </a:r>
              <a:r>
                <a:rPr lang="en-US" sz="2000" kern="0" dirty="0" smtClean="0">
                  <a:solidFill>
                    <a:srgbClr val="1F5B43"/>
                  </a:solidFill>
                </a:rPr>
                <a:t>registered to date on SNS by dialing USSD code *774# through all existing telecommunication networks (MTN, AIRTEL/TIGO)</a:t>
              </a:r>
            </a:p>
            <a:p>
              <a:pPr marL="434340" lvl="0" indent="-342900" defTabSz="457200">
                <a:spcAft>
                  <a:spcPts val="1400"/>
                </a:spcAft>
                <a:buFont typeface="Arial" pitchFamily="34" charset="0"/>
                <a:buChar char="•"/>
              </a:pPr>
              <a:r>
                <a:rPr lang="en-US" sz="2000" kern="0" dirty="0" smtClean="0">
                  <a:solidFill>
                    <a:srgbClr val="1F5B43"/>
                  </a:solidFill>
                </a:rPr>
                <a:t>Stakeholders under the government of Rwanda Subsidy scheme registered their organizations through the SNS web platform (</a:t>
              </a:r>
              <a:r>
                <a:rPr lang="en-US" sz="2000" kern="0" dirty="0" smtClean="0">
                  <a:solidFill>
                    <a:srgbClr val="1F5B43"/>
                  </a:solidFill>
                  <a:hlinkClick r:id="rId3"/>
                </a:rPr>
                <a:t>www.smartnkunginare.rw</a:t>
              </a:r>
              <a:r>
                <a:rPr lang="en-US" sz="2000" kern="0" dirty="0" smtClean="0">
                  <a:solidFill>
                    <a:srgbClr val="1F5B43"/>
                  </a:solidFill>
                </a:rPr>
                <a:t>)</a:t>
              </a:r>
            </a:p>
            <a:p>
              <a:pPr marL="434340" lvl="0" indent="-342900" defTabSz="457200">
                <a:spcAft>
                  <a:spcPts val="1400"/>
                </a:spcAft>
                <a:buFont typeface="Arial" pitchFamily="34" charset="0"/>
                <a:buChar char="•"/>
              </a:pPr>
              <a:r>
                <a:rPr lang="en-US" sz="2000" kern="0" dirty="0" smtClean="0">
                  <a:solidFill>
                    <a:srgbClr val="1F5B43"/>
                  </a:solidFill>
                </a:rPr>
                <a:t>“Mobile Ordering Process Application” (MOPA) is functional</a:t>
              </a:r>
              <a:endParaRPr lang="en-US" sz="2000" kern="0" dirty="0">
                <a:solidFill>
                  <a:srgbClr val="1F5B43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xmlns="" id="{33294906-219C-FC49-9365-D5F90565AC1D}"/>
                </a:ext>
              </a:extLst>
            </p:cNvPr>
            <p:cNvSpPr/>
            <p:nvPr/>
          </p:nvSpPr>
          <p:spPr>
            <a:xfrm>
              <a:off x="723552" y="2258257"/>
              <a:ext cx="2735928" cy="4096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ctr"/>
            <a:lstStyle/>
            <a:p>
              <a:pPr algn="ctr" defTabSz="457200"/>
              <a:endParaRPr lang="en-GB" b="1" i="1" dirty="0">
                <a:solidFill>
                  <a:srgbClr val="FBFAD4"/>
                </a:solidFill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xmlns="" id="{DC7F70A1-00FE-9742-8134-B3C6FEB0BB6F}"/>
                </a:ext>
              </a:extLst>
            </p:cNvPr>
            <p:cNvSpPr>
              <a:spLocks/>
            </p:cNvSpPr>
            <p:nvPr/>
          </p:nvSpPr>
          <p:spPr>
            <a:xfrm>
              <a:off x="468061" y="2051615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ctr"/>
            <a:lstStyle/>
            <a:p>
              <a:pPr algn="ctr" defTabSz="457200"/>
              <a:r>
                <a:rPr lang="en-US" sz="2200" b="1" dirty="0">
                  <a:solidFill>
                    <a:srgbClr val="FBFAD4"/>
                  </a:solidFill>
                </a:rPr>
                <a:t>1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xmlns="" id="{D7CBC1F2-534D-DA4B-9B26-B7214191B71D}"/>
              </a:ext>
            </a:extLst>
          </p:cNvPr>
          <p:cNvGrpSpPr/>
          <p:nvPr/>
        </p:nvGrpSpPr>
        <p:grpSpPr>
          <a:xfrm>
            <a:off x="723552" y="5808167"/>
            <a:ext cx="10234008" cy="895693"/>
            <a:chOff x="723552" y="2280216"/>
            <a:chExt cx="10234008" cy="1809229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xmlns="" id="{980FA726-5796-F642-ABF4-6498CE38521A}"/>
                </a:ext>
              </a:extLst>
            </p:cNvPr>
            <p:cNvSpPr txBox="1"/>
            <p:nvPr/>
          </p:nvSpPr>
          <p:spPr>
            <a:xfrm>
              <a:off x="3459480" y="2280216"/>
              <a:ext cx="7498080" cy="1809229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</p:spPr>
          <p:txBody>
            <a:bodyPr wrap="square" lIns="182880" tIns="182880" rIns="182880" bIns="182880" rtlCol="0" anchor="t">
              <a:noAutofit/>
            </a:bodyPr>
            <a:lstStyle/>
            <a:p>
              <a:pPr marL="434340" indent="-342900" defTabSz="457200">
                <a:spcAft>
                  <a:spcPts val="1400"/>
                </a:spcAft>
                <a:buFont typeface="Arial" panose="020B0604020202020204" pitchFamily="34" charset="0"/>
                <a:buChar char="•"/>
              </a:pPr>
              <a:r>
                <a:rPr lang="en-US" sz="2000" kern="0" dirty="0" smtClean="0">
                  <a:solidFill>
                    <a:srgbClr val="1F5B43"/>
                  </a:solidFill>
                </a:rPr>
                <a:t>Financial Inclusion and Market Linkages, for instance IKOFI e-wallet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33294906-219C-FC49-9365-D5F90565AC1D}"/>
                </a:ext>
              </a:extLst>
            </p:cNvPr>
            <p:cNvSpPr/>
            <p:nvPr/>
          </p:nvSpPr>
          <p:spPr>
            <a:xfrm>
              <a:off x="723552" y="2295194"/>
              <a:ext cx="2735928" cy="179424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ctr"/>
            <a:lstStyle/>
            <a:p>
              <a:pPr algn="ctr" defTabSz="457200"/>
              <a:r>
                <a:rPr lang="en-US" sz="2400" b="1" dirty="0" smtClean="0">
                  <a:solidFill>
                    <a:srgbClr val="FBFAD4"/>
                  </a:solidFill>
                </a:rPr>
                <a:t>Phase III</a:t>
              </a:r>
            </a:p>
            <a:p>
              <a:pPr algn="ctr" defTabSz="457200"/>
              <a:r>
                <a:rPr lang="en-US" sz="2400" b="1" dirty="0" smtClean="0">
                  <a:solidFill>
                    <a:srgbClr val="FBFAD4"/>
                  </a:solidFill>
                </a:rPr>
                <a:t>In Progress</a:t>
              </a:r>
              <a:endParaRPr lang="en-GB" b="1" i="1" dirty="0">
                <a:solidFill>
                  <a:srgbClr val="FBFAD4"/>
                </a:solidFill>
              </a:endParaRPr>
            </a:p>
          </p:txBody>
        </p:sp>
      </p:grpSp>
      <p:sp>
        <p:nvSpPr>
          <p:cNvPr id="19" name="Oval 18">
            <a:extLst>
              <a:ext uri="{FF2B5EF4-FFF2-40B4-BE49-F238E27FC236}">
                <a16:creationId xmlns:a16="http://schemas.microsoft.com/office/drawing/2014/main" xmlns="" id="{DC7F70A1-00FE-9742-8134-B3C6FEB0BB6F}"/>
              </a:ext>
            </a:extLst>
          </p:cNvPr>
          <p:cNvSpPr>
            <a:spLocks/>
          </p:cNvSpPr>
          <p:nvPr/>
        </p:nvSpPr>
        <p:spPr>
          <a:xfrm>
            <a:off x="449773" y="5594418"/>
            <a:ext cx="457200" cy="3514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 defTabSz="457200"/>
            <a:r>
              <a:rPr lang="en-US" sz="2200" b="1" dirty="0">
                <a:solidFill>
                  <a:srgbClr val="FBFAD4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3383280"/>
            <a:ext cx="20116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457200"/>
            <a:r>
              <a:rPr lang="en-US" sz="2400" b="1" dirty="0" smtClean="0">
                <a:solidFill>
                  <a:srgbClr val="FBFAD4"/>
                </a:solidFill>
              </a:rPr>
              <a:t>Phase 1 &amp; II</a:t>
            </a:r>
          </a:p>
          <a:p>
            <a:pPr lvl="0" algn="ctr" defTabSz="457200"/>
            <a:r>
              <a:rPr lang="en-US" sz="2400" b="1" dirty="0" smtClean="0">
                <a:solidFill>
                  <a:srgbClr val="FBFAD4"/>
                </a:solidFill>
              </a:rPr>
              <a:t>Completed</a:t>
            </a:r>
            <a:endParaRPr lang="en-GB" b="1" dirty="0">
              <a:solidFill>
                <a:srgbClr val="FBFAD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35668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18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18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SNS value </a:t>
            </a:r>
            <a:r>
              <a:rPr lang="en-US" dirty="0" smtClean="0"/>
              <a:t>Proposition </a:t>
            </a:r>
            <a:r>
              <a:rPr lang="en-US" dirty="0" smtClean="0"/>
              <a:t>(Agro-</a:t>
            </a:r>
            <a:r>
              <a:rPr lang="en-US" dirty="0" err="1" smtClean="0"/>
              <a:t>deALERS</a:t>
            </a:r>
            <a:r>
              <a:rPr lang="en-US" dirty="0" smtClean="0"/>
              <a:t>)</a:t>
            </a:r>
            <a:endParaRPr lang="en-US" dirty="0"/>
          </a:p>
        </p:txBody>
      </p:sp>
      <p:grpSp>
        <p:nvGrpSpPr>
          <p:cNvPr id="18" name="Group 17"/>
          <p:cNvGrpSpPr/>
          <p:nvPr/>
        </p:nvGrpSpPr>
        <p:grpSpPr>
          <a:xfrm>
            <a:off x="317541" y="2097024"/>
            <a:ext cx="11635740" cy="4514849"/>
            <a:chOff x="390693" y="2225040"/>
            <a:chExt cx="11635740" cy="4514849"/>
          </a:xfrm>
        </p:grpSpPr>
        <p:sp>
          <p:nvSpPr>
            <p:cNvPr id="20" name="Oval 19"/>
            <p:cNvSpPr/>
            <p:nvPr/>
          </p:nvSpPr>
          <p:spPr>
            <a:xfrm>
              <a:off x="390693" y="2225040"/>
              <a:ext cx="2026920" cy="190500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Farmers register for inputs using USSD short code </a:t>
              </a:r>
              <a:endPara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1" name="Oval 20"/>
            <p:cNvSpPr/>
            <p:nvPr/>
          </p:nvSpPr>
          <p:spPr>
            <a:xfrm>
              <a:off x="2991186" y="2225040"/>
              <a:ext cx="2026920" cy="190500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Requests approved by sector agronomist through SNS</a:t>
              </a:r>
              <a:endPara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2" name="Oval 21"/>
            <p:cNvSpPr/>
            <p:nvPr/>
          </p:nvSpPr>
          <p:spPr>
            <a:xfrm>
              <a:off x="5518953" y="2225040"/>
              <a:ext cx="2026920" cy="190500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Agro-dealers (AGDs) informed of all orders through MOPA</a:t>
              </a:r>
              <a:endPara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3" name="Oval 22"/>
            <p:cNvSpPr/>
            <p:nvPr/>
          </p:nvSpPr>
          <p:spPr>
            <a:xfrm>
              <a:off x="8094513" y="2225040"/>
              <a:ext cx="2026920" cy="190500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AGDs Places orders to suppliers using MOPA</a:t>
              </a:r>
              <a:endPara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4" name="Oval 23"/>
            <p:cNvSpPr/>
            <p:nvPr/>
          </p:nvSpPr>
          <p:spPr>
            <a:xfrm>
              <a:off x="9999513" y="3840480"/>
              <a:ext cx="2026920" cy="190500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All parties get approvals and conduct payment electronically  </a:t>
              </a:r>
              <a:endPara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5" name="Oval 24"/>
            <p:cNvSpPr/>
            <p:nvPr/>
          </p:nvSpPr>
          <p:spPr>
            <a:xfrm>
              <a:off x="7378233" y="4792980"/>
              <a:ext cx="2026920" cy="190500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Upon delivery, AGDs inventory automatically updated</a:t>
              </a:r>
              <a:endPara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cxnSp>
          <p:nvCxnSpPr>
            <p:cNvPr id="27" name="Straight Arrow Connector 26"/>
            <p:cNvCxnSpPr>
              <a:stCxn id="20" idx="6"/>
              <a:endCxn id="21" idx="2"/>
            </p:cNvCxnSpPr>
            <p:nvPr/>
          </p:nvCxnSpPr>
          <p:spPr>
            <a:xfrm>
              <a:off x="2417613" y="3177540"/>
              <a:ext cx="573573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/>
            <p:cNvSpPr/>
            <p:nvPr/>
          </p:nvSpPr>
          <p:spPr>
            <a:xfrm>
              <a:off x="4756953" y="4792980"/>
              <a:ext cx="2026920" cy="190500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AGDs confirms farmer’s credentials with SNS ID and Phone/ fob</a:t>
              </a:r>
              <a:endPara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0" name="Oval 29"/>
            <p:cNvSpPr/>
            <p:nvPr/>
          </p:nvSpPr>
          <p:spPr>
            <a:xfrm>
              <a:off x="2055663" y="4834889"/>
              <a:ext cx="2026920" cy="190500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AGDs inventory automatically updated after farmer confirms</a:t>
              </a:r>
              <a:endPara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cxnSp>
          <p:nvCxnSpPr>
            <p:cNvPr id="31" name="Straight Arrow Connector 30"/>
            <p:cNvCxnSpPr/>
            <p:nvPr/>
          </p:nvCxnSpPr>
          <p:spPr>
            <a:xfrm>
              <a:off x="5018106" y="3177540"/>
              <a:ext cx="573573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>
              <a:off x="7545873" y="3177540"/>
              <a:ext cx="573573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/>
            <p:nvPr/>
          </p:nvCxnSpPr>
          <p:spPr>
            <a:xfrm>
              <a:off x="10121433" y="3482340"/>
              <a:ext cx="485607" cy="51054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 flipH="1">
              <a:off x="9405153" y="5295900"/>
              <a:ext cx="647700" cy="23622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 flipH="1">
              <a:off x="6730533" y="5775960"/>
              <a:ext cx="647700" cy="11429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 flipH="1">
              <a:off x="4055913" y="5787389"/>
              <a:ext cx="647700" cy="11429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1596362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SNS value </a:t>
            </a:r>
            <a:r>
              <a:rPr lang="en-US" dirty="0" smtClean="0"/>
              <a:t>Proposition</a:t>
            </a:r>
            <a:r>
              <a:rPr lang="en-US" dirty="0" smtClean="0"/>
              <a:t> </a:t>
            </a:r>
            <a:r>
              <a:rPr lang="en-US" dirty="0" smtClean="0"/>
              <a:t>(farmers)</a:t>
            </a:r>
            <a:endParaRPr lang="en-US" dirty="0"/>
          </a:p>
        </p:txBody>
      </p:sp>
      <p:grpSp>
        <p:nvGrpSpPr>
          <p:cNvPr id="18" name="Group 17"/>
          <p:cNvGrpSpPr/>
          <p:nvPr/>
        </p:nvGrpSpPr>
        <p:grpSpPr>
          <a:xfrm>
            <a:off x="829605" y="2097024"/>
            <a:ext cx="10517068" cy="4526278"/>
            <a:chOff x="390693" y="2225040"/>
            <a:chExt cx="10517068" cy="4526278"/>
          </a:xfrm>
        </p:grpSpPr>
        <p:sp>
          <p:nvSpPr>
            <p:cNvPr id="20" name="Rounded Rectangle 19"/>
            <p:cNvSpPr/>
            <p:nvPr/>
          </p:nvSpPr>
          <p:spPr>
            <a:xfrm>
              <a:off x="390693" y="2225040"/>
              <a:ext cx="2026920" cy="1905000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Farmers register for inputs using USSD short code </a:t>
              </a:r>
              <a:endPara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2991186" y="2225040"/>
              <a:ext cx="2026920" cy="1905000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Farmer receives approval from sector agronomist</a:t>
              </a:r>
              <a:endPara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5518953" y="2225040"/>
              <a:ext cx="2026920" cy="1905000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Farmer able to apply for loan using same system; farmer is approved for loan</a:t>
              </a:r>
              <a:endPara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8108338" y="2225040"/>
              <a:ext cx="2026920" cy="1905000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Farmer goes to pick up inputs; uses ID + fob to purchase without cash</a:t>
              </a:r>
              <a:endPara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8880841" y="4637090"/>
              <a:ext cx="2026920" cy="1905000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Farmer makes regular payments to agro-dealer, who is also bank agent</a:t>
              </a:r>
              <a:endPara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6186437" y="4846318"/>
              <a:ext cx="2026920" cy="1905000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Farmer is matched with buyer for extra harvest </a:t>
              </a:r>
              <a:endPara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cxnSp>
          <p:nvCxnSpPr>
            <p:cNvPr id="27" name="Straight Arrow Connector 26"/>
            <p:cNvCxnSpPr>
              <a:stCxn id="20" idx="6"/>
              <a:endCxn id="21" idx="2"/>
            </p:cNvCxnSpPr>
            <p:nvPr/>
          </p:nvCxnSpPr>
          <p:spPr>
            <a:xfrm>
              <a:off x="2417613" y="3177540"/>
              <a:ext cx="573573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ounded Rectangle 28"/>
            <p:cNvSpPr/>
            <p:nvPr/>
          </p:nvSpPr>
          <p:spPr>
            <a:xfrm>
              <a:off x="3492033" y="4846318"/>
              <a:ext cx="2026920" cy="1905000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Farmer hands over harvest to buyer or agent using key fob to secure transaction</a:t>
              </a:r>
              <a:endPara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756453" y="4792980"/>
              <a:ext cx="2026920" cy="1905000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Farmer’s remaining loan is paid directly by buyer; farmer collects any leftover amount as cash</a:t>
              </a:r>
              <a:endPara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cxnSp>
          <p:nvCxnSpPr>
            <p:cNvPr id="31" name="Straight Arrow Connector 30"/>
            <p:cNvCxnSpPr/>
            <p:nvPr/>
          </p:nvCxnSpPr>
          <p:spPr>
            <a:xfrm>
              <a:off x="5018106" y="3177540"/>
              <a:ext cx="573573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>
              <a:off x="7545873" y="3177540"/>
              <a:ext cx="573573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/>
            <p:nvPr/>
          </p:nvCxnSpPr>
          <p:spPr>
            <a:xfrm>
              <a:off x="9650627" y="4130040"/>
              <a:ext cx="370703" cy="50705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 flipH="1">
              <a:off x="8213357" y="5599563"/>
              <a:ext cx="647700" cy="23622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 flipH="1">
              <a:off x="5478601" y="5810247"/>
              <a:ext cx="647700" cy="11429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 flipH="1">
              <a:off x="2783373" y="5798818"/>
              <a:ext cx="647700" cy="11429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2240583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Become part of the solution</a:t>
            </a:r>
            <a:endParaRPr lang="en-US" dirty="0"/>
          </a:p>
        </p:txBody>
      </p:sp>
      <p:sp>
        <p:nvSpPr>
          <p:cNvPr id="4" name="Isosceles Triangle 3"/>
          <p:cNvSpPr/>
          <p:nvPr/>
        </p:nvSpPr>
        <p:spPr>
          <a:xfrm rot="5400000">
            <a:off x="914400" y="2501627"/>
            <a:ext cx="827903" cy="902043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613586" y="5494763"/>
            <a:ext cx="87424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 smtClean="0"/>
              <a:t>Join us and help create the future of Rwandan agriculture</a:t>
            </a:r>
            <a:endParaRPr lang="en-US" sz="2800" u="sng" dirty="0"/>
          </a:p>
        </p:txBody>
      </p:sp>
      <p:sp>
        <p:nvSpPr>
          <p:cNvPr id="7" name="TextBox 6"/>
          <p:cNvSpPr txBox="1"/>
          <p:nvPr/>
        </p:nvSpPr>
        <p:spPr>
          <a:xfrm>
            <a:off x="1876168" y="2664052"/>
            <a:ext cx="82172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Transition to a green future</a:t>
            </a:r>
            <a:endParaRPr lang="en-US" sz="2800" dirty="0"/>
          </a:p>
        </p:txBody>
      </p:sp>
      <p:sp>
        <p:nvSpPr>
          <p:cNvPr id="8" name="Isosceles Triangle 7"/>
          <p:cNvSpPr/>
          <p:nvPr/>
        </p:nvSpPr>
        <p:spPr>
          <a:xfrm rot="16200000">
            <a:off x="10433223" y="3712588"/>
            <a:ext cx="827903" cy="902043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877066" y="3901999"/>
            <a:ext cx="82172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Create financial inclusion </a:t>
            </a:r>
            <a:r>
              <a:rPr lang="en-US" sz="2800" dirty="0" smtClean="0"/>
              <a:t>opportunities </a:t>
            </a:r>
            <a:r>
              <a:rPr lang="en-US" sz="2800" dirty="0" smtClean="0"/>
              <a:t>for farmers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xmlns="" val="590652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ividend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1145</TotalTime>
  <Words>499</Words>
  <Application>Microsoft Office PowerPoint</Application>
  <PresentationFormat>Custom</PresentationFormat>
  <Paragraphs>57</Paragraphs>
  <Slides>6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Dividend</vt:lpstr>
      <vt:lpstr>Slide 1</vt:lpstr>
      <vt:lpstr>History of Nkunganire (SUBSIDY) in Rwanda</vt:lpstr>
      <vt:lpstr>SNS Progress</vt:lpstr>
      <vt:lpstr>SNS value Proposition (Agro-deALERS)</vt:lpstr>
      <vt:lpstr>SNS value Proposition (farmers)</vt:lpstr>
      <vt:lpstr>Become part of the solution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Ammar Karimjee</dc:creator>
  <cp:lastModifiedBy>PHH&amp;S TF</cp:lastModifiedBy>
  <cp:revision>107</cp:revision>
  <dcterms:created xsi:type="dcterms:W3CDTF">2018-07-30T10:06:47Z</dcterms:created>
  <dcterms:modified xsi:type="dcterms:W3CDTF">2019-11-06T13:33:37Z</dcterms:modified>
</cp:coreProperties>
</file>