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64" r:id="rId2"/>
    <p:sldId id="350" r:id="rId3"/>
    <p:sldId id="276" r:id="rId4"/>
    <p:sldId id="327" r:id="rId5"/>
    <p:sldId id="393" r:id="rId6"/>
    <p:sldId id="394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5" r:id="rId16"/>
    <p:sldId id="406" r:id="rId17"/>
    <p:sldId id="392" r:id="rId18"/>
    <p:sldId id="360" r:id="rId19"/>
  </p:sldIdLst>
  <p:sldSz cx="9144000" cy="6858000" type="screen4x3"/>
  <p:notesSz cx="6761163" cy="99425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brahim El ghandour" initials="IEg" lastIdx="1" clrIdx="0">
    <p:extLst>
      <p:ext uri="{19B8F6BF-5375-455C-9EA6-DF929625EA0E}">
        <p15:presenceInfo xmlns:p15="http://schemas.microsoft.com/office/powerpoint/2012/main" userId="S-1-5-21-88094858-919529-1617787245-4698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29A428"/>
    <a:srgbClr val="FFC100"/>
    <a:srgbClr val="7AA6EC"/>
    <a:srgbClr val="005D92"/>
    <a:srgbClr val="50D450"/>
    <a:srgbClr val="1F547E"/>
    <a:srgbClr val="1F497D"/>
    <a:srgbClr val="B7A797"/>
    <a:srgbClr val="B1BC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769AA3-A619-46CA-8CF6-E344CC34E075}" v="25" dt="2020-09-23T15:55:29.448"/>
    <p1510:client id="{A1EC51CC-F36E-46BA-B172-5667CEA6F987}" v="3" dt="2020-09-23T08:32:16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01" autoAdjust="0"/>
    <p:restoredTop sz="97706" autoAdjust="0"/>
  </p:normalViewPr>
  <p:slideViewPr>
    <p:cSldViewPr snapToGrid="0">
      <p:cViewPr varScale="1">
        <p:scale>
          <a:sx n="70" d="100"/>
          <a:sy n="70" d="100"/>
        </p:scale>
        <p:origin x="53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e Boyera" userId="dd34077c48bd863d" providerId="LiveId" clId="{A1EC51CC-F36E-46BA-B172-5667CEA6F987}"/>
    <pc:docChg chg="custSel modSld modMainMaster">
      <pc:chgData name="Stephane Boyera" userId="dd34077c48bd863d" providerId="LiveId" clId="{A1EC51CC-F36E-46BA-B172-5667CEA6F987}" dt="2020-09-23T08:33:39.948" v="349" actId="478"/>
      <pc:docMkLst>
        <pc:docMk/>
      </pc:docMkLst>
      <pc:sldChg chg="modSp mod">
        <pc:chgData name="Stephane Boyera" userId="dd34077c48bd863d" providerId="LiveId" clId="{A1EC51CC-F36E-46BA-B172-5667CEA6F987}" dt="2020-09-23T08:33:21.857" v="332" actId="20577"/>
        <pc:sldMkLst>
          <pc:docMk/>
          <pc:sldMk cId="3660034759" sldId="276"/>
        </pc:sldMkLst>
        <pc:spChg chg="mod">
          <ac:chgData name="Stephane Boyera" userId="dd34077c48bd863d" providerId="LiveId" clId="{A1EC51CC-F36E-46BA-B172-5667CEA6F987}" dt="2020-09-23T08:33:21.857" v="332" actId="20577"/>
          <ac:spMkLst>
            <pc:docMk/>
            <pc:sldMk cId="3660034759" sldId="276"/>
            <ac:spMk id="4" creationId="{00000000-0000-0000-0000-000000000000}"/>
          </ac:spMkLst>
        </pc:spChg>
      </pc:sldChg>
      <pc:sldChg chg="modSp mod">
        <pc:chgData name="Stephane Boyera" userId="dd34077c48bd863d" providerId="LiveId" clId="{A1EC51CC-F36E-46BA-B172-5667CEA6F987}" dt="2020-09-23T08:32:16.580" v="247" actId="1076"/>
        <pc:sldMkLst>
          <pc:docMk/>
          <pc:sldMk cId="4263076792" sldId="350"/>
        </pc:sldMkLst>
        <pc:spChg chg="mod">
          <ac:chgData name="Stephane Boyera" userId="dd34077c48bd863d" providerId="LiveId" clId="{A1EC51CC-F36E-46BA-B172-5667CEA6F987}" dt="2020-09-23T08:32:16.580" v="247" actId="1076"/>
          <ac:spMkLst>
            <pc:docMk/>
            <pc:sldMk cId="4263076792" sldId="350"/>
            <ac:spMk id="4" creationId="{00000000-0000-0000-0000-000000000000}"/>
          </ac:spMkLst>
        </pc:spChg>
      </pc:sldChg>
      <pc:sldChg chg="delSp modSp mod">
        <pc:chgData name="Stephane Boyera" userId="dd34077c48bd863d" providerId="LiveId" clId="{A1EC51CC-F36E-46BA-B172-5667CEA6F987}" dt="2020-09-23T08:31:04.021" v="96" actId="20577"/>
        <pc:sldMkLst>
          <pc:docMk/>
          <pc:sldMk cId="4251714280" sldId="364"/>
        </pc:sldMkLst>
        <pc:spChg chg="mod">
          <ac:chgData name="Stephane Boyera" userId="dd34077c48bd863d" providerId="LiveId" clId="{A1EC51CC-F36E-46BA-B172-5667CEA6F987}" dt="2020-09-23T08:30:43.823" v="59" actId="14100"/>
          <ac:spMkLst>
            <pc:docMk/>
            <pc:sldMk cId="4251714280" sldId="364"/>
            <ac:spMk id="3" creationId="{00000000-0000-0000-0000-000000000000}"/>
          </ac:spMkLst>
        </pc:spChg>
        <pc:spChg chg="mod">
          <ac:chgData name="Stephane Boyera" userId="dd34077c48bd863d" providerId="LiveId" clId="{A1EC51CC-F36E-46BA-B172-5667CEA6F987}" dt="2020-09-23T08:31:04.021" v="96" actId="20577"/>
          <ac:spMkLst>
            <pc:docMk/>
            <pc:sldMk cId="4251714280" sldId="364"/>
            <ac:spMk id="4" creationId="{00000000-0000-0000-0000-000000000000}"/>
          </ac:spMkLst>
        </pc:spChg>
        <pc:picChg chg="mod">
          <ac:chgData name="Stephane Boyera" userId="dd34077c48bd863d" providerId="LiveId" clId="{A1EC51CC-F36E-46BA-B172-5667CEA6F987}" dt="2020-09-23T08:30:49.566" v="60" actId="1076"/>
          <ac:picMkLst>
            <pc:docMk/>
            <pc:sldMk cId="4251714280" sldId="364"/>
            <ac:picMk id="6" creationId="{B0094B93-97DD-4C9B-9832-50B2623F9274}"/>
          </ac:picMkLst>
        </pc:picChg>
        <pc:picChg chg="del">
          <ac:chgData name="Stephane Boyera" userId="dd34077c48bd863d" providerId="LiveId" clId="{A1EC51CC-F36E-46BA-B172-5667CEA6F987}" dt="2020-09-23T08:30:17.028" v="2" actId="478"/>
          <ac:picMkLst>
            <pc:docMk/>
            <pc:sldMk cId="4251714280" sldId="364"/>
            <ac:picMk id="9" creationId="{D6F5FF6F-0213-4E73-A112-545C7FBB84EA}"/>
          </ac:picMkLst>
        </pc:picChg>
      </pc:sldChg>
      <pc:sldChg chg="delSp modSp mod">
        <pc:chgData name="Stephane Boyera" userId="dd34077c48bd863d" providerId="LiveId" clId="{A1EC51CC-F36E-46BA-B172-5667CEA6F987}" dt="2020-09-23T08:33:39.948" v="349" actId="478"/>
        <pc:sldMkLst>
          <pc:docMk/>
          <pc:sldMk cId="1926165227" sldId="393"/>
        </pc:sldMkLst>
        <pc:spChg chg="mod">
          <ac:chgData name="Stephane Boyera" userId="dd34077c48bd863d" providerId="LiveId" clId="{A1EC51CC-F36E-46BA-B172-5667CEA6F987}" dt="2020-09-23T08:33:36.222" v="348" actId="20577"/>
          <ac:spMkLst>
            <pc:docMk/>
            <pc:sldMk cId="1926165227" sldId="393"/>
            <ac:spMk id="2" creationId="{00000000-0000-0000-0000-000000000000}"/>
          </ac:spMkLst>
        </pc:spChg>
        <pc:picChg chg="del">
          <ac:chgData name="Stephane Boyera" userId="dd34077c48bd863d" providerId="LiveId" clId="{A1EC51CC-F36E-46BA-B172-5667CEA6F987}" dt="2020-09-23T08:33:39.948" v="349" actId="478"/>
          <ac:picMkLst>
            <pc:docMk/>
            <pc:sldMk cId="1926165227" sldId="393"/>
            <ac:picMk id="7" creationId="{8D0CC5B8-3BB6-416F-B796-272FFB1EAA6D}"/>
          </ac:picMkLst>
        </pc:picChg>
      </pc:sldChg>
      <pc:sldMasterChg chg="modSldLayout">
        <pc:chgData name="Stephane Boyera" userId="dd34077c48bd863d" providerId="LiveId" clId="{A1EC51CC-F36E-46BA-B172-5667CEA6F987}" dt="2020-09-23T08:30:04.245" v="1" actId="1076"/>
        <pc:sldMasterMkLst>
          <pc:docMk/>
          <pc:sldMasterMk cId="0" sldId="2147483648"/>
        </pc:sldMasterMkLst>
        <pc:sldLayoutChg chg="delSp modSp mod">
          <pc:chgData name="Stephane Boyera" userId="dd34077c48bd863d" providerId="LiveId" clId="{A1EC51CC-F36E-46BA-B172-5667CEA6F987}" dt="2020-09-23T08:30:04.245" v="1" actId="1076"/>
          <pc:sldLayoutMkLst>
            <pc:docMk/>
            <pc:sldMasterMk cId="0" sldId="2147483648"/>
            <pc:sldLayoutMk cId="2589949047" sldId="2147485044"/>
          </pc:sldLayoutMkLst>
          <pc:picChg chg="mod">
            <ac:chgData name="Stephane Boyera" userId="dd34077c48bd863d" providerId="LiveId" clId="{A1EC51CC-F36E-46BA-B172-5667CEA6F987}" dt="2020-09-23T08:30:04.245" v="1" actId="1076"/>
            <ac:picMkLst>
              <pc:docMk/>
              <pc:sldMasterMk cId="0" sldId="2147483648"/>
              <pc:sldLayoutMk cId="2589949047" sldId="2147485044"/>
              <ac:picMk id="9" creationId="{6B2B5969-3735-41F0-A40E-70CFD52D52C4}"/>
            </ac:picMkLst>
          </pc:picChg>
          <pc:picChg chg="del">
            <ac:chgData name="Stephane Boyera" userId="dd34077c48bd863d" providerId="LiveId" clId="{A1EC51CC-F36E-46BA-B172-5667CEA6F987}" dt="2020-09-23T08:30:00.368" v="0" actId="478"/>
            <ac:picMkLst>
              <pc:docMk/>
              <pc:sldMasterMk cId="0" sldId="2147483648"/>
              <pc:sldLayoutMk cId="2589949047" sldId="2147485044"/>
              <ac:picMk id="13" creationId="{4D314923-0392-4EFD-A695-52C6D7FAE69B}"/>
            </ac:picMkLst>
          </pc:picChg>
        </pc:sldLayoutChg>
      </pc:sldMasterChg>
    </pc:docChg>
  </pc:docChgLst>
  <pc:docChgLst>
    <pc:chgData name="Stephane Boyera" userId="dd34077c48bd863d" providerId="LiveId" clId="{9E769AA3-A619-46CA-8CF6-E344CC34E075}"/>
    <pc:docChg chg="custSel addSld delSld modSld">
      <pc:chgData name="Stephane Boyera" userId="dd34077c48bd863d" providerId="LiveId" clId="{9E769AA3-A619-46CA-8CF6-E344CC34E075}" dt="2020-09-23T15:55:29.446" v="1234" actId="1076"/>
      <pc:docMkLst>
        <pc:docMk/>
      </pc:docMkLst>
      <pc:sldChg chg="addSp delSp modSp mod">
        <pc:chgData name="Stephane Boyera" userId="dd34077c48bd863d" providerId="LiveId" clId="{9E769AA3-A619-46CA-8CF6-E344CC34E075}" dt="2020-09-23T15:16:53.898" v="840" actId="20577"/>
        <pc:sldMkLst>
          <pc:docMk/>
          <pc:sldMk cId="4154427732" sldId="327"/>
        </pc:sldMkLst>
        <pc:spChg chg="mod">
          <ac:chgData name="Stephane Boyera" userId="dd34077c48bd863d" providerId="LiveId" clId="{9E769AA3-A619-46CA-8CF6-E344CC34E075}" dt="2020-09-23T15:08:34.493" v="22" actId="20577"/>
          <ac:spMkLst>
            <pc:docMk/>
            <pc:sldMk cId="4154427732" sldId="327"/>
            <ac:spMk id="2" creationId="{00000000-0000-0000-0000-000000000000}"/>
          </ac:spMkLst>
        </pc:spChg>
        <pc:spChg chg="mod">
          <ac:chgData name="Stephane Boyera" userId="dd34077c48bd863d" providerId="LiveId" clId="{9E769AA3-A619-46CA-8CF6-E344CC34E075}" dt="2020-09-23T15:16:53.898" v="840" actId="20577"/>
          <ac:spMkLst>
            <pc:docMk/>
            <pc:sldMk cId="4154427732" sldId="327"/>
            <ac:spMk id="4" creationId="{00000000-0000-0000-0000-000000000000}"/>
          </ac:spMkLst>
        </pc:spChg>
        <pc:picChg chg="del">
          <ac:chgData name="Stephane Boyera" userId="dd34077c48bd863d" providerId="LiveId" clId="{9E769AA3-A619-46CA-8CF6-E344CC34E075}" dt="2020-09-23T15:12:02.849" v="580" actId="478"/>
          <ac:picMkLst>
            <pc:docMk/>
            <pc:sldMk cId="4154427732" sldId="327"/>
            <ac:picMk id="5" creationId="{6C11913C-3406-48BB-938B-792226CC8060}"/>
          </ac:picMkLst>
        </pc:picChg>
        <pc:picChg chg="add mod">
          <ac:chgData name="Stephane Boyera" userId="dd34077c48bd863d" providerId="LiveId" clId="{9E769AA3-A619-46CA-8CF6-E344CC34E075}" dt="2020-09-23T15:12:13.154" v="586" actId="1076"/>
          <ac:picMkLst>
            <pc:docMk/>
            <pc:sldMk cId="4154427732" sldId="327"/>
            <ac:picMk id="1026" creationId="{8E9A9566-2E0A-4B0A-8A0B-8B395197CD0D}"/>
          </ac:picMkLst>
        </pc:picChg>
      </pc:sldChg>
      <pc:sldChg chg="modSp mod">
        <pc:chgData name="Stephane Boyera" userId="dd34077c48bd863d" providerId="LiveId" clId="{9E769AA3-A619-46CA-8CF6-E344CC34E075}" dt="2020-09-23T15:25:03.749" v="1160" actId="20577"/>
        <pc:sldMkLst>
          <pc:docMk/>
          <pc:sldMk cId="4263076792" sldId="350"/>
        </pc:sldMkLst>
        <pc:spChg chg="mod">
          <ac:chgData name="Stephane Boyera" userId="dd34077c48bd863d" providerId="LiveId" clId="{9E769AA3-A619-46CA-8CF6-E344CC34E075}" dt="2020-09-23T15:25:03.749" v="1160" actId="20577"/>
          <ac:spMkLst>
            <pc:docMk/>
            <pc:sldMk cId="4263076792" sldId="350"/>
            <ac:spMk id="4" creationId="{00000000-0000-0000-0000-000000000000}"/>
          </ac:spMkLst>
        </pc:spChg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513437031" sldId="366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1384043291" sldId="384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2416935047" sldId="386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2869178007" sldId="390"/>
        </pc:sldMkLst>
      </pc:sldChg>
      <pc:sldChg chg="addSp modSp mod">
        <pc:chgData name="Stephane Boyera" userId="dd34077c48bd863d" providerId="LiveId" clId="{9E769AA3-A619-46CA-8CF6-E344CC34E075}" dt="2020-09-23T15:55:29.446" v="1234" actId="1076"/>
        <pc:sldMkLst>
          <pc:docMk/>
          <pc:sldMk cId="1888105102" sldId="392"/>
        </pc:sldMkLst>
        <pc:spChg chg="mod">
          <ac:chgData name="Stephane Boyera" userId="dd34077c48bd863d" providerId="LiveId" clId="{9E769AA3-A619-46CA-8CF6-E344CC34E075}" dt="2020-09-23T15:18:21.329" v="860" actId="20577"/>
          <ac:spMkLst>
            <pc:docMk/>
            <pc:sldMk cId="1888105102" sldId="392"/>
            <ac:spMk id="2" creationId="{00000000-0000-0000-0000-000000000000}"/>
          </ac:spMkLst>
        </pc:spChg>
        <pc:spChg chg="mod">
          <ac:chgData name="Stephane Boyera" userId="dd34077c48bd863d" providerId="LiveId" clId="{9E769AA3-A619-46CA-8CF6-E344CC34E075}" dt="2020-09-23T15:24:32.067" v="1137" actId="1076"/>
          <ac:spMkLst>
            <pc:docMk/>
            <pc:sldMk cId="1888105102" sldId="392"/>
            <ac:spMk id="4" creationId="{00000000-0000-0000-0000-000000000000}"/>
          </ac:spMkLst>
        </pc:spChg>
        <pc:picChg chg="add mod">
          <ac:chgData name="Stephane Boyera" userId="dd34077c48bd863d" providerId="LiveId" clId="{9E769AA3-A619-46CA-8CF6-E344CC34E075}" dt="2020-09-23T15:55:29.446" v="1234" actId="1076"/>
          <ac:picMkLst>
            <pc:docMk/>
            <pc:sldMk cId="1888105102" sldId="392"/>
            <ac:picMk id="3074" creationId="{2637C98E-061C-4794-BF99-0E80DD0D48C5}"/>
          </ac:picMkLst>
        </pc:picChg>
      </pc:sldChg>
      <pc:sldChg chg="addSp modSp mod">
        <pc:chgData name="Stephane Boyera" userId="dd34077c48bd863d" providerId="LiveId" clId="{9E769AA3-A619-46CA-8CF6-E344CC34E075}" dt="2020-09-23T15:08:10.685" v="4" actId="1076"/>
        <pc:sldMkLst>
          <pc:docMk/>
          <pc:sldMk cId="1926165227" sldId="393"/>
        </pc:sldMkLst>
        <pc:picChg chg="add mod">
          <ac:chgData name="Stephane Boyera" userId="dd34077c48bd863d" providerId="LiveId" clId="{9E769AA3-A619-46CA-8CF6-E344CC34E075}" dt="2020-09-23T15:08:10.685" v="4" actId="1076"/>
          <ac:picMkLst>
            <pc:docMk/>
            <pc:sldMk cId="1926165227" sldId="393"/>
            <ac:picMk id="4" creationId="{FD7BA4BB-775B-419D-B85E-2210925F8569}"/>
          </ac:picMkLst>
        </pc:picChg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3330178215" sldId="394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3115813568" sldId="395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982950068" sldId="396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362429713" sldId="397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2414550225" sldId="398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2842101755" sldId="399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29684110" sldId="400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1899516426" sldId="401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4222988380" sldId="402"/>
        </pc:sldMkLst>
      </pc:sldChg>
      <pc:sldChg chg="del">
        <pc:chgData name="Stephane Boyera" userId="dd34077c48bd863d" providerId="LiveId" clId="{9E769AA3-A619-46CA-8CF6-E344CC34E075}" dt="2020-09-23T15:54:24.382" v="1232" actId="47"/>
        <pc:sldMkLst>
          <pc:docMk/>
          <pc:sldMk cId="1192282182" sldId="403"/>
        </pc:sldMkLst>
      </pc:sldChg>
      <pc:sldChg chg="addSp delSp modSp add mod">
        <pc:chgData name="Stephane Boyera" userId="dd34077c48bd863d" providerId="LiveId" clId="{9E769AA3-A619-46CA-8CF6-E344CC34E075}" dt="2020-09-23T15:54:03.320" v="1231" actId="1076"/>
        <pc:sldMkLst>
          <pc:docMk/>
          <pc:sldMk cId="1878485691" sldId="427"/>
        </pc:sldMkLst>
        <pc:spChg chg="mod">
          <ac:chgData name="Stephane Boyera" userId="dd34077c48bd863d" providerId="LiveId" clId="{9E769AA3-A619-46CA-8CF6-E344CC34E075}" dt="2020-09-23T15:51:46.596" v="1186" actId="1076"/>
          <ac:spMkLst>
            <pc:docMk/>
            <pc:sldMk cId="1878485691" sldId="427"/>
            <ac:spMk id="12" creationId="{80280F8D-F427-4DD6-9234-AAD59D5EFA43}"/>
          </ac:spMkLst>
        </pc:spChg>
        <pc:spChg chg="del">
          <ac:chgData name="Stephane Boyera" userId="dd34077c48bd863d" providerId="LiveId" clId="{9E769AA3-A619-46CA-8CF6-E344CC34E075}" dt="2020-09-23T15:51:33.366" v="1182" actId="478"/>
          <ac:spMkLst>
            <pc:docMk/>
            <pc:sldMk cId="1878485691" sldId="427"/>
            <ac:spMk id="16" creationId="{7317118E-0A0F-4B5A-A5C5-E8DCF2C8AF81}"/>
          </ac:spMkLst>
        </pc:spChg>
        <pc:spChg chg="del mod">
          <ac:chgData name="Stephane Boyera" userId="dd34077c48bd863d" providerId="LiveId" clId="{9E769AA3-A619-46CA-8CF6-E344CC34E075}" dt="2020-09-23T15:52:12.216" v="1217" actId="478"/>
          <ac:spMkLst>
            <pc:docMk/>
            <pc:sldMk cId="1878485691" sldId="427"/>
            <ac:spMk id="17" creationId="{97B02E46-C89A-4F23-8E3E-6A5478B839D1}"/>
          </ac:spMkLst>
        </pc:spChg>
        <pc:spChg chg="mod">
          <ac:chgData name="Stephane Boyera" userId="dd34077c48bd863d" providerId="LiveId" clId="{9E769AA3-A619-46CA-8CF6-E344CC34E075}" dt="2020-09-23T15:51:58.790" v="1202" actId="1076"/>
          <ac:spMkLst>
            <pc:docMk/>
            <pc:sldMk cId="1878485691" sldId="427"/>
            <ac:spMk id="18" creationId="{F22865BE-9151-4120-AD45-8B6B15E5CEF6}"/>
          </ac:spMkLst>
        </pc:spChg>
        <pc:spChg chg="mod">
          <ac:chgData name="Stephane Boyera" userId="dd34077c48bd863d" providerId="LiveId" clId="{9E769AA3-A619-46CA-8CF6-E344CC34E075}" dt="2020-09-23T15:52:08.883" v="1216" actId="20577"/>
          <ac:spMkLst>
            <pc:docMk/>
            <pc:sldMk cId="1878485691" sldId="427"/>
            <ac:spMk id="19" creationId="{2BD82B75-6560-4837-82C0-3AD0CDE3BA49}"/>
          </ac:spMkLst>
        </pc:spChg>
        <pc:spChg chg="mod">
          <ac:chgData name="Stephane Boyera" userId="dd34077c48bd863d" providerId="LiveId" clId="{9E769AA3-A619-46CA-8CF6-E344CC34E075}" dt="2020-09-23T15:51:22.960" v="1177" actId="20577"/>
          <ac:spMkLst>
            <pc:docMk/>
            <pc:sldMk cId="1878485691" sldId="427"/>
            <ac:spMk id="46" creationId="{00000000-0000-0000-0000-000000000000}"/>
          </ac:spMkLst>
        </pc:spChg>
        <pc:picChg chg="mod">
          <ac:chgData name="Stephane Boyera" userId="dd34077c48bd863d" providerId="LiveId" clId="{9E769AA3-A619-46CA-8CF6-E344CC34E075}" dt="2020-09-23T15:51:46.596" v="1186" actId="1076"/>
          <ac:picMkLst>
            <pc:docMk/>
            <pc:sldMk cId="1878485691" sldId="427"/>
            <ac:picMk id="3" creationId="{64AC8C44-A17E-4601-B437-B627A9631083}"/>
          </ac:picMkLst>
        </pc:picChg>
        <pc:picChg chg="del mod">
          <ac:chgData name="Stephane Boyera" userId="dd34077c48bd863d" providerId="LiveId" clId="{9E769AA3-A619-46CA-8CF6-E344CC34E075}" dt="2020-09-23T15:51:30.189" v="1180" actId="478"/>
          <ac:picMkLst>
            <pc:docMk/>
            <pc:sldMk cId="1878485691" sldId="427"/>
            <ac:picMk id="5" creationId="{D0FF4610-28C6-4C2B-A767-EFF87C9EDD44}"/>
          </ac:picMkLst>
        </pc:picChg>
        <pc:picChg chg="del mod">
          <ac:chgData name="Stephane Boyera" userId="dd34077c48bd863d" providerId="LiveId" clId="{9E769AA3-A619-46CA-8CF6-E344CC34E075}" dt="2020-09-23T15:51:37.572" v="1184" actId="478"/>
          <ac:picMkLst>
            <pc:docMk/>
            <pc:sldMk cId="1878485691" sldId="427"/>
            <ac:picMk id="7" creationId="{1CC1AEC2-8924-4914-AACB-159C71DC287C}"/>
          </ac:picMkLst>
        </pc:picChg>
        <pc:picChg chg="del">
          <ac:chgData name="Stephane Boyera" userId="dd34077c48bd863d" providerId="LiveId" clId="{9E769AA3-A619-46CA-8CF6-E344CC34E075}" dt="2020-09-23T15:51:31.101" v="1181" actId="478"/>
          <ac:picMkLst>
            <pc:docMk/>
            <pc:sldMk cId="1878485691" sldId="427"/>
            <ac:picMk id="9" creationId="{A25BC80B-D8F0-4E9D-B151-F81256F26535}"/>
          </ac:picMkLst>
        </pc:picChg>
        <pc:picChg chg="del">
          <ac:chgData name="Stephane Boyera" userId="dd34077c48bd863d" providerId="LiveId" clId="{9E769AA3-A619-46CA-8CF6-E344CC34E075}" dt="2020-09-23T15:51:29.255" v="1178" actId="478"/>
          <ac:picMkLst>
            <pc:docMk/>
            <pc:sldMk cId="1878485691" sldId="427"/>
            <ac:picMk id="11" creationId="{996572A4-5DE3-45ED-AB7A-4CA3A416BD69}"/>
          </ac:picMkLst>
        </pc:picChg>
        <pc:picChg chg="add mod">
          <ac:chgData name="Stephane Boyera" userId="dd34077c48bd863d" providerId="LiveId" clId="{9E769AA3-A619-46CA-8CF6-E344CC34E075}" dt="2020-09-23T15:53:19.745" v="1223" actId="1076"/>
          <ac:picMkLst>
            <pc:docMk/>
            <pc:sldMk cId="1878485691" sldId="427"/>
            <ac:picMk id="2050" creationId="{761FF6A3-DB90-48AA-BB0E-1FCA5C374EAB}"/>
          </ac:picMkLst>
        </pc:picChg>
        <pc:picChg chg="add mod">
          <ac:chgData name="Stephane Boyera" userId="dd34077c48bd863d" providerId="LiveId" clId="{9E769AA3-A619-46CA-8CF6-E344CC34E075}" dt="2020-09-23T15:54:03.320" v="1231" actId="1076"/>
          <ac:picMkLst>
            <pc:docMk/>
            <pc:sldMk cId="1878485691" sldId="427"/>
            <ac:picMk id="2052" creationId="{106D0128-8C96-482C-B4C4-10C88F43A02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30419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20/08/2021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30419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30419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20/08/2021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95350" y="744538"/>
            <a:ext cx="497046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42" tIns="47721" rIns="95442" bIns="47721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5511" y="4721858"/>
            <a:ext cx="5410142" cy="4475805"/>
          </a:xfrm>
          <a:prstGeom prst="rect">
            <a:avLst/>
          </a:prstGeom>
        </p:spPr>
        <p:txBody>
          <a:bodyPr vert="horz" lIns="95442" tIns="47721" rIns="95442" bIns="47721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30419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aseline="0" dirty="0">
                <a:solidFill>
                  <a:schemeClr val="bg1"/>
                </a:solidFill>
              </a:rPr>
              <a:t>http://wwww.sbc4d.com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7" name="Shape 9"/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073" y="6597704"/>
            <a:ext cx="627436" cy="23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 descr="C:\Users\boyera\Desktop\WF\Work\visio icon\sbc4d.png">
            <a:extLst>
              <a:ext uri="{FF2B5EF4-FFF2-40B4-BE49-F238E27FC236}">
                <a16:creationId xmlns:a16="http://schemas.microsoft.com/office/drawing/2014/main" id="{6B2B5969-3735-41F0-A40E-70CFD52D52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22571" y="101600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 descr="Une image contenant texte, signe&#10;&#10;Description générée automatiquement">
            <a:extLst>
              <a:ext uri="{FF2B5EF4-FFF2-40B4-BE49-F238E27FC236}">
                <a16:creationId xmlns:a16="http://schemas.microsoft.com/office/drawing/2014/main" id="{7EF80203-7EF1-4157-A89C-6AA1A94554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45996" y="101600"/>
            <a:ext cx="1988613" cy="5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8/20/2021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226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to modify texte styles of the mask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fr-FR"/>
              <a:t>T</a:t>
            </a:r>
            <a:r>
              <a:rPr lang="en-US"/>
              <a:t>hird level</a:t>
            </a:r>
          </a:p>
          <a:p>
            <a:pPr lvl="3"/>
            <a:r>
              <a:rPr lang="fr-FR"/>
              <a:t>F</a:t>
            </a:r>
            <a:r>
              <a:rPr lang="en-US"/>
              <a:t>orth level</a:t>
            </a:r>
          </a:p>
          <a:p>
            <a:pPr lvl="4"/>
            <a:r>
              <a:rPr lang="fr-FR"/>
              <a:t>F</a:t>
            </a:r>
            <a:r>
              <a:rPr lang="en-US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stephane@sbc4d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9697" y="3421875"/>
            <a:ext cx="8520299" cy="1181101"/>
          </a:xfrm>
        </p:spPr>
        <p:txBody>
          <a:bodyPr/>
          <a:lstStyle/>
          <a:p>
            <a:r>
              <a:rPr lang="fr-FR" sz="2800" b="0" dirty="0"/>
              <a:t>Crédit pour les entrepreneuses au Sénégal: Processus &amp; Défis</a:t>
            </a:r>
            <a:endParaRPr lang="fr-FR" sz="2400" b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14196" y="4469327"/>
            <a:ext cx="8305800" cy="1306513"/>
          </a:xfrm>
        </p:spPr>
        <p:txBody>
          <a:bodyPr/>
          <a:lstStyle/>
          <a:p>
            <a:r>
              <a:rPr lang="fr-FR" dirty="0"/>
              <a:t>Stéphane Boyera</a:t>
            </a:r>
          </a:p>
          <a:p>
            <a:r>
              <a:rPr lang="fr-FR" dirty="0"/>
              <a:t>SBC4D</a:t>
            </a:r>
          </a:p>
          <a:p>
            <a:r>
              <a:rPr lang="fr-FR" dirty="0">
                <a:hlinkClick r:id="rId2"/>
              </a:rPr>
              <a:t>stephane@sbc4d.com</a:t>
            </a:r>
            <a:endParaRPr lang="fr-FR" dirty="0"/>
          </a:p>
        </p:txBody>
      </p:sp>
      <p:pic>
        <p:nvPicPr>
          <p:cNvPr id="6" name="Picture 2" descr="C:\Users\boyera\Desktop\WF\Work\visio icon\sbc4d.png">
            <a:extLst>
              <a:ext uri="{FF2B5EF4-FFF2-40B4-BE49-F238E27FC236}">
                <a16:creationId xmlns:a16="http://schemas.microsoft.com/office/drawing/2014/main" id="{B0094B93-97DD-4C9B-9832-50B2623F9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24203" y="5660249"/>
            <a:ext cx="757987" cy="90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 descr="Une image contenant texte, signe&#10;&#10;Description générée automatiquement">
            <a:extLst>
              <a:ext uri="{FF2B5EF4-FFF2-40B4-BE49-F238E27FC236}">
                <a16:creationId xmlns:a16="http://schemas.microsoft.com/office/drawing/2014/main" id="{DE45C3F9-42EA-40E6-B3C8-B11ABDEF0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70" y="5684781"/>
            <a:ext cx="2569030" cy="76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1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fr-FR" dirty="0"/>
              <a:t>Contenu de la Présentation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48128" y="1991271"/>
            <a:ext cx="8647044" cy="22510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Contexte et Situation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Catégorisation des entrepreneuses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Défis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Apport potentiel des TIC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Discussions et table ronde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000" b="1" dirty="0">
              <a:latin typeface="Trebuchet MS" pitchFamily="34" charset="0"/>
              <a:cs typeface="Arial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1762DA6-0489-45AD-8569-C5AB5336B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308" y="3990109"/>
            <a:ext cx="3670251" cy="225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76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6336" y="13252"/>
            <a:ext cx="6124950" cy="812800"/>
          </a:xfrm>
        </p:spPr>
        <p:txBody>
          <a:bodyPr/>
          <a:lstStyle/>
          <a:p>
            <a:r>
              <a:rPr lang="fr-FR" dirty="0"/>
              <a:t>SBC4D: Les TIC pour le développement social et économique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96336" y="1122379"/>
            <a:ext cx="7026099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Cabinet de conseil français spécialisé dans l’utilisation des données et des TIC pour le développement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b="1" dirty="0">
                <a:latin typeface="Trebuchet MS" pitchFamily="34" charset="0"/>
                <a:cs typeface="ＭＳ Ｐゴシック" pitchFamily="34" charset="-128"/>
              </a:rPr>
              <a:t> Open Data et Gestion de données: Stratégies &amp; Implémentation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b="1" dirty="0">
                <a:latin typeface="Trebuchet MS" pitchFamily="34" charset="0"/>
                <a:cs typeface="ＭＳ Ｐゴシック" pitchFamily="34" charset="-128"/>
              </a:rPr>
              <a:t> Plateforme Mobile &amp; Web: Stratégie, conception, implémentation, déploiement, conseils. Expertise spécifique sur les applications multicanales accessibles aux populations défavorisées.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Expertise sectoriel: principalement l’agriculture mais aussi la gouvernance, les média, la santé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Géographie: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b="1" dirty="0">
                <a:latin typeface="Trebuchet MS" pitchFamily="34" charset="0"/>
                <a:cs typeface="Arial" pitchFamily="34" charset="0"/>
              </a:rPr>
              <a:t> 70% des  activités en Afrique Sub-Saharienne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b="1" dirty="0">
                <a:latin typeface="Trebuchet MS" pitchFamily="34" charset="0"/>
                <a:cs typeface="Arial" pitchFamily="34" charset="0"/>
              </a:rPr>
              <a:t> Activités en Asie du Sud (Indes, Indonésie, Vietnam), dans le Pacifique (Fidji), en Amérique Latine (Chili, Colombie)</a:t>
            </a:r>
          </a:p>
        </p:txBody>
      </p:sp>
      <p:pic>
        <p:nvPicPr>
          <p:cNvPr id="1027" name="Picture 3" descr="D:\Apache2.2\htdocs\shuga\css\sbc4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46426" y="2912454"/>
            <a:ext cx="1797574" cy="16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03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2508" y="0"/>
            <a:ext cx="5949021" cy="935182"/>
          </a:xfrm>
        </p:spPr>
        <p:txBody>
          <a:bodyPr/>
          <a:lstStyle/>
          <a:p>
            <a:r>
              <a:rPr lang="fr-FR" dirty="0"/>
              <a:t>Contexte et Situation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596348" y="1251623"/>
            <a:ext cx="7132983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Sources d’information: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Réunion de lancement avec des IMF et des groupements de femmes entrepreneuses (Mars 2020)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Une étude auprès de 11 IMF sur les processus et les mécanismes décisionnels pour l’octroi de crédit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Des discussions et interviews avec des entrepreneuses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Des rencontres diverses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La situation: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Peu de crédits octroyés pour supporter les activités économiques en zone rurale, particulièrement pour les femmes et en agriculture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Des crédits octroyés pour des montants insuffisants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Des crédits qui arrivent trop tard du fait du processus</a:t>
            </a:r>
          </a:p>
        </p:txBody>
      </p:sp>
      <p:pic>
        <p:nvPicPr>
          <p:cNvPr id="3" name="Picture 2" descr="Actively, advanced, leading, progress, promoted, state of the art icon -  Download on Iconfinder">
            <a:extLst>
              <a:ext uri="{FF2B5EF4-FFF2-40B4-BE49-F238E27FC236}">
                <a16:creationId xmlns:a16="http://schemas.microsoft.com/office/drawing/2014/main" id="{E6A70716-3BE2-4132-9BAC-97E5A92E3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08202" y="2569028"/>
            <a:ext cx="1534886" cy="153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427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2508" y="0"/>
            <a:ext cx="5949021" cy="935182"/>
          </a:xfrm>
        </p:spPr>
        <p:txBody>
          <a:bodyPr/>
          <a:lstStyle/>
          <a:p>
            <a:r>
              <a:rPr lang="fr-FR" dirty="0"/>
              <a:t>Contexte et Situation (2)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43948" y="1632969"/>
            <a:ext cx="7132983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La situation: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Peu de demandes de crédit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Peu de défauts de paiement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peu de risques pour les IMF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Peu d’appétences pour les crédits de la part des entrepreneuses</a:t>
            </a:r>
          </a:p>
        </p:txBody>
      </p:sp>
      <p:pic>
        <p:nvPicPr>
          <p:cNvPr id="3" name="Picture 2" descr="Actively, advanced, leading, progress, promoted, state of the art icon -  Download on Iconfinder">
            <a:extLst>
              <a:ext uri="{FF2B5EF4-FFF2-40B4-BE49-F238E27FC236}">
                <a16:creationId xmlns:a16="http://schemas.microsoft.com/office/drawing/2014/main" id="{E6A70716-3BE2-4132-9BAC-97E5A92E3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08202" y="2569028"/>
            <a:ext cx="1534886" cy="153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4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2508" y="0"/>
            <a:ext cx="5949021" cy="935182"/>
          </a:xfrm>
        </p:spPr>
        <p:txBody>
          <a:bodyPr/>
          <a:lstStyle/>
          <a:p>
            <a:r>
              <a:rPr lang="fr-FR" dirty="0"/>
              <a:t>Catégorisation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65719" y="1371825"/>
            <a:ext cx="7132983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  <a:latin typeface="Trebuchet MS" pitchFamily="34" charset="0"/>
                <a:cs typeface="ＭＳ Ｐゴシック" pitchFamily="34" charset="-128"/>
              </a:rPr>
              <a:t>Les entrepreneuses qui veulent des crédits et qui les ont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b="1" dirty="0">
                <a:solidFill>
                  <a:srgbClr val="29A428"/>
                </a:solidFill>
                <a:latin typeface="Trebuchet MS" pitchFamily="34" charset="0"/>
                <a:cs typeface="ＭＳ Ｐゴシック" pitchFamily="34" charset="-128"/>
              </a:rPr>
              <a:t>Les entrepreneuses qui veulent des crédits mais qui ne les obtiennent pas en temps et en montant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solidFill>
                  <a:srgbClr val="29A428"/>
                </a:solidFill>
                <a:latin typeface="Trebuchet MS" pitchFamily="34" charset="0"/>
                <a:cs typeface="ＭＳ Ｐゴシック" pitchFamily="34" charset="-128"/>
              </a:rPr>
              <a:t> Les entrepreneuses qui veulent des crédits mais qui manquent d’information sur où, quand comment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solidFill>
                  <a:srgbClr val="29A428"/>
                </a:solidFill>
                <a:latin typeface="Trebuchet MS" pitchFamily="34" charset="0"/>
                <a:cs typeface="ＭＳ Ｐゴシック" pitchFamily="34" charset="-128"/>
              </a:rPr>
              <a:t> Les entrepreneuses qui ne veulent pas de crédit mais qui pourraient en bénéficier et développer leurs activités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itchFamily="34" charset="0"/>
                <a:cs typeface="ＭＳ Ｐゴシック" pitchFamily="34" charset="-128"/>
              </a:rPr>
              <a:t>Les entrepreneuses qui ne sont pas éligibles suivant les règles actuelles des IMF mais qui auraient la capacité d’en gérer et d’en bénéficier</a:t>
            </a:r>
          </a:p>
        </p:txBody>
      </p:sp>
      <p:pic>
        <p:nvPicPr>
          <p:cNvPr id="2050" name="Picture 2" descr="Data classification Icons - 40 free vector icons">
            <a:extLst>
              <a:ext uri="{FF2B5EF4-FFF2-40B4-BE49-F238E27FC236}">
                <a16:creationId xmlns:a16="http://schemas.microsoft.com/office/drawing/2014/main" id="{00927A54-C747-4CE1-93D2-07E9FC4D7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59081" y="4778829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50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435" y="0"/>
            <a:ext cx="7853549" cy="935182"/>
          </a:xfrm>
        </p:spPr>
        <p:txBody>
          <a:bodyPr/>
          <a:lstStyle/>
          <a:p>
            <a:r>
              <a:rPr lang="fr-FR" dirty="0"/>
              <a:t>Les entrepreneuses non-éligibles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465719" y="1371825"/>
            <a:ext cx="7132983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Qui 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Les entrepreneuses travaillant exclusivement dans le secteur informel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Les entrepreneuses sans garantie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Pistes et apport potentiel des TIC 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Formaliser les recettes et dépenses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Faire évoluer les critères d’éligibilité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Utiliser l’historique d’activité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Utiliser le big data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Les habitudes de top-up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L’utilisation du mobile money</a:t>
            </a:r>
          </a:p>
          <a:p>
            <a:pPr lvl="3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Le réseau des connexions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….</a:t>
            </a:r>
          </a:p>
        </p:txBody>
      </p:sp>
      <p:pic>
        <p:nvPicPr>
          <p:cNvPr id="6" name="Picture 2" descr="Ineligible warning road sign illustration design ⬇ Stock Photo, Image by ©  alexmillos #35440567">
            <a:extLst>
              <a:ext uri="{FF2B5EF4-FFF2-40B4-BE49-F238E27FC236}">
                <a16:creationId xmlns:a16="http://schemas.microsoft.com/office/drawing/2014/main" id="{AB24DECA-8CE8-4157-83E3-E2D5056F8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8114" y="4082893"/>
            <a:ext cx="1683053" cy="208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73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435" y="0"/>
            <a:ext cx="7853549" cy="935182"/>
          </a:xfrm>
        </p:spPr>
        <p:txBody>
          <a:bodyPr/>
          <a:lstStyle/>
          <a:p>
            <a:r>
              <a:rPr lang="fr-FR" dirty="0"/>
              <a:t>Les entrepreneuses qui ne veulent pas de crédit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32736" y="1567768"/>
            <a:ext cx="7132983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Objectif: 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Sensibiliser les entrepreneuses qui pourraient bénéficier de crédit mais qui ne sont pas aujourd’hui par: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Peur du risque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Méconnaissance de l’outil et du potentiel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Fausses croyances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Approche Tekki Jiggen 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Formation à la gestion financière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Formation au crédit et le potentiel de développement de l’activité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Information sur les opportunités de crédit et les IMF</a:t>
            </a:r>
          </a:p>
        </p:txBody>
      </p:sp>
      <p:pic>
        <p:nvPicPr>
          <p:cNvPr id="5122" name="Picture 2" descr="Mosaïque Aucune icône de temps de crédit avec rayé Pas de timbre de crédit — Image vectorielle">
            <a:extLst>
              <a:ext uri="{FF2B5EF4-FFF2-40B4-BE49-F238E27FC236}">
                <a16:creationId xmlns:a16="http://schemas.microsoft.com/office/drawing/2014/main" id="{F8C80814-AE8F-48D6-A130-1416DFFE17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06704" y="2368021"/>
            <a:ext cx="1904560" cy="180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259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435" y="0"/>
            <a:ext cx="7853549" cy="935182"/>
          </a:xfrm>
        </p:spPr>
        <p:txBody>
          <a:bodyPr/>
          <a:lstStyle/>
          <a:p>
            <a:r>
              <a:rPr lang="fr-FR" dirty="0"/>
              <a:t>Processus de crédit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137778" y="1393597"/>
            <a:ext cx="5360994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Information/publicité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Souscription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Collecte d’information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Evaluation du dossier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Acceptation du crédit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Montant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Taux d’intérêt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Modalité de remboursement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Constitution du dossier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Collecte d’information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Décaissement du crédit</a:t>
            </a: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Remboursements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Clôture du crédit</a:t>
            </a: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146" name="Picture 2" descr="It Services Icon #9191 - Free Icons Library">
            <a:extLst>
              <a:ext uri="{FF2B5EF4-FFF2-40B4-BE49-F238E27FC236}">
                <a16:creationId xmlns:a16="http://schemas.microsoft.com/office/drawing/2014/main" id="{1936E0A9-1D8E-4295-959F-C26BEBD25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9" y="453934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151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435" y="0"/>
            <a:ext cx="7853549" cy="935182"/>
          </a:xfrm>
        </p:spPr>
        <p:txBody>
          <a:bodyPr/>
          <a:lstStyle/>
          <a:p>
            <a:r>
              <a:rPr lang="fr-FR" dirty="0"/>
              <a:t>Apport potentiel des TIC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19822" y="1132339"/>
            <a:ext cx="6821207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IMF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Augmenter la visibilité des IMF auprès des cibles rurales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Diminuer le cout et le temps de gestion d’un dossier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Collecte, stockage, archivage et utilisation des données clients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Faciliter les procédures de recouvrement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Entrepreneuses 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Faciliter l’accès à l’information sur les IMF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Faciliter l’accès au crédit et à la constitution de dossiers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Connaitre rapidement et automatiquement l’éligibilité potentielle et les montants (</a:t>
            </a:r>
            <a:r>
              <a:rPr lang="fr-FR" sz="2000" dirty="0" err="1">
                <a:latin typeface="Trebuchet MS" pitchFamily="34" charset="0"/>
                <a:cs typeface="ＭＳ Ｐゴシック" pitchFamily="34" charset="-128"/>
              </a:rPr>
              <a:t>credit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dirty="0" err="1">
                <a:latin typeface="Trebuchet MS" pitchFamily="34" charset="0"/>
                <a:cs typeface="ＭＳ Ｐゴシック" pitchFamily="34" charset="-128"/>
              </a:rPr>
              <a:t>scoring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146" name="Picture 2" descr="It Services Icon #9191 - Free Icons Library">
            <a:extLst>
              <a:ext uri="{FF2B5EF4-FFF2-40B4-BE49-F238E27FC236}">
                <a16:creationId xmlns:a16="http://schemas.microsoft.com/office/drawing/2014/main" id="{1936E0A9-1D8E-4295-959F-C26BEBD25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9" y="453934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555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5435" y="0"/>
            <a:ext cx="7853549" cy="935182"/>
          </a:xfrm>
        </p:spPr>
        <p:txBody>
          <a:bodyPr/>
          <a:lstStyle/>
          <a:p>
            <a:r>
              <a:rPr lang="fr-FR" dirty="0"/>
              <a:t>Apport potentiel des TIC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19822" y="1567767"/>
            <a:ext cx="6821207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Les interrogations de Tekki Jiggen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Quels services sont les plus importants et peuvent avoir un effet visible?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Quelles informations client gérées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Contenu &amp; durée de vie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Validation &amp; Vérification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Quel modèle de </a:t>
            </a:r>
            <a:r>
              <a:rPr lang="fr-FR" sz="2000" b="1" dirty="0" err="1">
                <a:latin typeface="Trebuchet MS" pitchFamily="34" charset="0"/>
                <a:cs typeface="ＭＳ Ｐゴシック" pitchFamily="34" charset="-128"/>
              </a:rPr>
              <a:t>credit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000" b="1" dirty="0" err="1">
                <a:latin typeface="Trebuchet MS" pitchFamily="34" charset="0"/>
                <a:cs typeface="ＭＳ Ｐゴシック" pitchFamily="34" charset="-128"/>
              </a:rPr>
              <a:t>scoring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146" name="Picture 2" descr="It Services Icon #9191 - Free Icons Library">
            <a:extLst>
              <a:ext uri="{FF2B5EF4-FFF2-40B4-BE49-F238E27FC236}">
                <a16:creationId xmlns:a16="http://schemas.microsoft.com/office/drawing/2014/main" id="{1936E0A9-1D8E-4295-959F-C26BEBD25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9" y="453934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34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5543" y="0"/>
            <a:ext cx="7153441" cy="935182"/>
          </a:xfrm>
        </p:spPr>
        <p:txBody>
          <a:bodyPr/>
          <a:lstStyle/>
          <a:p>
            <a:r>
              <a:rPr lang="fr-FR" dirty="0"/>
              <a:t>Les services TIC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19822" y="1132339"/>
            <a:ext cx="7844464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Outils internes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Gestion de la base client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Outils pour les agents de terrain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Gestion des dossiers de crédit: constitution, workflow...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Autres?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Outils d’interactions avec les détenteurs de crédits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Gestions automatiques des rappels d’échéances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Suivi des remboursements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Autres?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Outils d’interaction avec les candidats au crédit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Publicité globale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Publicité ciblée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Formulaire de demande de crédit en ligne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Autres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146" name="Picture 2" descr="It Services Icon #9191 - Free Icons Library">
            <a:extLst>
              <a:ext uri="{FF2B5EF4-FFF2-40B4-BE49-F238E27FC236}">
                <a16:creationId xmlns:a16="http://schemas.microsoft.com/office/drawing/2014/main" id="{1936E0A9-1D8E-4295-959F-C26BEBD25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9" y="453934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177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5543" y="0"/>
            <a:ext cx="7153441" cy="935182"/>
          </a:xfrm>
        </p:spPr>
        <p:txBody>
          <a:bodyPr/>
          <a:lstStyle/>
          <a:p>
            <a:r>
              <a:rPr lang="fr-FR" dirty="0"/>
              <a:t>Le profil client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19822" y="1077909"/>
            <a:ext cx="7844464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Les types de clients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Individuel 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Entreprise 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Groupement 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Quelles informations ?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Individuel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000" b="1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000" b="1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b="1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CD7B3EBB-A09E-48B2-B112-42725D4CD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598750"/>
              </p:ext>
            </p:extLst>
          </p:nvPr>
        </p:nvGraphicFramePr>
        <p:xfrm>
          <a:off x="130629" y="3320146"/>
          <a:ext cx="8839200" cy="3187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31114772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8935629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92605217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283419771"/>
                    </a:ext>
                  </a:extLst>
                </a:gridCol>
              </a:tblGrid>
              <a:tr h="286520">
                <a:tc>
                  <a:txBody>
                    <a:bodyPr/>
                    <a:lstStyle/>
                    <a:p>
                      <a:r>
                        <a:rPr lang="fr-FR" sz="1400" dirty="0"/>
                        <a:t>Catégorie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Commentaire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Durée de vie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108051"/>
                  </a:ext>
                </a:extLst>
              </a:tr>
              <a:tr h="429780">
                <a:tc>
                  <a:txBody>
                    <a:bodyPr/>
                    <a:lstStyle/>
                    <a:p>
                      <a:r>
                        <a:rPr lang="fr-FR" sz="1200" dirty="0"/>
                        <a:t>Identité, situation matri. &amp; prof.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Inclus niveau d’éducation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Piece d’identité Photo….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29051"/>
                  </a:ext>
                </a:extLst>
              </a:tr>
              <a:tr h="257868">
                <a:tc>
                  <a:txBody>
                    <a:bodyPr/>
                    <a:lstStyle/>
                    <a:p>
                      <a:r>
                        <a:rPr lang="fr-FR" sz="1200" dirty="0" err="1"/>
                        <a:t>Sit</a:t>
                      </a:r>
                      <a:r>
                        <a:rPr lang="fr-FR" sz="1200" dirty="0"/>
                        <a:t>. Financière personnelle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62433"/>
                  </a:ext>
                </a:extLst>
              </a:tr>
              <a:tr h="429780">
                <a:tc>
                  <a:txBody>
                    <a:bodyPr/>
                    <a:lstStyle/>
                    <a:p>
                      <a:r>
                        <a:rPr lang="fr-FR" sz="1200" dirty="0"/>
                        <a:t>Information sur l’activité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Quel niveau de détail ?</a:t>
                      </a:r>
                    </a:p>
                    <a:p>
                      <a:r>
                        <a:rPr lang="fr-FR" sz="1200" dirty="0"/>
                        <a:t>Uniquement financier?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640153"/>
                  </a:ext>
                </a:extLst>
              </a:tr>
              <a:tr h="601692">
                <a:tc>
                  <a:txBody>
                    <a:bodyPr/>
                    <a:lstStyle/>
                    <a:p>
                      <a:r>
                        <a:rPr lang="fr-FR" sz="1200" dirty="0"/>
                        <a:t>Historique de crédit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Bureau d’information de crédit</a:t>
                      </a:r>
                    </a:p>
                    <a:p>
                      <a:r>
                        <a:rPr lang="fr-FR" sz="1200" dirty="0"/>
                        <a:t>Autre?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44625"/>
                  </a:ext>
                </a:extLst>
              </a:tr>
              <a:tr h="257868">
                <a:tc>
                  <a:txBody>
                    <a:bodyPr/>
                    <a:lstStyle/>
                    <a:p>
                      <a:r>
                        <a:rPr lang="fr-FR" sz="1200" dirty="0"/>
                        <a:t>Garantie/caution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Inventaire des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560191"/>
                  </a:ext>
                </a:extLst>
              </a:tr>
              <a:tr h="257868">
                <a:tc>
                  <a:txBody>
                    <a:bodyPr/>
                    <a:lstStyle/>
                    <a:p>
                      <a:r>
                        <a:rPr lang="fr-FR" sz="1200" dirty="0"/>
                        <a:t>Inventaire des biens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07315"/>
                  </a:ext>
                </a:extLst>
              </a:tr>
              <a:tr h="504849">
                <a:tc>
                  <a:txBody>
                    <a:bodyPr/>
                    <a:lstStyle/>
                    <a:p>
                      <a:r>
                        <a:rPr lang="fr-FR" sz="1200" dirty="0"/>
                        <a:t>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Santé, professionnelle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Contrat?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076799"/>
                  </a:ext>
                </a:extLst>
              </a:tr>
            </a:tbl>
          </a:graphicData>
        </a:graphic>
      </p:graphicFrame>
      <p:pic>
        <p:nvPicPr>
          <p:cNvPr id="8194" name="Picture 2" descr="Infographie De Profil Client | Vecteur Gratuite">
            <a:extLst>
              <a:ext uri="{FF2B5EF4-FFF2-40B4-BE49-F238E27FC236}">
                <a16:creationId xmlns:a16="http://schemas.microsoft.com/office/drawing/2014/main" id="{325E1F4E-4A1D-472D-986D-76BAC7985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2" t="12468" r="9425" b="15512"/>
          <a:stretch/>
        </p:blipFill>
        <p:spPr bwMode="auto">
          <a:xfrm>
            <a:off x="6268585" y="1180988"/>
            <a:ext cx="1895701" cy="165485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00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5543" y="0"/>
            <a:ext cx="7153441" cy="935182"/>
          </a:xfrm>
        </p:spPr>
        <p:txBody>
          <a:bodyPr/>
          <a:lstStyle/>
          <a:p>
            <a:r>
              <a:rPr lang="fr-FR" dirty="0"/>
              <a:t>Le profil client: entreprise</a:t>
            </a: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CD7B3EBB-A09E-48B2-B112-42725D4CD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739040"/>
              </p:ext>
            </p:extLst>
          </p:nvPr>
        </p:nvGraphicFramePr>
        <p:xfrm>
          <a:off x="152400" y="1379467"/>
          <a:ext cx="88392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31114772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8935629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92605217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283419771"/>
                    </a:ext>
                  </a:extLst>
                </a:gridCol>
              </a:tblGrid>
              <a:tr h="286520">
                <a:tc>
                  <a:txBody>
                    <a:bodyPr/>
                    <a:lstStyle/>
                    <a:p>
                      <a:r>
                        <a:rPr lang="fr-FR" sz="1400" dirty="0"/>
                        <a:t>Catégorie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Commentaire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Durée de vie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10805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Identité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Nom…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Statut? Autres?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2905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Forme juridique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Statut? Autres?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90695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45326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Nombre d’employés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138273"/>
                  </a:ext>
                </a:extLst>
              </a:tr>
              <a:tr h="257868">
                <a:tc>
                  <a:txBody>
                    <a:bodyPr/>
                    <a:lstStyle/>
                    <a:p>
                      <a:r>
                        <a:rPr lang="fr-FR" sz="1200" dirty="0"/>
                        <a:t>NINEA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Extrait registre commerce?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624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fr-FR" sz="1200" dirty="0"/>
                        <a:t>Adresse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Coordonnées </a:t>
                      </a:r>
                      <a:r>
                        <a:rPr lang="fr-FR" sz="1200" dirty="0" err="1"/>
                        <a:t>gps</a:t>
                      </a:r>
                      <a:r>
                        <a:rPr lang="fr-FR" sz="1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64015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fr-FR" sz="1200" dirty="0"/>
                        <a:t>Activités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Quel niveau de détail ?</a:t>
                      </a:r>
                    </a:p>
                    <a:p>
                      <a:r>
                        <a:rPr lang="fr-FR" sz="1200" dirty="0"/>
                        <a:t>Uniquement financier?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Bilan?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121924"/>
                  </a:ext>
                </a:extLst>
              </a:tr>
              <a:tr h="601692">
                <a:tc>
                  <a:txBody>
                    <a:bodyPr/>
                    <a:lstStyle/>
                    <a:p>
                      <a:r>
                        <a:rPr lang="fr-FR" sz="1200" dirty="0"/>
                        <a:t>Historique de crédit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Bureau d’information de crédit</a:t>
                      </a:r>
                    </a:p>
                    <a:p>
                      <a:r>
                        <a:rPr lang="fr-FR" sz="1200" dirty="0"/>
                        <a:t>Autre?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44625"/>
                  </a:ext>
                </a:extLst>
              </a:tr>
              <a:tr h="257868">
                <a:tc>
                  <a:txBody>
                    <a:bodyPr/>
                    <a:lstStyle/>
                    <a:p>
                      <a:r>
                        <a:rPr lang="fr-FR" sz="1200" dirty="0"/>
                        <a:t>Information Gérant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Inventaire des bien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560191"/>
                  </a:ext>
                </a:extLst>
              </a:tr>
              <a:tr h="257868">
                <a:tc>
                  <a:txBody>
                    <a:bodyPr/>
                    <a:lstStyle/>
                    <a:p>
                      <a:r>
                        <a:rPr lang="fr-FR" sz="1200" dirty="0"/>
                        <a:t>Situation financière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07315"/>
                  </a:ext>
                </a:extLst>
              </a:tr>
              <a:tr h="252425">
                <a:tc>
                  <a:txBody>
                    <a:bodyPr/>
                    <a:lstStyle/>
                    <a:p>
                      <a:r>
                        <a:rPr lang="fr-FR" sz="1200" dirty="0"/>
                        <a:t>assurances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Contrat?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07679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Inventaire des biens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703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Garantie/caution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739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866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5543" y="21772"/>
            <a:ext cx="7153441" cy="935182"/>
          </a:xfrm>
        </p:spPr>
        <p:txBody>
          <a:bodyPr/>
          <a:lstStyle/>
          <a:p>
            <a:r>
              <a:rPr lang="fr-FR" dirty="0"/>
              <a:t>Le profil client: Groupement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19822" y="1077909"/>
            <a:ext cx="7844464" cy="215514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000" b="1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b="1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CD7B3EBB-A09E-48B2-B112-42725D4CD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913990"/>
              </p:ext>
            </p:extLst>
          </p:nvPr>
        </p:nvGraphicFramePr>
        <p:xfrm>
          <a:off x="152400" y="1415144"/>
          <a:ext cx="88392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31114772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8935629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92605217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283419771"/>
                    </a:ext>
                  </a:extLst>
                </a:gridCol>
              </a:tblGrid>
              <a:tr h="286520">
                <a:tc>
                  <a:txBody>
                    <a:bodyPr/>
                    <a:lstStyle/>
                    <a:p>
                      <a:r>
                        <a:rPr lang="fr-FR" sz="1400" dirty="0"/>
                        <a:t>Catégorie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Commentaire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Durée de vie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10805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Identité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Nom…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2905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Description, objet, fonctionnement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description du groupe qui l'a créé pourquoi, secteur nbre de rencontres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procès-verbal de constitution, statut, règlement intérieur?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90695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Responsables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Trésorier président secrétaire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45326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Membres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13827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fr-FR" sz="1200" dirty="0"/>
                        <a:t>Adresse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Coordonnées </a:t>
                      </a:r>
                      <a:r>
                        <a:rPr lang="fr-FR" sz="1200" dirty="0" err="1"/>
                        <a:t>gps</a:t>
                      </a:r>
                      <a:r>
                        <a:rPr lang="fr-FR" sz="12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64015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fr-FR" sz="1200" dirty="0"/>
                        <a:t>Activités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Quel niveau de détail ?</a:t>
                      </a:r>
                    </a:p>
                    <a:p>
                      <a:r>
                        <a:rPr lang="fr-FR" sz="1200" dirty="0"/>
                        <a:t>Uniquement financier?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Bilan?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Fixe?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121924"/>
                  </a:ext>
                </a:extLst>
              </a:tr>
              <a:tr h="601692">
                <a:tc>
                  <a:txBody>
                    <a:bodyPr/>
                    <a:lstStyle/>
                    <a:p>
                      <a:r>
                        <a:rPr lang="fr-FR" sz="1200" dirty="0"/>
                        <a:t>Historique de crédit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Bureau d’information de crédit</a:t>
                      </a:r>
                    </a:p>
                    <a:p>
                      <a:r>
                        <a:rPr lang="fr-FR" sz="1200" dirty="0"/>
                        <a:t>Autre?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44625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r>
                        <a:rPr lang="fr-FR" sz="1200" dirty="0"/>
                        <a:t>Garantie/caution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739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27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5543" y="0"/>
            <a:ext cx="7153441" cy="935182"/>
          </a:xfrm>
        </p:spPr>
        <p:txBody>
          <a:bodyPr/>
          <a:lstStyle/>
          <a:p>
            <a:r>
              <a:rPr lang="fr-FR" dirty="0" err="1"/>
              <a:t>Credit</a:t>
            </a:r>
            <a:r>
              <a:rPr lang="fr-FR" dirty="0"/>
              <a:t> </a:t>
            </a:r>
            <a:r>
              <a:rPr lang="fr-FR" dirty="0" err="1"/>
              <a:t>scoring</a:t>
            </a:r>
            <a:endParaRPr lang="fr-FR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65393" y="1807253"/>
            <a:ext cx="7844464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Y-a-t-il un moyen automatique à partir des informations client d’établir une éligibilité potentielle au crédit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oui/non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pour un montant maximum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Quelles informations et quels calculs pour établir cette éligibilité et les montants?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Est-ce que des modèles d’évaluation qualitative existent?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2290" name="Picture 2" descr="Credit Score Gauge. Rating. Credit Score Meter. Vector Icon In Flat Style.  Stock Vector - Illustration of indicator, high: 107738613">
            <a:extLst>
              <a:ext uri="{FF2B5EF4-FFF2-40B4-BE49-F238E27FC236}">
                <a16:creationId xmlns:a16="http://schemas.microsoft.com/office/drawing/2014/main" id="{77C36FB0-90D0-4F51-B5D2-CC1C46F81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1" t="22381" r="12381" b="22540"/>
          <a:stretch/>
        </p:blipFill>
        <p:spPr bwMode="auto">
          <a:xfrm>
            <a:off x="7696200" y="5355772"/>
            <a:ext cx="1293674" cy="947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964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2508" y="0"/>
            <a:ext cx="5949021" cy="935182"/>
          </a:xfrm>
        </p:spPr>
        <p:txBody>
          <a:bodyPr/>
          <a:lstStyle/>
          <a:p>
            <a:r>
              <a:rPr lang="fr-FR" dirty="0"/>
              <a:t>Discussions de Groupe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45421" y="1000498"/>
            <a:ext cx="6852063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Objectifs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Identifier le contenu des outils et services et les priorités des acteurs pour guider notre implémentation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Permettre à </a:t>
            </a:r>
            <a:r>
              <a:rPr lang="fr-FR" sz="2000" b="1" dirty="0" err="1">
                <a:latin typeface="Trebuchet MS" pitchFamily="34" charset="0"/>
                <a:cs typeface="ＭＳ Ｐゴシック" pitchFamily="34" charset="-128"/>
              </a:rPr>
              <a:t>Jokalante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de fournir des produits et services adaptés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Identifier des acteurs intéressés par être des bêta-testeurs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Format: World Café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3 groupes de taille équivalente se forme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Chaque groupe discutera des 3 thèmes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Chaque thème à un responsable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Les groupes changent de thèmes toutes les 25min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 Restitution par les responsables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000" b="1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074" name="Picture 2" descr="Discussion - Free people icons">
            <a:extLst>
              <a:ext uri="{FF2B5EF4-FFF2-40B4-BE49-F238E27FC236}">
                <a16:creationId xmlns:a16="http://schemas.microsoft.com/office/drawing/2014/main" id="{2637C98E-061C-4794-BF99-0E80DD0D4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00875" y="258679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105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  <p:pic>
        <p:nvPicPr>
          <p:cNvPr id="7" name="Picture 2" descr="C:\Users\boyera\Desktop\icon-thank-you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3386" y="1767341"/>
            <a:ext cx="4907641" cy="36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3766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2219</TotalTime>
  <Words>1195</Words>
  <Application>Microsoft Office PowerPoint</Application>
  <PresentationFormat>Affichage à l'écran (4:3)</PresentationFormat>
  <Paragraphs>251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Trebuchet MS</vt:lpstr>
      <vt:lpstr>Thème Office</vt:lpstr>
      <vt:lpstr>Crédit pour les entrepreneuses au Sénégal: Processus &amp; Défis</vt:lpstr>
      <vt:lpstr>Contenu de la Présentation</vt:lpstr>
      <vt:lpstr>SBC4D: Les TIC pour le développement social et économique</vt:lpstr>
      <vt:lpstr>Contexte et Situation</vt:lpstr>
      <vt:lpstr>Contexte et Situation (2)</vt:lpstr>
      <vt:lpstr>Catégorisation</vt:lpstr>
      <vt:lpstr>Les entrepreneuses non-éligibles</vt:lpstr>
      <vt:lpstr>Les entrepreneuses qui ne veulent pas de crédit</vt:lpstr>
      <vt:lpstr>Processus de crédit</vt:lpstr>
      <vt:lpstr>Apport potentiel des TIC</vt:lpstr>
      <vt:lpstr>Apport potentiel des TIC</vt:lpstr>
      <vt:lpstr>Les services TIC</vt:lpstr>
      <vt:lpstr>Le profil client</vt:lpstr>
      <vt:lpstr>Le profil client: entreprise</vt:lpstr>
      <vt:lpstr>Le profil client: Groupement</vt:lpstr>
      <vt:lpstr>Credit scoring</vt:lpstr>
      <vt:lpstr>Discussions de Groupe</vt:lpstr>
      <vt:lpstr>Présentation PowerPoint</vt:lpstr>
    </vt:vector>
  </TitlesOfParts>
  <Company>WITHYOU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Stephane Boyera</cp:lastModifiedBy>
  <cp:revision>926</cp:revision>
  <cp:lastPrinted>2016-06-03T13:40:18Z</cp:lastPrinted>
  <dcterms:created xsi:type="dcterms:W3CDTF">2009-10-15T09:24:18Z</dcterms:created>
  <dcterms:modified xsi:type="dcterms:W3CDTF">2021-08-20T15:00:57Z</dcterms:modified>
</cp:coreProperties>
</file>