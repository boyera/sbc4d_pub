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90" r:id="rId3"/>
    <p:sldId id="276" r:id="rId4"/>
    <p:sldId id="450" r:id="rId5"/>
    <p:sldId id="477" r:id="rId6"/>
    <p:sldId id="478" r:id="rId7"/>
    <p:sldId id="479" r:id="rId8"/>
    <p:sldId id="481" r:id="rId9"/>
    <p:sldId id="482" r:id="rId10"/>
    <p:sldId id="480" r:id="rId11"/>
    <p:sldId id="476" r:id="rId12"/>
    <p:sldId id="390" r:id="rId13"/>
    <p:sldId id="360" r:id="rId14"/>
  </p:sldIdLst>
  <p:sldSz cx="9144000" cy="6858000" type="screen4x3"/>
  <p:notesSz cx="7099300" cy="10234613"/>
  <p:defaultTextStyle>
    <a:defPPr>
      <a:defRPr lang="fr-FR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browse showScrollbar="0"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57B2A"/>
    <a:srgbClr val="7AA6EC"/>
    <a:srgbClr val="50D450"/>
    <a:srgbClr val="29A428"/>
    <a:srgbClr val="1F547E"/>
    <a:srgbClr val="1F497D"/>
    <a:srgbClr val="005D92"/>
    <a:srgbClr val="B7A797"/>
    <a:srgbClr val="B1BCA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1917" autoAdjust="0"/>
  </p:normalViewPr>
  <p:slideViewPr>
    <p:cSldViewPr snapToGrid="0">
      <p:cViewPr varScale="1">
        <p:scale>
          <a:sx n="69" d="100"/>
          <a:sy n="69" d="100"/>
        </p:scale>
        <p:origin x="413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1884" y="-102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1984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9D06CBAB-0BA1-42AF-8B31-9DAE95BE60F2}" type="datetime1">
              <a:rPr lang="fr-FR"/>
              <a:pPr>
                <a:defRPr/>
              </a:pPr>
              <a:t>31/05/2021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1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1984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20D7951-8316-4B8D-BB05-64474AD63AFB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82781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984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7AB03E9-6C6A-42A9-8A84-DB564324CB0B}" type="datetime1">
              <a:rPr lang="fr-FR"/>
              <a:pPr>
                <a:defRPr/>
              </a:pPr>
              <a:t>31/05/2021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7" tIns="49524" rIns="99047" bIns="49524" rtlCol="0" anchor="ctr"/>
          <a:lstStyle/>
          <a:p>
            <a:pPr lvl="0"/>
            <a:endParaRPr lang="fr-FR" noProof="0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294" y="4860581"/>
            <a:ext cx="5680712" cy="4607299"/>
          </a:xfrm>
          <a:prstGeom prst="rect">
            <a:avLst/>
          </a:prstGeom>
        </p:spPr>
        <p:txBody>
          <a:bodyPr vert="horz" lIns="99047" tIns="49524" rIns="99047" bIns="49524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984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74E1596-A129-4638-9F8E-3949BA5E7CE8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99286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First profiling experience in 2010 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About a dozen design/implementation/deployments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Senegal (FO - 80k profiles)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The Gambia (NGO/FO - 6k profiles)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Fiji (Government - 35k profiles)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Comoros (Government/Coop. – 2k profiles)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Mali (NGO - 12k profiles)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Kenya (NGO)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Liberia (NGO)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India (NGO)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Advisor on a few projects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National Farmer Digital Profiling (</a:t>
            </a:r>
            <a:r>
              <a:rPr lang="en-US" sz="2000" b="1" dirty="0" err="1">
                <a:latin typeface="Trebuchet MS" pitchFamily="34" charset="0"/>
                <a:cs typeface="ＭＳ Ｐゴシック" pitchFamily="34" charset="-128"/>
              </a:rPr>
              <a:t>MoA</a:t>
            </a: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- Rwanda)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FEPAB (CTA/Afdi – Burkina Faso)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A few publications on the topic (CTA working paper)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1665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9F5ED4-398E-4546-8A2D-DEF2149421CA}" type="slidenum">
              <a:rPr lang="fr-FR" smtClean="0"/>
              <a:pPr>
                <a:defRPr/>
              </a:pPr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405472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16392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project_cdi_desktop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ZoneTexte 7"/>
          <p:cNvSpPr txBox="1">
            <a:spLocks noChangeArrowheads="1"/>
          </p:cNvSpPr>
          <p:nvPr userDrawn="1"/>
        </p:nvSpPr>
        <p:spPr bwMode="auto">
          <a:xfrm>
            <a:off x="481013" y="1479550"/>
            <a:ext cx="4114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</a:rPr>
              <a:t>Where ICT meets Social &amp; Economic Development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3079750"/>
            <a:ext cx="9144000" cy="149225"/>
          </a:xfrm>
          <a:prstGeom prst="rect">
            <a:avLst/>
          </a:prstGeom>
          <a:solidFill>
            <a:schemeClr val="accent1"/>
          </a:solidFill>
          <a:ln>
            <a:solidFill>
              <a:srgbClr val="29A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dirty="0"/>
          </a:p>
        </p:txBody>
      </p:sp>
      <p:sp>
        <p:nvSpPr>
          <p:cNvPr id="15" name="Titre 4"/>
          <p:cNvSpPr>
            <a:spLocks noGrp="1"/>
          </p:cNvSpPr>
          <p:nvPr>
            <p:ph type="title"/>
          </p:nvPr>
        </p:nvSpPr>
        <p:spPr>
          <a:xfrm>
            <a:off x="504825" y="3608623"/>
            <a:ext cx="8229600" cy="1181101"/>
          </a:xfrm>
          <a:prstGeom prst="rect">
            <a:avLst/>
          </a:prstGeom>
        </p:spPr>
        <p:txBody>
          <a:bodyPr vert="horz"/>
          <a:lstStyle>
            <a:lvl1pPr algn="l">
              <a:defRPr sz="3600" b="1" baseline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5127625"/>
            <a:ext cx="8305800" cy="1306513"/>
          </a:xfrm>
        </p:spPr>
        <p:txBody>
          <a:bodyPr/>
          <a:lstStyle>
            <a:lvl1pPr marL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pic>
        <p:nvPicPr>
          <p:cNvPr id="1027" name="Picture 3" descr="C:\Users\boyera\Desktop\WF\Work\visio icon\sbc4d2 - Copi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171" y="234950"/>
            <a:ext cx="1117600" cy="1244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554749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0" y="6561328"/>
            <a:ext cx="9144000" cy="327573"/>
          </a:xfrm>
          <a:prstGeom prst="rect">
            <a:avLst/>
          </a:prstGeom>
          <a:solidFill>
            <a:srgbClr val="A4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chemeClr val="bg1"/>
                </a:solidFill>
              </a:rPr>
              <a:t>SB</a:t>
            </a:r>
            <a:r>
              <a:rPr lang="en-US" sz="1100" baseline="0" dirty="0">
                <a:solidFill>
                  <a:schemeClr val="bg1"/>
                </a:solidFill>
              </a:rPr>
              <a:t>C4D – http://wwww.sbc4d.com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812800"/>
            <a:ext cx="9144000" cy="152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dirty="0"/>
          </a:p>
        </p:txBody>
      </p:sp>
      <p:sp>
        <p:nvSpPr>
          <p:cNvPr id="16" name="Titre 9"/>
          <p:cNvSpPr>
            <a:spLocks noGrp="1"/>
          </p:cNvSpPr>
          <p:nvPr userDrawn="1">
            <p:ph type="title"/>
          </p:nvPr>
        </p:nvSpPr>
        <p:spPr>
          <a:xfrm>
            <a:off x="448128" y="0"/>
            <a:ext cx="4777015" cy="812800"/>
          </a:xfrm>
          <a:prstGeom prst="rect">
            <a:avLst/>
          </a:prstGeom>
        </p:spPr>
        <p:txBody>
          <a:bodyPr vert="horz" anchor="ctr"/>
          <a:lstStyle>
            <a:lvl1pPr algn="l">
              <a:defRPr sz="2600" b="1">
                <a:solidFill>
                  <a:schemeClr val="tx1"/>
                </a:solidFill>
                <a:latin typeface="+mn-lt"/>
                <a:cs typeface="Calibri (Titres)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pic>
        <p:nvPicPr>
          <p:cNvPr id="2050" name="Picture 2" descr="C:\Users\boyera\Desktop\WF\Work\visio icon\sbc4d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8554" y="58803"/>
            <a:ext cx="508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space réservé du numéro de diapositive 5"/>
          <p:cNvSpPr txBox="1">
            <a:spLocks/>
          </p:cNvSpPr>
          <p:nvPr userDrawn="1"/>
        </p:nvSpPr>
        <p:spPr>
          <a:xfrm>
            <a:off x="8386454" y="6555864"/>
            <a:ext cx="730250" cy="30896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bg1"/>
                </a:solidFill>
                <a:latin typeface="+mj-lt"/>
                <a:ea typeface="ＭＳ Ｐゴシック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>
              <a:defRPr/>
            </a:pPr>
            <a:fld id="{FF42B312-9817-492A-A2CE-1B0E09E6F02D}" type="slidenum">
              <a:rPr lang="en-US" smtClean="0"/>
              <a:pPr>
                <a:defRPr/>
              </a:pPr>
              <a:t>‹N°›</a:t>
            </a:fld>
            <a:endParaRPr lang="en-US" dirty="0"/>
          </a:p>
        </p:txBody>
      </p:sp>
      <p:pic>
        <p:nvPicPr>
          <p:cNvPr id="7" name="Shape 9">
            <a:extLst>
              <a:ext uri="{FF2B5EF4-FFF2-40B4-BE49-F238E27FC236}">
                <a16:creationId xmlns:a16="http://schemas.microsoft.com/office/drawing/2014/main" id="{56582277-02FF-4233-AC19-920B827C03C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24648" r="50281" b="49974"/>
          <a:stretch/>
        </p:blipFill>
        <p:spPr>
          <a:xfrm>
            <a:off x="178073" y="6597704"/>
            <a:ext cx="627436" cy="2385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89949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FF8CAA-C111-4E87-A7DA-24CC277DC31B}" type="datetimeFigureOut">
              <a:rPr lang="en-US"/>
              <a:pPr>
                <a:defRPr/>
              </a:pPr>
              <a:t>5/31/2021</a:t>
            </a:fld>
            <a:endParaRPr lang="en-GB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040E70-A7E7-45C7-B419-A5744BEC0024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6422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here to modify texte styles of the mask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fr-FR"/>
              <a:t>T</a:t>
            </a:r>
            <a:r>
              <a:rPr lang="en-US"/>
              <a:t>hird level</a:t>
            </a:r>
          </a:p>
          <a:p>
            <a:pPr lvl="3"/>
            <a:r>
              <a:rPr lang="fr-FR"/>
              <a:t>F</a:t>
            </a:r>
            <a:r>
              <a:rPr lang="en-US"/>
              <a:t>orth level</a:t>
            </a:r>
          </a:p>
          <a:p>
            <a:pPr lvl="4"/>
            <a:r>
              <a:rPr lang="fr-FR"/>
              <a:t>F</a:t>
            </a:r>
            <a:r>
              <a:rPr lang="en-US"/>
              <a:t>ifth level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393825" y="6645275"/>
            <a:ext cx="6051550" cy="212725"/>
          </a:xfrm>
          <a:prstGeom prst="rect">
            <a:avLst/>
          </a:prstGeom>
        </p:spPr>
        <p:txBody>
          <a:bodyPr/>
          <a:lstStyle>
            <a:lvl1pPr algn="ctr"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dirty="0"/>
              <a:t>Copyright © 2011. World Wide Web Foundation.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43" r:id="rId1"/>
    <p:sldLayoutId id="2147485044" r:id="rId2"/>
    <p:sldLayoutId id="2147485045" r:id="rId3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Courier New" pitchFamily="49" charset="0"/>
        <a:buChar char="o"/>
        <a:defRPr sz="27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o"/>
        <a:defRPr sz="2000" kern="1200">
          <a:solidFill>
            <a:schemeClr val="tx1"/>
          </a:solidFill>
          <a:latin typeface="+mn-lt"/>
          <a:ea typeface="ＭＳ Ｐゴシック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Courier New" pitchFamily="49" charset="0"/>
        <a:buChar char="o"/>
        <a:defRPr kern="1200">
          <a:solidFill>
            <a:schemeClr val="tx1"/>
          </a:solidFill>
          <a:latin typeface="+mn-lt"/>
          <a:ea typeface="ＭＳ Ｐゴシック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o"/>
        <a:defRPr sz="1600" kern="1200">
          <a:solidFill>
            <a:schemeClr val="tx1"/>
          </a:solidFill>
          <a:latin typeface="+mn-lt"/>
          <a:ea typeface="ＭＳ Ｐゴシック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SzPct val="100000"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ＭＳ Ｐゴシック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ub.sbc4d.com/2019/ticmbay_4y.pdf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hyperlink" Target="https://pub.sbc4d.com/2019/ticmbay_less.pdf" TargetMode="External"/><Relationship Id="rId4" Type="http://schemas.openxmlformats.org/officeDocument/2006/relationships/hyperlink" Target="https://jokalante.com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3470015"/>
            <a:ext cx="9016678" cy="1181101"/>
          </a:xfrm>
        </p:spPr>
        <p:txBody>
          <a:bodyPr/>
          <a:lstStyle/>
          <a:p>
            <a:pPr algn="ctr"/>
            <a:r>
              <a:rPr lang="en-US" dirty="0"/>
              <a:t>Multistakeholder partnership in ICT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>
          <a:xfrm>
            <a:off x="478809" y="4868317"/>
            <a:ext cx="8305800" cy="1306513"/>
          </a:xfrm>
        </p:spPr>
        <p:txBody>
          <a:bodyPr/>
          <a:lstStyle/>
          <a:p>
            <a:r>
              <a:rPr lang="en-US" sz="1600" b="1" dirty="0">
                <a:latin typeface="Trebuchet MS" pitchFamily="34" charset="0"/>
              </a:rPr>
              <a:t>Stéphane Boyera</a:t>
            </a:r>
          </a:p>
          <a:p>
            <a:r>
              <a:rPr lang="fr-FR" sz="1600" b="1" dirty="0">
                <a:latin typeface="Trebuchet MS" pitchFamily="34" charset="0"/>
              </a:rPr>
              <a:t>CEO</a:t>
            </a:r>
            <a:endParaRPr lang="en-US" sz="1600" b="1" dirty="0">
              <a:latin typeface="Trebuchet MS" pitchFamily="34" charset="0"/>
            </a:endParaRPr>
          </a:p>
          <a:p>
            <a:r>
              <a:rPr lang="fr-FR" sz="1600" b="1" dirty="0">
                <a:latin typeface="Trebuchet MS" pitchFamily="34" charset="0"/>
              </a:rPr>
              <a:t>stephane@sbc4d.com</a:t>
            </a:r>
            <a:endParaRPr lang="en-US" sz="1600" b="1" dirty="0">
              <a:latin typeface="Trebuchet MS" pitchFamily="34" charset="0"/>
            </a:endParaRPr>
          </a:p>
          <a:p>
            <a:r>
              <a:rPr lang="en-US" sz="1600" b="1" dirty="0">
                <a:latin typeface="Trebuchet MS" pitchFamily="34" charset="0"/>
              </a:rPr>
              <a:t>SBC4D – http://www.sbc4d.com</a:t>
            </a:r>
          </a:p>
          <a:p>
            <a:endParaRPr lang="en-US" sz="1200" b="1" dirty="0">
              <a:latin typeface="Trebuchet MS" pitchFamily="34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47261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/>
              <a:t>Overview</a:t>
            </a:r>
            <a:endParaRPr lang="en-US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519AF5B-1243-4865-B079-B5605EE1F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3762" y="4350327"/>
            <a:ext cx="3082939" cy="1890869"/>
          </a:xfrm>
          <a:prstGeom prst="rect">
            <a:avLst/>
          </a:prstGeom>
        </p:spPr>
      </p:pic>
      <p:sp>
        <p:nvSpPr>
          <p:cNvPr id="8" name="Espace réservé du contenu 1">
            <a:extLst>
              <a:ext uri="{FF2B5EF4-FFF2-40B4-BE49-F238E27FC236}">
                <a16:creationId xmlns:a16="http://schemas.microsoft.com/office/drawing/2014/main" id="{CB0A0CA2-7717-4EDA-9136-F6A3BDAAA953}"/>
              </a:ext>
            </a:extLst>
          </p:cNvPr>
          <p:cNvSpPr>
            <a:spLocks/>
          </p:cNvSpPr>
          <p:nvPr/>
        </p:nvSpPr>
        <p:spPr bwMode="auto">
          <a:xfrm>
            <a:off x="375301" y="1636845"/>
            <a:ext cx="7959074" cy="225108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400" b="1" dirty="0">
                <a:latin typeface="Trebuchet MS" pitchFamily="34" charset="0"/>
                <a:cs typeface="ＭＳ Ｐゴシック" pitchFamily="34" charset="-128"/>
              </a:rPr>
              <a:t> SBC4D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400" b="1" dirty="0">
                <a:latin typeface="Trebuchet MS" pitchFamily="34" charset="0"/>
                <a:cs typeface="ＭＳ Ｐゴシック" pitchFamily="34" charset="-128"/>
              </a:rPr>
              <a:t> ICT4Ag opportunities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400" b="1" dirty="0">
                <a:latin typeface="Trebuchet MS" pitchFamily="34" charset="0"/>
                <a:cs typeface="ＭＳ Ｐゴシック" pitchFamily="34" charset="-128"/>
              </a:rPr>
              <a:t> Sustainability challenge in ICT4Ag  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400" b="1" dirty="0">
                <a:latin typeface="Trebuchet MS" pitchFamily="34" charset="0"/>
                <a:cs typeface="ＭＳ Ｐゴシック" pitchFamily="34" charset="-128"/>
              </a:rPr>
              <a:t> An innovative approach: </a:t>
            </a:r>
            <a:r>
              <a:rPr lang="en-US" sz="2400" b="1" dirty="0" err="1">
                <a:latin typeface="Trebuchet MS" pitchFamily="34" charset="0"/>
                <a:cs typeface="ＭＳ Ｐゴシック" pitchFamily="34" charset="-128"/>
              </a:rPr>
              <a:t>TICMbay</a:t>
            </a:r>
            <a:r>
              <a:rPr lang="en-US" sz="2400" b="1" dirty="0">
                <a:latin typeface="Trebuchet MS" pitchFamily="34" charset="0"/>
                <a:cs typeface="ＭＳ Ｐゴシック" pitchFamily="34" charset="-128"/>
              </a:rPr>
              <a:t> experience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400" b="1" dirty="0">
                <a:latin typeface="Trebuchet MS" pitchFamily="34" charset="0"/>
                <a:cs typeface="ＭＳ Ｐゴシック" pitchFamily="34" charset="-128"/>
              </a:rPr>
              <a:t> Conclusion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400" b="1" dirty="0">
                <a:latin typeface="Trebuchet MS" pitchFamily="34" charset="0"/>
                <a:cs typeface="ＭＳ Ｐゴシック" pitchFamily="34" charset="-128"/>
              </a:rPr>
              <a:t> Resources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400" b="1" dirty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400" b="1" dirty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000" b="1" dirty="0">
              <a:latin typeface="Trebuchet MS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124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dirty="0"/>
              <a:t>SBC4D: Where ICT meets Social &amp; Economic Development</a:t>
            </a:r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234495" y="1078407"/>
            <a:ext cx="7303800" cy="4973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Consulting Company specialized in ICTD since 2009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ＭＳ Ｐゴシック" pitchFamily="34" charset="-128"/>
              </a:rPr>
              <a:t> Mobile &amp; Web services: Strategy, design, implementation, deployment. Specific expertise on multi-channel applications, and ICT for illiterate underprivileged communities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ＭＳ Ｐゴシック" pitchFamily="34" charset="-128"/>
              </a:rPr>
              <a:t> Open Data &amp; Open Linked Data: Strategy &amp; Implementation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Sector Expertise: primarily Agriculture, but also Governance, Media, Health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ICT4Ag: farmer profiling, AMIS, business matching, insurance, communication (IVR...)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Major clients: Governments, Development agencies (USAID, MCC,…), UN (ITC, UNDP, FAO, IFAD, etc.), WB, EU (CTA,…) private foundations &amp; NGO (Care, BMGF, …), private sector (Orange, MTV, Al Jazeera, …)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Geography:</a:t>
            </a:r>
            <a:r>
              <a:rPr lang="en-US" b="1" dirty="0">
                <a:latin typeface="Trebuchet MS" pitchFamily="34" charset="0"/>
                <a:cs typeface="Arial" pitchFamily="34" charset="0"/>
              </a:rPr>
              <a:t> 70% of activities in Sub-Saharan Africa,  Operation in South Asia (India, Vietnam, Bhutan, Indonesia), Pacific Islands (Fiji), Latin America (Chile, Colombia)</a:t>
            </a:r>
          </a:p>
        </p:txBody>
      </p:sp>
      <p:pic>
        <p:nvPicPr>
          <p:cNvPr id="1027" name="Picture 3" descr="D:\Apache2.2\htdocs\shuga\css\sbc4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226" y="2951017"/>
            <a:ext cx="1697644" cy="1596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0034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/>
              <a:t>ICT4Ag opportunities &amp; Promises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398660" y="1386445"/>
            <a:ext cx="7645744" cy="28312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Leverage availability of mobile phones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Address information asymmetry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Provide new services (extension, trade, access to credit…) to rural smallholder farmers at scale and at low cost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endParaRPr lang="en-US" sz="900" dirty="0">
              <a:latin typeface="Trebuchet MS" pitchFamily="34" charset="0"/>
              <a:cs typeface="ＭＳ Ｐゴシック" pitchFamily="34" charset="-128"/>
            </a:endParaRP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Stronger resilience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Greater yields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Greater income</a:t>
            </a:r>
          </a:p>
        </p:txBody>
      </p:sp>
      <p:pic>
        <p:nvPicPr>
          <p:cNvPr id="3" name="Picture 2" descr="A set of info graphics I created for the ICT4ag international ICT  conference held in Rwanda, Kigali.">
            <a:extLst>
              <a:ext uri="{FF2B5EF4-FFF2-40B4-BE49-F238E27FC236}">
                <a16:creationId xmlns:a16="http://schemas.microsoft.com/office/drawing/2014/main" id="{86CD1920-CDE8-4330-A4AD-11D61BCD69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54" r="28353" b="9116"/>
          <a:stretch/>
        </p:blipFill>
        <p:spPr bwMode="auto">
          <a:xfrm>
            <a:off x="6345045" y="3649251"/>
            <a:ext cx="2252546" cy="2573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5456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/>
              <a:t>ICT4Ag Results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277156" y="1118816"/>
            <a:ext cx="6926532" cy="28312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600" dirty="0">
                <a:latin typeface="Trebuchet MS" pitchFamily="34" charset="0"/>
                <a:cs typeface="ＭＳ Ｐゴシック" pitchFamily="34" charset="-128"/>
              </a:rPr>
              <a:t>A large volume of research and impact studies show positive outcome of ICT4ag services on yields/income/youth employment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600" dirty="0">
                <a:latin typeface="Trebuchet MS" pitchFamily="34" charset="0"/>
                <a:cs typeface="ＭＳ Ｐゴシック" pitchFamily="34" charset="-128"/>
              </a:rPr>
              <a:t>Numerous multistakeholder projects bringing together EU/African research institutions, public actors, NGOs and ICT firms have demonstrated results and impact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600" dirty="0">
                <a:latin typeface="Trebuchet MS" pitchFamily="34" charset="0"/>
                <a:cs typeface="ＭＳ Ｐゴシック" pitchFamily="34" charset="-128"/>
              </a:rPr>
              <a:t>A Growing number of innovative technologies: AI, UAV, IoT…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500" dirty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en-US" sz="2600" dirty="0">
                <a:latin typeface="Trebuchet MS" pitchFamily="34" charset="0"/>
                <a:cs typeface="ＭＳ Ｐゴシック" pitchFamily="34" charset="-128"/>
              </a:rPr>
              <a:t>But</a:t>
            </a: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….</a:t>
            </a:r>
          </a:p>
        </p:txBody>
      </p:sp>
      <p:pic>
        <p:nvPicPr>
          <p:cNvPr id="2050" name="Picture 2" descr="Results Icon Images | Free Vectors, Stock Photos &amp; PSD">
            <a:extLst>
              <a:ext uri="{FF2B5EF4-FFF2-40B4-BE49-F238E27FC236}">
                <a16:creationId xmlns:a16="http://schemas.microsoft.com/office/drawing/2014/main" id="{C96CD649-537A-4746-8BF5-7FE0CF5CC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6059" y="4675061"/>
            <a:ext cx="2078077" cy="1337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5461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/>
              <a:t>ICT4Ag Sustainability challenge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254854" y="1364143"/>
            <a:ext cx="7645744" cy="28312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The vast majority of ICT services stop after funding expires: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Partnerships stop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International expertise disappear or is too expensive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Operational costs are extremely high</a:t>
            </a:r>
          </a:p>
          <a:p>
            <a:pPr marL="1371600" lvl="2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HR</a:t>
            </a:r>
          </a:p>
          <a:p>
            <a:pPr marL="1371600" lvl="2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Infrastructure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Limited margin at the </a:t>
            </a:r>
            <a:r>
              <a:rPr lang="en-US" sz="2400" dirty="0" err="1">
                <a:latin typeface="Trebuchet MS" pitchFamily="34" charset="0"/>
                <a:cs typeface="ＭＳ Ｐゴシック" pitchFamily="34" charset="-128"/>
              </a:rPr>
              <a:t>BoP</a:t>
            </a:r>
            <a:endParaRPr lang="en-US" sz="2400" dirty="0">
              <a:latin typeface="Trebuchet MS" pitchFamily="34" charset="0"/>
              <a:cs typeface="ＭＳ Ｐゴシック" pitchFamily="34" charset="-128"/>
            </a:endParaRP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Business models are weak and do not focus on implementation</a:t>
            </a:r>
          </a:p>
        </p:txBody>
      </p:sp>
      <p:pic>
        <p:nvPicPr>
          <p:cNvPr id="3076" name="Picture 4" descr="Sustainability that You Can 'Bank' On: Value-Added Steps to 'Green'  Financial Institutions | ValueStreaming">
            <a:extLst>
              <a:ext uri="{FF2B5EF4-FFF2-40B4-BE49-F238E27FC236}">
                <a16:creationId xmlns:a16="http://schemas.microsoft.com/office/drawing/2014/main" id="{3657B9BE-83F2-4A1D-A58A-346DDAC26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599" y="2288797"/>
            <a:ext cx="1640547" cy="2457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9322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/>
              <a:t>An innovative approach: </a:t>
            </a:r>
            <a:r>
              <a:rPr lang="en-US" sz="3200" dirty="0" err="1"/>
              <a:t>TICMBay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254854" y="1364143"/>
            <a:ext cx="7645744" cy="28312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A USAID funding – 2015-2019 for e-extension in Senegal</a:t>
            </a:r>
            <a:endParaRPr lang="en-US" sz="2400" dirty="0">
              <a:latin typeface="Trebuchet MS" pitchFamily="34" charset="0"/>
              <a:cs typeface="ＭＳ Ｐゴシック" pitchFamily="34" charset="-128"/>
            </a:endParaRP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A partnership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3 NGOs from UK &amp; Belgium: UP, PAC, ADG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1 tech firm: SBC4D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1 research institution: UCSC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Objectives: Design sustainable ICT extension services for </a:t>
            </a:r>
            <a:r>
              <a:rPr lang="en-US" sz="2800" dirty="0" err="1">
                <a:latin typeface="Trebuchet MS" pitchFamily="34" charset="0"/>
                <a:cs typeface="ＭＳ Ｐゴシック" pitchFamily="34" charset="-128"/>
              </a:rPr>
              <a:t>agri</a:t>
            </a: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 actors (cooperatives, FO, agri-businesses) 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E50AF4F-7E09-4E61-8B25-6C4A3C063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439" y="3083311"/>
            <a:ext cx="1354873" cy="1354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108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/>
              <a:t>An innovative approach: </a:t>
            </a:r>
            <a:r>
              <a:rPr lang="en-US" sz="3200" dirty="0" err="1"/>
              <a:t>TICMBay</a:t>
            </a:r>
            <a:r>
              <a:rPr lang="en-US" sz="3200" dirty="0"/>
              <a:t> (2)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448128" y="1532350"/>
            <a:ext cx="7750097" cy="407949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a B2B ICT platform with numerous services ( support, alert, interactive radio campaign, survey, membership management) &amp;  different technologies (IVR, SMS, apps)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Offer a pay-as-you-go or ICT-as-a-service model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Share operational costs between actors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Offer a large set of services from ICT tools to turnkey services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E50AF4F-7E09-4E61-8B25-6C4A3C063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161" y="4934413"/>
            <a:ext cx="1354873" cy="1354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398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 err="1"/>
              <a:t>TICMBay</a:t>
            </a:r>
            <a:r>
              <a:rPr lang="en-US" sz="3200" dirty="0"/>
              <a:t> Implementation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278781" y="2074127"/>
            <a:ext cx="7750097" cy="245699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Setup a tech startup: </a:t>
            </a:r>
            <a:r>
              <a:rPr lang="en-US" sz="2800" dirty="0" err="1">
                <a:latin typeface="Trebuchet MS" pitchFamily="34" charset="0"/>
                <a:cs typeface="ＭＳ Ｐゴシック" pitchFamily="34" charset="-128"/>
              </a:rPr>
              <a:t>Jokalante</a:t>
            </a: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 (2016)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Transfer ICT services platform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Build staff capacities: tech, finance, HR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E50AF4F-7E09-4E61-8B25-6C4A3C063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161" y="4934413"/>
            <a:ext cx="1354873" cy="1354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596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 err="1"/>
              <a:t>Jokalante</a:t>
            </a:r>
            <a:r>
              <a:rPr lang="en-US" sz="3200" dirty="0"/>
              <a:t>: a robust startup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06184" y="1704341"/>
            <a:ext cx="7645744" cy="28312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 err="1">
                <a:latin typeface="Trebuchet MS" pitchFamily="34" charset="0"/>
                <a:cs typeface="ＭＳ Ｐゴシック" pitchFamily="34" charset="-128"/>
              </a:rPr>
              <a:t>Jokalante</a:t>
            </a: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 in business since 2016 and growing 2 years after the end of the project/end of funding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Expanded services: access to credit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Expanded channels: </a:t>
            </a:r>
            <a:r>
              <a:rPr lang="en-US" sz="2800" dirty="0" err="1">
                <a:latin typeface="Trebuchet MS" pitchFamily="34" charset="0"/>
                <a:cs typeface="ＭＳ Ｐゴシック" pitchFamily="34" charset="-128"/>
              </a:rPr>
              <a:t>Whatsapp</a:t>
            </a:r>
            <a:endParaRPr lang="en-US" sz="2800" dirty="0">
              <a:latin typeface="Trebuchet MS" pitchFamily="34" charset="0"/>
              <a:cs typeface="ＭＳ Ｐゴシック" pitchFamily="34" charset="-128"/>
            </a:endParaRP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Expanded client base: private sector, public sector (ANACIM)</a:t>
            </a:r>
            <a:endParaRPr lang="en-US" sz="24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858983E-7A13-4A69-AEF6-6663015E0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8634" y="4928840"/>
            <a:ext cx="2698718" cy="909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3030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objet, horloge&#10;&#10;Description générée avec un niveau de confiance très élevé">
            <a:extLst>
              <a:ext uri="{FF2B5EF4-FFF2-40B4-BE49-F238E27FC236}">
                <a16:creationId xmlns:a16="http://schemas.microsoft.com/office/drawing/2014/main" id="{CB58E789-2E4B-4C54-9A0C-699268B73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9399" y="4949964"/>
            <a:ext cx="1480336" cy="1480336"/>
          </a:xfrm>
          <a:prstGeom prst="rect">
            <a:avLst/>
          </a:prstGeom>
        </p:spPr>
      </p:pic>
      <p:sp>
        <p:nvSpPr>
          <p:cNvPr id="15363" name="Titre 2"/>
          <p:cNvSpPr>
            <a:spLocks noGrp="1"/>
          </p:cNvSpPr>
          <p:nvPr>
            <p:ph type="title"/>
          </p:nvPr>
        </p:nvSpPr>
        <p:spPr>
          <a:xfrm>
            <a:off x="328922" y="342967"/>
            <a:ext cx="5884886" cy="382138"/>
          </a:xfrm>
        </p:spPr>
        <p:txBody>
          <a:bodyPr/>
          <a:lstStyle/>
          <a:p>
            <a:pPr>
              <a:defRPr/>
            </a:pPr>
            <a:r>
              <a:rPr lang="fr-FR" sz="2800" dirty="0">
                <a:latin typeface="Trebuchet MS" pitchFamily="34" charset="0"/>
                <a:cs typeface="ＭＳ Ｐゴシック" pitchFamily="34" charset="-128"/>
              </a:rPr>
              <a:t>Conclusion</a:t>
            </a:r>
            <a:br>
              <a:rPr lang="en-US" sz="2800" dirty="0">
                <a:latin typeface="Trebuchet MS" pitchFamily="34" charset="0"/>
                <a:cs typeface="ＭＳ Ｐゴシック" pitchFamily="34" charset="-128"/>
              </a:rPr>
            </a:br>
            <a:endParaRPr lang="en-US" dirty="0"/>
          </a:p>
        </p:txBody>
      </p:sp>
      <p:sp>
        <p:nvSpPr>
          <p:cNvPr id="11" name="Espace réservé du contenu 1"/>
          <p:cNvSpPr>
            <a:spLocks/>
          </p:cNvSpPr>
          <p:nvPr/>
        </p:nvSpPr>
        <p:spPr bwMode="auto">
          <a:xfrm>
            <a:off x="328922" y="1560939"/>
            <a:ext cx="7596579" cy="373612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800" dirty="0">
                <a:latin typeface="+mj-lt"/>
                <a:cs typeface="ＭＳ Ｐゴシック" pitchFamily="34" charset="-128"/>
              </a:rPr>
              <a:t> </a:t>
            </a:r>
            <a:r>
              <a:rPr lang="en-US" sz="2800" dirty="0">
                <a:latin typeface="+mj-lt"/>
              </a:rPr>
              <a:t>It is extremely difficult to make ICT services sustainable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800" dirty="0">
                <a:latin typeface="+mj-lt"/>
              </a:rPr>
              <a:t> Business modeling is key, particularly in terms of implementation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800" dirty="0">
                <a:latin typeface="+mj-lt"/>
              </a:rPr>
              <a:t> A private sector approach that provides cost sharing for IT operational costs is a promising solution to support both public and non-governmental actors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300" dirty="0">
              <a:latin typeface="Trebuchet MS" pitchFamily="34" charset="0"/>
              <a:cs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4046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Références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448128" y="1179552"/>
            <a:ext cx="6656654" cy="454814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fr-FR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1140CD-1FA2-4AF1-BA05-4C0B875E29DA}"/>
              </a:ext>
            </a:extLst>
          </p:cNvPr>
          <p:cNvSpPr txBox="1">
            <a:spLocks/>
          </p:cNvSpPr>
          <p:nvPr/>
        </p:nvSpPr>
        <p:spPr>
          <a:xfrm>
            <a:off x="208618" y="1179552"/>
            <a:ext cx="6691121" cy="55350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fr-FR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9CC8D15-6176-470F-9917-36C5F6DAA496}"/>
              </a:ext>
            </a:extLst>
          </p:cNvPr>
          <p:cNvSpPr txBox="1">
            <a:spLocks/>
          </p:cNvSpPr>
          <p:nvPr/>
        </p:nvSpPr>
        <p:spPr>
          <a:xfrm>
            <a:off x="361018" y="1331952"/>
            <a:ext cx="6691121" cy="55350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Clr>
                <a:srgbClr val="92D050"/>
              </a:buClr>
            </a:pPr>
            <a:r>
              <a:rPr lang="en-US" b="0" i="0" u="none" strike="noStrike" dirty="0" err="1">
                <a:solidFill>
                  <a:srgbClr val="363636"/>
                </a:solidFill>
                <a:effectLst/>
                <a:latin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Jokalante</a:t>
            </a:r>
            <a:r>
              <a:rPr lang="en-US" b="0" i="0" u="none" strike="noStrike" dirty="0">
                <a:solidFill>
                  <a:srgbClr val="363636"/>
                </a:solidFill>
                <a:effectLst/>
                <a:latin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en-US" b="0" i="0" u="none" strike="noStrike" dirty="0">
                <a:solidFill>
                  <a:srgbClr val="E57B2A"/>
                </a:solidFill>
                <a:effectLst/>
                <a:latin typeface="Helvetica Neu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https://jokalante.com/</a:t>
            </a:r>
            <a:endParaRPr lang="en-US" b="0" i="0" u="none" strike="noStrike" dirty="0">
              <a:solidFill>
                <a:srgbClr val="E57B2A"/>
              </a:solidFill>
              <a:effectLst/>
              <a:latin typeface="Helvetica Neue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lvl="1">
              <a:buClr>
                <a:srgbClr val="92D050"/>
              </a:buClr>
            </a:pPr>
            <a:r>
              <a:rPr lang="en-US" b="0" i="0" u="none" strike="noStrike" dirty="0">
                <a:solidFill>
                  <a:srgbClr val="363636"/>
                </a:solidFill>
                <a:effectLst/>
                <a:latin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TICMBAY – ICT-Enabled agricultural extension in Senegal, our 4 years achievements</a:t>
            </a:r>
            <a:r>
              <a:rPr lang="en-US" b="0" i="0" u="none" strike="noStrike" dirty="0">
                <a:solidFill>
                  <a:srgbClr val="E4741F"/>
                </a:solidFill>
                <a:effectLst/>
                <a:latin typeface="Helvetica Neue"/>
              </a:rPr>
              <a:t>: https://pub.sbc4d.com/2019/ticmbay_4y.pdf</a:t>
            </a:r>
          </a:p>
          <a:p>
            <a:pPr lvl="1">
              <a:buClr>
                <a:srgbClr val="92D050"/>
              </a:buClr>
            </a:pPr>
            <a:r>
              <a:rPr lang="en-US" b="0" i="0" u="sng" dirty="0">
                <a:solidFill>
                  <a:srgbClr val="E4741F"/>
                </a:solidFill>
                <a:effectLst/>
                <a:latin typeface="Helvetica Neue"/>
                <a:hlinkClick r:id="rId5"/>
              </a:rPr>
              <a:t>TICMBAY – ICT-Enabled agricultural extension in Senegal, Lessons 2015 – 2019</a:t>
            </a:r>
            <a:r>
              <a:rPr lang="en-US" dirty="0">
                <a:solidFill>
                  <a:srgbClr val="E4741F"/>
                </a:solidFill>
                <a:latin typeface="Helvetica Neue"/>
              </a:rPr>
              <a:t> https://pub.sbc4d.com/2019/ticmbay_less.pdf</a:t>
            </a:r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FF48C42-1A2F-42B3-8FFE-063A777644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8407" y="4316145"/>
            <a:ext cx="23145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1780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© 2011. World Wide Web Foundation. All rights reserved</a:t>
            </a:r>
          </a:p>
        </p:txBody>
      </p:sp>
      <p:pic>
        <p:nvPicPr>
          <p:cNvPr id="7" name="Picture 2" descr="C:\Users\boyera\Desktop\icon-thank-you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8179" y="1583564"/>
            <a:ext cx="4907641" cy="3690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237664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web foundation 1">
      <a:dk1>
        <a:srgbClr val="535555"/>
      </a:dk1>
      <a:lt1>
        <a:srgbClr val="FFFFFF"/>
      </a:lt1>
      <a:dk2>
        <a:srgbClr val="747678"/>
      </a:dk2>
      <a:lt2>
        <a:srgbClr val="E5E6E5"/>
      </a:lt2>
      <a:accent1>
        <a:srgbClr val="A4C400"/>
      </a:accent1>
      <a:accent2>
        <a:srgbClr val="C50A1D"/>
      </a:accent2>
      <a:accent3>
        <a:srgbClr val="B5418B"/>
      </a:accent3>
      <a:accent4>
        <a:srgbClr val="38B5B8"/>
      </a:accent4>
      <a:accent5>
        <a:srgbClr val="F29400"/>
      </a:accent5>
      <a:accent6>
        <a:srgbClr val="E1DC00"/>
      </a:accent6>
      <a:hlink>
        <a:srgbClr val="363636"/>
      </a:hlink>
      <a:folHlink>
        <a:srgbClr val="B8A796"/>
      </a:folHlink>
    </a:clrScheme>
    <a:fontScheme name="Révolution">
      <a:majorFont>
        <a:latin typeface="Trebuchet MS"/>
        <a:ea typeface=""/>
        <a:cs typeface=""/>
        <a:font script="Jpan" typeface="ＭＳ ゴシック"/>
      </a:majorFont>
      <a:minorFont>
        <a:latin typeface="Trebuchet MS"/>
        <a:ea typeface=""/>
        <a:cs typeface=""/>
        <a:font script="Jpan" typeface="ＭＳ ゴシック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reflection blurRad="6350" stA="52000" endA="300" endPos="35000" dir="5400000" sy="-100000" algn="bl" rotWithShape="0"/>
        </a:effectLst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60984</TotalTime>
  <Words>789</Words>
  <Application>Microsoft Office PowerPoint</Application>
  <PresentationFormat>Affichage à l'écran (4:3)</PresentationFormat>
  <Paragraphs>91</Paragraphs>
  <Slides>13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Courier New</vt:lpstr>
      <vt:lpstr>Helvetica Neue</vt:lpstr>
      <vt:lpstr>Trebuchet MS</vt:lpstr>
      <vt:lpstr>Wingdings</vt:lpstr>
      <vt:lpstr>Thème Office</vt:lpstr>
      <vt:lpstr>Multistakeholder partnership in ICT</vt:lpstr>
      <vt:lpstr>Overview</vt:lpstr>
      <vt:lpstr>SBC4D: Where ICT meets Social &amp; Economic Development</vt:lpstr>
      <vt:lpstr>ICT4Ag opportunities &amp; Promises</vt:lpstr>
      <vt:lpstr>ICT4Ag Results</vt:lpstr>
      <vt:lpstr>ICT4Ag Sustainability challenge</vt:lpstr>
      <vt:lpstr>An innovative approach: TICMBay</vt:lpstr>
      <vt:lpstr>An innovative approach: TICMBay (2)</vt:lpstr>
      <vt:lpstr>TICMBay Implementation</vt:lpstr>
      <vt:lpstr>Jokalante: a robust startup</vt:lpstr>
      <vt:lpstr>Conclusion </vt:lpstr>
      <vt:lpstr>Références</vt:lpstr>
      <vt:lpstr>Présentation PowerPoint</vt:lpstr>
    </vt:vector>
  </TitlesOfParts>
  <Company>WITHYOU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Fabrice de Comarmond</dc:creator>
  <cp:lastModifiedBy>Stephane Boyera</cp:lastModifiedBy>
  <cp:revision>839</cp:revision>
  <cp:lastPrinted>2011-11-29T16:00:44Z</cp:lastPrinted>
  <dcterms:created xsi:type="dcterms:W3CDTF">2009-10-15T09:24:18Z</dcterms:created>
  <dcterms:modified xsi:type="dcterms:W3CDTF">2021-05-31T13:20:50Z</dcterms:modified>
</cp:coreProperties>
</file>