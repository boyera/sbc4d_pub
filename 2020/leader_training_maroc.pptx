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handoutMasterIdLst>
    <p:handoutMasterId r:id="rId91"/>
  </p:handoutMasterIdLst>
  <p:sldIdLst>
    <p:sldId id="256" r:id="rId2"/>
    <p:sldId id="603" r:id="rId3"/>
    <p:sldId id="461" r:id="rId4"/>
    <p:sldId id="398" r:id="rId5"/>
    <p:sldId id="308" r:id="rId6"/>
    <p:sldId id="610" r:id="rId7"/>
    <p:sldId id="351" r:id="rId8"/>
    <p:sldId id="399" r:id="rId9"/>
    <p:sldId id="361" r:id="rId10"/>
    <p:sldId id="611" r:id="rId11"/>
    <p:sldId id="363" r:id="rId12"/>
    <p:sldId id="402" r:id="rId13"/>
    <p:sldId id="616" r:id="rId14"/>
    <p:sldId id="618" r:id="rId15"/>
    <p:sldId id="619" r:id="rId16"/>
    <p:sldId id="327" r:id="rId17"/>
    <p:sldId id="617" r:id="rId18"/>
    <p:sldId id="621" r:id="rId19"/>
    <p:sldId id="387" r:id="rId20"/>
    <p:sldId id="385" r:id="rId21"/>
    <p:sldId id="622" r:id="rId22"/>
    <p:sldId id="487" r:id="rId23"/>
    <p:sldId id="623" r:id="rId24"/>
    <p:sldId id="624" r:id="rId25"/>
    <p:sldId id="486" r:id="rId26"/>
    <p:sldId id="625" r:id="rId27"/>
    <p:sldId id="612" r:id="rId28"/>
    <p:sldId id="613" r:id="rId29"/>
    <p:sldId id="614" r:id="rId30"/>
    <p:sldId id="605" r:id="rId31"/>
    <p:sldId id="382" r:id="rId32"/>
    <p:sldId id="524" r:id="rId33"/>
    <p:sldId id="472" r:id="rId34"/>
    <p:sldId id="433" r:id="rId35"/>
    <p:sldId id="566" r:id="rId36"/>
    <p:sldId id="626" r:id="rId37"/>
    <p:sldId id="578" r:id="rId38"/>
    <p:sldId id="494" r:id="rId39"/>
    <p:sldId id="579" r:id="rId40"/>
    <p:sldId id="627" r:id="rId41"/>
    <p:sldId id="511" r:id="rId42"/>
    <p:sldId id="394" r:id="rId43"/>
    <p:sldId id="395" r:id="rId44"/>
    <p:sldId id="396" r:id="rId45"/>
    <p:sldId id="397" r:id="rId46"/>
    <p:sldId id="631" r:id="rId47"/>
    <p:sldId id="379" r:id="rId48"/>
    <p:sldId id="632" r:id="rId49"/>
    <p:sldId id="628" r:id="rId50"/>
    <p:sldId id="525" r:id="rId51"/>
    <p:sldId id="526" r:id="rId52"/>
    <p:sldId id="527" r:id="rId53"/>
    <p:sldId id="528" r:id="rId54"/>
    <p:sldId id="529" r:id="rId55"/>
    <p:sldId id="530" r:id="rId56"/>
    <p:sldId id="563" r:id="rId57"/>
    <p:sldId id="532" r:id="rId58"/>
    <p:sldId id="531" r:id="rId59"/>
    <p:sldId id="629" r:id="rId60"/>
    <p:sldId id="569" r:id="rId61"/>
    <p:sldId id="585" r:id="rId62"/>
    <p:sldId id="586" r:id="rId63"/>
    <p:sldId id="595" r:id="rId64"/>
    <p:sldId id="594" r:id="rId65"/>
    <p:sldId id="517" r:id="rId66"/>
    <p:sldId id="518" r:id="rId67"/>
    <p:sldId id="519" r:id="rId68"/>
    <p:sldId id="520" r:id="rId69"/>
    <p:sldId id="521" r:id="rId70"/>
    <p:sldId id="565" r:id="rId71"/>
    <p:sldId id="513" r:id="rId72"/>
    <p:sldId id="548" r:id="rId73"/>
    <p:sldId id="516" r:id="rId74"/>
    <p:sldId id="567" r:id="rId75"/>
    <p:sldId id="533" r:id="rId76"/>
    <p:sldId id="443" r:id="rId77"/>
    <p:sldId id="587" r:id="rId78"/>
    <p:sldId id="597" r:id="rId79"/>
    <p:sldId id="599" r:id="rId80"/>
    <p:sldId id="588" r:id="rId81"/>
    <p:sldId id="589" r:id="rId82"/>
    <p:sldId id="590" r:id="rId83"/>
    <p:sldId id="564" r:id="rId84"/>
    <p:sldId id="598" r:id="rId85"/>
    <p:sldId id="514" r:id="rId86"/>
    <p:sldId id="448" r:id="rId87"/>
    <p:sldId id="596" r:id="rId88"/>
    <p:sldId id="272" r:id="rId89"/>
  </p:sldIdLst>
  <p:sldSz cx="9144000" cy="6858000" type="screen4x3"/>
  <p:notesSz cx="6761163" cy="9942513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3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m garnaoui" initials="rg" lastIdx="5" clrIdx="0">
    <p:extLst>
      <p:ext uri="{19B8F6BF-5375-455C-9EA6-DF929625EA0E}">
        <p15:presenceInfo xmlns:p15="http://schemas.microsoft.com/office/powerpoint/2012/main" userId="S-1-5-21-3387079846-1850129929-159453078-233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browse showScrollbar="0"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0"/>
    <a:srgbClr val="50D450"/>
    <a:srgbClr val="005D92"/>
    <a:srgbClr val="FFC100"/>
    <a:srgbClr val="29A428"/>
    <a:srgbClr val="1F547E"/>
    <a:srgbClr val="1F497D"/>
    <a:srgbClr val="B7A797"/>
    <a:srgbClr val="B1BCA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2" autoAdjust="0"/>
    <p:restoredTop sz="65820" autoAdjust="0"/>
  </p:normalViewPr>
  <p:slideViewPr>
    <p:cSldViewPr snapToGrid="0">
      <p:cViewPr varScale="1">
        <p:scale>
          <a:sx n="36" d="100"/>
          <a:sy n="36" d="100"/>
        </p:scale>
        <p:origin x="200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884" y="-102"/>
      </p:cViewPr>
      <p:guideLst>
        <p:guide orient="horz" pos="3132"/>
        <p:guide pos="213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handoutMaster" Target="handoutMasters/handout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commentAuthors" Target="commentAuthor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57DAF0-5FEA-4306-8A11-86C68E3D453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25E6B8-70B0-4267-B25F-5AEC7743AEB9}">
      <dgm:prSet phldrT="[Text]"/>
      <dgm:spPr>
        <a:xfrm>
          <a:off x="2421831" y="78469"/>
          <a:ext cx="3442250" cy="3426734"/>
        </a:xfrm>
        <a:prstGeom prst="ellipse">
          <a:avLst/>
        </a:prstGeom>
        <a:solidFill>
          <a:srgbClr val="CC4757">
            <a:lumMod val="75000"/>
            <a:alpha val="5000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anchor="t"/>
        <a:lstStyle/>
        <a:p>
          <a:endParaRPr lang="en-US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028190EB-2B5F-406B-AAD4-4578FDD0D6B5}" type="parTrans" cxnId="{F5A81637-CFE8-418E-B100-25CDF51C02E2}">
      <dgm:prSet/>
      <dgm:spPr/>
      <dgm:t>
        <a:bodyPr/>
        <a:lstStyle/>
        <a:p>
          <a:endParaRPr lang="en-US"/>
        </a:p>
      </dgm:t>
    </dgm:pt>
    <dgm:pt modelId="{3B466001-F8A1-40C0-9D51-CCA3D654FF57}" type="sibTrans" cxnId="{F5A81637-CFE8-418E-B100-25CDF51C02E2}">
      <dgm:prSet/>
      <dgm:spPr/>
      <dgm:t>
        <a:bodyPr/>
        <a:lstStyle/>
        <a:p>
          <a:endParaRPr lang="en-US"/>
        </a:p>
      </dgm:t>
    </dgm:pt>
    <dgm:pt modelId="{59557596-4ED7-49C8-BD24-DA36F20934D0}">
      <dgm:prSet phldrT="[Text]"/>
      <dgm:spPr>
        <a:xfrm>
          <a:off x="915561" y="1713118"/>
          <a:ext cx="3419884" cy="3431798"/>
        </a:xfrm>
        <a:prstGeom prst="ellipse">
          <a:avLst/>
        </a:prstGeom>
        <a:solidFill>
          <a:srgbClr val="30356E">
            <a:lumMod val="60000"/>
            <a:lumOff val="40000"/>
            <a:alpha val="50000"/>
          </a:srgbClr>
        </a:solidFill>
        <a:ln w="25400" cap="flat" cmpd="sng" algn="ctr">
          <a:solidFill>
            <a:sysClr val="window" lastClr="FFFFFF"/>
          </a:solidFill>
          <a:prstDash val="solid"/>
        </a:ln>
        <a:effectLst/>
      </dgm:spPr>
      <dgm:t>
        <a:bodyPr anchor="b"/>
        <a:lstStyle/>
        <a:p>
          <a:endParaRPr lang="en-US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2B5B97B4-5AE6-4955-94C7-6BE46A67BC01}" type="parTrans" cxnId="{A82B6B06-FEE3-4CD4-8449-1544C6E3A62B}">
      <dgm:prSet/>
      <dgm:spPr/>
      <dgm:t>
        <a:bodyPr/>
        <a:lstStyle/>
        <a:p>
          <a:endParaRPr lang="en-US"/>
        </a:p>
      </dgm:t>
    </dgm:pt>
    <dgm:pt modelId="{05F02268-ECA0-43E8-9CD6-98773F30D76C}" type="sibTrans" cxnId="{A82B6B06-FEE3-4CD4-8449-1544C6E3A62B}">
      <dgm:prSet/>
      <dgm:spPr/>
      <dgm:t>
        <a:bodyPr/>
        <a:lstStyle/>
        <a:p>
          <a:endParaRPr lang="en-US"/>
        </a:p>
      </dgm:t>
    </dgm:pt>
    <dgm:pt modelId="{1233D5CD-050A-4ACF-B62B-BCF7A3CD5F3C}">
      <dgm:prSet phldrT="[Text]"/>
      <dgm:spPr>
        <a:xfrm>
          <a:off x="3634294" y="1828793"/>
          <a:ext cx="3632830" cy="3304907"/>
        </a:xfrm>
        <a:prstGeom prst="ellipse">
          <a:avLst/>
        </a:prstGeom>
        <a:solidFill>
          <a:srgbClr val="78B832">
            <a:alpha val="49804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anchor="b"/>
        <a:lstStyle/>
        <a:p>
          <a:endParaRPr lang="en-US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01F46999-B9EE-41B3-AC74-39966FB4CDE0}" type="sibTrans" cxnId="{5BBFBCD3-D7DC-4CF4-9F19-9EB50408C0D0}">
      <dgm:prSet/>
      <dgm:spPr/>
      <dgm:t>
        <a:bodyPr/>
        <a:lstStyle/>
        <a:p>
          <a:endParaRPr lang="en-US"/>
        </a:p>
      </dgm:t>
    </dgm:pt>
    <dgm:pt modelId="{623814AB-6B89-43A6-A85C-EF5C9B5D3B3C}" type="parTrans" cxnId="{5BBFBCD3-D7DC-4CF4-9F19-9EB50408C0D0}">
      <dgm:prSet/>
      <dgm:spPr/>
      <dgm:t>
        <a:bodyPr/>
        <a:lstStyle/>
        <a:p>
          <a:endParaRPr lang="en-US"/>
        </a:p>
      </dgm:t>
    </dgm:pt>
    <dgm:pt modelId="{F6CBE81D-DD8A-47B7-9F55-617DB020ECDE}" type="pres">
      <dgm:prSet presAssocID="{5257DAF0-5FEA-4306-8A11-86C68E3D453E}" presName="compositeShape" presStyleCnt="0">
        <dgm:presLayoutVars>
          <dgm:chMax val="7"/>
          <dgm:dir/>
          <dgm:resizeHandles val="exact"/>
        </dgm:presLayoutVars>
      </dgm:prSet>
      <dgm:spPr/>
    </dgm:pt>
    <dgm:pt modelId="{272F86AD-6531-4A45-9B4C-FB7A2F4A56E5}" type="pres">
      <dgm:prSet presAssocID="{E925E6B8-70B0-4267-B25F-5AEC7743AEB9}" presName="circ1" presStyleLbl="vennNode1" presStyleIdx="0" presStyleCnt="3" custScaleX="106042" custScaleY="105564" custLinFactNeighborX="1934" custLinFactNeighborY="3155"/>
      <dgm:spPr/>
    </dgm:pt>
    <dgm:pt modelId="{CE864A37-13B5-4665-ADFD-A8E88B80B235}" type="pres">
      <dgm:prSet presAssocID="{E925E6B8-70B0-4267-B25F-5AEC7743AEB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B9B251B-586A-4808-9EDC-F6186A7B6F15}" type="pres">
      <dgm:prSet presAssocID="{59557596-4ED7-49C8-BD24-DA36F20934D0}" presName="circ2" presStyleLbl="vennNode1" presStyleIdx="1" presStyleCnt="3" custScaleX="105353" custScaleY="105720" custLinFactNeighborX="-80896" custLinFactNeighborY="-8910"/>
      <dgm:spPr/>
    </dgm:pt>
    <dgm:pt modelId="{F160D6A4-694B-4D4F-BBF0-BC753D1B09E6}" type="pres">
      <dgm:prSet presAssocID="{59557596-4ED7-49C8-BD24-DA36F20934D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6DCD3DF-9309-4439-8C36-8B180F8FC979}" type="pres">
      <dgm:prSet presAssocID="{1233D5CD-050A-4ACF-B62B-BCF7A3CD5F3C}" presName="circ3" presStyleLbl="vennNode1" presStyleIdx="2" presStyleCnt="3" custScaleX="111913" custScaleY="101811" custLinFactNeighborX="79551" custLinFactNeighborY="-10299"/>
      <dgm:spPr/>
    </dgm:pt>
    <dgm:pt modelId="{6257ABAD-8122-4776-B74F-7BFB0D29339F}" type="pres">
      <dgm:prSet presAssocID="{1233D5CD-050A-4ACF-B62B-BCF7A3CD5F3C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82B6B06-FEE3-4CD4-8449-1544C6E3A62B}" srcId="{5257DAF0-5FEA-4306-8A11-86C68E3D453E}" destId="{59557596-4ED7-49C8-BD24-DA36F20934D0}" srcOrd="1" destOrd="0" parTransId="{2B5B97B4-5AE6-4955-94C7-6BE46A67BC01}" sibTransId="{05F02268-ECA0-43E8-9CD6-98773F30D76C}"/>
    <dgm:cxn modelId="{F5A81637-CFE8-418E-B100-25CDF51C02E2}" srcId="{5257DAF0-5FEA-4306-8A11-86C68E3D453E}" destId="{E925E6B8-70B0-4267-B25F-5AEC7743AEB9}" srcOrd="0" destOrd="0" parTransId="{028190EB-2B5F-406B-AAD4-4578FDD0D6B5}" sibTransId="{3B466001-F8A1-40C0-9D51-CCA3D654FF57}"/>
    <dgm:cxn modelId="{5D179075-3931-40F6-A333-38796A5C69A6}" type="presOf" srcId="{59557596-4ED7-49C8-BD24-DA36F20934D0}" destId="{6B9B251B-586A-4808-9EDC-F6186A7B6F15}" srcOrd="0" destOrd="0" presId="urn:microsoft.com/office/officeart/2005/8/layout/venn1"/>
    <dgm:cxn modelId="{EB6F737D-20CF-4F45-9185-0BDDD416FFD9}" type="presOf" srcId="{1233D5CD-050A-4ACF-B62B-BCF7A3CD5F3C}" destId="{6257ABAD-8122-4776-B74F-7BFB0D29339F}" srcOrd="1" destOrd="0" presId="urn:microsoft.com/office/officeart/2005/8/layout/venn1"/>
    <dgm:cxn modelId="{0CA0407E-6EDF-485D-BB65-198A8C3211CA}" type="presOf" srcId="{E925E6B8-70B0-4267-B25F-5AEC7743AEB9}" destId="{CE864A37-13B5-4665-ADFD-A8E88B80B235}" srcOrd="1" destOrd="0" presId="urn:microsoft.com/office/officeart/2005/8/layout/venn1"/>
    <dgm:cxn modelId="{70FB49A5-425A-4CEB-843B-2BC634855B00}" type="presOf" srcId="{59557596-4ED7-49C8-BD24-DA36F20934D0}" destId="{F160D6A4-694B-4D4F-BBF0-BC753D1B09E6}" srcOrd="1" destOrd="0" presId="urn:microsoft.com/office/officeart/2005/8/layout/venn1"/>
    <dgm:cxn modelId="{4DAA5BCA-C919-4F01-B202-1D70B68A5DB8}" type="presOf" srcId="{5257DAF0-5FEA-4306-8A11-86C68E3D453E}" destId="{F6CBE81D-DD8A-47B7-9F55-617DB020ECDE}" srcOrd="0" destOrd="0" presId="urn:microsoft.com/office/officeart/2005/8/layout/venn1"/>
    <dgm:cxn modelId="{5BBFBCD3-D7DC-4CF4-9F19-9EB50408C0D0}" srcId="{5257DAF0-5FEA-4306-8A11-86C68E3D453E}" destId="{1233D5CD-050A-4ACF-B62B-BCF7A3CD5F3C}" srcOrd="2" destOrd="0" parTransId="{623814AB-6B89-43A6-A85C-EF5C9B5D3B3C}" sibTransId="{01F46999-B9EE-41B3-AC74-39966FB4CDE0}"/>
    <dgm:cxn modelId="{336DCBF4-5969-4733-B229-B97380C49C38}" type="presOf" srcId="{E925E6B8-70B0-4267-B25F-5AEC7743AEB9}" destId="{272F86AD-6531-4A45-9B4C-FB7A2F4A56E5}" srcOrd="0" destOrd="0" presId="urn:microsoft.com/office/officeart/2005/8/layout/venn1"/>
    <dgm:cxn modelId="{45426DF6-BC73-44FD-B7A6-9D0EBB46509E}" type="presOf" srcId="{1233D5CD-050A-4ACF-B62B-BCF7A3CD5F3C}" destId="{E6DCD3DF-9309-4439-8C36-8B180F8FC979}" srcOrd="0" destOrd="0" presId="urn:microsoft.com/office/officeart/2005/8/layout/venn1"/>
    <dgm:cxn modelId="{F27EC92E-B7E8-4D42-9490-8C58428289DD}" type="presParOf" srcId="{F6CBE81D-DD8A-47B7-9F55-617DB020ECDE}" destId="{272F86AD-6531-4A45-9B4C-FB7A2F4A56E5}" srcOrd="0" destOrd="0" presId="urn:microsoft.com/office/officeart/2005/8/layout/venn1"/>
    <dgm:cxn modelId="{C489BC56-EAFA-4E8E-9052-392D501A1169}" type="presParOf" srcId="{F6CBE81D-DD8A-47B7-9F55-617DB020ECDE}" destId="{CE864A37-13B5-4665-ADFD-A8E88B80B235}" srcOrd="1" destOrd="0" presId="urn:microsoft.com/office/officeart/2005/8/layout/venn1"/>
    <dgm:cxn modelId="{FFEDAA0A-644C-4DE7-BCDD-B1DF81C27BF5}" type="presParOf" srcId="{F6CBE81D-DD8A-47B7-9F55-617DB020ECDE}" destId="{6B9B251B-586A-4808-9EDC-F6186A7B6F15}" srcOrd="2" destOrd="0" presId="urn:microsoft.com/office/officeart/2005/8/layout/venn1"/>
    <dgm:cxn modelId="{54434772-60FF-4572-A476-06622C21A0AD}" type="presParOf" srcId="{F6CBE81D-DD8A-47B7-9F55-617DB020ECDE}" destId="{F160D6A4-694B-4D4F-BBF0-BC753D1B09E6}" srcOrd="3" destOrd="0" presId="urn:microsoft.com/office/officeart/2005/8/layout/venn1"/>
    <dgm:cxn modelId="{C6D52FB0-53E6-461D-8C25-F9DA6BDED9F5}" type="presParOf" srcId="{F6CBE81D-DD8A-47B7-9F55-617DB020ECDE}" destId="{E6DCD3DF-9309-4439-8C36-8B180F8FC979}" srcOrd="4" destOrd="0" presId="urn:microsoft.com/office/officeart/2005/8/layout/venn1"/>
    <dgm:cxn modelId="{51394D03-61C3-4168-A37E-48238038139F}" type="presParOf" srcId="{F6CBE81D-DD8A-47B7-9F55-617DB020ECDE}" destId="{6257ABAD-8122-4776-B74F-7BFB0D29339F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57DAF0-5FEA-4306-8A11-86C68E3D453E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25E6B8-70B0-4267-B25F-5AEC7743AEB9}">
      <dgm:prSet phldrT="[Text]"/>
      <dgm:spPr>
        <a:xfrm>
          <a:off x="2351820" y="78469"/>
          <a:ext cx="3442250" cy="3426734"/>
        </a:xfrm>
        <a:prstGeom prst="ellipse">
          <a:avLst/>
        </a:prstGeom>
        <a:solidFill>
          <a:srgbClr val="CC4757">
            <a:lumMod val="75000"/>
            <a:alpha val="5000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anchor="t"/>
        <a:lstStyle/>
        <a:p>
          <a:endParaRPr lang="en-US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028190EB-2B5F-406B-AAD4-4578FDD0D6B5}" type="parTrans" cxnId="{F5A81637-CFE8-418E-B100-25CDF51C02E2}">
      <dgm:prSet/>
      <dgm:spPr/>
      <dgm:t>
        <a:bodyPr/>
        <a:lstStyle/>
        <a:p>
          <a:endParaRPr lang="en-US"/>
        </a:p>
      </dgm:t>
    </dgm:pt>
    <dgm:pt modelId="{3B466001-F8A1-40C0-9D51-CCA3D654FF57}" type="sibTrans" cxnId="{F5A81637-CFE8-418E-B100-25CDF51C02E2}">
      <dgm:prSet/>
      <dgm:spPr/>
      <dgm:t>
        <a:bodyPr/>
        <a:lstStyle/>
        <a:p>
          <a:endParaRPr lang="en-US"/>
        </a:p>
      </dgm:t>
    </dgm:pt>
    <dgm:pt modelId="{59557596-4ED7-49C8-BD24-DA36F20934D0}">
      <dgm:prSet phldrT="[Text]"/>
      <dgm:spPr>
        <a:xfrm>
          <a:off x="845550" y="1713118"/>
          <a:ext cx="3419884" cy="3431798"/>
        </a:xfrm>
        <a:prstGeom prst="ellipse">
          <a:avLst/>
        </a:prstGeom>
        <a:solidFill>
          <a:srgbClr val="30356E">
            <a:lumMod val="60000"/>
            <a:lumOff val="40000"/>
            <a:alpha val="50000"/>
          </a:srgbClr>
        </a:solidFill>
        <a:ln w="25400" cap="flat" cmpd="sng" algn="ctr">
          <a:solidFill>
            <a:sysClr val="window" lastClr="FFFFFF"/>
          </a:solidFill>
          <a:prstDash val="solid"/>
        </a:ln>
        <a:effectLst/>
      </dgm:spPr>
      <dgm:t>
        <a:bodyPr anchor="b"/>
        <a:lstStyle/>
        <a:p>
          <a:endParaRPr lang="en-US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2B5B97B4-5AE6-4955-94C7-6BE46A67BC01}" type="parTrans" cxnId="{A82B6B06-FEE3-4CD4-8449-1544C6E3A62B}">
      <dgm:prSet/>
      <dgm:spPr/>
      <dgm:t>
        <a:bodyPr/>
        <a:lstStyle/>
        <a:p>
          <a:endParaRPr lang="en-US"/>
        </a:p>
      </dgm:t>
    </dgm:pt>
    <dgm:pt modelId="{05F02268-ECA0-43E8-9CD6-98773F30D76C}" type="sibTrans" cxnId="{A82B6B06-FEE3-4CD4-8449-1544C6E3A62B}">
      <dgm:prSet/>
      <dgm:spPr/>
      <dgm:t>
        <a:bodyPr/>
        <a:lstStyle/>
        <a:p>
          <a:endParaRPr lang="en-US"/>
        </a:p>
      </dgm:t>
    </dgm:pt>
    <dgm:pt modelId="{1233D5CD-050A-4ACF-B62B-BCF7A3CD5F3C}">
      <dgm:prSet phldrT="[Text]"/>
      <dgm:spPr>
        <a:xfrm>
          <a:off x="3704305" y="1904996"/>
          <a:ext cx="3352787" cy="3152501"/>
        </a:xfrm>
        <a:prstGeom prst="ellipse">
          <a:avLst/>
        </a:prstGeom>
        <a:solidFill>
          <a:srgbClr val="78B832">
            <a:alpha val="49804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 anchor="b"/>
        <a:lstStyle/>
        <a:p>
          <a:endParaRPr lang="en-US" b="1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01F46999-B9EE-41B3-AC74-39966FB4CDE0}" type="sibTrans" cxnId="{5BBFBCD3-D7DC-4CF4-9F19-9EB50408C0D0}">
      <dgm:prSet/>
      <dgm:spPr/>
      <dgm:t>
        <a:bodyPr/>
        <a:lstStyle/>
        <a:p>
          <a:endParaRPr lang="en-US"/>
        </a:p>
      </dgm:t>
    </dgm:pt>
    <dgm:pt modelId="{623814AB-6B89-43A6-A85C-EF5C9B5D3B3C}" type="parTrans" cxnId="{5BBFBCD3-D7DC-4CF4-9F19-9EB50408C0D0}">
      <dgm:prSet/>
      <dgm:spPr/>
      <dgm:t>
        <a:bodyPr/>
        <a:lstStyle/>
        <a:p>
          <a:endParaRPr lang="en-US"/>
        </a:p>
      </dgm:t>
    </dgm:pt>
    <dgm:pt modelId="{F6CBE81D-DD8A-47B7-9F55-617DB020ECDE}" type="pres">
      <dgm:prSet presAssocID="{5257DAF0-5FEA-4306-8A11-86C68E3D453E}" presName="compositeShape" presStyleCnt="0">
        <dgm:presLayoutVars>
          <dgm:chMax val="7"/>
          <dgm:dir/>
          <dgm:resizeHandles val="exact"/>
        </dgm:presLayoutVars>
      </dgm:prSet>
      <dgm:spPr/>
    </dgm:pt>
    <dgm:pt modelId="{272F86AD-6531-4A45-9B4C-FB7A2F4A56E5}" type="pres">
      <dgm:prSet presAssocID="{E925E6B8-70B0-4267-B25F-5AEC7743AEB9}" presName="circ1" presStyleLbl="vennNode1" presStyleIdx="0" presStyleCnt="3" custScaleX="106042" custScaleY="105564" custLinFactNeighborX="1934" custLinFactNeighborY="3155"/>
      <dgm:spPr/>
    </dgm:pt>
    <dgm:pt modelId="{CE864A37-13B5-4665-ADFD-A8E88B80B235}" type="pres">
      <dgm:prSet presAssocID="{E925E6B8-70B0-4267-B25F-5AEC7743AEB9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B9B251B-586A-4808-9EDC-F6186A7B6F15}" type="pres">
      <dgm:prSet presAssocID="{59557596-4ED7-49C8-BD24-DA36F20934D0}" presName="circ2" presStyleLbl="vennNode1" presStyleIdx="1" presStyleCnt="3" custScaleX="105353" custScaleY="105720" custLinFactNeighborX="-80896" custLinFactNeighborY="-8910"/>
      <dgm:spPr/>
    </dgm:pt>
    <dgm:pt modelId="{F160D6A4-694B-4D4F-BBF0-BC753D1B09E6}" type="pres">
      <dgm:prSet presAssocID="{59557596-4ED7-49C8-BD24-DA36F20934D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E6DCD3DF-9309-4439-8C36-8B180F8FC979}" type="pres">
      <dgm:prSet presAssocID="{1233D5CD-050A-4ACF-B62B-BCF7A3CD5F3C}" presName="circ3" presStyleLbl="vennNode1" presStyleIdx="2" presStyleCnt="3" custScaleX="103286" custScaleY="97116" custLinFactNeighborX="78304" custLinFactNeighborY="-7301"/>
      <dgm:spPr/>
    </dgm:pt>
    <dgm:pt modelId="{6257ABAD-8122-4776-B74F-7BFB0D29339F}" type="pres">
      <dgm:prSet presAssocID="{1233D5CD-050A-4ACF-B62B-BCF7A3CD5F3C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A82B6B06-FEE3-4CD4-8449-1544C6E3A62B}" srcId="{5257DAF0-5FEA-4306-8A11-86C68E3D453E}" destId="{59557596-4ED7-49C8-BD24-DA36F20934D0}" srcOrd="1" destOrd="0" parTransId="{2B5B97B4-5AE6-4955-94C7-6BE46A67BC01}" sibTransId="{05F02268-ECA0-43E8-9CD6-98773F30D76C}"/>
    <dgm:cxn modelId="{CB7B171F-546C-4829-9E45-B07F5C9E2653}" type="presOf" srcId="{1233D5CD-050A-4ACF-B62B-BCF7A3CD5F3C}" destId="{E6DCD3DF-9309-4439-8C36-8B180F8FC979}" srcOrd="0" destOrd="0" presId="urn:microsoft.com/office/officeart/2005/8/layout/venn1"/>
    <dgm:cxn modelId="{407CA921-60FB-497C-8843-3F1B5D1897A7}" type="presOf" srcId="{E925E6B8-70B0-4267-B25F-5AEC7743AEB9}" destId="{272F86AD-6531-4A45-9B4C-FB7A2F4A56E5}" srcOrd="0" destOrd="0" presId="urn:microsoft.com/office/officeart/2005/8/layout/venn1"/>
    <dgm:cxn modelId="{F5A81637-CFE8-418E-B100-25CDF51C02E2}" srcId="{5257DAF0-5FEA-4306-8A11-86C68E3D453E}" destId="{E925E6B8-70B0-4267-B25F-5AEC7743AEB9}" srcOrd="0" destOrd="0" parTransId="{028190EB-2B5F-406B-AAD4-4578FDD0D6B5}" sibTransId="{3B466001-F8A1-40C0-9D51-CCA3D654FF57}"/>
    <dgm:cxn modelId="{095C294C-788C-45E8-BD32-E0C6D2CC1D52}" type="presOf" srcId="{59557596-4ED7-49C8-BD24-DA36F20934D0}" destId="{F160D6A4-694B-4D4F-BBF0-BC753D1B09E6}" srcOrd="1" destOrd="0" presId="urn:microsoft.com/office/officeart/2005/8/layout/venn1"/>
    <dgm:cxn modelId="{B63F49B9-5709-4901-B3A7-E00872E50CA1}" type="presOf" srcId="{E925E6B8-70B0-4267-B25F-5AEC7743AEB9}" destId="{CE864A37-13B5-4665-ADFD-A8E88B80B235}" srcOrd="1" destOrd="0" presId="urn:microsoft.com/office/officeart/2005/8/layout/venn1"/>
    <dgm:cxn modelId="{90AB35CD-0382-48C2-9CE9-FF645829F3D5}" type="presOf" srcId="{1233D5CD-050A-4ACF-B62B-BCF7A3CD5F3C}" destId="{6257ABAD-8122-4776-B74F-7BFB0D29339F}" srcOrd="1" destOrd="0" presId="urn:microsoft.com/office/officeart/2005/8/layout/venn1"/>
    <dgm:cxn modelId="{5BBFBCD3-D7DC-4CF4-9F19-9EB50408C0D0}" srcId="{5257DAF0-5FEA-4306-8A11-86C68E3D453E}" destId="{1233D5CD-050A-4ACF-B62B-BCF7A3CD5F3C}" srcOrd="2" destOrd="0" parTransId="{623814AB-6B89-43A6-A85C-EF5C9B5D3B3C}" sibTransId="{01F46999-B9EE-41B3-AC74-39966FB4CDE0}"/>
    <dgm:cxn modelId="{92BE5ADA-61E6-4D74-801B-E1314ADAE1FE}" type="presOf" srcId="{59557596-4ED7-49C8-BD24-DA36F20934D0}" destId="{6B9B251B-586A-4808-9EDC-F6186A7B6F15}" srcOrd="0" destOrd="0" presId="urn:microsoft.com/office/officeart/2005/8/layout/venn1"/>
    <dgm:cxn modelId="{3E5881F2-3B66-432D-98DD-CB7128A24BE5}" type="presOf" srcId="{5257DAF0-5FEA-4306-8A11-86C68E3D453E}" destId="{F6CBE81D-DD8A-47B7-9F55-617DB020ECDE}" srcOrd="0" destOrd="0" presId="urn:microsoft.com/office/officeart/2005/8/layout/venn1"/>
    <dgm:cxn modelId="{1BED0CD4-CDD4-4BF9-99C8-6CBC19DF7898}" type="presParOf" srcId="{F6CBE81D-DD8A-47B7-9F55-617DB020ECDE}" destId="{272F86AD-6531-4A45-9B4C-FB7A2F4A56E5}" srcOrd="0" destOrd="0" presId="urn:microsoft.com/office/officeart/2005/8/layout/venn1"/>
    <dgm:cxn modelId="{1C9B4ECE-A4A4-46A8-8FA1-1EF1C8CBB55F}" type="presParOf" srcId="{F6CBE81D-DD8A-47B7-9F55-617DB020ECDE}" destId="{CE864A37-13B5-4665-ADFD-A8E88B80B235}" srcOrd="1" destOrd="0" presId="urn:microsoft.com/office/officeart/2005/8/layout/venn1"/>
    <dgm:cxn modelId="{AA550CCB-3D69-4178-9752-A73B5901DC32}" type="presParOf" srcId="{F6CBE81D-DD8A-47B7-9F55-617DB020ECDE}" destId="{6B9B251B-586A-4808-9EDC-F6186A7B6F15}" srcOrd="2" destOrd="0" presId="urn:microsoft.com/office/officeart/2005/8/layout/venn1"/>
    <dgm:cxn modelId="{78C90AB0-8482-4217-8612-83E4F6567FB7}" type="presParOf" srcId="{F6CBE81D-DD8A-47B7-9F55-617DB020ECDE}" destId="{F160D6A4-694B-4D4F-BBF0-BC753D1B09E6}" srcOrd="3" destOrd="0" presId="urn:microsoft.com/office/officeart/2005/8/layout/venn1"/>
    <dgm:cxn modelId="{A140E3F3-FF7C-40B5-84FF-8B1839CCC649}" type="presParOf" srcId="{F6CBE81D-DD8A-47B7-9F55-617DB020ECDE}" destId="{E6DCD3DF-9309-4439-8C36-8B180F8FC979}" srcOrd="4" destOrd="0" presId="urn:microsoft.com/office/officeart/2005/8/layout/venn1"/>
    <dgm:cxn modelId="{9A70BB7B-4773-432A-BB4A-A0ACB00BA64C}" type="presParOf" srcId="{F6CBE81D-DD8A-47B7-9F55-617DB020ECDE}" destId="{6257ABAD-8122-4776-B74F-7BFB0D29339F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5AFBF8A-289F-45FA-9C3A-9C9904BC2D22}" type="doc">
      <dgm:prSet loTypeId="urn:microsoft.com/office/officeart/2005/8/layout/cycle2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63662D77-2D7A-4DA9-8061-C16521F7EE6D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Collection &amp; création</a:t>
          </a:r>
        </a:p>
      </dgm:t>
    </dgm:pt>
    <dgm:pt modelId="{88E3D82E-58F6-4BD7-B351-F979E8C9F8C1}" type="parTrans" cxnId="{24B38434-D78C-4C19-9531-C112E9DABD51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44F24F55-1CB1-40B1-A210-F6A47CCE580A}" type="sibTrans" cxnId="{24B38434-D78C-4C19-9531-C112E9DABD51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A2C1C447-180E-4FE0-9DAD-1BB080E24935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Classification &amp; traitement</a:t>
          </a:r>
        </a:p>
      </dgm:t>
    </dgm:pt>
    <dgm:pt modelId="{8FA9A683-D6F6-4DDA-BFEF-9625B079DE72}" type="parTrans" cxnId="{C9950A81-57FD-44EB-88FB-E4DE0A845B7D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EF701BEB-FDBD-4F52-AA43-FAEF1241C6D9}" type="sibTrans" cxnId="{C9950A81-57FD-44EB-88FB-E4DE0A845B7D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3EEEE4F0-95EC-4A58-95E4-17D44D39786F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Manipulation, conversion ou modification</a:t>
          </a:r>
        </a:p>
      </dgm:t>
    </dgm:pt>
    <dgm:pt modelId="{3BD6020E-6D8A-48CB-AF95-31D6C7C3B119}" type="parTrans" cxnId="{4146C793-FF70-42DF-9B70-319C573B3C8B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BD0E25A6-DD47-46CA-BF25-C68C21862826}" type="sibTrans" cxnId="{4146C793-FF70-42DF-9B70-319C573B3C8B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8146CBAC-9BFA-4FDA-B288-8EE95D794F28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Analyse &amp; présentation</a:t>
          </a:r>
        </a:p>
      </dgm:t>
    </dgm:pt>
    <dgm:pt modelId="{920B427C-471D-4902-BD8B-2030D32AF65F}" type="parTrans" cxnId="{64BB34DB-7451-40E7-B547-E2FF04B8299F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7A703E83-ECB8-4507-8F4B-4B9A15EEC97E}" type="sibTrans" cxnId="{64BB34DB-7451-40E7-B547-E2FF04B8299F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61B4C8EE-7C88-43DD-A923-5568A4DB61D9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Préservation &amp; stockage</a:t>
          </a:r>
        </a:p>
      </dgm:t>
    </dgm:pt>
    <dgm:pt modelId="{BBBFF5F3-EC30-4A84-8019-E171B80C98F2}" type="parTrans" cxnId="{3A47F754-B8D2-44F3-8458-D25CEC0653F6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C86A8448-628C-4C2D-AC99-2675E6E68630}" type="sibTrans" cxnId="{3A47F754-B8D2-44F3-8458-D25CEC0653F6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8E88C64B-2B5F-474E-94E6-7C03B3840C03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Publication &amp; accès</a:t>
          </a:r>
        </a:p>
      </dgm:t>
    </dgm:pt>
    <dgm:pt modelId="{DA2B81F1-F863-4FEA-BC04-3868F3E68021}" type="parTrans" cxnId="{75EABC3A-BFEA-4649-888B-12AF43A4BC18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F48B9435-1072-4447-97F6-E34A80DEF9C6}" type="sibTrans" cxnId="{75EABC3A-BFEA-4649-888B-12AF43A4BC18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AAAF340E-1564-486E-8384-79BF0C54D0E6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Conservation &amp;</a:t>
          </a:r>
          <a:br>
            <a:rPr lang="fr-FR" sz="1100" b="1" noProof="0" dirty="0">
              <a:latin typeface="PT Serif" panose="020A0603040505020204" pitchFamily="18" charset="0"/>
            </a:rPr>
          </a:br>
          <a:r>
            <a:rPr lang="fr-FR" sz="1100" b="1" noProof="0" dirty="0">
              <a:latin typeface="PT Serif" panose="020A0603040505020204" pitchFamily="18" charset="0"/>
            </a:rPr>
            <a:t>réutilisation</a:t>
          </a:r>
        </a:p>
      </dgm:t>
    </dgm:pt>
    <dgm:pt modelId="{F59ED2A8-C39C-4F3D-BE33-E50CE32C9A4B}" type="parTrans" cxnId="{25E8F92D-5155-4976-961C-C555F5AAE9A7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FB4156C9-D7C8-46AE-B32D-AF31F46A3369}" type="sibTrans" cxnId="{25E8F92D-5155-4976-961C-C555F5AAE9A7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45B046F6-D884-4A51-9550-AD23BDE7B51B}">
      <dgm:prSet phldrT="[Text]" custT="1"/>
      <dgm:spPr/>
      <dgm:t>
        <a:bodyPr/>
        <a:lstStyle/>
        <a:p>
          <a:r>
            <a:rPr lang="fr-FR" sz="1100" b="1" noProof="0" dirty="0">
              <a:latin typeface="PT Serif" panose="020A0603040505020204" pitchFamily="18" charset="0"/>
            </a:rPr>
            <a:t>Archivage ou Effacement</a:t>
          </a:r>
        </a:p>
      </dgm:t>
    </dgm:pt>
    <dgm:pt modelId="{E3B6C2BD-49D3-4B1B-9778-A9FEBF06C7AD}" type="parTrans" cxnId="{68F5C43D-4014-4B8B-B939-D913198BB81E}">
      <dgm:prSet/>
      <dgm:spPr/>
      <dgm:t>
        <a:bodyPr/>
        <a:lstStyle/>
        <a:p>
          <a:endParaRPr lang="en-GB" sz="2400" b="1">
            <a:latin typeface="PT Serif" panose="020A0603040505020204" pitchFamily="18" charset="0"/>
          </a:endParaRPr>
        </a:p>
      </dgm:t>
    </dgm:pt>
    <dgm:pt modelId="{831DB2DE-DF64-4D77-9D5D-33072F52692E}" type="sibTrans" cxnId="{68F5C43D-4014-4B8B-B939-D913198BB81E}">
      <dgm:prSet custT="1"/>
      <dgm:spPr/>
      <dgm:t>
        <a:bodyPr/>
        <a:lstStyle/>
        <a:p>
          <a:endParaRPr lang="fr-FR" sz="800" b="1" noProof="0" dirty="0">
            <a:latin typeface="PT Serif" panose="020A0603040505020204" pitchFamily="18" charset="0"/>
          </a:endParaRPr>
        </a:p>
      </dgm:t>
    </dgm:pt>
    <dgm:pt modelId="{3A6DD83C-35C0-41C6-BB0B-46775A8E8492}" type="pres">
      <dgm:prSet presAssocID="{55AFBF8A-289F-45FA-9C3A-9C9904BC2D22}" presName="cycle" presStyleCnt="0">
        <dgm:presLayoutVars>
          <dgm:dir/>
          <dgm:resizeHandles val="exact"/>
        </dgm:presLayoutVars>
      </dgm:prSet>
      <dgm:spPr/>
    </dgm:pt>
    <dgm:pt modelId="{D4473D12-701B-4D6F-B7F3-E5390B6430F3}" type="pres">
      <dgm:prSet presAssocID="{63662D77-2D7A-4DA9-8061-C16521F7EE6D}" presName="node" presStyleLbl="node1" presStyleIdx="0" presStyleCnt="8" custScaleX="138250" custScaleY="86406">
        <dgm:presLayoutVars>
          <dgm:bulletEnabled val="1"/>
        </dgm:presLayoutVars>
      </dgm:prSet>
      <dgm:spPr/>
    </dgm:pt>
    <dgm:pt modelId="{E77D5904-2ADD-49BB-8A8B-E02E95EEE4EC}" type="pres">
      <dgm:prSet presAssocID="{44F24F55-1CB1-40B1-A210-F6A47CCE580A}" presName="sibTrans" presStyleLbl="sibTrans2D1" presStyleIdx="0" presStyleCnt="8"/>
      <dgm:spPr/>
    </dgm:pt>
    <dgm:pt modelId="{0A838EAD-2DAA-4DA1-9E92-9A4541F31E2F}" type="pres">
      <dgm:prSet presAssocID="{44F24F55-1CB1-40B1-A210-F6A47CCE580A}" presName="connectorText" presStyleLbl="sibTrans2D1" presStyleIdx="0" presStyleCnt="8"/>
      <dgm:spPr/>
    </dgm:pt>
    <dgm:pt modelId="{3CF71FD7-4624-4D96-A9A9-C2C65C97F992}" type="pres">
      <dgm:prSet presAssocID="{A2C1C447-180E-4FE0-9DAD-1BB080E24935}" presName="node" presStyleLbl="node1" presStyleIdx="1" presStyleCnt="8" custScaleX="138250" custScaleY="86406">
        <dgm:presLayoutVars>
          <dgm:bulletEnabled val="1"/>
        </dgm:presLayoutVars>
      </dgm:prSet>
      <dgm:spPr/>
    </dgm:pt>
    <dgm:pt modelId="{5445EE97-F540-4E1E-BAAC-22E7EC032E88}" type="pres">
      <dgm:prSet presAssocID="{EF701BEB-FDBD-4F52-AA43-FAEF1241C6D9}" presName="sibTrans" presStyleLbl="sibTrans2D1" presStyleIdx="1" presStyleCnt="8"/>
      <dgm:spPr/>
    </dgm:pt>
    <dgm:pt modelId="{4EC6AF53-756A-4300-BAE3-7B2D9B1DCDC2}" type="pres">
      <dgm:prSet presAssocID="{EF701BEB-FDBD-4F52-AA43-FAEF1241C6D9}" presName="connectorText" presStyleLbl="sibTrans2D1" presStyleIdx="1" presStyleCnt="8"/>
      <dgm:spPr/>
    </dgm:pt>
    <dgm:pt modelId="{8A8DA8DF-BDC2-4274-9C14-308D30C5418A}" type="pres">
      <dgm:prSet presAssocID="{3EEEE4F0-95EC-4A58-95E4-17D44D39786F}" presName="node" presStyleLbl="node1" presStyleIdx="2" presStyleCnt="8" custScaleX="138250" custScaleY="86406">
        <dgm:presLayoutVars>
          <dgm:bulletEnabled val="1"/>
        </dgm:presLayoutVars>
      </dgm:prSet>
      <dgm:spPr/>
    </dgm:pt>
    <dgm:pt modelId="{F0679691-16D9-4423-9B5A-9B43DEDA5CFB}" type="pres">
      <dgm:prSet presAssocID="{BD0E25A6-DD47-46CA-BF25-C68C21862826}" presName="sibTrans" presStyleLbl="sibTrans2D1" presStyleIdx="2" presStyleCnt="8"/>
      <dgm:spPr/>
    </dgm:pt>
    <dgm:pt modelId="{97DC9D75-FDDC-486B-BB06-97D477CD4C34}" type="pres">
      <dgm:prSet presAssocID="{BD0E25A6-DD47-46CA-BF25-C68C21862826}" presName="connectorText" presStyleLbl="sibTrans2D1" presStyleIdx="2" presStyleCnt="8"/>
      <dgm:spPr/>
    </dgm:pt>
    <dgm:pt modelId="{68E2BB20-5F81-4127-A06A-C5F82130117D}" type="pres">
      <dgm:prSet presAssocID="{8146CBAC-9BFA-4FDA-B288-8EE95D794F28}" presName="node" presStyleLbl="node1" presStyleIdx="3" presStyleCnt="8" custScaleX="138250" custScaleY="86406">
        <dgm:presLayoutVars>
          <dgm:bulletEnabled val="1"/>
        </dgm:presLayoutVars>
      </dgm:prSet>
      <dgm:spPr/>
    </dgm:pt>
    <dgm:pt modelId="{E7C425B6-3108-430E-AD58-A76963618CB4}" type="pres">
      <dgm:prSet presAssocID="{7A703E83-ECB8-4507-8F4B-4B9A15EEC97E}" presName="sibTrans" presStyleLbl="sibTrans2D1" presStyleIdx="3" presStyleCnt="8"/>
      <dgm:spPr/>
    </dgm:pt>
    <dgm:pt modelId="{2A561512-23ED-4674-BB5B-73C3FB57C99E}" type="pres">
      <dgm:prSet presAssocID="{7A703E83-ECB8-4507-8F4B-4B9A15EEC97E}" presName="connectorText" presStyleLbl="sibTrans2D1" presStyleIdx="3" presStyleCnt="8"/>
      <dgm:spPr/>
    </dgm:pt>
    <dgm:pt modelId="{A34D2FCB-0F9B-43B7-86A9-12C6E2B49A45}" type="pres">
      <dgm:prSet presAssocID="{61B4C8EE-7C88-43DD-A923-5568A4DB61D9}" presName="node" presStyleLbl="node1" presStyleIdx="4" presStyleCnt="8" custScaleX="138250" custScaleY="86406">
        <dgm:presLayoutVars>
          <dgm:bulletEnabled val="1"/>
        </dgm:presLayoutVars>
      </dgm:prSet>
      <dgm:spPr/>
    </dgm:pt>
    <dgm:pt modelId="{01F08BD6-7551-4A54-A788-3ADB669C6C7F}" type="pres">
      <dgm:prSet presAssocID="{C86A8448-628C-4C2D-AC99-2675E6E68630}" presName="sibTrans" presStyleLbl="sibTrans2D1" presStyleIdx="4" presStyleCnt="8"/>
      <dgm:spPr/>
    </dgm:pt>
    <dgm:pt modelId="{9A9BE2E4-99E3-4B76-89FE-5B405C84B89A}" type="pres">
      <dgm:prSet presAssocID="{C86A8448-628C-4C2D-AC99-2675E6E68630}" presName="connectorText" presStyleLbl="sibTrans2D1" presStyleIdx="4" presStyleCnt="8"/>
      <dgm:spPr/>
    </dgm:pt>
    <dgm:pt modelId="{CD4F82AC-D5BC-407C-A52A-7212B1B2140A}" type="pres">
      <dgm:prSet presAssocID="{8E88C64B-2B5F-474E-94E6-7C03B3840C03}" presName="node" presStyleLbl="node1" presStyleIdx="5" presStyleCnt="8" custScaleX="138250" custScaleY="86406">
        <dgm:presLayoutVars>
          <dgm:bulletEnabled val="1"/>
        </dgm:presLayoutVars>
      </dgm:prSet>
      <dgm:spPr/>
    </dgm:pt>
    <dgm:pt modelId="{3DF731AD-299F-4423-A28B-01DA6A8DB8D4}" type="pres">
      <dgm:prSet presAssocID="{F48B9435-1072-4447-97F6-E34A80DEF9C6}" presName="sibTrans" presStyleLbl="sibTrans2D1" presStyleIdx="5" presStyleCnt="8"/>
      <dgm:spPr/>
    </dgm:pt>
    <dgm:pt modelId="{56BF416D-A086-4C3D-B6F9-76780BB254F8}" type="pres">
      <dgm:prSet presAssocID="{F48B9435-1072-4447-97F6-E34A80DEF9C6}" presName="connectorText" presStyleLbl="sibTrans2D1" presStyleIdx="5" presStyleCnt="8"/>
      <dgm:spPr/>
    </dgm:pt>
    <dgm:pt modelId="{626738A7-9E00-4FD6-881C-F2BDA38A738F}" type="pres">
      <dgm:prSet presAssocID="{AAAF340E-1564-486E-8384-79BF0C54D0E6}" presName="node" presStyleLbl="node1" presStyleIdx="6" presStyleCnt="8" custScaleX="138250" custScaleY="86406">
        <dgm:presLayoutVars>
          <dgm:bulletEnabled val="1"/>
        </dgm:presLayoutVars>
      </dgm:prSet>
      <dgm:spPr/>
    </dgm:pt>
    <dgm:pt modelId="{FE1C798B-58E5-460E-AE15-E1114CC937F5}" type="pres">
      <dgm:prSet presAssocID="{FB4156C9-D7C8-46AE-B32D-AF31F46A3369}" presName="sibTrans" presStyleLbl="sibTrans2D1" presStyleIdx="6" presStyleCnt="8"/>
      <dgm:spPr/>
    </dgm:pt>
    <dgm:pt modelId="{AC6573F8-DDE8-4E01-8661-270C52D22668}" type="pres">
      <dgm:prSet presAssocID="{FB4156C9-D7C8-46AE-B32D-AF31F46A3369}" presName="connectorText" presStyleLbl="sibTrans2D1" presStyleIdx="6" presStyleCnt="8"/>
      <dgm:spPr/>
    </dgm:pt>
    <dgm:pt modelId="{A5D0D481-9254-473D-A901-2EEAE9FF6D00}" type="pres">
      <dgm:prSet presAssocID="{45B046F6-D884-4A51-9550-AD23BDE7B51B}" presName="node" presStyleLbl="node1" presStyleIdx="7" presStyleCnt="8" custScaleX="138250" custScaleY="86406">
        <dgm:presLayoutVars>
          <dgm:bulletEnabled val="1"/>
        </dgm:presLayoutVars>
      </dgm:prSet>
      <dgm:spPr/>
    </dgm:pt>
    <dgm:pt modelId="{84E0E61D-DCE1-44B0-B380-652934B7BF2E}" type="pres">
      <dgm:prSet presAssocID="{831DB2DE-DF64-4D77-9D5D-33072F52692E}" presName="sibTrans" presStyleLbl="sibTrans2D1" presStyleIdx="7" presStyleCnt="8"/>
      <dgm:spPr/>
    </dgm:pt>
    <dgm:pt modelId="{E3F752A2-A0D8-4340-966A-3C4EDBFCA36A}" type="pres">
      <dgm:prSet presAssocID="{831DB2DE-DF64-4D77-9D5D-33072F52692E}" presName="connectorText" presStyleLbl="sibTrans2D1" presStyleIdx="7" presStyleCnt="8"/>
      <dgm:spPr/>
    </dgm:pt>
  </dgm:ptLst>
  <dgm:cxnLst>
    <dgm:cxn modelId="{C2EDB506-A309-4C20-8BF5-0FDFC9F9B6AF}" type="presOf" srcId="{FB4156C9-D7C8-46AE-B32D-AF31F46A3369}" destId="{AC6573F8-DDE8-4E01-8661-270C52D22668}" srcOrd="1" destOrd="0" presId="urn:microsoft.com/office/officeart/2005/8/layout/cycle2"/>
    <dgm:cxn modelId="{0AD25212-DB02-4335-93F3-E7C84569E988}" type="presOf" srcId="{C86A8448-628C-4C2D-AC99-2675E6E68630}" destId="{01F08BD6-7551-4A54-A788-3ADB669C6C7F}" srcOrd="0" destOrd="0" presId="urn:microsoft.com/office/officeart/2005/8/layout/cycle2"/>
    <dgm:cxn modelId="{3E91091E-35FE-45FF-871B-A883FCD620F0}" type="presOf" srcId="{BD0E25A6-DD47-46CA-BF25-C68C21862826}" destId="{F0679691-16D9-4423-9B5A-9B43DEDA5CFB}" srcOrd="0" destOrd="0" presId="urn:microsoft.com/office/officeart/2005/8/layout/cycle2"/>
    <dgm:cxn modelId="{25E8F92D-5155-4976-961C-C555F5AAE9A7}" srcId="{55AFBF8A-289F-45FA-9C3A-9C9904BC2D22}" destId="{AAAF340E-1564-486E-8384-79BF0C54D0E6}" srcOrd="6" destOrd="0" parTransId="{F59ED2A8-C39C-4F3D-BE33-E50CE32C9A4B}" sibTransId="{FB4156C9-D7C8-46AE-B32D-AF31F46A3369}"/>
    <dgm:cxn modelId="{FA6F832F-F59D-4B92-B5E7-795EBB49AF2C}" type="presOf" srcId="{C86A8448-628C-4C2D-AC99-2675E6E68630}" destId="{9A9BE2E4-99E3-4B76-89FE-5B405C84B89A}" srcOrd="1" destOrd="0" presId="urn:microsoft.com/office/officeart/2005/8/layout/cycle2"/>
    <dgm:cxn modelId="{9476AF31-E437-4ACB-8972-E646D4F5E4F6}" type="presOf" srcId="{F48B9435-1072-4447-97F6-E34A80DEF9C6}" destId="{56BF416D-A086-4C3D-B6F9-76780BB254F8}" srcOrd="1" destOrd="0" presId="urn:microsoft.com/office/officeart/2005/8/layout/cycle2"/>
    <dgm:cxn modelId="{24B38434-D78C-4C19-9531-C112E9DABD51}" srcId="{55AFBF8A-289F-45FA-9C3A-9C9904BC2D22}" destId="{63662D77-2D7A-4DA9-8061-C16521F7EE6D}" srcOrd="0" destOrd="0" parTransId="{88E3D82E-58F6-4BD7-B351-F979E8C9F8C1}" sibTransId="{44F24F55-1CB1-40B1-A210-F6A47CCE580A}"/>
    <dgm:cxn modelId="{10991635-E104-4C2B-B5E6-0061CB7FDFF6}" type="presOf" srcId="{EF701BEB-FDBD-4F52-AA43-FAEF1241C6D9}" destId="{5445EE97-F540-4E1E-BAAC-22E7EC032E88}" srcOrd="0" destOrd="0" presId="urn:microsoft.com/office/officeart/2005/8/layout/cycle2"/>
    <dgm:cxn modelId="{75EABC3A-BFEA-4649-888B-12AF43A4BC18}" srcId="{55AFBF8A-289F-45FA-9C3A-9C9904BC2D22}" destId="{8E88C64B-2B5F-474E-94E6-7C03B3840C03}" srcOrd="5" destOrd="0" parTransId="{DA2B81F1-F863-4FEA-BC04-3868F3E68021}" sibTransId="{F48B9435-1072-4447-97F6-E34A80DEF9C6}"/>
    <dgm:cxn modelId="{68F5C43D-4014-4B8B-B939-D913198BB81E}" srcId="{55AFBF8A-289F-45FA-9C3A-9C9904BC2D22}" destId="{45B046F6-D884-4A51-9550-AD23BDE7B51B}" srcOrd="7" destOrd="0" parTransId="{E3B6C2BD-49D3-4B1B-9778-A9FEBF06C7AD}" sibTransId="{831DB2DE-DF64-4D77-9D5D-33072F52692E}"/>
    <dgm:cxn modelId="{3441F95C-0CD5-4BD0-9388-7634CC84BBB6}" type="presOf" srcId="{BD0E25A6-DD47-46CA-BF25-C68C21862826}" destId="{97DC9D75-FDDC-486B-BB06-97D477CD4C34}" srcOrd="1" destOrd="0" presId="urn:microsoft.com/office/officeart/2005/8/layout/cycle2"/>
    <dgm:cxn modelId="{B4003446-CB3C-4FAB-ACC0-A61EBE464767}" type="presOf" srcId="{3EEEE4F0-95EC-4A58-95E4-17D44D39786F}" destId="{8A8DA8DF-BDC2-4274-9C14-308D30C5418A}" srcOrd="0" destOrd="0" presId="urn:microsoft.com/office/officeart/2005/8/layout/cycle2"/>
    <dgm:cxn modelId="{31DBC04B-BB69-4040-BDB1-A964DFFD5DCD}" type="presOf" srcId="{EF701BEB-FDBD-4F52-AA43-FAEF1241C6D9}" destId="{4EC6AF53-756A-4300-BAE3-7B2D9B1DCDC2}" srcOrd="1" destOrd="0" presId="urn:microsoft.com/office/officeart/2005/8/layout/cycle2"/>
    <dgm:cxn modelId="{8CE6464F-533C-44A3-8FC3-09C14605F022}" type="presOf" srcId="{FB4156C9-D7C8-46AE-B32D-AF31F46A3369}" destId="{FE1C798B-58E5-460E-AE15-E1114CC937F5}" srcOrd="0" destOrd="0" presId="urn:microsoft.com/office/officeart/2005/8/layout/cycle2"/>
    <dgm:cxn modelId="{D3568950-C95D-4DF8-B78F-BDDEFF68D9BF}" type="presOf" srcId="{44F24F55-1CB1-40B1-A210-F6A47CCE580A}" destId="{E77D5904-2ADD-49BB-8A8B-E02E95EEE4EC}" srcOrd="0" destOrd="0" presId="urn:microsoft.com/office/officeart/2005/8/layout/cycle2"/>
    <dgm:cxn modelId="{AC88D571-2EE0-4C9B-8E20-81BAD9454E7E}" type="presOf" srcId="{831DB2DE-DF64-4D77-9D5D-33072F52692E}" destId="{E3F752A2-A0D8-4340-966A-3C4EDBFCA36A}" srcOrd="1" destOrd="0" presId="urn:microsoft.com/office/officeart/2005/8/layout/cycle2"/>
    <dgm:cxn modelId="{3A47F754-B8D2-44F3-8458-D25CEC0653F6}" srcId="{55AFBF8A-289F-45FA-9C3A-9C9904BC2D22}" destId="{61B4C8EE-7C88-43DD-A923-5568A4DB61D9}" srcOrd="4" destOrd="0" parTransId="{BBBFF5F3-EC30-4A84-8019-E171B80C98F2}" sibTransId="{C86A8448-628C-4C2D-AC99-2675E6E68630}"/>
    <dgm:cxn modelId="{11E0F159-D64A-46E5-90A2-B6C4AB0C3E03}" type="presOf" srcId="{63662D77-2D7A-4DA9-8061-C16521F7EE6D}" destId="{D4473D12-701B-4D6F-B7F3-E5390B6430F3}" srcOrd="0" destOrd="0" presId="urn:microsoft.com/office/officeart/2005/8/layout/cycle2"/>
    <dgm:cxn modelId="{C9950A81-57FD-44EB-88FB-E4DE0A845B7D}" srcId="{55AFBF8A-289F-45FA-9C3A-9C9904BC2D22}" destId="{A2C1C447-180E-4FE0-9DAD-1BB080E24935}" srcOrd="1" destOrd="0" parTransId="{8FA9A683-D6F6-4DDA-BFEF-9625B079DE72}" sibTransId="{EF701BEB-FDBD-4F52-AA43-FAEF1241C6D9}"/>
    <dgm:cxn modelId="{20C5D285-3DD3-4CFE-AC88-22C71EC59369}" type="presOf" srcId="{45B046F6-D884-4A51-9550-AD23BDE7B51B}" destId="{A5D0D481-9254-473D-A901-2EEAE9FF6D00}" srcOrd="0" destOrd="0" presId="urn:microsoft.com/office/officeart/2005/8/layout/cycle2"/>
    <dgm:cxn modelId="{46782C8B-0DCC-4BA9-8D0C-ECE0F8608F35}" type="presOf" srcId="{A2C1C447-180E-4FE0-9DAD-1BB080E24935}" destId="{3CF71FD7-4624-4D96-A9A9-C2C65C97F992}" srcOrd="0" destOrd="0" presId="urn:microsoft.com/office/officeart/2005/8/layout/cycle2"/>
    <dgm:cxn modelId="{17B0AC8B-7BDB-4566-A914-1EA9911EC518}" type="presOf" srcId="{AAAF340E-1564-486E-8384-79BF0C54D0E6}" destId="{626738A7-9E00-4FD6-881C-F2BDA38A738F}" srcOrd="0" destOrd="0" presId="urn:microsoft.com/office/officeart/2005/8/layout/cycle2"/>
    <dgm:cxn modelId="{4146C793-FF70-42DF-9B70-319C573B3C8B}" srcId="{55AFBF8A-289F-45FA-9C3A-9C9904BC2D22}" destId="{3EEEE4F0-95EC-4A58-95E4-17D44D39786F}" srcOrd="2" destOrd="0" parTransId="{3BD6020E-6D8A-48CB-AF95-31D6C7C3B119}" sibTransId="{BD0E25A6-DD47-46CA-BF25-C68C21862826}"/>
    <dgm:cxn modelId="{210E2394-A9A2-435F-8C36-7CD7E212108D}" type="presOf" srcId="{55AFBF8A-289F-45FA-9C3A-9C9904BC2D22}" destId="{3A6DD83C-35C0-41C6-BB0B-46775A8E8492}" srcOrd="0" destOrd="0" presId="urn:microsoft.com/office/officeart/2005/8/layout/cycle2"/>
    <dgm:cxn modelId="{21E0B5AD-B196-4795-9A4A-EB2DFDBCE258}" type="presOf" srcId="{61B4C8EE-7C88-43DD-A923-5568A4DB61D9}" destId="{A34D2FCB-0F9B-43B7-86A9-12C6E2B49A45}" srcOrd="0" destOrd="0" presId="urn:microsoft.com/office/officeart/2005/8/layout/cycle2"/>
    <dgm:cxn modelId="{8FD2BBB2-DFA5-4856-9D63-29086C718237}" type="presOf" srcId="{F48B9435-1072-4447-97F6-E34A80DEF9C6}" destId="{3DF731AD-299F-4423-A28B-01DA6A8DB8D4}" srcOrd="0" destOrd="0" presId="urn:microsoft.com/office/officeart/2005/8/layout/cycle2"/>
    <dgm:cxn modelId="{BC9FDABD-D58B-41F8-889E-CFE241B716B9}" type="presOf" srcId="{831DB2DE-DF64-4D77-9D5D-33072F52692E}" destId="{84E0E61D-DCE1-44B0-B380-652934B7BF2E}" srcOrd="0" destOrd="0" presId="urn:microsoft.com/office/officeart/2005/8/layout/cycle2"/>
    <dgm:cxn modelId="{2B0468C3-ABC1-4FB0-B7D9-73820FA78859}" type="presOf" srcId="{8146CBAC-9BFA-4FDA-B288-8EE95D794F28}" destId="{68E2BB20-5F81-4127-A06A-C5F82130117D}" srcOrd="0" destOrd="0" presId="urn:microsoft.com/office/officeart/2005/8/layout/cycle2"/>
    <dgm:cxn modelId="{64BB34DB-7451-40E7-B547-E2FF04B8299F}" srcId="{55AFBF8A-289F-45FA-9C3A-9C9904BC2D22}" destId="{8146CBAC-9BFA-4FDA-B288-8EE95D794F28}" srcOrd="3" destOrd="0" parTransId="{920B427C-471D-4902-BD8B-2030D32AF65F}" sibTransId="{7A703E83-ECB8-4507-8F4B-4B9A15EEC97E}"/>
    <dgm:cxn modelId="{51B735E7-0127-4ABF-B585-EE8ECF1E49CE}" type="presOf" srcId="{7A703E83-ECB8-4507-8F4B-4B9A15EEC97E}" destId="{E7C425B6-3108-430E-AD58-A76963618CB4}" srcOrd="0" destOrd="0" presId="urn:microsoft.com/office/officeart/2005/8/layout/cycle2"/>
    <dgm:cxn modelId="{77CAE6E9-A4A3-45E3-93CE-6A3EC12E06BC}" type="presOf" srcId="{7A703E83-ECB8-4507-8F4B-4B9A15EEC97E}" destId="{2A561512-23ED-4674-BB5B-73C3FB57C99E}" srcOrd="1" destOrd="0" presId="urn:microsoft.com/office/officeart/2005/8/layout/cycle2"/>
    <dgm:cxn modelId="{D10F0FF2-C7A1-4164-A24D-3C311AA92723}" type="presOf" srcId="{44F24F55-1CB1-40B1-A210-F6A47CCE580A}" destId="{0A838EAD-2DAA-4DA1-9E92-9A4541F31E2F}" srcOrd="1" destOrd="0" presId="urn:microsoft.com/office/officeart/2005/8/layout/cycle2"/>
    <dgm:cxn modelId="{2DAB11F6-9F5A-42F1-B34A-1F676C684E56}" type="presOf" srcId="{8E88C64B-2B5F-474E-94E6-7C03B3840C03}" destId="{CD4F82AC-D5BC-407C-A52A-7212B1B2140A}" srcOrd="0" destOrd="0" presId="urn:microsoft.com/office/officeart/2005/8/layout/cycle2"/>
    <dgm:cxn modelId="{3D66BABC-3501-4DD7-A8BC-226827D866D8}" type="presParOf" srcId="{3A6DD83C-35C0-41C6-BB0B-46775A8E8492}" destId="{D4473D12-701B-4D6F-B7F3-E5390B6430F3}" srcOrd="0" destOrd="0" presId="urn:microsoft.com/office/officeart/2005/8/layout/cycle2"/>
    <dgm:cxn modelId="{F6B9CE99-9535-4A13-89B6-91AE5EC37110}" type="presParOf" srcId="{3A6DD83C-35C0-41C6-BB0B-46775A8E8492}" destId="{E77D5904-2ADD-49BB-8A8B-E02E95EEE4EC}" srcOrd="1" destOrd="0" presId="urn:microsoft.com/office/officeart/2005/8/layout/cycle2"/>
    <dgm:cxn modelId="{3C675922-33A0-443B-BA09-7B1D812B8ABF}" type="presParOf" srcId="{E77D5904-2ADD-49BB-8A8B-E02E95EEE4EC}" destId="{0A838EAD-2DAA-4DA1-9E92-9A4541F31E2F}" srcOrd="0" destOrd="0" presId="urn:microsoft.com/office/officeart/2005/8/layout/cycle2"/>
    <dgm:cxn modelId="{749A64E5-3092-4ECC-AABE-092ED1CEFD19}" type="presParOf" srcId="{3A6DD83C-35C0-41C6-BB0B-46775A8E8492}" destId="{3CF71FD7-4624-4D96-A9A9-C2C65C97F992}" srcOrd="2" destOrd="0" presId="urn:microsoft.com/office/officeart/2005/8/layout/cycle2"/>
    <dgm:cxn modelId="{6A4AAB14-3E97-4959-BFF9-E2F7366D7182}" type="presParOf" srcId="{3A6DD83C-35C0-41C6-BB0B-46775A8E8492}" destId="{5445EE97-F540-4E1E-BAAC-22E7EC032E88}" srcOrd="3" destOrd="0" presId="urn:microsoft.com/office/officeart/2005/8/layout/cycle2"/>
    <dgm:cxn modelId="{C4611759-E382-4E2D-A652-2FCA88CBBDD8}" type="presParOf" srcId="{5445EE97-F540-4E1E-BAAC-22E7EC032E88}" destId="{4EC6AF53-756A-4300-BAE3-7B2D9B1DCDC2}" srcOrd="0" destOrd="0" presId="urn:microsoft.com/office/officeart/2005/8/layout/cycle2"/>
    <dgm:cxn modelId="{702B0142-29B1-49EC-A287-71F42C480EAD}" type="presParOf" srcId="{3A6DD83C-35C0-41C6-BB0B-46775A8E8492}" destId="{8A8DA8DF-BDC2-4274-9C14-308D30C5418A}" srcOrd="4" destOrd="0" presId="urn:microsoft.com/office/officeart/2005/8/layout/cycle2"/>
    <dgm:cxn modelId="{91DE4A94-A262-4277-94B1-F0713A4AFF57}" type="presParOf" srcId="{3A6DD83C-35C0-41C6-BB0B-46775A8E8492}" destId="{F0679691-16D9-4423-9B5A-9B43DEDA5CFB}" srcOrd="5" destOrd="0" presId="urn:microsoft.com/office/officeart/2005/8/layout/cycle2"/>
    <dgm:cxn modelId="{6CA0A314-CADF-4CF8-95DB-31C9533608E6}" type="presParOf" srcId="{F0679691-16D9-4423-9B5A-9B43DEDA5CFB}" destId="{97DC9D75-FDDC-486B-BB06-97D477CD4C34}" srcOrd="0" destOrd="0" presId="urn:microsoft.com/office/officeart/2005/8/layout/cycle2"/>
    <dgm:cxn modelId="{E91DCC59-FF5D-4BA2-BB3C-40B9958E7549}" type="presParOf" srcId="{3A6DD83C-35C0-41C6-BB0B-46775A8E8492}" destId="{68E2BB20-5F81-4127-A06A-C5F82130117D}" srcOrd="6" destOrd="0" presId="urn:microsoft.com/office/officeart/2005/8/layout/cycle2"/>
    <dgm:cxn modelId="{F013EE55-4595-4F9C-B3CA-417DF8603E43}" type="presParOf" srcId="{3A6DD83C-35C0-41C6-BB0B-46775A8E8492}" destId="{E7C425B6-3108-430E-AD58-A76963618CB4}" srcOrd="7" destOrd="0" presId="urn:microsoft.com/office/officeart/2005/8/layout/cycle2"/>
    <dgm:cxn modelId="{2F70C10B-8B96-4FD9-BBC9-6118108AE5A5}" type="presParOf" srcId="{E7C425B6-3108-430E-AD58-A76963618CB4}" destId="{2A561512-23ED-4674-BB5B-73C3FB57C99E}" srcOrd="0" destOrd="0" presId="urn:microsoft.com/office/officeart/2005/8/layout/cycle2"/>
    <dgm:cxn modelId="{197A2F4D-1F52-492B-9236-49CE85BD19E1}" type="presParOf" srcId="{3A6DD83C-35C0-41C6-BB0B-46775A8E8492}" destId="{A34D2FCB-0F9B-43B7-86A9-12C6E2B49A45}" srcOrd="8" destOrd="0" presId="urn:microsoft.com/office/officeart/2005/8/layout/cycle2"/>
    <dgm:cxn modelId="{2D477F1C-4E12-4CAF-AC7B-D8DFF81C7F27}" type="presParOf" srcId="{3A6DD83C-35C0-41C6-BB0B-46775A8E8492}" destId="{01F08BD6-7551-4A54-A788-3ADB669C6C7F}" srcOrd="9" destOrd="0" presId="urn:microsoft.com/office/officeart/2005/8/layout/cycle2"/>
    <dgm:cxn modelId="{08B80D22-0F1D-4968-9965-D02D7FE7D75F}" type="presParOf" srcId="{01F08BD6-7551-4A54-A788-3ADB669C6C7F}" destId="{9A9BE2E4-99E3-4B76-89FE-5B405C84B89A}" srcOrd="0" destOrd="0" presId="urn:microsoft.com/office/officeart/2005/8/layout/cycle2"/>
    <dgm:cxn modelId="{FE4D1CD1-97E0-4111-B5A2-4000FF0740CD}" type="presParOf" srcId="{3A6DD83C-35C0-41C6-BB0B-46775A8E8492}" destId="{CD4F82AC-D5BC-407C-A52A-7212B1B2140A}" srcOrd="10" destOrd="0" presId="urn:microsoft.com/office/officeart/2005/8/layout/cycle2"/>
    <dgm:cxn modelId="{24A7D356-1BF4-426E-97E2-9EB6C33664A0}" type="presParOf" srcId="{3A6DD83C-35C0-41C6-BB0B-46775A8E8492}" destId="{3DF731AD-299F-4423-A28B-01DA6A8DB8D4}" srcOrd="11" destOrd="0" presId="urn:microsoft.com/office/officeart/2005/8/layout/cycle2"/>
    <dgm:cxn modelId="{A066E324-FC75-4389-9A43-D85592A608CA}" type="presParOf" srcId="{3DF731AD-299F-4423-A28B-01DA6A8DB8D4}" destId="{56BF416D-A086-4C3D-B6F9-76780BB254F8}" srcOrd="0" destOrd="0" presId="urn:microsoft.com/office/officeart/2005/8/layout/cycle2"/>
    <dgm:cxn modelId="{07AFCDDE-649E-498B-B4BA-C696921CCB25}" type="presParOf" srcId="{3A6DD83C-35C0-41C6-BB0B-46775A8E8492}" destId="{626738A7-9E00-4FD6-881C-F2BDA38A738F}" srcOrd="12" destOrd="0" presId="urn:microsoft.com/office/officeart/2005/8/layout/cycle2"/>
    <dgm:cxn modelId="{A2F67D32-CB17-4E9C-9A32-D7B5D52AFC45}" type="presParOf" srcId="{3A6DD83C-35C0-41C6-BB0B-46775A8E8492}" destId="{FE1C798B-58E5-460E-AE15-E1114CC937F5}" srcOrd="13" destOrd="0" presId="urn:microsoft.com/office/officeart/2005/8/layout/cycle2"/>
    <dgm:cxn modelId="{D5B2BFE0-EF31-48E8-8755-E0A0D0BCC115}" type="presParOf" srcId="{FE1C798B-58E5-460E-AE15-E1114CC937F5}" destId="{AC6573F8-DDE8-4E01-8661-270C52D22668}" srcOrd="0" destOrd="0" presId="urn:microsoft.com/office/officeart/2005/8/layout/cycle2"/>
    <dgm:cxn modelId="{C2A74EE6-3687-4233-BDA2-F66615B53415}" type="presParOf" srcId="{3A6DD83C-35C0-41C6-BB0B-46775A8E8492}" destId="{A5D0D481-9254-473D-A901-2EEAE9FF6D00}" srcOrd="14" destOrd="0" presId="urn:microsoft.com/office/officeart/2005/8/layout/cycle2"/>
    <dgm:cxn modelId="{E797BF5E-5433-44D7-B438-BA37207FA82D}" type="presParOf" srcId="{3A6DD83C-35C0-41C6-BB0B-46775A8E8492}" destId="{84E0E61D-DCE1-44B0-B380-652934B7BF2E}" srcOrd="15" destOrd="0" presId="urn:microsoft.com/office/officeart/2005/8/layout/cycle2"/>
    <dgm:cxn modelId="{3E77F2BF-F51B-4053-AC61-6451AC6E0D4F}" type="presParOf" srcId="{84E0E61D-DCE1-44B0-B380-652934B7BF2E}" destId="{E3F752A2-A0D8-4340-966A-3C4EDBFCA36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F86AD-6531-4A45-9B4C-FB7A2F4A56E5}">
      <dsp:nvSpPr>
        <dsp:cNvPr id="0" name=""/>
        <dsp:cNvSpPr/>
      </dsp:nvSpPr>
      <dsp:spPr>
        <a:xfrm>
          <a:off x="2330477" y="73888"/>
          <a:ext cx="3241298" cy="3226688"/>
        </a:xfrm>
        <a:prstGeom prst="ellipse">
          <a:avLst/>
        </a:prstGeom>
        <a:solidFill>
          <a:srgbClr val="CC4757">
            <a:lumMod val="75000"/>
            <a:alpha val="5000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3110747" y="851201"/>
        <a:ext cx="1680758" cy="1026725"/>
      </dsp:txXfrm>
    </dsp:sp>
    <dsp:sp modelId="{6B9B251B-586A-4808-9EDC-F6186A7B6F15}">
      <dsp:nvSpPr>
        <dsp:cNvPr id="0" name=""/>
        <dsp:cNvSpPr/>
      </dsp:nvSpPr>
      <dsp:spPr>
        <a:xfrm>
          <a:off x="912140" y="1613109"/>
          <a:ext cx="3220238" cy="3231456"/>
        </a:xfrm>
        <a:prstGeom prst="ellipse">
          <a:avLst/>
        </a:prstGeom>
        <a:solidFill>
          <a:srgbClr val="30356E">
            <a:lumMod val="60000"/>
            <a:lumOff val="40000"/>
            <a:alpha val="50000"/>
          </a:srgbClr>
        </a:solidFill>
        <a:ln w="25400" cap="flat" cmpd="sng" algn="ctr">
          <a:solidFill>
            <a:sysClr val="window" lastClr="FFFF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2179952" y="2708182"/>
        <a:ext cx="1366231" cy="1256740"/>
      </dsp:txXfrm>
    </dsp:sp>
    <dsp:sp modelId="{E6DCD3DF-9309-4439-8C36-8B180F8FC979}">
      <dsp:nvSpPr>
        <dsp:cNvPr id="0" name=""/>
        <dsp:cNvSpPr/>
      </dsp:nvSpPr>
      <dsp:spPr>
        <a:xfrm>
          <a:off x="3510275" y="1630394"/>
          <a:ext cx="3420752" cy="3111973"/>
        </a:xfrm>
        <a:prstGeom prst="ellipse">
          <a:avLst/>
        </a:prstGeom>
        <a:solidFill>
          <a:srgbClr val="78B832">
            <a:alpha val="49804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4132970" y="2684977"/>
        <a:ext cx="1451303" cy="12102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F86AD-6531-4A45-9B4C-FB7A2F4A56E5}">
      <dsp:nvSpPr>
        <dsp:cNvPr id="0" name=""/>
        <dsp:cNvSpPr/>
      </dsp:nvSpPr>
      <dsp:spPr>
        <a:xfrm>
          <a:off x="2351820" y="78469"/>
          <a:ext cx="3442250" cy="3426734"/>
        </a:xfrm>
        <a:prstGeom prst="ellipse">
          <a:avLst/>
        </a:prstGeom>
        <a:solidFill>
          <a:srgbClr val="CC4757">
            <a:lumMod val="75000"/>
            <a:alpha val="5000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3180465" y="903973"/>
        <a:ext cx="1784961" cy="1090380"/>
      </dsp:txXfrm>
    </dsp:sp>
    <dsp:sp modelId="{6B9B251B-586A-4808-9EDC-F6186A7B6F15}">
      <dsp:nvSpPr>
        <dsp:cNvPr id="0" name=""/>
        <dsp:cNvSpPr/>
      </dsp:nvSpPr>
      <dsp:spPr>
        <a:xfrm>
          <a:off x="845550" y="1713118"/>
          <a:ext cx="3419884" cy="3431798"/>
        </a:xfrm>
        <a:prstGeom prst="ellipse">
          <a:avLst/>
        </a:prstGeom>
        <a:solidFill>
          <a:srgbClr val="30356E">
            <a:lumMod val="60000"/>
            <a:lumOff val="40000"/>
            <a:alpha val="50000"/>
          </a:srgbClr>
        </a:solidFill>
        <a:ln w="25400" cap="flat" cmpd="sng" algn="ctr">
          <a:solidFill>
            <a:sysClr val="window" lastClr="FFFFFF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2191963" y="2876082"/>
        <a:ext cx="1450934" cy="1334656"/>
      </dsp:txXfrm>
    </dsp:sp>
    <dsp:sp modelId="{E6DCD3DF-9309-4439-8C36-8B180F8FC979}">
      <dsp:nvSpPr>
        <dsp:cNvPr id="0" name=""/>
        <dsp:cNvSpPr/>
      </dsp:nvSpPr>
      <dsp:spPr>
        <a:xfrm>
          <a:off x="3704305" y="1904996"/>
          <a:ext cx="3352787" cy="3152501"/>
        </a:xfrm>
        <a:prstGeom prst="ellipse">
          <a:avLst/>
        </a:prstGeom>
        <a:solidFill>
          <a:srgbClr val="78B832">
            <a:alpha val="49804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b="1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4314629" y="2973312"/>
        <a:ext cx="1422466" cy="12260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473D12-701B-4D6F-B7F3-E5390B6430F3}">
      <dsp:nvSpPr>
        <dsp:cNvPr id="0" name=""/>
        <dsp:cNvSpPr/>
      </dsp:nvSpPr>
      <dsp:spPr>
        <a:xfrm>
          <a:off x="3483671" y="136433"/>
          <a:ext cx="1817633" cy="113601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Collection &amp; création</a:t>
          </a:r>
        </a:p>
      </dsp:txBody>
      <dsp:txXfrm>
        <a:off x="3749857" y="302799"/>
        <a:ext cx="1285261" cy="803285"/>
      </dsp:txXfrm>
    </dsp:sp>
    <dsp:sp modelId="{E77D5904-2ADD-49BB-8A8B-E02E95EEE4EC}">
      <dsp:nvSpPr>
        <dsp:cNvPr id="0" name=""/>
        <dsp:cNvSpPr/>
      </dsp:nvSpPr>
      <dsp:spPr>
        <a:xfrm rot="1350000">
          <a:off x="5211401" y="858575"/>
          <a:ext cx="177641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>
        <a:off x="5213429" y="937123"/>
        <a:ext cx="124349" cy="266236"/>
      </dsp:txXfrm>
    </dsp:sp>
    <dsp:sp modelId="{3CF71FD7-4624-4D96-A9A9-C2C65C97F992}">
      <dsp:nvSpPr>
        <dsp:cNvPr id="0" name=""/>
        <dsp:cNvSpPr/>
      </dsp:nvSpPr>
      <dsp:spPr>
        <a:xfrm>
          <a:off x="5308430" y="892273"/>
          <a:ext cx="1817633" cy="113601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Classification &amp; traitement</a:t>
          </a:r>
        </a:p>
      </dsp:txBody>
      <dsp:txXfrm>
        <a:off x="5574616" y="1058639"/>
        <a:ext cx="1285261" cy="803285"/>
      </dsp:txXfrm>
    </dsp:sp>
    <dsp:sp modelId="{5445EE97-F540-4E1E-BAAC-22E7EC032E88}">
      <dsp:nvSpPr>
        <dsp:cNvPr id="0" name=""/>
        <dsp:cNvSpPr/>
      </dsp:nvSpPr>
      <dsp:spPr>
        <a:xfrm rot="4050000">
          <a:off x="6382709" y="2139923"/>
          <a:ext cx="415907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>
        <a:off x="6421221" y="2171031"/>
        <a:ext cx="291135" cy="266236"/>
      </dsp:txXfrm>
    </dsp:sp>
    <dsp:sp modelId="{8A8DA8DF-BDC2-4274-9C14-308D30C5418A}">
      <dsp:nvSpPr>
        <dsp:cNvPr id="0" name=""/>
        <dsp:cNvSpPr/>
      </dsp:nvSpPr>
      <dsp:spPr>
        <a:xfrm>
          <a:off x="6064271" y="2717032"/>
          <a:ext cx="1817633" cy="113601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Manipulation, conversion ou modification</a:t>
          </a:r>
        </a:p>
      </dsp:txBody>
      <dsp:txXfrm>
        <a:off x="6330457" y="2883398"/>
        <a:ext cx="1285261" cy="803285"/>
      </dsp:txXfrm>
    </dsp:sp>
    <dsp:sp modelId="{F0679691-16D9-4423-9B5A-9B43DEDA5CFB}">
      <dsp:nvSpPr>
        <dsp:cNvPr id="0" name=""/>
        <dsp:cNvSpPr/>
      </dsp:nvSpPr>
      <dsp:spPr>
        <a:xfrm rot="6750000">
          <a:off x="6391718" y="3964683"/>
          <a:ext cx="415907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 rot="10800000">
        <a:off x="6477978" y="3995791"/>
        <a:ext cx="291135" cy="266236"/>
      </dsp:txXfrm>
    </dsp:sp>
    <dsp:sp modelId="{68E2BB20-5F81-4127-A06A-C5F82130117D}">
      <dsp:nvSpPr>
        <dsp:cNvPr id="0" name=""/>
        <dsp:cNvSpPr/>
      </dsp:nvSpPr>
      <dsp:spPr>
        <a:xfrm>
          <a:off x="5308430" y="4541792"/>
          <a:ext cx="1817633" cy="113601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Analyse &amp; présentation</a:t>
          </a:r>
        </a:p>
      </dsp:txBody>
      <dsp:txXfrm>
        <a:off x="5574616" y="4708158"/>
        <a:ext cx="1285261" cy="803285"/>
      </dsp:txXfrm>
    </dsp:sp>
    <dsp:sp modelId="{E7C425B6-3108-430E-AD58-A76963618CB4}">
      <dsp:nvSpPr>
        <dsp:cNvPr id="0" name=""/>
        <dsp:cNvSpPr/>
      </dsp:nvSpPr>
      <dsp:spPr>
        <a:xfrm rot="9450000">
          <a:off x="5220691" y="5263934"/>
          <a:ext cx="177641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 rot="10800000">
        <a:off x="5271955" y="5342482"/>
        <a:ext cx="124349" cy="266236"/>
      </dsp:txXfrm>
    </dsp:sp>
    <dsp:sp modelId="{A34D2FCB-0F9B-43B7-86A9-12C6E2B49A45}">
      <dsp:nvSpPr>
        <dsp:cNvPr id="0" name=""/>
        <dsp:cNvSpPr/>
      </dsp:nvSpPr>
      <dsp:spPr>
        <a:xfrm>
          <a:off x="3483671" y="5297632"/>
          <a:ext cx="1817633" cy="113601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Préservation &amp; stockage</a:t>
          </a:r>
        </a:p>
      </dsp:txBody>
      <dsp:txXfrm>
        <a:off x="3749857" y="5463998"/>
        <a:ext cx="1285261" cy="803285"/>
      </dsp:txXfrm>
    </dsp:sp>
    <dsp:sp modelId="{01F08BD6-7551-4A54-A788-3ADB669C6C7F}">
      <dsp:nvSpPr>
        <dsp:cNvPr id="0" name=""/>
        <dsp:cNvSpPr/>
      </dsp:nvSpPr>
      <dsp:spPr>
        <a:xfrm rot="12150000">
          <a:off x="3395932" y="5267782"/>
          <a:ext cx="177641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 rot="10800000">
        <a:off x="3447196" y="5366724"/>
        <a:ext cx="124349" cy="266236"/>
      </dsp:txXfrm>
    </dsp:sp>
    <dsp:sp modelId="{CD4F82AC-D5BC-407C-A52A-7212B1B2140A}">
      <dsp:nvSpPr>
        <dsp:cNvPr id="0" name=""/>
        <dsp:cNvSpPr/>
      </dsp:nvSpPr>
      <dsp:spPr>
        <a:xfrm>
          <a:off x="1658911" y="4541792"/>
          <a:ext cx="1817633" cy="113601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Publication &amp; accès</a:t>
          </a:r>
        </a:p>
      </dsp:txBody>
      <dsp:txXfrm>
        <a:off x="1925097" y="4708158"/>
        <a:ext cx="1285261" cy="803285"/>
      </dsp:txXfrm>
    </dsp:sp>
    <dsp:sp modelId="{3DF731AD-299F-4423-A28B-01DA6A8DB8D4}">
      <dsp:nvSpPr>
        <dsp:cNvPr id="0" name=""/>
        <dsp:cNvSpPr/>
      </dsp:nvSpPr>
      <dsp:spPr>
        <a:xfrm rot="14850000">
          <a:off x="1986359" y="3986433"/>
          <a:ext cx="415907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 rot="10800000">
        <a:off x="2072619" y="4132815"/>
        <a:ext cx="291135" cy="266236"/>
      </dsp:txXfrm>
    </dsp:sp>
    <dsp:sp modelId="{626738A7-9E00-4FD6-881C-F2BDA38A738F}">
      <dsp:nvSpPr>
        <dsp:cNvPr id="0" name=""/>
        <dsp:cNvSpPr/>
      </dsp:nvSpPr>
      <dsp:spPr>
        <a:xfrm>
          <a:off x="903071" y="2717032"/>
          <a:ext cx="1817633" cy="113601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Conservation &amp;</a:t>
          </a:r>
          <a:br>
            <a:rPr lang="fr-FR" sz="1100" b="1" kern="1200" noProof="0" dirty="0">
              <a:latin typeface="PT Serif" panose="020A0603040505020204" pitchFamily="18" charset="0"/>
            </a:rPr>
          </a:br>
          <a:r>
            <a:rPr lang="fr-FR" sz="1100" b="1" kern="1200" noProof="0" dirty="0">
              <a:latin typeface="PT Serif" panose="020A0603040505020204" pitchFamily="18" charset="0"/>
            </a:rPr>
            <a:t>réutilisation</a:t>
          </a:r>
        </a:p>
      </dsp:txBody>
      <dsp:txXfrm>
        <a:off x="1169257" y="2883398"/>
        <a:ext cx="1285261" cy="803285"/>
      </dsp:txXfrm>
    </dsp:sp>
    <dsp:sp modelId="{FE1C798B-58E5-460E-AE15-E1114CC937F5}">
      <dsp:nvSpPr>
        <dsp:cNvPr id="0" name=""/>
        <dsp:cNvSpPr/>
      </dsp:nvSpPr>
      <dsp:spPr>
        <a:xfrm rot="17550000">
          <a:off x="1977349" y="2161673"/>
          <a:ext cx="415907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>
        <a:off x="2015861" y="2308055"/>
        <a:ext cx="291135" cy="266236"/>
      </dsp:txXfrm>
    </dsp:sp>
    <dsp:sp modelId="{A5D0D481-9254-473D-A901-2EEAE9FF6D00}">
      <dsp:nvSpPr>
        <dsp:cNvPr id="0" name=""/>
        <dsp:cNvSpPr/>
      </dsp:nvSpPr>
      <dsp:spPr>
        <a:xfrm>
          <a:off x="1658911" y="892273"/>
          <a:ext cx="1817633" cy="113601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 noProof="0" dirty="0">
              <a:latin typeface="PT Serif" panose="020A0603040505020204" pitchFamily="18" charset="0"/>
            </a:rPr>
            <a:t>Archivage ou Effacement</a:t>
          </a:r>
        </a:p>
      </dsp:txBody>
      <dsp:txXfrm>
        <a:off x="1925097" y="1058639"/>
        <a:ext cx="1285261" cy="803285"/>
      </dsp:txXfrm>
    </dsp:sp>
    <dsp:sp modelId="{84E0E61D-DCE1-44B0-B380-652934B7BF2E}">
      <dsp:nvSpPr>
        <dsp:cNvPr id="0" name=""/>
        <dsp:cNvSpPr/>
      </dsp:nvSpPr>
      <dsp:spPr>
        <a:xfrm rot="20250000">
          <a:off x="3386642" y="862422"/>
          <a:ext cx="177641" cy="4437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>
            <a:latin typeface="PT Serif" panose="020A0603040505020204" pitchFamily="18" charset="0"/>
          </a:endParaRPr>
        </a:p>
      </dsp:txBody>
      <dsp:txXfrm>
        <a:off x="3388670" y="961364"/>
        <a:ext cx="124349" cy="266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30419" y="0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D06CBAB-0BA1-42AF-8B31-9DAE95BE60F2}" type="datetime1">
              <a:rPr lang="fr-FR"/>
              <a:pPr>
                <a:defRPr/>
              </a:pPr>
              <a:t>20/11/2020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443714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30419" y="9443714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20D7951-8316-4B8D-BB05-64474AD63AFB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827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30419" y="0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AB03E9-6C6A-42A9-8A84-DB564324CB0B}" type="datetime1">
              <a:rPr lang="fr-FR"/>
              <a:pPr>
                <a:defRPr/>
              </a:pPr>
              <a:t>20/11/2020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95350" y="744538"/>
            <a:ext cx="4970463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42" tIns="47721" rIns="95442" bIns="47721" rtlCol="0" anchor="ctr"/>
          <a:lstStyle/>
          <a:p>
            <a:pPr lv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5511" y="4721858"/>
            <a:ext cx="5410142" cy="4475805"/>
          </a:xfrm>
          <a:prstGeom prst="rect">
            <a:avLst/>
          </a:prstGeom>
        </p:spPr>
        <p:txBody>
          <a:bodyPr vert="horz" lIns="95442" tIns="47721" rIns="95442" bIns="47721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43714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30419" y="9443714"/>
            <a:ext cx="2929231" cy="497126"/>
          </a:xfrm>
          <a:prstGeom prst="rect">
            <a:avLst/>
          </a:prstGeom>
        </p:spPr>
        <p:txBody>
          <a:bodyPr vert="horz" lIns="95442" tIns="47721" rIns="95442" bIns="4772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74E1596-A129-4638-9F8E-3949BA5E7CE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699286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0804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9F5ED4-398E-4546-8A2D-DEF2149421CA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6735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8993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1501775" y="661988"/>
            <a:ext cx="4416425" cy="33115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Shape 202"/>
          <p:cNvSpPr txBox="1">
            <a:spLocks noGrp="1"/>
          </p:cNvSpPr>
          <p:nvPr>
            <p:ph type="body" idx="1"/>
          </p:nvPr>
        </p:nvSpPr>
        <p:spPr>
          <a:xfrm>
            <a:off x="741997" y="4194297"/>
            <a:ext cx="5935978" cy="39735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2233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207"/>
          <p:cNvSpPr>
            <a:spLocks noGrp="1" noRot="1" noChangeAspect="1"/>
          </p:cNvSpPr>
          <p:nvPr>
            <p:ph type="sldImg" idx="2"/>
          </p:nvPr>
        </p:nvSpPr>
        <p:spPr>
          <a:xfrm>
            <a:off x="1501775" y="661988"/>
            <a:ext cx="4416425" cy="33115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Shape 208"/>
          <p:cNvSpPr txBox="1">
            <a:spLocks noGrp="1"/>
          </p:cNvSpPr>
          <p:nvPr>
            <p:ph type="body" idx="1"/>
          </p:nvPr>
        </p:nvSpPr>
        <p:spPr>
          <a:xfrm>
            <a:off x="741997" y="4194297"/>
            <a:ext cx="5935978" cy="39735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2821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927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Cas d’usage: élément essentiels pour les futurs plaidoyers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48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8631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5271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9640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3509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67005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8661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10537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69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93694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70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21040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1181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97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73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09645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9687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76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96408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77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81788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6072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21535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08959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41789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9237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s notes 1">
            <a:extLst>
              <a:ext uri="{FF2B5EF4-FFF2-40B4-BE49-F238E27FC236}">
                <a16:creationId xmlns:a16="http://schemas.microsoft.com/office/drawing/2014/main" id="{244CCB6B-95D5-4223-AC64-18CEC1E95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64432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4E1596-A129-4638-9F8E-3949BA5E7CE8}" type="slidenum">
              <a:rPr lang="fr-FR" smtClean="0"/>
              <a:pPr>
                <a:defRPr/>
              </a:pPr>
              <a:t>87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6443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project_cdi_desktop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ZoneTexte 7"/>
          <p:cNvSpPr txBox="1">
            <a:spLocks noChangeArrowheads="1"/>
          </p:cNvSpPr>
          <p:nvPr userDrawn="1"/>
        </p:nvSpPr>
        <p:spPr bwMode="auto">
          <a:xfrm>
            <a:off x="481013" y="1479550"/>
            <a:ext cx="4114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</a:rPr>
              <a:t>Where ICT meets Social &amp; Economic Development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3079750"/>
            <a:ext cx="9144000" cy="149225"/>
          </a:xfrm>
          <a:prstGeom prst="rect">
            <a:avLst/>
          </a:prstGeom>
          <a:solidFill>
            <a:schemeClr val="accent1"/>
          </a:solidFill>
          <a:ln>
            <a:solidFill>
              <a:srgbClr val="29A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5" name="Titre 4"/>
          <p:cNvSpPr>
            <a:spLocks noGrp="1"/>
          </p:cNvSpPr>
          <p:nvPr>
            <p:ph type="title"/>
          </p:nvPr>
        </p:nvSpPr>
        <p:spPr>
          <a:xfrm>
            <a:off x="504825" y="3608623"/>
            <a:ext cx="8229600" cy="1181101"/>
          </a:xfrm>
          <a:prstGeom prst="rect">
            <a:avLst/>
          </a:prstGeom>
        </p:spPr>
        <p:txBody>
          <a:bodyPr vert="horz"/>
          <a:lstStyle>
            <a:lvl1pPr algn="l">
              <a:defRPr sz="3600" b="1" baseline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27" name="Picture 3" descr="C:\Users\boyera\Desktop\WF\Work\visio icon\sbc4d2 - Copie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0171" y="234950"/>
            <a:ext cx="1117600" cy="1244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5474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0" y="6544075"/>
            <a:ext cx="9144000" cy="327573"/>
          </a:xfrm>
          <a:prstGeom prst="rect">
            <a:avLst/>
          </a:prstGeom>
          <a:solidFill>
            <a:srgbClr val="A4C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aseline="0" dirty="0">
                <a:solidFill>
                  <a:schemeClr val="bg1"/>
                </a:solidFill>
              </a:rPr>
              <a:t>http://wwww.sbc4d.com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812800"/>
            <a:ext cx="9144000" cy="152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 dirty="0"/>
          </a:p>
        </p:txBody>
      </p:sp>
      <p:sp>
        <p:nvSpPr>
          <p:cNvPr id="16" name="Titre 9"/>
          <p:cNvSpPr>
            <a:spLocks noGrp="1"/>
          </p:cNvSpPr>
          <p:nvPr userDrawn="1">
            <p:ph type="title"/>
          </p:nvPr>
        </p:nvSpPr>
        <p:spPr>
          <a:xfrm>
            <a:off x="448128" y="0"/>
            <a:ext cx="4777015" cy="812800"/>
          </a:xfrm>
          <a:prstGeom prst="rect">
            <a:avLst/>
          </a:prstGeom>
        </p:spPr>
        <p:txBody>
          <a:bodyPr vert="horz" anchor="ctr"/>
          <a:lstStyle>
            <a:lvl1pPr algn="l">
              <a:defRPr sz="2600" b="1">
                <a:solidFill>
                  <a:schemeClr val="tx1"/>
                </a:solidFill>
                <a:latin typeface="+mn-lt"/>
                <a:cs typeface="Calibri (Titres)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pic>
        <p:nvPicPr>
          <p:cNvPr id="2050" name="Picture 2" descr="C:\Users\boyera\Desktop\WF\Work\visio icon\sbc4d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41434" y="54449"/>
            <a:ext cx="508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numéro de diapositive 5"/>
          <p:cNvSpPr txBox="1">
            <a:spLocks/>
          </p:cNvSpPr>
          <p:nvPr userDrawn="1"/>
        </p:nvSpPr>
        <p:spPr>
          <a:xfrm>
            <a:off x="8386454" y="6555864"/>
            <a:ext cx="730250" cy="30896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100" kern="1200">
                <a:solidFill>
                  <a:schemeClr val="bg1"/>
                </a:solidFill>
                <a:latin typeface="+mj-lt"/>
                <a:ea typeface="ＭＳ Ｐゴシック" pitchFamily="34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fld id="{FF42B312-9817-492A-A2CE-1B0E09E6F02D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  <p:pic>
        <p:nvPicPr>
          <p:cNvPr id="7" name="Shape 9"/>
          <p:cNvPicPr preferRelativeResize="0"/>
          <p:nvPr userDrawn="1"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073" y="6597704"/>
            <a:ext cx="627436" cy="23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38A81F24-B482-4E7F-A736-1752437275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0683" y="193544"/>
            <a:ext cx="1599122" cy="42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4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F8CAA-C111-4E87-A7DA-24CC277DC31B}" type="datetimeFigureOut">
              <a:rPr lang="en-US"/>
              <a:pPr>
                <a:defRPr/>
              </a:pPr>
              <a:t>11/20/2020</a:t>
            </a:fld>
            <a:endParaRPr lang="en-GB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40E70-A7E7-45C7-B419-A5744BEC002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2268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3664200"/>
          </a:xfrm>
          <a:prstGeom prst="rect">
            <a:avLst/>
          </a:prstGeom>
          <a:solidFill>
            <a:srgbClr val="D9D9D9">
              <a:alpha val="55769"/>
            </a:srgbClr>
          </a:solidFill>
        </p:spPr>
        <p:txBody>
          <a:bodyPr spcFirstLastPara="1" wrap="square" lIns="91425" tIns="91425" rIns="91425" bIns="91425" anchor="t" anchorCtr="0"/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2"/>
          </p:nvPr>
        </p:nvSpPr>
        <p:spPr>
          <a:xfrm>
            <a:off x="3821125" y="6449200"/>
            <a:ext cx="4865700" cy="208500"/>
          </a:xfrm>
          <a:prstGeom prst="rect">
            <a:avLst/>
          </a:prstGeom>
          <a:solidFill>
            <a:srgbClr val="D9D9D9">
              <a:alpha val="55769"/>
            </a:srgbClr>
          </a:solidFill>
        </p:spPr>
        <p:txBody>
          <a:bodyPr spcFirstLastPara="1" wrap="square" lIns="91425" tIns="91425" rIns="91425" bIns="91425" anchor="ctr" anchorCtr="0"/>
          <a:lstStyle>
            <a:lvl1pPr marL="457200" lvl="0" indent="-279400" algn="r" rtl="0">
              <a:spcBef>
                <a:spcPts val="60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algn="r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algn="r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algn="r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algn="r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algn="r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algn="r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algn="r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827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T Sans" panose="020B0503020203020204" pitchFamily="34" charset="0"/>
                <a:ea typeface="PT Sans" panose="020B0503020203020204" pitchFamily="34" charset="0"/>
              </a:defRPr>
            </a:lvl1pPr>
            <a:lvl2pPr>
              <a:defRPr>
                <a:latin typeface="PT Sans" panose="020B0503020203020204" pitchFamily="34" charset="0"/>
                <a:ea typeface="PT Sans" panose="020B0503020203020204" pitchFamily="34" charset="0"/>
              </a:defRPr>
            </a:lvl2pPr>
            <a:lvl3pPr>
              <a:defRPr>
                <a:latin typeface="PT Sans" panose="020B0503020203020204" pitchFamily="34" charset="0"/>
                <a:ea typeface="PT Sans" panose="020B0503020203020204" pitchFamily="34" charset="0"/>
              </a:defRPr>
            </a:lvl3pPr>
            <a:lvl4pPr>
              <a:defRPr>
                <a:latin typeface="PT Sans" panose="020B0503020203020204" pitchFamily="34" charset="0"/>
                <a:ea typeface="PT Sans" panose="020B0503020203020204" pitchFamily="34" charset="0"/>
              </a:defRPr>
            </a:lvl4pPr>
            <a:lvl5pPr>
              <a:defRPr>
                <a:latin typeface="PT Sans" panose="020B0503020203020204" pitchFamily="34" charset="0"/>
                <a:ea typeface="PT Sans" panose="020B05030202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201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here to modify texte styles of the mask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fr-FR"/>
              <a:t>T</a:t>
            </a:r>
            <a:r>
              <a:rPr lang="en-US"/>
              <a:t>hird level</a:t>
            </a:r>
          </a:p>
          <a:p>
            <a:pPr lvl="3"/>
            <a:r>
              <a:rPr lang="fr-FR"/>
              <a:t>F</a:t>
            </a:r>
            <a:r>
              <a:rPr lang="en-US"/>
              <a:t>orth level</a:t>
            </a:r>
          </a:p>
          <a:p>
            <a:pPr lvl="4"/>
            <a:r>
              <a:rPr lang="fr-FR"/>
              <a:t>F</a:t>
            </a:r>
            <a:r>
              <a:rPr lang="en-US"/>
              <a:t>ifth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393825" y="6645275"/>
            <a:ext cx="6051550" cy="212725"/>
          </a:xfrm>
          <a:prstGeom prst="rect">
            <a:avLst/>
          </a:prstGeom>
        </p:spPr>
        <p:txBody>
          <a:bodyPr/>
          <a:lstStyle>
            <a:lvl1pPr algn="ctr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Copyright © 2011. World Wide Web Foundation.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3" r:id="rId1"/>
    <p:sldLayoutId id="2147485044" r:id="rId2"/>
    <p:sldLayoutId id="2147485045" r:id="rId3"/>
    <p:sldLayoutId id="2147485047" r:id="rId4"/>
    <p:sldLayoutId id="2147485048" r:id="rId5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2000" kern="1200">
          <a:solidFill>
            <a:schemeClr val="tx1"/>
          </a:solidFill>
          <a:latin typeface="+mn-lt"/>
          <a:ea typeface="ＭＳ Ｐゴシック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Courier New" pitchFamily="49" charset="0"/>
        <a:buChar char="o"/>
        <a:defRPr kern="1200">
          <a:solidFill>
            <a:schemeClr val="tx1"/>
          </a:solidFill>
          <a:latin typeface="+mn-lt"/>
          <a:ea typeface="ＭＳ Ｐゴシック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Courier New" pitchFamily="49" charset="0"/>
        <a:buChar char="o"/>
        <a:defRPr sz="1600" kern="1200">
          <a:solidFill>
            <a:schemeClr val="tx1"/>
          </a:solidFill>
          <a:latin typeface="+mn-lt"/>
          <a:ea typeface="ＭＳ Ｐゴシック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ＭＳ Ｐゴシック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38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health.statistics.go.tz/#/dash/points/facilities/" TargetMode="External"/><Relationship Id="rId2" Type="http://schemas.openxmlformats.org/officeDocument/2006/relationships/hyperlink" Target="http://education.statistics.go.tz/#/dashboard/primar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.gheiti.gov.gh/#home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7" Type="http://schemas.openxmlformats.org/officeDocument/2006/relationships/image" Target="../media/image64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4" Type="http://schemas.openxmlformats.org/officeDocument/2006/relationships/image" Target="../media/image61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4" Type="http://schemas.openxmlformats.org/officeDocument/2006/relationships/image" Target="../media/image61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617406" y="3582729"/>
            <a:ext cx="10009763" cy="1181101"/>
          </a:xfrm>
        </p:spPr>
        <p:txBody>
          <a:bodyPr/>
          <a:lstStyle/>
          <a:p>
            <a:pPr algn="ctr"/>
            <a:r>
              <a:rPr lang="fr-FR" sz="3200"/>
              <a:t>Open </a:t>
            </a:r>
            <a:r>
              <a:rPr lang="fr-FR" sz="3200" dirty="0"/>
              <a:t>Data &amp; Leadership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4294967295"/>
          </p:nvPr>
        </p:nvSpPr>
        <p:spPr>
          <a:xfrm>
            <a:off x="234576" y="4991588"/>
            <a:ext cx="8305800" cy="600458"/>
          </a:xfrm>
        </p:spPr>
        <p:txBody>
          <a:bodyPr/>
          <a:lstStyle/>
          <a:p>
            <a:pPr marL="0" indent="0">
              <a:buNone/>
            </a:pPr>
            <a:r>
              <a:rPr lang="fr-FR" sz="2000" dirty="0"/>
              <a:t>Stéphane Boyera (SBC4D) stephane@sbc4d.com</a:t>
            </a:r>
          </a:p>
          <a:p>
            <a:endParaRPr lang="fr-FR" sz="20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55B8FF4-BA9D-4309-9DAF-D782D42F3D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4237" y="6066919"/>
            <a:ext cx="2255525" cy="60045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8F065B2-1DB1-4156-B1FD-19BBF7CB5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820" y="6047562"/>
            <a:ext cx="1625741" cy="6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6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6455" y="0"/>
            <a:ext cx="7303800" cy="812800"/>
          </a:xfrm>
        </p:spPr>
        <p:txBody>
          <a:bodyPr/>
          <a:lstStyle/>
          <a:p>
            <a:r>
              <a:rPr lang="fr-FR" dirty="0"/>
              <a:t>Objectifs de la session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195180-398C-4735-8868-1EC86A3569DF}"/>
              </a:ext>
            </a:extLst>
          </p:cNvPr>
          <p:cNvSpPr/>
          <p:nvPr/>
        </p:nvSpPr>
        <p:spPr bwMode="auto">
          <a:xfrm>
            <a:off x="932565" y="2210202"/>
            <a:ext cx="7182401" cy="43092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chemeClr val="bg1"/>
                </a:solidFill>
                <a:latin typeface="Trebuchet MS" pitchFamily="34" charset="0"/>
                <a:cs typeface="Arial" pitchFamily="34" charset="0"/>
              </a:rPr>
              <a:t>Sensibiliser les responsables à l’Open Data, et à l’initiative Open Data au Maroc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Times New Roman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DD8D67-27B5-4BEB-8D65-C8906DCE5CAC}"/>
              </a:ext>
            </a:extLst>
          </p:cNvPr>
          <p:cNvSpPr/>
          <p:nvPr/>
        </p:nvSpPr>
        <p:spPr bwMode="auto">
          <a:xfrm>
            <a:off x="448128" y="2210202"/>
            <a:ext cx="353278" cy="4309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021F43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Times New Roman" pitchFamily="18" charset="0"/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B6E680-730B-4BEE-9691-6AB85C9D976D}"/>
              </a:ext>
            </a:extLst>
          </p:cNvPr>
          <p:cNvSpPr/>
          <p:nvPr/>
        </p:nvSpPr>
        <p:spPr bwMode="auto">
          <a:xfrm>
            <a:off x="932565" y="3136804"/>
            <a:ext cx="7182401" cy="43092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chemeClr val="bg1"/>
                </a:solidFill>
                <a:latin typeface="Trebuchet MS" pitchFamily="34" charset="0"/>
                <a:cs typeface="Arial" pitchFamily="34" charset="0"/>
              </a:rPr>
              <a:t>Présenter les bénéfices de l’approche pour les structures publiques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Times New Roman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64E138-894B-4532-912F-BB5B0A1916EF}"/>
              </a:ext>
            </a:extLst>
          </p:cNvPr>
          <p:cNvSpPr/>
          <p:nvPr/>
        </p:nvSpPr>
        <p:spPr bwMode="auto">
          <a:xfrm>
            <a:off x="448128" y="3136804"/>
            <a:ext cx="353278" cy="4309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021F43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Times New Roman" pitchFamily="18" charset="0"/>
              </a:rPr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F3D38B-75C4-4173-9A04-1F98B0FAB517}"/>
              </a:ext>
            </a:extLst>
          </p:cNvPr>
          <p:cNvSpPr/>
          <p:nvPr/>
        </p:nvSpPr>
        <p:spPr bwMode="auto">
          <a:xfrm>
            <a:off x="935478" y="4063406"/>
            <a:ext cx="7177164" cy="43092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b="1" dirty="0">
                <a:solidFill>
                  <a:schemeClr val="bg1"/>
                </a:solidFill>
                <a:latin typeface="Trebuchet MS" pitchFamily="34" charset="0"/>
                <a:cs typeface="Arial" pitchFamily="34" charset="0"/>
              </a:rPr>
              <a:t>Définir l’action des responsables pour faciliter la mise en place d’une nouvelle approche</a:t>
            </a:r>
            <a:endParaRPr kumimoji="0" lang="fr-FR" sz="1400" b="1" i="0" u="sng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itchFamily="34" charset="0"/>
              <a:ea typeface="MS PGothic" pitchFamily="34" charset="-128"/>
              <a:cs typeface="Times New Roman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369A9F-1CBF-4DB5-8981-62A8E4D0643C}"/>
              </a:ext>
            </a:extLst>
          </p:cNvPr>
          <p:cNvSpPr/>
          <p:nvPr/>
        </p:nvSpPr>
        <p:spPr bwMode="auto">
          <a:xfrm>
            <a:off x="457647" y="4067614"/>
            <a:ext cx="353278" cy="4309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 dirty="0">
                <a:ln>
                  <a:noFill/>
                </a:ln>
                <a:solidFill>
                  <a:srgbClr val="021F43"/>
                </a:solidFill>
                <a:effectLst/>
                <a:uLnTx/>
                <a:uFillTx/>
                <a:latin typeface="Trebuchet MS" pitchFamily="34" charset="0"/>
                <a:ea typeface="MS PGothic" pitchFamily="34" charset="-128"/>
                <a:cs typeface="Times New Roman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9293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0EDEBA7E-DE3E-4887-9792-5AB7A32B0BE0}"/>
              </a:ext>
            </a:extLst>
          </p:cNvPr>
          <p:cNvSpPr/>
          <p:nvPr/>
        </p:nvSpPr>
        <p:spPr>
          <a:xfrm>
            <a:off x="1193241" y="1899038"/>
            <a:ext cx="6757518" cy="310917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Les concepts de l’Open Data</a:t>
            </a:r>
          </a:p>
        </p:txBody>
      </p:sp>
    </p:spTree>
    <p:extLst>
      <p:ext uri="{BB962C8B-B14F-4D97-AF65-F5344CB8AC3E}">
        <p14:creationId xmlns:p14="http://schemas.microsoft.com/office/powerpoint/2010/main" val="436666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fr-FR" dirty="0"/>
              <a:t>Open Data: Concept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72125" y="1358013"/>
            <a:ext cx="6958273" cy="465486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Un concept né en 2009 aux USA et au Royaume-Uni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Une nouvelle approche de la gestion des données publiques </a:t>
            </a:r>
            <a:r>
              <a:rPr lang="fr-FR" sz="2400" dirty="0">
                <a:latin typeface="Trebuchet MS" pitchFamily="34" charset="0"/>
                <a:cs typeface="Arial" pitchFamily="34" charset="0"/>
              </a:rPr>
              <a:t>et de leur publication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Arial" pitchFamily="34" charset="0"/>
              </a:rPr>
              <a:t> Une nouvelle approche de la collaboration intra- et extra- gouvernementale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Arial" pitchFamily="34" charset="0"/>
              </a:rPr>
              <a:t> Une nouvelle approche des services publics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Arial" pitchFamily="34" charset="0"/>
              </a:rPr>
              <a:t> Un support à l’innovation et aux startup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Arial" pitchFamily="34" charset="0"/>
              </a:rPr>
              <a:t> Une nouvelle approche de la transparence de gouvernance: Fournir aux citoyens les moyens d’évaluer les politiques mises en œuvre par le gouvernement et leurs impacts</a:t>
            </a:r>
          </a:p>
        </p:txBody>
      </p:sp>
      <p:pic>
        <p:nvPicPr>
          <p:cNvPr id="5" name="Picture 2" descr="C:\Users\boyera\Desktop\6a00d8341bfb1653ef014e890280b8970d-550wi-187x3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0398" y="2067979"/>
            <a:ext cx="1781175" cy="28575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387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694608" cy="812800"/>
          </a:xfrm>
        </p:spPr>
        <p:txBody>
          <a:bodyPr/>
          <a:lstStyle/>
          <a:p>
            <a:r>
              <a:rPr lang="fr-FR" sz="2400" dirty="0"/>
              <a:t>Open Data: Un Mouvement mondial</a:t>
            </a:r>
          </a:p>
        </p:txBody>
      </p:sp>
      <p:sp>
        <p:nvSpPr>
          <p:cNvPr id="12" name="Espace réservé du contenu 1"/>
          <p:cNvSpPr>
            <a:spLocks/>
          </p:cNvSpPr>
          <p:nvPr/>
        </p:nvSpPr>
        <p:spPr bwMode="auto">
          <a:xfrm>
            <a:off x="179415" y="1143003"/>
            <a:ext cx="8283704" cy="87085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300" b="1" dirty="0">
                <a:latin typeface="Trebuchet MS" pitchFamily="34" charset="0"/>
                <a:cs typeface="ＭＳ Ｐゴシック" pitchFamily="34" charset="-128"/>
              </a:rPr>
              <a:t>Activités dans plus de 122 pays</a:t>
            </a:r>
          </a:p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3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3781F29-18D1-41B8-80C2-33C77A9B9D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157" y="1798766"/>
            <a:ext cx="7705962" cy="427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84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694608" cy="812800"/>
          </a:xfrm>
        </p:spPr>
        <p:txBody>
          <a:bodyPr/>
          <a:lstStyle/>
          <a:p>
            <a:r>
              <a:rPr lang="fr-FR" sz="2400" dirty="0"/>
              <a:t>Open Data: Les pays leader</a:t>
            </a:r>
            <a:br>
              <a:rPr lang="fr-FR" sz="2400" dirty="0"/>
            </a:br>
            <a:r>
              <a:rPr lang="fr-FR" sz="2400" dirty="0"/>
              <a:t>ODB 2017</a:t>
            </a:r>
          </a:p>
        </p:txBody>
      </p:sp>
      <p:sp>
        <p:nvSpPr>
          <p:cNvPr id="12" name="Espace réservé du contenu 1"/>
          <p:cNvSpPr>
            <a:spLocks/>
          </p:cNvSpPr>
          <p:nvPr/>
        </p:nvSpPr>
        <p:spPr bwMode="auto">
          <a:xfrm>
            <a:off x="179415" y="1143003"/>
            <a:ext cx="8283704" cy="870854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3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5" name="Image 4" descr="Une image contenant capture d’écran, blanc, ordinateur, grand&#10;&#10;Description générée automatiquement">
            <a:extLst>
              <a:ext uri="{FF2B5EF4-FFF2-40B4-BE49-F238E27FC236}">
                <a16:creationId xmlns:a16="http://schemas.microsoft.com/office/drawing/2014/main" id="{3A5ED325-752B-476A-95C3-073BDF0D109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39092"/>
            <a:ext cx="9144000" cy="515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936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5954" y="0"/>
            <a:ext cx="5585773" cy="812800"/>
          </a:xfrm>
        </p:spPr>
        <p:txBody>
          <a:bodyPr/>
          <a:lstStyle/>
          <a:p>
            <a:r>
              <a:rPr lang="fr-FR" sz="2400" dirty="0"/>
              <a:t>Les composantes d’une initiative d’ouverture des données</a:t>
            </a:r>
          </a:p>
        </p:txBody>
      </p:sp>
      <p:graphicFrame>
        <p:nvGraphicFramePr>
          <p:cNvPr id="26" name="Diagram 2"/>
          <p:cNvGraphicFramePr/>
          <p:nvPr/>
        </p:nvGraphicFramePr>
        <p:xfrm>
          <a:off x="599083" y="1551352"/>
          <a:ext cx="7683766" cy="5094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0" name="TextBox 10"/>
          <p:cNvSpPr txBox="1"/>
          <p:nvPr/>
        </p:nvSpPr>
        <p:spPr>
          <a:xfrm>
            <a:off x="3723462" y="2391527"/>
            <a:ext cx="1435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2400" b="1" dirty="0">
                <a:solidFill>
                  <a:prstClr val="black"/>
                </a:solidFill>
                <a:latin typeface="Calibri"/>
                <a:ea typeface="+mn-ea"/>
              </a:rPr>
              <a:t>TIC </a:t>
            </a:r>
          </a:p>
        </p:txBody>
      </p:sp>
      <p:sp>
        <p:nvSpPr>
          <p:cNvPr id="31" name="TextBox 11"/>
          <p:cNvSpPr txBox="1"/>
          <p:nvPr/>
        </p:nvSpPr>
        <p:spPr>
          <a:xfrm>
            <a:off x="4767286" y="4494781"/>
            <a:ext cx="28605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2400" b="1" spc="-70" dirty="0">
                <a:solidFill>
                  <a:prstClr val="black"/>
                </a:solidFill>
                <a:latin typeface="Calibri"/>
                <a:ea typeface="+mn-ea"/>
              </a:rPr>
              <a:t>Données Gouvernementales</a:t>
            </a:r>
          </a:p>
        </p:txBody>
      </p:sp>
      <p:sp>
        <p:nvSpPr>
          <p:cNvPr id="32" name="TextBox 12"/>
          <p:cNvSpPr txBox="1"/>
          <p:nvPr/>
        </p:nvSpPr>
        <p:spPr>
          <a:xfrm>
            <a:off x="1741651" y="4558694"/>
            <a:ext cx="2635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2400" b="1" dirty="0">
                <a:solidFill>
                  <a:prstClr val="black"/>
                </a:solidFill>
                <a:latin typeface="Calibri"/>
                <a:ea typeface="+mn-ea"/>
              </a:rPr>
              <a:t>Secteur Non-Gouvernemental</a:t>
            </a:r>
          </a:p>
        </p:txBody>
      </p:sp>
      <p:sp>
        <p:nvSpPr>
          <p:cNvPr id="39" name="TextBox 5"/>
          <p:cNvSpPr txBox="1"/>
          <p:nvPr/>
        </p:nvSpPr>
        <p:spPr>
          <a:xfrm>
            <a:off x="2988840" y="960478"/>
            <a:ext cx="29042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black"/>
                </a:solidFill>
                <a:latin typeface="Calibri"/>
                <a:ea typeface="+mn-ea"/>
              </a:rPr>
              <a:t>Initiative d’ouverture des Données Gouvernementales </a:t>
            </a:r>
          </a:p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fr-FR" b="1" dirty="0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163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447675" y="0"/>
            <a:ext cx="4776788" cy="812800"/>
          </a:xfrm>
        </p:spPr>
        <p:txBody>
          <a:bodyPr/>
          <a:lstStyle/>
          <a:p>
            <a:pPr>
              <a:defRPr/>
            </a:pPr>
            <a:r>
              <a:rPr lang="fr-FR" dirty="0"/>
              <a:t>Objectif</a:t>
            </a:r>
          </a:p>
        </p:txBody>
      </p:sp>
      <p:graphicFrame>
        <p:nvGraphicFramePr>
          <p:cNvPr id="4" name="Diagram 2"/>
          <p:cNvGraphicFramePr/>
          <p:nvPr/>
        </p:nvGraphicFramePr>
        <p:xfrm>
          <a:off x="556720" y="1273624"/>
          <a:ext cx="805388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43487" y="3483424"/>
            <a:ext cx="1795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white"/>
                </a:solidFill>
                <a:latin typeface="Calibri"/>
                <a:ea typeface="+mn-ea"/>
              </a:rPr>
              <a:t>Données </a:t>
            </a:r>
          </a:p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spc="-100" dirty="0">
                <a:solidFill>
                  <a:prstClr val="white"/>
                </a:solidFill>
                <a:latin typeface="Calibri"/>
                <a:ea typeface="+mn-ea"/>
              </a:rPr>
              <a:t>Gouvernementales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376" y="1589461"/>
            <a:ext cx="29042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black"/>
                </a:solidFill>
                <a:latin typeface="Calibri"/>
                <a:ea typeface="+mn-ea"/>
              </a:rPr>
              <a:t>Rendre accessibles et exploitables les Données Gouvernementales </a:t>
            </a:r>
          </a:p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black"/>
                </a:solidFill>
                <a:latin typeface="Calibri"/>
                <a:ea typeface="+mn-ea"/>
              </a:rPr>
              <a:t>Ouvertes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2579" y="3227528"/>
            <a:ext cx="1092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white"/>
                </a:solidFill>
                <a:latin typeface="Calibri"/>
                <a:ea typeface="+mn-ea"/>
              </a:rPr>
              <a:t>Données </a:t>
            </a:r>
          </a:p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white"/>
                </a:solidFill>
                <a:latin typeface="Calibri"/>
                <a:ea typeface="+mn-ea"/>
              </a:rPr>
              <a:t>Ouvertes</a:t>
            </a:r>
          </a:p>
        </p:txBody>
      </p:sp>
      <p:sp>
        <p:nvSpPr>
          <p:cNvPr id="8" name="TextBox 11"/>
          <p:cNvSpPr txBox="1"/>
          <p:nvPr/>
        </p:nvSpPr>
        <p:spPr>
          <a:xfrm>
            <a:off x="5181600" y="4393359"/>
            <a:ext cx="23147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2400" b="1" spc="-70" dirty="0">
                <a:solidFill>
                  <a:prstClr val="black"/>
                </a:solidFill>
                <a:latin typeface="Calibri"/>
                <a:ea typeface="+mn-ea"/>
              </a:rPr>
              <a:t>GOUVERNEMENT</a:t>
            </a:r>
          </a:p>
        </p:txBody>
      </p:sp>
      <p:sp>
        <p:nvSpPr>
          <p:cNvPr id="9" name="TextBox 12"/>
          <p:cNvSpPr txBox="1"/>
          <p:nvPr/>
        </p:nvSpPr>
        <p:spPr>
          <a:xfrm>
            <a:off x="1972635" y="4686490"/>
            <a:ext cx="1249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sz="2400" b="1" dirty="0">
                <a:solidFill>
                  <a:prstClr val="black"/>
                </a:solidFill>
                <a:latin typeface="Calibri"/>
                <a:ea typeface="+mn-ea"/>
              </a:rPr>
              <a:t>OUVERT</a:t>
            </a:r>
          </a:p>
        </p:txBody>
      </p:sp>
      <p:sp>
        <p:nvSpPr>
          <p:cNvPr id="10" name="TextBox 13"/>
          <p:cNvSpPr txBox="1"/>
          <p:nvPr/>
        </p:nvSpPr>
        <p:spPr>
          <a:xfrm>
            <a:off x="3885415" y="4917323"/>
            <a:ext cx="1499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white"/>
                </a:solidFill>
                <a:latin typeface="Calibri"/>
                <a:ea typeface="+mn-ea"/>
              </a:rPr>
              <a:t>G</a:t>
            </a:r>
            <a:r>
              <a:rPr lang="fr-FR" b="1" spc="-90" dirty="0">
                <a:solidFill>
                  <a:prstClr val="white"/>
                </a:solidFill>
                <a:latin typeface="Calibri"/>
                <a:ea typeface="+mn-ea"/>
              </a:rPr>
              <a:t>ouvernement</a:t>
            </a:r>
          </a:p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spc="-90" dirty="0">
                <a:solidFill>
                  <a:prstClr val="white"/>
                </a:solidFill>
                <a:latin typeface="Calibri"/>
                <a:ea typeface="+mn-ea"/>
              </a:rPr>
              <a:t>Ouvert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7486" y="2004958"/>
            <a:ext cx="15041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DONNÉES </a:t>
            </a:r>
          </a:p>
        </p:txBody>
      </p:sp>
      <p:cxnSp>
        <p:nvCxnSpPr>
          <p:cNvPr id="13" name="Straight Arrow Connector 7"/>
          <p:cNvCxnSpPr/>
          <p:nvPr/>
        </p:nvCxnSpPr>
        <p:spPr>
          <a:xfrm>
            <a:off x="2438400" y="2409967"/>
            <a:ext cx="2057400" cy="2162033"/>
          </a:xfrm>
          <a:prstGeom prst="straightConnector1">
            <a:avLst/>
          </a:prstGeom>
          <a:noFill/>
          <a:ln w="9525" cap="flat" cmpd="sng" algn="ctr">
            <a:solidFill>
              <a:srgbClr val="CC4757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cxnSp>
        <p:nvCxnSpPr>
          <p:cNvPr id="12" name="Straight Arrow Connector 7">
            <a:extLst>
              <a:ext uri="{FF2B5EF4-FFF2-40B4-BE49-F238E27FC236}">
                <a16:creationId xmlns:a16="http://schemas.microsoft.com/office/drawing/2014/main" id="{A55C214C-ABAF-4F46-9CFC-1A799A1791E6}"/>
              </a:ext>
            </a:extLst>
          </p:cNvPr>
          <p:cNvCxnSpPr>
            <a:cxnSpLocks/>
          </p:cNvCxnSpPr>
          <p:nvPr/>
        </p:nvCxnSpPr>
        <p:spPr>
          <a:xfrm flipH="1">
            <a:off x="5224464" y="2409967"/>
            <a:ext cx="2041040" cy="1921093"/>
          </a:xfrm>
          <a:prstGeom prst="straightConnector1">
            <a:avLst/>
          </a:prstGeom>
          <a:noFill/>
          <a:ln w="9525" cap="flat" cmpd="sng" algn="ctr">
            <a:solidFill>
              <a:srgbClr val="CC4757">
                <a:shade val="95000"/>
                <a:satMod val="105000"/>
              </a:srgbClr>
            </a:solidFill>
            <a:prstDash val="solid"/>
            <a:tailEnd type="arrow"/>
          </a:ln>
          <a:effectLst/>
        </p:spPr>
      </p:cxnSp>
      <p:sp>
        <p:nvSpPr>
          <p:cNvPr id="15" name="TextBox 5">
            <a:extLst>
              <a:ext uri="{FF2B5EF4-FFF2-40B4-BE49-F238E27FC236}">
                <a16:creationId xmlns:a16="http://schemas.microsoft.com/office/drawing/2014/main" id="{5B232116-4398-4FF1-9C2B-25D0CB7C9174}"/>
              </a:ext>
            </a:extLst>
          </p:cNvPr>
          <p:cNvSpPr txBox="1"/>
          <p:nvPr/>
        </p:nvSpPr>
        <p:spPr>
          <a:xfrm>
            <a:off x="6235204" y="1681792"/>
            <a:ext cx="2904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prstClr val="black"/>
                </a:solidFill>
                <a:latin typeface="Calibri"/>
                <a:ea typeface="+mn-ea"/>
              </a:rPr>
              <a:t>Améliorer la gestion des données gouvernementales</a:t>
            </a:r>
          </a:p>
        </p:txBody>
      </p:sp>
    </p:spTree>
    <p:extLst>
      <p:ext uri="{BB962C8B-B14F-4D97-AF65-F5344CB8AC3E}">
        <p14:creationId xmlns:p14="http://schemas.microsoft.com/office/powerpoint/2010/main" val="2003192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re 2"/>
          <p:cNvSpPr>
            <a:spLocks noGrp="1"/>
          </p:cNvSpPr>
          <p:nvPr>
            <p:ph type="title"/>
          </p:nvPr>
        </p:nvSpPr>
        <p:spPr>
          <a:xfrm>
            <a:off x="233186" y="0"/>
            <a:ext cx="6203496" cy="812800"/>
          </a:xfrm>
        </p:spPr>
        <p:txBody>
          <a:bodyPr/>
          <a:lstStyle/>
          <a:p>
            <a:pPr>
              <a:defRPr/>
            </a:pPr>
            <a:r>
              <a:rPr lang="fr-FR" dirty="0"/>
              <a:t>Définition d’une donnée ouverte</a:t>
            </a:r>
            <a:endParaRPr lang="en-US" dirty="0"/>
          </a:p>
        </p:txBody>
      </p:sp>
      <p:pic>
        <p:nvPicPr>
          <p:cNvPr id="5" name="Picture 2" descr="Image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400" y="1382482"/>
            <a:ext cx="3733800" cy="2514600"/>
          </a:xfrm>
          <a:prstGeom prst="rect">
            <a:avLst/>
          </a:prstGeom>
          <a:noFill/>
        </p:spPr>
      </p:pic>
      <p:pic>
        <p:nvPicPr>
          <p:cNvPr id="7" name="Picture 4" descr="binary code in shape of ke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1306282"/>
            <a:ext cx="3581400" cy="2590800"/>
          </a:xfrm>
          <a:prstGeom prst="rect">
            <a:avLst/>
          </a:prstGeom>
          <a:noFill/>
        </p:spPr>
      </p:pic>
      <p:sp>
        <p:nvSpPr>
          <p:cNvPr id="8" name="Right Arrow 6"/>
          <p:cNvSpPr/>
          <p:nvPr/>
        </p:nvSpPr>
        <p:spPr>
          <a:xfrm>
            <a:off x="3986212" y="2296882"/>
            <a:ext cx="1323975" cy="685800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210175" y="4600989"/>
            <a:ext cx="4800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rgbClr val="C00000"/>
                </a:solidFill>
              </a:rPr>
              <a:t>2. </a:t>
            </a:r>
            <a:r>
              <a:rPr lang="fr-FR" sz="2000" b="1" u="sng" dirty="0">
                <a:solidFill>
                  <a:srgbClr val="C00000"/>
                </a:solidFill>
              </a:rPr>
              <a:t>Légalement ouvertes</a:t>
            </a:r>
            <a:r>
              <a:rPr lang="fr-FR" sz="2000" dirty="0">
                <a:solidFill>
                  <a:srgbClr val="C00000"/>
                </a:solidFill>
              </a:rPr>
              <a:t>: </a:t>
            </a:r>
          </a:p>
          <a:p>
            <a:r>
              <a:rPr lang="fr-FR" sz="2000" dirty="0"/>
              <a:t>Ayant une licence d’exploitation autorisant l'utilisation </a:t>
            </a:r>
          </a:p>
          <a:p>
            <a:r>
              <a:rPr lang="fr-FR" sz="2000" dirty="0"/>
              <a:t>commerciale et non-commerciale </a:t>
            </a:r>
          </a:p>
          <a:p>
            <a:r>
              <a:rPr lang="fr-FR" sz="2000" dirty="0"/>
              <a:t>et la réutilisation sans restrictions</a:t>
            </a:r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E226D3-7D22-4CA0-AC86-D2FA7F5236C2}"/>
              </a:ext>
            </a:extLst>
          </p:cNvPr>
          <p:cNvSpPr/>
          <p:nvPr/>
        </p:nvSpPr>
        <p:spPr>
          <a:xfrm>
            <a:off x="304801" y="4736110"/>
            <a:ext cx="395287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rgbClr val="C00000"/>
                </a:solidFill>
              </a:rPr>
              <a:t>1. </a:t>
            </a:r>
            <a:r>
              <a:rPr lang="fr-FR" sz="2000" b="1" u="sng" dirty="0">
                <a:solidFill>
                  <a:srgbClr val="C00000"/>
                </a:solidFill>
              </a:rPr>
              <a:t>Techniquement ouvertes</a:t>
            </a:r>
            <a:r>
              <a:rPr lang="en-US" sz="2000" dirty="0">
                <a:solidFill>
                  <a:srgbClr val="C00000"/>
                </a:solidFill>
              </a:rPr>
              <a:t>: </a:t>
            </a:r>
            <a:r>
              <a:rPr lang="fr-FR" sz="2000" dirty="0"/>
              <a:t>disponibles  dans un format standardisé et exploitable par une machine</a:t>
            </a:r>
            <a:br>
              <a:rPr lang="fr-FR" sz="2000" dirty="0"/>
            </a:br>
            <a:endParaRPr lang="en-US" sz="2000" b="1" u="sng" dirty="0">
              <a:solidFill>
                <a:prstClr val="black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B01F4B-74DD-4264-AFCC-9078D1A78EDB}"/>
              </a:ext>
            </a:extLst>
          </p:cNvPr>
          <p:cNvSpPr txBox="1"/>
          <p:nvPr/>
        </p:nvSpPr>
        <p:spPr>
          <a:xfrm>
            <a:off x="4233863" y="4834927"/>
            <a:ext cx="828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&amp;</a:t>
            </a: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1A4578FC-FAAA-4783-803D-24317C1F5DED}"/>
              </a:ext>
            </a:extLst>
          </p:cNvPr>
          <p:cNvSpPr/>
          <p:nvPr/>
        </p:nvSpPr>
        <p:spPr>
          <a:xfrm rot="5400000">
            <a:off x="4444303" y="2475773"/>
            <a:ext cx="407791" cy="3574191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974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0" y="0"/>
            <a:ext cx="5148943" cy="812800"/>
          </a:xfrm>
        </p:spPr>
        <p:txBody>
          <a:bodyPr/>
          <a:lstStyle/>
          <a:p>
            <a:r>
              <a:rPr lang="fr-FR" sz="2400" dirty="0"/>
              <a:t>Données Ouvertes d’un point de vue technique</a:t>
            </a:r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152400" y="1306280"/>
            <a:ext cx="8763000" cy="59872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Courier New" pitchFamily="49" charset="0"/>
              <a:buNone/>
            </a:pPr>
            <a:r>
              <a:rPr lang="fr-FR" sz="2800" dirty="0"/>
              <a:t>Une donnée est </a:t>
            </a:r>
            <a:r>
              <a:rPr lang="fr-FR" sz="2800" b="1" dirty="0"/>
              <a:t>techniquement </a:t>
            </a:r>
            <a:r>
              <a:rPr lang="fr-FR" sz="2800" dirty="0"/>
              <a:t>ouverte quand:</a:t>
            </a:r>
          </a:p>
          <a:p>
            <a:pPr lvl="2">
              <a:buFont typeface="Courier New" pitchFamily="49" charset="0"/>
              <a:buNone/>
            </a:pPr>
            <a:endParaRPr lang="fr-FR" sz="2000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685100" y="3956101"/>
          <a:ext cx="3894274" cy="23917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94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519"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7800" dirty="0">
                        <a:solidFill>
                          <a:srgbClr val="00B050"/>
                        </a:solidFill>
                      </a:endParaRPr>
                    </a:p>
                  </a:txBody>
                  <a:tcPr marL="98612" marR="98612" marT="49306" marB="4930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417">
                <a:tc>
                  <a:txBody>
                    <a:bodyPr/>
                    <a:lstStyle/>
                    <a:p>
                      <a:pPr algn="ctr"/>
                      <a:r>
                        <a:rPr lang="fr-FR" sz="2200" noProof="0" dirty="0">
                          <a:solidFill>
                            <a:schemeClr val="tx1"/>
                          </a:solidFill>
                        </a:rPr>
                        <a:t>  PDF, images (JPG,</a:t>
                      </a:r>
                      <a:r>
                        <a:rPr lang="fr-FR" sz="2200" baseline="0" noProof="0" dirty="0">
                          <a:solidFill>
                            <a:schemeClr val="tx1"/>
                          </a:solidFill>
                        </a:rPr>
                        <a:t> GIF, PNG), d’autres formats propriétaires.</a:t>
                      </a:r>
                      <a:endParaRPr lang="fr-FR" sz="22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8612" marR="98612" marT="49306" marB="4930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Image 3" descr="Une image contenant dessin&#10;&#10;Description générée automatiquement">
            <a:extLst>
              <a:ext uri="{FF2B5EF4-FFF2-40B4-BE49-F238E27FC236}">
                <a16:creationId xmlns:a16="http://schemas.microsoft.com/office/drawing/2014/main" id="{3C6C011B-E82A-4074-978F-16E2E7B76DD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9995" y="4290422"/>
            <a:ext cx="584484" cy="5844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B69203-7E20-4E9C-8459-FEC548A73CC5}"/>
              </a:ext>
            </a:extLst>
          </p:cNvPr>
          <p:cNvSpPr/>
          <p:nvPr/>
        </p:nvSpPr>
        <p:spPr>
          <a:xfrm>
            <a:off x="661059" y="2107111"/>
            <a:ext cx="3143250" cy="19812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Font typeface="Courier New" pitchFamily="49" charset="0"/>
              <a:buNone/>
            </a:pPr>
            <a:r>
              <a:rPr lang="fr-FR" sz="2000" dirty="0"/>
              <a:t>Vous pouvez la </a:t>
            </a:r>
            <a:r>
              <a:rPr lang="fr-FR" sz="2000" b="1" dirty="0"/>
              <a:t>chercher </a:t>
            </a:r>
            <a:r>
              <a:rPr lang="fr-FR" sz="2000" dirty="0"/>
              <a:t>et la </a:t>
            </a:r>
            <a:r>
              <a:rPr lang="fr-FR" sz="2000" b="1" dirty="0"/>
              <a:t>trouver </a:t>
            </a:r>
            <a:r>
              <a:rPr lang="fr-FR" sz="2000" dirty="0"/>
              <a:t>facilement en </a:t>
            </a:r>
            <a:r>
              <a:rPr lang="fr-FR" sz="2000" b="1" dirty="0"/>
              <a:t>ligne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DF6881-8502-4A51-B348-B6274110956E}"/>
              </a:ext>
            </a:extLst>
          </p:cNvPr>
          <p:cNvSpPr/>
          <p:nvPr/>
        </p:nvSpPr>
        <p:spPr>
          <a:xfrm>
            <a:off x="5133974" y="2107111"/>
            <a:ext cx="3145536" cy="19812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>
              <a:buFont typeface="Courier New" pitchFamily="49" charset="0"/>
              <a:buNone/>
            </a:pPr>
            <a:r>
              <a:rPr lang="fr-FR" sz="2000" dirty="0"/>
              <a:t>Elle est disponible sous un format </a:t>
            </a:r>
            <a:r>
              <a:rPr lang="fr-FR" sz="2000" b="1" dirty="0"/>
              <a:t>électronique modifiable</a:t>
            </a:r>
            <a:r>
              <a:rPr lang="fr-FR" sz="2000" dirty="0"/>
              <a:t> ou au travers d’une </a:t>
            </a:r>
            <a:r>
              <a:rPr lang="fr-FR" sz="2000" b="1" dirty="0"/>
              <a:t>interface de programmation </a:t>
            </a:r>
            <a:r>
              <a:rPr lang="fr-FR" sz="2000" dirty="0"/>
              <a:t>(</a:t>
            </a:r>
            <a:r>
              <a:rPr lang="fr-FR" sz="2000" b="1" dirty="0"/>
              <a:t>API)</a:t>
            </a:r>
            <a:r>
              <a:rPr lang="fr-FR" sz="2000" dirty="0"/>
              <a:t> </a:t>
            </a:r>
            <a:endParaRPr lang="fr-FR" sz="2000" b="1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16B6F5E8-12BC-4BFB-9FF0-A3F96A30E215}"/>
              </a:ext>
            </a:extLst>
          </p:cNvPr>
          <p:cNvSpPr/>
          <p:nvPr/>
        </p:nvSpPr>
        <p:spPr>
          <a:xfrm>
            <a:off x="533400" y="1965089"/>
            <a:ext cx="433391" cy="433391"/>
          </a:xfrm>
          <a:prstGeom prst="flowChartConnector">
            <a:avLst/>
          </a:prstGeom>
          <a:solidFill>
            <a:schemeClr val="bg1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D92"/>
                </a:solidFill>
              </a:rPr>
              <a:t>1</a:t>
            </a:r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0713649B-5C8F-4E8B-9EC4-C237B2AC00F1}"/>
              </a:ext>
            </a:extLst>
          </p:cNvPr>
          <p:cNvSpPr/>
          <p:nvPr/>
        </p:nvSpPr>
        <p:spPr>
          <a:xfrm>
            <a:off x="4917279" y="2005275"/>
            <a:ext cx="433391" cy="433391"/>
          </a:xfrm>
          <a:prstGeom prst="flowChartConnector">
            <a:avLst/>
          </a:prstGeom>
          <a:solidFill>
            <a:schemeClr val="bg1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5D92"/>
                </a:solidFill>
              </a:rPr>
              <a:t>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1DD736-9F33-43C5-B2C6-B98B7FC4A559}"/>
              </a:ext>
            </a:extLst>
          </p:cNvPr>
          <p:cNvGraphicFramePr>
            <a:graphicFrameLocks noGrp="1"/>
          </p:cNvGraphicFramePr>
          <p:nvPr/>
        </p:nvGraphicFramePr>
        <p:xfrm>
          <a:off x="678204" y="3956101"/>
          <a:ext cx="3108960" cy="23917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97989247"/>
                    </a:ext>
                  </a:extLst>
                </a:gridCol>
              </a:tblGrid>
              <a:tr h="1230396">
                <a:tc>
                  <a:txBody>
                    <a:bodyPr/>
                    <a:lstStyle/>
                    <a:p>
                      <a:pPr algn="ctr"/>
                      <a:r>
                        <a:rPr lang="en-US" sz="7800" dirty="0">
                          <a:solidFill>
                            <a:srgbClr val="00B050"/>
                          </a:solidFill>
                          <a:sym typeface="Wingdings"/>
                        </a:rPr>
                        <a:t></a:t>
                      </a:r>
                      <a:endParaRPr lang="en-US" sz="7800" dirty="0">
                        <a:solidFill>
                          <a:schemeClr val="tx1"/>
                        </a:solidFill>
                      </a:endParaRPr>
                    </a:p>
                  </a:txBody>
                  <a:tcPr marL="98612" marR="98612" marT="49306" marB="49306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670085"/>
                  </a:ext>
                </a:extLst>
              </a:tr>
              <a:tr h="1055604">
                <a:tc>
                  <a:txBody>
                    <a:bodyPr/>
                    <a:lstStyle/>
                    <a:p>
                      <a:pPr algn="ctr"/>
                      <a:r>
                        <a:rPr lang="fr-FR" sz="2200" noProof="0" dirty="0">
                          <a:solidFill>
                            <a:schemeClr val="tx1"/>
                          </a:solidFill>
                        </a:rPr>
                        <a:t>xls, json, txt,</a:t>
                      </a:r>
                      <a:r>
                        <a:rPr lang="fr-FR" sz="2200" baseline="0" noProof="0" dirty="0">
                          <a:solidFill>
                            <a:schemeClr val="tx1"/>
                          </a:solidFill>
                        </a:rPr>
                        <a:t> csv, xml, html, doc, API, odt, ods etc.</a:t>
                      </a:r>
                      <a:endParaRPr lang="fr-FR" sz="220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8612" marR="98612" marT="49306" marB="49306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299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308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23904" y="0"/>
            <a:ext cx="6267449" cy="812800"/>
          </a:xfrm>
        </p:spPr>
        <p:txBody>
          <a:bodyPr/>
          <a:lstStyle/>
          <a:p>
            <a:r>
              <a:rPr lang="fr-FR" sz="2300" dirty="0"/>
              <a:t>Données Ouvertes d’un point de vue légal</a:t>
            </a: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-114300" y="1008136"/>
            <a:ext cx="8839200" cy="510540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Courier New" pitchFamily="49" charset="0"/>
              <a:buNone/>
            </a:pPr>
            <a:r>
              <a:rPr lang="fr-FR" dirty="0"/>
              <a:t> </a:t>
            </a:r>
            <a:endParaRPr lang="fr-FR" b="1" dirty="0"/>
          </a:p>
          <a:p>
            <a:pPr algn="ctr">
              <a:buFont typeface="Courier New" pitchFamily="49" charset="0"/>
              <a:buNone/>
            </a:pPr>
            <a:endParaRPr lang="fr-FR" b="1" dirty="0"/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r>
              <a:rPr lang="fr-FR" sz="3500" dirty="0"/>
              <a:t>Toute personne peut </a:t>
            </a:r>
            <a:r>
              <a:rPr lang="fr-FR" sz="3500" b="1" dirty="0"/>
              <a:t>utiliser les données </a:t>
            </a:r>
            <a:r>
              <a:rPr lang="fr-FR" sz="3500" dirty="0"/>
              <a:t>librement </a:t>
            </a:r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r>
              <a:rPr lang="fr-FR" sz="3500" dirty="0"/>
              <a:t>Toute personne peut </a:t>
            </a:r>
            <a:r>
              <a:rPr lang="fr-FR" sz="3500" b="1" dirty="0"/>
              <a:t>réutiliser les données </a:t>
            </a:r>
            <a:r>
              <a:rPr lang="fr-FR" sz="3500" dirty="0"/>
              <a:t>librement </a:t>
            </a:r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r>
              <a:rPr lang="fr-FR" sz="3500" dirty="0"/>
              <a:t>Toute personne peut</a:t>
            </a:r>
            <a:r>
              <a:rPr lang="fr-FR" sz="3500" b="1" dirty="0"/>
              <a:t> redistribuer les données </a:t>
            </a:r>
            <a:r>
              <a:rPr lang="fr-FR" sz="3500" dirty="0"/>
              <a:t>librement </a:t>
            </a:r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endParaRPr lang="fr-FR" sz="3500" dirty="0"/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r>
              <a:rPr lang="fr-FR" sz="3500" dirty="0"/>
              <a:t>Pour une utilisation</a:t>
            </a:r>
            <a:r>
              <a:rPr lang="fr-FR" sz="3500" b="1" dirty="0"/>
              <a:t> commerciale </a:t>
            </a:r>
            <a:r>
              <a:rPr lang="fr-FR" sz="3500" dirty="0"/>
              <a:t>et </a:t>
            </a:r>
            <a:r>
              <a:rPr lang="fr-FR" sz="3500" b="1" dirty="0"/>
              <a:t>non-commerciale</a:t>
            </a:r>
            <a:endParaRPr lang="fr-FR" sz="3500" dirty="0"/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r>
              <a:rPr lang="fr-FR" sz="3500" dirty="0"/>
              <a:t>On peut demander </a:t>
            </a:r>
            <a:r>
              <a:rPr lang="fr-FR" sz="3500" b="1" dirty="0"/>
              <a:t>l’attribution</a:t>
            </a:r>
          </a:p>
          <a:p>
            <a:pPr lvl="1">
              <a:lnSpc>
                <a:spcPct val="130000"/>
              </a:lnSpc>
              <a:buFont typeface="Courier New" pitchFamily="49" charset="0"/>
              <a:buNone/>
            </a:pPr>
            <a:endParaRPr lang="en-US" sz="4300" dirty="0"/>
          </a:p>
          <a:p>
            <a:pPr lvl="1">
              <a:lnSpc>
                <a:spcPct val="130000"/>
              </a:lnSpc>
              <a:buFont typeface="Courier New" pitchFamily="49" charset="0"/>
              <a:buNone/>
            </a:pPr>
            <a:r>
              <a:rPr lang="en-US" sz="4300" dirty="0"/>
              <a:t>				    Copyright</a:t>
            </a:r>
            <a:r>
              <a:rPr lang="en-US" sz="4300" dirty="0">
                <a:solidFill>
                  <a:schemeClr val="bg1"/>
                </a:solidFill>
              </a:rPr>
              <a:t> </a:t>
            </a:r>
            <a:r>
              <a:rPr lang="en-US" sz="4300" dirty="0"/>
              <a:t>©</a:t>
            </a:r>
            <a:r>
              <a:rPr lang="en-US" sz="4300" dirty="0">
                <a:solidFill>
                  <a:schemeClr val="bg1"/>
                </a:solidFill>
              </a:rPr>
              <a:t> </a:t>
            </a:r>
            <a:r>
              <a:rPr lang="fr-FR" sz="4200" b="1" dirty="0"/>
              <a:t> vs  </a:t>
            </a:r>
          </a:p>
          <a:p>
            <a:pPr lvl="1" algn="ctr">
              <a:lnSpc>
                <a:spcPct val="130000"/>
              </a:lnSpc>
              <a:buFont typeface="Courier New" pitchFamily="49" charset="0"/>
              <a:buNone/>
            </a:pPr>
            <a:endParaRPr lang="fr-FR" sz="2400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4" name="Shape 9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16128" y="5315785"/>
            <a:ext cx="997584" cy="42454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Arrow: Chevron 4">
            <a:extLst>
              <a:ext uri="{FF2B5EF4-FFF2-40B4-BE49-F238E27FC236}">
                <a16:creationId xmlns:a16="http://schemas.microsoft.com/office/drawing/2014/main" id="{2591973D-5851-4ECD-9CD9-A978B3233F1C}"/>
              </a:ext>
            </a:extLst>
          </p:cNvPr>
          <p:cNvSpPr/>
          <p:nvPr/>
        </p:nvSpPr>
        <p:spPr>
          <a:xfrm rot="5400000">
            <a:off x="4594276" y="3838648"/>
            <a:ext cx="263666" cy="2310972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002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A3D738-20D2-4722-A3EC-C0A22BBBF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Données gouvernementales</a:t>
            </a:r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6565A76A-6394-4FBF-A2DB-A31D2B6EDB33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299248"/>
          <a:ext cx="8382000" cy="484985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860"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/>
                        <a:t>Données administratives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 dirty="0"/>
                        <a:t>Découpage administratif, adresses, bâtiments publics, agendas, etc.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4860"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/>
                        <a:t>Données statistiques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noProof="0" dirty="0"/>
                        <a:t>Population, économie, environnement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2920718885"/>
                  </a:ext>
                </a:extLst>
              </a:tr>
              <a:tr h="944860"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/>
                        <a:t>Données politiques</a:t>
                      </a:r>
                      <a:endParaRPr lang="fr-FR" sz="2000" b="1" baseline="0" noProof="0" dirty="0"/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noProof="0" dirty="0"/>
                        <a:t>Résultats des élections, interventions à l’assemblée, présence, etc.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1995">
                <a:tc>
                  <a:txBody>
                    <a:bodyPr/>
                    <a:lstStyle/>
                    <a:p>
                      <a:pPr algn="ctr"/>
                      <a:r>
                        <a:rPr lang="fr-FR" sz="2000" b="1" noProof="0" dirty="0"/>
                        <a:t>Données de recherche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noProof="0" dirty="0"/>
                        <a:t>Données générées par les instituts et organismes de recherche public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3284">
                <a:tc>
                  <a:txBody>
                    <a:bodyPr/>
                    <a:lstStyle/>
                    <a:p>
                      <a:pPr algn="ctr"/>
                      <a:r>
                        <a:rPr lang="fr-FR" sz="2000" b="1" baseline="0" noProof="0" dirty="0"/>
                        <a:t>Données créées par les citoyens et les sociétés</a:t>
                      </a:r>
                      <a:endParaRPr lang="fr-FR" sz="2000" b="1" noProof="0" dirty="0"/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noProof="0" dirty="0"/>
                        <a:t>Données qui peuvent être considérées comme relevant du bien public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762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790" y="0"/>
            <a:ext cx="6067313" cy="935182"/>
          </a:xfrm>
        </p:spPr>
        <p:txBody>
          <a:bodyPr/>
          <a:lstStyle/>
          <a:p>
            <a:r>
              <a:rPr lang="fr-FR" dirty="0"/>
              <a:t>Quelles données ?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132917" y="1073988"/>
            <a:ext cx="7500938" cy="48696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+mn-lt"/>
                <a:cs typeface="ＭＳ Ｐゴシック" pitchFamily="34" charset="-128"/>
              </a:rPr>
              <a:t> </a:t>
            </a:r>
            <a:r>
              <a:rPr lang="fr-FR" sz="2400" dirty="0">
                <a:latin typeface="+mn-lt"/>
              </a:rPr>
              <a:t>Toutes les données produites par une agence du gouvernement peuvent être publiées en tant que données ouvertes, en préservant la confidentialité et la sécurité</a:t>
            </a:r>
            <a:endParaRPr lang="fr-FR" sz="2400" b="1" dirty="0">
              <a:latin typeface="+mn-lt"/>
            </a:endParaRPr>
          </a:p>
          <a:p>
            <a:pPr algn="just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+mn-lt"/>
              </a:rPr>
              <a:t> </a:t>
            </a:r>
            <a:r>
              <a:rPr lang="fr-FR" sz="2400" dirty="0">
                <a:latin typeface="+mn-lt"/>
              </a:rPr>
              <a:t>L’Open Data définit les formats et les processus de publication pas le contenu</a:t>
            </a:r>
          </a:p>
          <a:p>
            <a:pPr algn="just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+mn-lt"/>
              </a:rPr>
              <a:t> Un ensemble de législations définit les données à publier (Loi 31-13, Loi statistique…) </a:t>
            </a:r>
          </a:p>
          <a:p>
            <a:pPr lvl="1" algn="just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800" b="1" dirty="0">
              <a:latin typeface="Trebuchet MS" pitchFamily="34" charset="0"/>
              <a:cs typeface="ＭＳ Ｐゴシック" pitchFamily="34" charset="-128"/>
            </a:endParaRPr>
          </a:p>
          <a:p>
            <a:pPr algn="just"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		 	</a:t>
            </a:r>
            <a:r>
              <a:rPr lang="fr-FR" sz="2800" b="1" dirty="0">
                <a:latin typeface="Trebuchet MS" pitchFamily="34" charset="0"/>
                <a:cs typeface="ＭＳ Ｐゴシック" pitchFamily="34" charset="-128"/>
              </a:rPr>
              <a:t>L’open data complémente les lois 				d’accès à l’information</a:t>
            </a:r>
          </a:p>
          <a:p>
            <a:pPr algn="just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000" b="1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1026" name="Picture 2" descr="Image result for acces à l'information icon">
            <a:extLst>
              <a:ext uri="{FF2B5EF4-FFF2-40B4-BE49-F238E27FC236}">
                <a16:creationId xmlns:a16="http://schemas.microsoft.com/office/drawing/2014/main" id="{2E7544E8-8DF6-438E-BD62-35CEA6C0F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25294" y="2252048"/>
            <a:ext cx="690056" cy="690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hevron 5">
            <a:extLst>
              <a:ext uri="{FF2B5EF4-FFF2-40B4-BE49-F238E27FC236}">
                <a16:creationId xmlns:a16="http://schemas.microsoft.com/office/drawing/2014/main" id="{74D45473-40E5-4DFF-A469-48875E9602F5}"/>
              </a:ext>
            </a:extLst>
          </p:cNvPr>
          <p:cNvSpPr/>
          <p:nvPr/>
        </p:nvSpPr>
        <p:spPr>
          <a:xfrm>
            <a:off x="880733" y="4606637"/>
            <a:ext cx="324716" cy="539394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390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790" y="0"/>
            <a:ext cx="6067313" cy="935182"/>
          </a:xfrm>
        </p:spPr>
        <p:txBody>
          <a:bodyPr/>
          <a:lstStyle/>
          <a:p>
            <a:r>
              <a:rPr lang="fr-FR" sz="2400" dirty="0"/>
              <a:t>Open Data et La protection des données personnelles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56310" y="1142235"/>
            <a:ext cx="8887690" cy="34070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L’open data nécessite un cadre législatif claire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  concernant la protection des donnée personnelles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Les lois de protection des données personnelles 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  définissent le contenu: Quelle données doivent 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  être protégées ?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1400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L’open data développe des capacités sur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  l’anonymisation des données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1600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Des défis communs à tous les pays: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Transparence vs protection des données 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  personnelles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Les spécificités culturelles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2050" name="Picture 2" descr="Image result for donnée personnelle icon">
            <a:extLst>
              <a:ext uri="{FF2B5EF4-FFF2-40B4-BE49-F238E27FC236}">
                <a16:creationId xmlns:a16="http://schemas.microsoft.com/office/drawing/2014/main" id="{23D1B6E4-3D92-4389-B768-B8F08FE2C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73642" y="2845737"/>
            <a:ext cx="2632135" cy="148708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105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604" y="0"/>
            <a:ext cx="4777015" cy="812800"/>
          </a:xfrm>
        </p:spPr>
        <p:txBody>
          <a:bodyPr/>
          <a:lstStyle/>
          <a:p>
            <a:pPr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Facteurs clés</a:t>
            </a:r>
            <a:r>
              <a:rPr lang="en-US" sz="28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de succès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191604" y="1156739"/>
            <a:ext cx="8760791" cy="521548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/>
          </a:bodyPr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Un leadership fort à tous les niveaux</a:t>
            </a:r>
          </a:p>
          <a:p>
            <a:pPr lvl="1"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Au plus haut niveau de l’Etat</a:t>
            </a:r>
          </a:p>
          <a:p>
            <a:pPr lvl="1"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Au niveau des Ministres, cabinets, conseillers et des directeurs </a:t>
            </a:r>
          </a:p>
          <a:p>
            <a:pPr lvl="1"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 généraux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Une législation incitative et protectrice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Une structure organisationnelle pour organiser les activités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Une implémentation au niveau de chaque organisme public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:</a:t>
            </a:r>
          </a:p>
          <a:p>
            <a:pPr lvl="1"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Une politique de gestion de données</a:t>
            </a:r>
          </a:p>
          <a:p>
            <a:pPr lvl="1"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Développement de capacités et leur mise en œuvre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Une communauté de réutilisateurs engagée avec le gouvernement et au niveau individuel de chaque secteur</a:t>
            </a:r>
          </a:p>
        </p:txBody>
      </p:sp>
      <p:pic>
        <p:nvPicPr>
          <p:cNvPr id="3" name="Image 2" descr="Une image contenant objet&#10;&#10;Description générée automatiquement">
            <a:extLst>
              <a:ext uri="{FF2B5EF4-FFF2-40B4-BE49-F238E27FC236}">
                <a16:creationId xmlns:a16="http://schemas.microsoft.com/office/drawing/2014/main" id="{78779663-79E4-4D0A-B0F2-BE0F642B7BB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1183" y="983673"/>
            <a:ext cx="1844443" cy="10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528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2509" y="0"/>
            <a:ext cx="4239492" cy="935182"/>
          </a:xfrm>
        </p:spPr>
        <p:txBody>
          <a:bodyPr/>
          <a:lstStyle/>
          <a:p>
            <a:r>
              <a:rPr lang="fr-FR" dirty="0"/>
              <a:t>Les opportunités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08683" y="1022819"/>
            <a:ext cx="8278092" cy="481600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100" b="1" dirty="0">
                <a:latin typeface="Trebuchet MS" pitchFamily="34" charset="0"/>
                <a:cs typeface="ＭＳ Ｐゴシック" pitchFamily="34" charset="-128"/>
              </a:rPr>
              <a:t> Mettre les données au centre de la gouvernance: 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fr-FR" sz="2100" dirty="0">
                <a:latin typeface="Trebuchet MS" pitchFamily="34" charset="0"/>
                <a:cs typeface="ＭＳ Ｐゴシック" pitchFamily="34" charset="-128"/>
              </a:rPr>
              <a:t>Améliorer l’efficacité de l’administration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fr-FR" sz="2100" dirty="0">
                <a:latin typeface="Trebuchet MS" pitchFamily="34" charset="0"/>
                <a:cs typeface="ＭＳ Ｐゴシック" pitchFamily="34" charset="-128"/>
              </a:rPr>
              <a:t>Faciliter la mise en place d’un cadre d’évaluation des politiques publiques basées sur les données (y compris les ODD)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fr-FR" sz="2100" dirty="0">
                <a:latin typeface="Trebuchet MS" pitchFamily="34" charset="0"/>
                <a:cs typeface="ＭＳ Ｐゴシック" pitchFamily="34" charset="-128"/>
              </a:rPr>
              <a:t>Faciliter l’utilisation des données pour la prise de décision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fr-FR" sz="2100" dirty="0">
                <a:latin typeface="Trebuchet MS" pitchFamily="34" charset="0"/>
                <a:cs typeface="ＭＳ Ｐゴシック" pitchFamily="34" charset="-128"/>
              </a:rPr>
              <a:t>Définir un nouveau contrat de gouvernance avec les citoyens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fr-FR" sz="2100" dirty="0">
                <a:latin typeface="Trebuchet MS" pitchFamily="34" charset="0"/>
                <a:cs typeface="ＭＳ Ｐゴシック" pitchFamily="34" charset="-128"/>
              </a:rPr>
              <a:t>Implémenter les services publics en collaboration avec les citoyens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/>
            </a:pPr>
            <a:r>
              <a:rPr lang="fr-FR" sz="2100" dirty="0">
                <a:latin typeface="Trebuchet MS" pitchFamily="34" charset="0"/>
                <a:cs typeface="ＭＳ Ｐゴシック" pitchFamily="34" charset="-128"/>
              </a:rPr>
              <a:t>Utiliser l’innovation et l’intelligence collective pour la résolution des problèmes de l’administration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100" b="1" dirty="0">
                <a:latin typeface="Trebuchet MS" pitchFamily="34" charset="0"/>
                <a:cs typeface="ＭＳ Ｐゴシック" pitchFamily="34" charset="-128"/>
              </a:rPr>
              <a:t> Développer l’innovation TIC dans tous les secteurs de l’économie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100" b="1" dirty="0">
                <a:latin typeface="Trebuchet MS" pitchFamily="34" charset="0"/>
                <a:cs typeface="ＭＳ Ｐゴシック" pitchFamily="34" charset="-128"/>
              </a:rPr>
              <a:t> Augmenter la transparence de la gouvernance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720431-EC47-4B62-8576-AA9A0946A9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3911"/>
          <a:stretch/>
        </p:blipFill>
        <p:spPr>
          <a:xfrm>
            <a:off x="7613576" y="5094325"/>
            <a:ext cx="1453426" cy="130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69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1321E34-27CE-45BD-9E0F-211A44205320}"/>
              </a:ext>
            </a:extLst>
          </p:cNvPr>
          <p:cNvSpPr/>
          <p:nvPr/>
        </p:nvSpPr>
        <p:spPr>
          <a:xfrm>
            <a:off x="1339403" y="2086377"/>
            <a:ext cx="6757518" cy="310917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Exemples d’applications</a:t>
            </a:r>
          </a:p>
        </p:txBody>
      </p:sp>
    </p:spTree>
    <p:extLst>
      <p:ext uri="{BB962C8B-B14F-4D97-AF65-F5344CB8AC3E}">
        <p14:creationId xmlns:p14="http://schemas.microsoft.com/office/powerpoint/2010/main" val="1774701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04" y="0"/>
            <a:ext cx="6368527" cy="812800"/>
          </a:xfrm>
        </p:spPr>
        <p:txBody>
          <a:bodyPr/>
          <a:lstStyle/>
          <a:p>
            <a:r>
              <a:rPr lang="fr-FR" dirty="0"/>
              <a:t>Applications Open Data</a:t>
            </a: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9AB0F164-8AE0-4E9D-89EE-77FF5D563954}"/>
              </a:ext>
            </a:extLst>
          </p:cNvPr>
          <p:cNvSpPr>
            <a:spLocks/>
          </p:cNvSpPr>
          <p:nvPr/>
        </p:nvSpPr>
        <p:spPr bwMode="auto">
          <a:xfrm>
            <a:off x="248478" y="1110672"/>
            <a:ext cx="6917866" cy="463665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Des applications de startups ou de citoyens 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 utilisant des données publiques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Une nouvelle façon de faire du journalisme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Des services publics utilisant des données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  gouvernementales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Des services publics coopératifs s’appuyant sur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  les citoyens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Une nouvelle façon de définir les politiques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  publiques en se basant sur les données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E212E2-67BB-4AFE-A70B-C5B26690A10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6344" y="4629150"/>
            <a:ext cx="1724024" cy="172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25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Epidémie de choléra</a:t>
            </a:r>
            <a:br>
              <a:rPr lang="fr-FR" dirty="0"/>
            </a:br>
            <a:r>
              <a:rPr lang="fr-FR" dirty="0"/>
              <a:t>Londres – 1854</a:t>
            </a: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9AB0F164-8AE0-4E9D-89EE-77FF5D563954}"/>
              </a:ext>
            </a:extLst>
          </p:cNvPr>
          <p:cNvSpPr>
            <a:spLocks/>
          </p:cNvSpPr>
          <p:nvPr/>
        </p:nvSpPr>
        <p:spPr bwMode="auto">
          <a:xfrm>
            <a:off x="258417" y="1551709"/>
            <a:ext cx="8647044" cy="463665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John Snow (médecin):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part d’une carte de Londres;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ajoute les décès par adresse;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ajoute les positions des pompes à eau;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constate une corrélation;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en déduit la pompe à eau à fermer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va enlever la manivelle de la pompe</a:t>
            </a:r>
          </a:p>
        </p:txBody>
      </p:sp>
    </p:spTree>
    <p:extLst>
      <p:ext uri="{BB962C8B-B14F-4D97-AF65-F5344CB8AC3E}">
        <p14:creationId xmlns:p14="http://schemas.microsoft.com/office/powerpoint/2010/main" val="779626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Epidémie de choléra</a:t>
            </a:r>
            <a:br>
              <a:rPr lang="fr-FR" dirty="0"/>
            </a:br>
            <a:r>
              <a:rPr lang="fr-FR" dirty="0"/>
              <a:t>Londres – 1854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FFB91B1-0A64-4E25-967D-5B4A8E8874D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06"/>
            <a:ext cx="9144000" cy="685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459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0" y="0"/>
            <a:ext cx="6955971" cy="812800"/>
          </a:xfrm>
        </p:spPr>
        <p:txBody>
          <a:bodyPr/>
          <a:lstStyle/>
          <a:p>
            <a:r>
              <a:rPr lang="fr-FR" sz="2800" dirty="0"/>
              <a:t>Exemples de service</a:t>
            </a:r>
          </a:p>
        </p:txBody>
      </p:sp>
      <p:pic>
        <p:nvPicPr>
          <p:cNvPr id="6146" name="Picture 2" descr="C:\Users\boyera\Desktop\tz_health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6560" y="1893733"/>
            <a:ext cx="5965970" cy="4233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hape 213"/>
          <p:cNvSpPr txBox="1">
            <a:spLocks/>
          </p:cNvSpPr>
          <p:nvPr/>
        </p:nvSpPr>
        <p:spPr>
          <a:xfrm>
            <a:off x="511630" y="1237514"/>
            <a:ext cx="5760900" cy="338100"/>
          </a:xfrm>
          <a:prstGeom prst="rect">
            <a:avLst/>
          </a:prstGeom>
        </p:spPr>
        <p:txBody>
          <a:bodyPr vert="horz" lIns="91425" tIns="91425" rIns="91425" bIns="91425" anchor="t" anchorCtr="0">
            <a:noAutofit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600" b="1" kern="1200">
                <a:solidFill>
                  <a:schemeClr val="tx1"/>
                </a:solidFill>
                <a:latin typeface="+mn-lt"/>
                <a:ea typeface="ＭＳ Ｐゴシック" charset="-128"/>
                <a:cs typeface="Calibri (Titres)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ea typeface="ＭＳ Ｐゴシック" charset="-128"/>
                <a:cs typeface="ＭＳ Ｐゴシック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ea typeface="ＭＳ Ｐゴシック" charset="-128"/>
                <a:cs typeface="ＭＳ Ｐゴシック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ea typeface="ＭＳ Ｐゴシック" charset="-128"/>
                <a:cs typeface="ＭＳ Ｐゴシック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ebuchet MS" pitchFamily="34" charset="0"/>
                <a:ea typeface="ＭＳ Ｐゴシック" charset="-128"/>
                <a:cs typeface="ＭＳ Ｐゴシック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895" dirty="0">
                <a:solidFill>
                  <a:schemeClr val="tx1">
                    <a:lumMod val="50000"/>
                  </a:schemeClr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Centre de Santé en Tanzanie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7B197B-549B-41ED-9058-C75F4EE21A9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1231" y="1105622"/>
            <a:ext cx="788111" cy="7881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0147C9-16A8-4874-87AD-B830706704A6}"/>
              </a:ext>
            </a:extLst>
          </p:cNvPr>
          <p:cNvSpPr txBox="1"/>
          <p:nvPr/>
        </p:nvSpPr>
        <p:spPr>
          <a:xfrm>
            <a:off x="6886574" y="1893733"/>
            <a:ext cx="22574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29A428"/>
                </a:solidFill>
              </a:rPr>
              <a:t>Secteur</a:t>
            </a:r>
            <a:r>
              <a:rPr lang="en-US" i="1" dirty="0">
                <a:solidFill>
                  <a:srgbClr val="29A428"/>
                </a:solidFill>
              </a:rPr>
              <a:t> de la santé</a:t>
            </a:r>
          </a:p>
        </p:txBody>
      </p:sp>
    </p:spTree>
    <p:extLst>
      <p:ext uri="{BB962C8B-B14F-4D97-AF65-F5344CB8AC3E}">
        <p14:creationId xmlns:p14="http://schemas.microsoft.com/office/powerpoint/2010/main" val="1031725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Open Data dans l’éducation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258417" y="1551709"/>
            <a:ext cx="8647044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b="1" u="sng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24A4358-430B-466B-85B9-38ECCC5DF0A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417" y="1142257"/>
            <a:ext cx="8428383" cy="52233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186C44-BFB9-4AA2-A113-35C3CDBE5D04}"/>
              </a:ext>
            </a:extLst>
          </p:cNvPr>
          <p:cNvSpPr/>
          <p:nvPr/>
        </p:nvSpPr>
        <p:spPr>
          <a:xfrm>
            <a:off x="6552713" y="6180946"/>
            <a:ext cx="2591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http://nendo.data.gov.bf</a:t>
            </a:r>
          </a:p>
        </p:txBody>
      </p:sp>
    </p:spTree>
    <p:extLst>
      <p:ext uri="{BB962C8B-B14F-4D97-AF65-F5344CB8AC3E}">
        <p14:creationId xmlns:p14="http://schemas.microsoft.com/office/powerpoint/2010/main" val="2528065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Shape 20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948" y="1323975"/>
            <a:ext cx="4023442" cy="526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xfrm>
            <a:off x="5399952" y="1969044"/>
            <a:ext cx="3587100" cy="4111398"/>
          </a:xfrm>
          <a:prstGeom prst="rect">
            <a:avLst/>
          </a:prstGeom>
          <a:solidFill>
            <a:schemeClr val="bg1">
              <a:lumMod val="95000"/>
              <a:alpha val="55769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 sz="2400" dirty="0"/>
              <a:t>Les sites de recherche immobilière vous guident</a:t>
            </a:r>
            <a:r>
              <a:rPr lang="en" sz="2400" dirty="0"/>
              <a:t>:</a:t>
            </a:r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Comparati</a:t>
            </a:r>
            <a:r>
              <a:rPr lang="fr-FR" sz="2400" dirty="0"/>
              <a:t>f des prix</a:t>
            </a:r>
            <a:endParaRPr sz="2400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-FR" sz="2400" dirty="0"/>
              <a:t>Evolution historique</a:t>
            </a:r>
            <a:endParaRPr sz="2400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-FR" sz="2400" dirty="0"/>
              <a:t>C</a:t>
            </a:r>
            <a:r>
              <a:rPr lang="en" sz="2400" dirty="0"/>
              <a:t>ompar</a:t>
            </a:r>
            <a:r>
              <a:rPr lang="fr-FR" sz="2400" dirty="0"/>
              <a:t>a</a:t>
            </a:r>
            <a:r>
              <a:rPr lang="en" sz="2400" dirty="0"/>
              <a:t>isons </a:t>
            </a:r>
            <a:r>
              <a:rPr lang="fr-FR" sz="2400" dirty="0"/>
              <a:t>régionales</a:t>
            </a:r>
            <a:endParaRPr sz="2400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-FR" sz="2400" dirty="0"/>
              <a:t>Evolution des prix</a:t>
            </a:r>
            <a:endParaRPr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CAEBF-C248-449E-9B7A-D43C9CF1154C}"/>
              </a:ext>
            </a:extLst>
          </p:cNvPr>
          <p:cNvSpPr txBox="1"/>
          <p:nvPr/>
        </p:nvSpPr>
        <p:spPr>
          <a:xfrm>
            <a:off x="0" y="823314"/>
            <a:ext cx="22574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29A428"/>
                </a:solidFill>
              </a:rPr>
              <a:t>Secteur</a:t>
            </a:r>
            <a:r>
              <a:rPr lang="en-US" i="1" dirty="0">
                <a:solidFill>
                  <a:srgbClr val="29A428"/>
                </a:solidFill>
              </a:rPr>
              <a:t> </a:t>
            </a:r>
            <a:r>
              <a:rPr lang="fr-FR" i="1" dirty="0">
                <a:solidFill>
                  <a:srgbClr val="29A428"/>
                </a:solidFill>
              </a:rPr>
              <a:t>immobilier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2B2F2-D98E-4571-A192-A7EA1617109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948" y="118250"/>
            <a:ext cx="705064" cy="705064"/>
          </a:xfrm>
          <a:prstGeom prst="rect">
            <a:avLst/>
          </a:prstGeom>
        </p:spPr>
      </p:pic>
      <p:sp>
        <p:nvSpPr>
          <p:cNvPr id="6" name="Arrow: Chevron 5">
            <a:extLst>
              <a:ext uri="{FF2B5EF4-FFF2-40B4-BE49-F238E27FC236}">
                <a16:creationId xmlns:a16="http://schemas.microsoft.com/office/drawing/2014/main" id="{2B7D2531-7AAA-45DE-B79C-97622EE816C3}"/>
              </a:ext>
            </a:extLst>
          </p:cNvPr>
          <p:cNvSpPr/>
          <p:nvPr/>
        </p:nvSpPr>
        <p:spPr>
          <a:xfrm>
            <a:off x="4759716" y="2237648"/>
            <a:ext cx="407791" cy="3574191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298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Shape 210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2225" y="118250"/>
            <a:ext cx="5108225" cy="660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Shape 211"/>
          <p:cNvSpPr txBox="1">
            <a:spLocks noGrp="1"/>
          </p:cNvSpPr>
          <p:nvPr>
            <p:ph type="body" idx="1"/>
          </p:nvPr>
        </p:nvSpPr>
        <p:spPr>
          <a:xfrm>
            <a:off x="0" y="1762125"/>
            <a:ext cx="3295650" cy="4857750"/>
          </a:xfrm>
          <a:prstGeom prst="rect">
            <a:avLst/>
          </a:prstGeom>
          <a:solidFill>
            <a:schemeClr val="bg1">
              <a:lumMod val="95000"/>
              <a:alpha val="55769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FR" sz="2400" dirty="0"/>
              <a:t>Les futurs résidents peuvent aussi voir</a:t>
            </a:r>
            <a:r>
              <a:rPr lang="en" sz="2400" dirty="0"/>
              <a:t>:</a:t>
            </a:r>
            <a:endParaRPr sz="2400" dirty="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fr-FR" sz="2400" dirty="0"/>
              <a:t>Quels sont leurs voisins ?</a:t>
            </a:r>
            <a:endParaRPr sz="2400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-FR" sz="2400" dirty="0"/>
              <a:t>Le temps moyen pour se rendre au travail</a:t>
            </a:r>
            <a:endParaRPr sz="2400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Le taux de réussite dans les écoles</a:t>
            </a:r>
            <a:endParaRPr sz="2400" dirty="0"/>
          </a:p>
          <a:p>
            <a: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dirty="0"/>
              <a:t>La criminalité</a:t>
            </a:r>
            <a:endParaRPr sz="2400" dirty="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rtl="0">
              <a:spcBef>
                <a:spcPts val="60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D12673-3CD9-4C8F-810C-B42020FE3905}"/>
              </a:ext>
            </a:extLst>
          </p:cNvPr>
          <p:cNvSpPr txBox="1"/>
          <p:nvPr/>
        </p:nvSpPr>
        <p:spPr>
          <a:xfrm>
            <a:off x="0" y="823314"/>
            <a:ext cx="22574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rgbClr val="29A428"/>
                </a:solidFill>
              </a:rPr>
              <a:t>Secteur</a:t>
            </a:r>
            <a:r>
              <a:rPr lang="en-US" i="1" dirty="0">
                <a:solidFill>
                  <a:srgbClr val="29A428"/>
                </a:solidFill>
              </a:rPr>
              <a:t> </a:t>
            </a:r>
            <a:r>
              <a:rPr lang="fr-FR" i="1" dirty="0">
                <a:solidFill>
                  <a:srgbClr val="29A428"/>
                </a:solidFill>
              </a:rPr>
              <a:t>immobilier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605B64-C558-489F-B614-A6C4C40F9DB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948" y="118250"/>
            <a:ext cx="705064" cy="705064"/>
          </a:xfrm>
          <a:prstGeom prst="rect">
            <a:avLst/>
          </a:prstGeom>
        </p:spPr>
      </p:pic>
      <p:sp>
        <p:nvSpPr>
          <p:cNvPr id="7" name="Arrow: Chevron 6">
            <a:extLst>
              <a:ext uri="{FF2B5EF4-FFF2-40B4-BE49-F238E27FC236}">
                <a16:creationId xmlns:a16="http://schemas.microsoft.com/office/drawing/2014/main" id="{C3B9C68F-0EC2-4888-8FCE-4548D72E0DB8}"/>
              </a:ext>
            </a:extLst>
          </p:cNvPr>
          <p:cNvSpPr/>
          <p:nvPr/>
        </p:nvSpPr>
        <p:spPr>
          <a:xfrm>
            <a:off x="3425042" y="2313848"/>
            <a:ext cx="407791" cy="3574191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658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128" y="0"/>
            <a:ext cx="5038272" cy="812800"/>
          </a:xfrm>
        </p:spPr>
        <p:txBody>
          <a:bodyPr/>
          <a:lstStyle/>
          <a:p>
            <a:r>
              <a:rPr lang="fr-FR" dirty="0"/>
              <a:t>Open Data et consommation</a:t>
            </a:r>
          </a:p>
        </p:txBody>
      </p:sp>
      <p:pic>
        <p:nvPicPr>
          <p:cNvPr id="7" name="Picture 2" descr="Screen Clipping">
            <a:extLst>
              <a:ext uri="{FF2B5EF4-FFF2-40B4-BE49-F238E27FC236}">
                <a16:creationId xmlns:a16="http://schemas.microsoft.com/office/drawing/2014/main" id="{D78BDF51-6EBF-4213-9F7A-3ABFAA7CE3A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255" y="1085619"/>
            <a:ext cx="6954982" cy="521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982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Open Data &amp; Transparence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258417" y="1551709"/>
            <a:ext cx="8647044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b="1" u="sng" dirty="0">
              <a:latin typeface="Trebuchet MS" pitchFamily="34" charset="0"/>
              <a:cs typeface="ＭＳ Ｐゴシック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DB22D5-301B-4636-995F-0B5CB069E451}"/>
              </a:ext>
            </a:extLst>
          </p:cNvPr>
          <p:cNvSpPr/>
          <p:nvPr/>
        </p:nvSpPr>
        <p:spPr>
          <a:xfrm>
            <a:off x="6150873" y="6184152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fr-FR" dirty="0"/>
          </a:p>
        </p:txBody>
      </p:sp>
      <p:pic>
        <p:nvPicPr>
          <p:cNvPr id="7" name="Picture 4" descr="Screen Clipping">
            <a:extLst>
              <a:ext uri="{FF2B5EF4-FFF2-40B4-BE49-F238E27FC236}">
                <a16:creationId xmlns:a16="http://schemas.microsoft.com/office/drawing/2014/main" id="{AC658C93-688B-40A3-A2A6-840AF8972A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8417" y="1168523"/>
            <a:ext cx="8730302" cy="493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251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Open Data &amp; Transparence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258417" y="1551709"/>
            <a:ext cx="8647044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b="1" u="sng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82CCC6D-7F5F-4A64-9C3E-01EDAFEB544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1031" y="2047601"/>
            <a:ext cx="3921816" cy="204823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CDFC008-46C3-48A9-B111-996989EB0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912" y="4167417"/>
            <a:ext cx="5210175" cy="20288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ADB22D5-301B-4636-995F-0B5CB069E451}"/>
              </a:ext>
            </a:extLst>
          </p:cNvPr>
          <p:cNvSpPr/>
          <p:nvPr/>
        </p:nvSpPr>
        <p:spPr>
          <a:xfrm>
            <a:off x="6150873" y="6184152"/>
            <a:ext cx="2993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http://code4sa.org/taxclock/</a:t>
            </a:r>
          </a:p>
        </p:txBody>
      </p:sp>
    </p:spTree>
    <p:extLst>
      <p:ext uri="{BB962C8B-B14F-4D97-AF65-F5344CB8AC3E}">
        <p14:creationId xmlns:p14="http://schemas.microsoft.com/office/powerpoint/2010/main" val="1217214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7" y="0"/>
            <a:ext cx="5477933" cy="812800"/>
          </a:xfrm>
        </p:spPr>
        <p:txBody>
          <a:bodyPr/>
          <a:lstStyle/>
          <a:p>
            <a:r>
              <a:rPr lang="fr-FR" dirty="0"/>
              <a:t>Journalisme basé sur les données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258417" y="1551709"/>
            <a:ext cx="8647044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b="1" u="sng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5DECEB9-7E12-4C2C-9545-E6E4F293DFE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2672" y="1186178"/>
            <a:ext cx="7938655" cy="505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273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7" y="0"/>
            <a:ext cx="5477933" cy="812800"/>
          </a:xfrm>
        </p:spPr>
        <p:txBody>
          <a:bodyPr/>
          <a:lstStyle/>
          <a:p>
            <a:r>
              <a:rPr lang="fr-FR" dirty="0"/>
              <a:t>Journalisme basé sur les données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258417" y="1551709"/>
            <a:ext cx="8647044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algn="ctr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b="1" u="sng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2267D23-F09A-4A9A-8211-7983FF78F7B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43854" y="1020398"/>
            <a:ext cx="6417709" cy="525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8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705474" cy="812800"/>
          </a:xfrm>
        </p:spPr>
        <p:txBody>
          <a:bodyPr/>
          <a:lstStyle/>
          <a:p>
            <a:r>
              <a:rPr lang="fr-FR" sz="2800" dirty="0"/>
              <a:t>Exemples d’impact économique</a:t>
            </a: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39510" y="1155498"/>
            <a:ext cx="7512757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6559EB-12FA-462A-9F23-24ED2C362FCF}"/>
              </a:ext>
            </a:extLst>
          </p:cNvPr>
          <p:cNvSpPr/>
          <p:nvPr/>
        </p:nvSpPr>
        <p:spPr>
          <a:xfrm>
            <a:off x="304270" y="1130155"/>
            <a:ext cx="1972734" cy="87946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€1.7 </a:t>
            </a:r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milliards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2A8CAB-1BF6-4463-B146-CF4C6808FE43}"/>
              </a:ext>
            </a:extLst>
          </p:cNvPr>
          <p:cNvSpPr/>
          <p:nvPr/>
        </p:nvSpPr>
        <p:spPr>
          <a:xfrm>
            <a:off x="2599266" y="1130155"/>
            <a:ext cx="1972734" cy="87946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629 </a:t>
            </a:r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millions d’heures d’attente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A4851F-7DFE-4945-AA4C-775FEF80DD7C}"/>
              </a:ext>
            </a:extLst>
          </p:cNvPr>
          <p:cNvSpPr/>
          <p:nvPr/>
        </p:nvSpPr>
        <p:spPr>
          <a:xfrm>
            <a:off x="4894262" y="1130155"/>
            <a:ext cx="1972734" cy="87946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16% </a:t>
            </a:r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de la consommation d’énergie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9F261F-E172-409B-94CD-EF2F4260FB6F}"/>
              </a:ext>
            </a:extLst>
          </p:cNvPr>
          <p:cNvSpPr/>
          <p:nvPr/>
        </p:nvSpPr>
        <p:spPr>
          <a:xfrm>
            <a:off x="304270" y="3295982"/>
            <a:ext cx="1972734" cy="877824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£92 milliards</a:t>
            </a:r>
            <a:endParaRPr lang="en-US" dirty="0">
              <a:solidFill>
                <a:schemeClr val="bg1"/>
              </a:solidFill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B10126-8DA1-4822-8355-85F38755FE96}"/>
              </a:ext>
            </a:extLst>
          </p:cNvPr>
          <p:cNvSpPr/>
          <p:nvPr/>
        </p:nvSpPr>
        <p:spPr>
          <a:xfrm>
            <a:off x="2599266" y="3295982"/>
            <a:ext cx="1972734" cy="877824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500.000</a:t>
            </a:r>
          </a:p>
          <a:p>
            <a:pPr algn="ctr"/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emplois</a:t>
            </a:r>
            <a:endParaRPr lang="en-US" dirty="0">
              <a:solidFill>
                <a:schemeClr val="bg1"/>
              </a:solidFill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47F712-4900-452B-8FB4-CAD16BEA4803}"/>
              </a:ext>
            </a:extLst>
          </p:cNvPr>
          <p:cNvSpPr/>
          <p:nvPr/>
        </p:nvSpPr>
        <p:spPr>
          <a:xfrm>
            <a:off x="304270" y="4912469"/>
            <a:ext cx="1972734" cy="877824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Arial" pitchFamily="34" charset="0"/>
                <a:ea typeface="ＭＳ Ｐゴシック" pitchFamily="34" charset="-128"/>
              </a:rPr>
              <a:t> $930 millions</a:t>
            </a:r>
            <a:endParaRPr lang="en-US" dirty="0">
              <a:solidFill>
                <a:schemeClr val="bg1"/>
              </a:solidFill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3807D3-21FD-4CC9-AEC2-BBFDE560E7D9}"/>
              </a:ext>
            </a:extLst>
          </p:cNvPr>
          <p:cNvSpPr txBox="1"/>
          <p:nvPr/>
        </p:nvSpPr>
        <p:spPr>
          <a:xfrm>
            <a:off x="516604" y="2164515"/>
            <a:ext cx="86677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D’après une étude européenne, d’ici à 2020 l’utilisation de l’Open data réduira les couts de l’administration de  €1.7 milliards dans les 28 pays de l’EU. Elle réduira également de 629 millions d’heure le temps d’attente sur les routes européennes, et permettra une réduction de 16% de la consommation d’énergie.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92D42-2EC5-46FB-A062-C128B6602EA5}"/>
              </a:ext>
            </a:extLst>
          </p:cNvPr>
          <p:cNvSpPr txBox="1"/>
          <p:nvPr/>
        </p:nvSpPr>
        <p:spPr>
          <a:xfrm>
            <a:off x="516604" y="4250750"/>
            <a:ext cx="8667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L’ODI a identifié 270 sociétés utilisant les données gouvernementales ouvertes, représentant un chiffre d’affaire de £92 milliards  et plus de 500.000 emploi.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BFEF9A-04CC-4AF6-BABC-E946CE1D2CB5}"/>
              </a:ext>
            </a:extLst>
          </p:cNvPr>
          <p:cNvSpPr txBox="1"/>
          <p:nvPr/>
        </p:nvSpPr>
        <p:spPr>
          <a:xfrm>
            <a:off x="516604" y="5867237"/>
            <a:ext cx="8667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The Climate Corporation, une société américaine basée sur l’exploitation des données ouvertes a été vendue pour $930 millions.</a:t>
            </a:r>
          </a:p>
        </p:txBody>
      </p:sp>
      <p:pic>
        <p:nvPicPr>
          <p:cNvPr id="17" name="Image 5">
            <a:extLst>
              <a:ext uri="{FF2B5EF4-FFF2-40B4-BE49-F238E27FC236}">
                <a16:creationId xmlns:a16="http://schemas.microsoft.com/office/drawing/2014/main" id="{729C9A7E-969C-4E4A-BAA9-6CC4D45FFF5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47431" y="1240731"/>
            <a:ext cx="2052674" cy="658307"/>
          </a:xfrm>
          <a:prstGeom prst="rect">
            <a:avLst/>
          </a:prstGeom>
        </p:spPr>
      </p:pic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AE0AAEE1-61B6-4821-AE61-7543C21A7D91}"/>
              </a:ext>
            </a:extLst>
          </p:cNvPr>
          <p:cNvSpPr/>
          <p:nvPr/>
        </p:nvSpPr>
        <p:spPr>
          <a:xfrm>
            <a:off x="304270" y="5886125"/>
            <a:ext cx="212334" cy="506414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B490F63B-3F8B-4A28-B861-3D37619ADEEF}"/>
              </a:ext>
            </a:extLst>
          </p:cNvPr>
          <p:cNvSpPr/>
          <p:nvPr/>
        </p:nvSpPr>
        <p:spPr>
          <a:xfrm>
            <a:off x="304270" y="4310223"/>
            <a:ext cx="212334" cy="506414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69E7E1C3-CB40-4B53-8BD7-989DDC1C1D6E}"/>
              </a:ext>
            </a:extLst>
          </p:cNvPr>
          <p:cNvSpPr/>
          <p:nvPr/>
        </p:nvSpPr>
        <p:spPr>
          <a:xfrm>
            <a:off x="304270" y="2449917"/>
            <a:ext cx="212334" cy="506414"/>
          </a:xfrm>
          <a:prstGeom prst="chevron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649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130799" cy="812800"/>
          </a:xfrm>
        </p:spPr>
        <p:txBody>
          <a:bodyPr/>
          <a:lstStyle/>
          <a:p>
            <a:r>
              <a:rPr lang="fr-FR" sz="2800" dirty="0"/>
              <a:t>Innovation &amp; Open data</a:t>
            </a: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39510" y="1155498"/>
            <a:ext cx="7512757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73EED72-5B8D-4BEB-8A04-41092B7EC6E2}"/>
              </a:ext>
            </a:extLst>
          </p:cNvPr>
          <p:cNvSpPr txBox="1">
            <a:spLocks/>
          </p:cNvSpPr>
          <p:nvPr/>
        </p:nvSpPr>
        <p:spPr>
          <a:xfrm>
            <a:off x="1" y="115549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dirty="0"/>
              <a:t>Nesta a investi £1.2m dans 7 compétition Open data</a:t>
            </a:r>
          </a:p>
          <a:p>
            <a:r>
              <a:rPr lang="fr-FR" sz="3200" dirty="0"/>
              <a:t>Les résultats sur 3 ans:</a:t>
            </a:r>
          </a:p>
          <a:p>
            <a:pPr lvl="1"/>
            <a:r>
              <a:rPr lang="fr-FR" sz="2500" dirty="0"/>
              <a:t>Un retour sur investissement pour chaque £1  entre £5 et £10 pour l’économie Anglaise soit une génération de £5.3m à £10.8m </a:t>
            </a:r>
          </a:p>
          <a:p>
            <a:pPr lvl="1"/>
            <a:r>
              <a:rPr lang="fr-FR" sz="2500" dirty="0"/>
              <a:t>La création de 75 à 141 emplois</a:t>
            </a:r>
          </a:p>
          <a:p>
            <a:pPr lvl="1"/>
            <a:r>
              <a:rPr lang="fr-FR" sz="2500" dirty="0"/>
              <a:t>Un large impact social et environnemental</a:t>
            </a:r>
            <a:br>
              <a:rPr lang="fr-FR" sz="2900" dirty="0"/>
            </a:b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0FE104D-96E9-4697-9BA1-488A2AD70B2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8532" y="3533422"/>
            <a:ext cx="2015467" cy="226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368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Bénéfices pour les structures publiques?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Les faits: de nombreuses études ont montré l’impact social et financier de l’Open Data en termes de création de nouveaux services, de richesses et d’emplois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/>
              <a:t>Quels bénéfices pour les structures publiques?</a:t>
            </a:r>
          </a:p>
          <a:p>
            <a:pPr marL="457200" lvl="1" indent="0">
              <a:buNone/>
            </a:pPr>
            <a:br>
              <a:rPr lang="fr-FR" sz="2200" dirty="0"/>
            </a:b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C7794F-ADC5-4EF9-BAFB-F966F8ED16E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11861" y="2430117"/>
            <a:ext cx="1994696" cy="199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745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4583ED-7106-41BC-8750-C5E4008A0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52" y="0"/>
            <a:ext cx="6133171" cy="812800"/>
          </a:xfrm>
        </p:spPr>
        <p:txBody>
          <a:bodyPr/>
          <a:lstStyle/>
          <a:p>
            <a:r>
              <a:rPr lang="fr-FR" dirty="0"/>
              <a:t>Open Data: la 3</a:t>
            </a:r>
            <a:r>
              <a:rPr lang="fr-FR" baseline="30000" dirty="0"/>
              <a:t>ème</a:t>
            </a:r>
            <a:r>
              <a:rPr lang="fr-FR" dirty="0"/>
              <a:t> révolution digitale</a:t>
            </a:r>
          </a:p>
        </p:txBody>
      </p:sp>
      <p:sp>
        <p:nvSpPr>
          <p:cNvPr id="7" name="Espace réservé du contenu 1">
            <a:extLst>
              <a:ext uri="{FF2B5EF4-FFF2-40B4-BE49-F238E27FC236}">
                <a16:creationId xmlns:a16="http://schemas.microsoft.com/office/drawing/2014/main" id="{2A1A28DF-896A-46AF-A459-525D4E6154C9}"/>
              </a:ext>
            </a:extLst>
          </p:cNvPr>
          <p:cNvSpPr>
            <a:spLocks/>
          </p:cNvSpPr>
          <p:nvPr/>
        </p:nvSpPr>
        <p:spPr bwMode="auto">
          <a:xfrm>
            <a:off x="248478" y="1283352"/>
            <a:ext cx="8647044" cy="463665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Open Data = Web 3.0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Web 1.0 : Les contenus statiques: 1990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Web 2.0 : Tout le monde contribue: 2000-2005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Web 3.0 : Les documents et les données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Chaque révolution apporte des améliorations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Les transitions sont difficiles et requièrent un leadership fort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4" name="Image 3" descr="Une image contenant objet&#10;&#10;Description générée automatiquement">
            <a:extLst>
              <a:ext uri="{FF2B5EF4-FFF2-40B4-BE49-F238E27FC236}">
                <a16:creationId xmlns:a16="http://schemas.microsoft.com/office/drawing/2014/main" id="{1A70C38E-740F-44F0-95CB-73E58B51A4A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1661" y="4563285"/>
            <a:ext cx="1625079" cy="162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76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52930" cy="812800"/>
          </a:xfrm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Open Data et Gestion de données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0" y="1418041"/>
            <a:ext cx="7086600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2500" lnSpcReduction="20000"/>
          </a:bodyPr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Gestion de données: 3 objectifs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Savoir ce que l’on sait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Partager ce que l’on sait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Utiliser ce que l’on sait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En pratique: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Identifier les données disponibles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Centraliser les données et les rendre interopérables &amp; réutilisables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Acquérir les capacités pour exploiter tout ou partie des données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Mettre en place des stratégies de travail basées sur l’analyse de données.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L’Open Data est un effet de bord de la mise en place d’une politique de gestion de données: la publication d’un sous-ensemble des données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4" name="Image 3" descr="Une image contenant équipement électronique&#10;&#10;Description générée automatiquement">
            <a:extLst>
              <a:ext uri="{FF2B5EF4-FFF2-40B4-BE49-F238E27FC236}">
                <a16:creationId xmlns:a16="http://schemas.microsoft.com/office/drawing/2014/main" id="{363F9684-0A0A-45FE-9701-DAFD3316F65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6968" y="1188440"/>
            <a:ext cx="3105264" cy="310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91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3009C1B-48EC-49FB-88D2-0C4BDAF1CF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5806860"/>
              </p:ext>
            </p:extLst>
          </p:nvPr>
        </p:nvGraphicFramePr>
        <p:xfrm>
          <a:off x="179512" y="188640"/>
          <a:ext cx="8784976" cy="6480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11C4D7FF-0512-456C-91C9-425F4EE4CAC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1196752"/>
            <a:ext cx="1097468" cy="107622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7F3A71F-0725-488A-9A93-5D2B09F5A596}"/>
              </a:ext>
            </a:extLst>
          </p:cNvPr>
          <p:cNvGrpSpPr/>
          <p:nvPr/>
        </p:nvGrpSpPr>
        <p:grpSpPr>
          <a:xfrm>
            <a:off x="3815916" y="2852936"/>
            <a:ext cx="1512168" cy="1152128"/>
            <a:chOff x="3927077" y="3447338"/>
            <a:chExt cx="1134126" cy="810090"/>
          </a:xfrm>
        </p:grpSpPr>
        <p:sp>
          <p:nvSpPr>
            <p:cNvPr id="8" name="Cloud 7">
              <a:extLst>
                <a:ext uri="{FF2B5EF4-FFF2-40B4-BE49-F238E27FC236}">
                  <a16:creationId xmlns:a16="http://schemas.microsoft.com/office/drawing/2014/main" id="{2867C4B9-5AC1-4F41-9FE8-FD73D5FBB90D}"/>
                </a:ext>
              </a:extLst>
            </p:cNvPr>
            <p:cNvSpPr/>
            <p:nvPr/>
          </p:nvSpPr>
          <p:spPr>
            <a:xfrm>
              <a:off x="3927077" y="3447338"/>
              <a:ext cx="1134126" cy="810090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135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0AD27E-B9F5-4E59-A71E-F6AF8098C407}"/>
                </a:ext>
              </a:extLst>
            </p:cNvPr>
            <p:cNvSpPr txBox="1"/>
            <p:nvPr/>
          </p:nvSpPr>
          <p:spPr>
            <a:xfrm>
              <a:off x="4143101" y="3702342"/>
              <a:ext cx="702078" cy="2813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>
                  <a:latin typeface="PT Serif" panose="020A0603040505020204" pitchFamily="18" charset="0"/>
                </a:rPr>
                <a:t>Data</a:t>
              </a:r>
            </a:p>
          </p:txBody>
        </p:sp>
      </p:grpSp>
      <p:sp>
        <p:nvSpPr>
          <p:cNvPr id="10" name="Arrow: Circular 9">
            <a:extLst>
              <a:ext uri="{FF2B5EF4-FFF2-40B4-BE49-F238E27FC236}">
                <a16:creationId xmlns:a16="http://schemas.microsoft.com/office/drawing/2014/main" id="{E1DD5EC3-A7EB-46A1-BEE5-4C67C65EEEE9}"/>
              </a:ext>
            </a:extLst>
          </p:cNvPr>
          <p:cNvSpPr/>
          <p:nvPr/>
        </p:nvSpPr>
        <p:spPr>
          <a:xfrm rot="5595986" flipH="1">
            <a:off x="675291" y="2065429"/>
            <a:ext cx="1008112" cy="1224136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6017316"/>
              <a:gd name="adj5" fmla="val 12500"/>
            </a:avLst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9998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8" y="0"/>
            <a:ext cx="5357308" cy="812800"/>
          </a:xfrm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Open Data dans les services publics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D9D594-EC63-4149-BA8E-D67F95619F7B}"/>
              </a:ext>
            </a:extLst>
          </p:cNvPr>
          <p:cNvSpPr txBox="1">
            <a:spLocks/>
          </p:cNvSpPr>
          <p:nvPr/>
        </p:nvSpPr>
        <p:spPr>
          <a:xfrm>
            <a:off x="178333" y="1064538"/>
            <a:ext cx="8752307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fr-FR" b="1" dirty="0"/>
              <a:t>Placements de services publiques </a:t>
            </a:r>
            <a:r>
              <a:rPr lang="fr-FR" dirty="0"/>
              <a:t>en fonction de données légales, géospatiales, sociales, …: écoles, hôpitaux, commissariats, etc.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Tableaux de bord</a:t>
            </a:r>
            <a:r>
              <a:rPr lang="fr-FR" dirty="0"/>
              <a:t>: </a:t>
            </a:r>
            <a:r>
              <a:rPr lang="fr-FR" dirty="0">
                <a:hlinkClick r:id="rId2"/>
              </a:rPr>
              <a:t>Education</a:t>
            </a:r>
            <a:r>
              <a:rPr lang="fr-FR" dirty="0"/>
              <a:t>, </a:t>
            </a:r>
            <a:r>
              <a:rPr lang="fr-FR" dirty="0">
                <a:hlinkClick r:id="rId3"/>
              </a:rPr>
              <a:t>santé</a:t>
            </a:r>
            <a:r>
              <a:rPr lang="fr-FR" dirty="0"/>
              <a:t>, </a:t>
            </a:r>
            <a:r>
              <a:rPr lang="fr-FR" dirty="0">
                <a:hlinkClick r:id="rId4"/>
              </a:rPr>
              <a:t>industries extractives </a:t>
            </a:r>
            <a:r>
              <a:rPr lang="fr-FR" dirty="0"/>
              <a:t>etc.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Cartographie</a:t>
            </a:r>
            <a:r>
              <a:rPr lang="fr-FR" dirty="0"/>
              <a:t>: routes, travaux, équipements, etc.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Optimisation des ressources humaines et/ou financières</a:t>
            </a:r>
            <a:r>
              <a:rPr lang="fr-FR" dirty="0"/>
              <a:t>: Contrôle, investissement, etc..</a:t>
            </a:r>
          </a:p>
          <a:p>
            <a:pPr marL="514350" indent="-514350">
              <a:buFont typeface="+mj-lt"/>
              <a:buAutoNum type="arabicPeriod"/>
            </a:pPr>
            <a:r>
              <a:rPr lang="fr-FR" b="1" dirty="0"/>
              <a:t>Mesure d’impact</a:t>
            </a:r>
            <a:r>
              <a:rPr lang="fr-FR" dirty="0"/>
              <a:t>: expérimentation, Suivi &amp; évaluation etc…</a:t>
            </a:r>
          </a:p>
          <a:p>
            <a:pPr marL="457200" lvl="1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46570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52930" cy="812800"/>
          </a:xfrm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Open Data: l’engagement citoyen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0" y="1418041"/>
            <a:ext cx="6679580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Une nouvelle approche des services publics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Implication des citoyens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Priorisation des actions en fonction des besoins et de la demande du public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L’Open Data permet la participation du public à l’opérationnalisation des services publics et la baisse des coûts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5" name="Image 4" descr="Une image contenant objet&#10;&#10;Description générée automatiquement">
            <a:extLst>
              <a:ext uri="{FF2B5EF4-FFF2-40B4-BE49-F238E27FC236}">
                <a16:creationId xmlns:a16="http://schemas.microsoft.com/office/drawing/2014/main" id="{4BB4BEA8-E68F-45F0-9AE7-608DE7B5D8B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2664" y="3812530"/>
            <a:ext cx="2203771" cy="213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764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798126" cy="812800"/>
          </a:xfrm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Amélioration des services publics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248478" y="1056878"/>
            <a:ext cx="8647044" cy="493940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Le Royaume-Uni a publié la localisation de </a:t>
            </a: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300 000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stations de bus au début des années 2010. La communauté a corrigé </a:t>
            </a: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18 000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d’entre elles (</a:t>
            </a: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~6%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)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Priorisation des réparations des routes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186C44-BFB9-4AA2-A113-35C3CDBE5D04}"/>
              </a:ext>
            </a:extLst>
          </p:cNvPr>
          <p:cNvSpPr/>
          <p:nvPr/>
        </p:nvSpPr>
        <p:spPr>
          <a:xfrm>
            <a:off x="6084885" y="6180946"/>
            <a:ext cx="3044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https://www.fixmystreet.com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C88F5EF-6BF0-42A7-B649-DF216FF24C8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6945" y="2837713"/>
            <a:ext cx="4040975" cy="360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751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Discussion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Thèmes: Les bénéfices et défis de l’open data</a:t>
            </a:r>
          </a:p>
          <a:p>
            <a:pPr lvl="1"/>
            <a:r>
              <a:rPr lang="fr-FR" sz="2100" dirty="0"/>
              <a:t>Quels bénéfices internes et quels défis voyez vous pour votre structure ? </a:t>
            </a:r>
            <a:endParaRPr lang="fr-FR" sz="1900" dirty="0"/>
          </a:p>
          <a:p>
            <a:pPr lvl="1"/>
            <a:r>
              <a:rPr lang="fr-FR" sz="2100" dirty="0"/>
              <a:t>Quels bénéfices et quels défis/risques/pièges voyez pour la mise en place d’approches incluant l’engagement citoyen dans votre structure?</a:t>
            </a:r>
          </a:p>
          <a:p>
            <a:pPr lvl="1"/>
            <a:r>
              <a:rPr lang="fr-FR" sz="2100" dirty="0"/>
              <a:t>Quels bénéfices externes (services, transparence, image) et quels défis/risques/pièges voyez vous pour votre structure ?</a:t>
            </a:r>
          </a:p>
          <a:p>
            <a:pPr marL="0" indent="0">
              <a:buNone/>
            </a:pPr>
            <a:endParaRPr lang="fr-FR" sz="2100" dirty="0"/>
          </a:p>
          <a:p>
            <a:pPr lvl="0"/>
            <a:endParaRPr lang="fr-FR" dirty="0"/>
          </a:p>
        </p:txBody>
      </p:sp>
      <p:pic>
        <p:nvPicPr>
          <p:cNvPr id="5" name="Image 4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91AD3AF0-10AB-4772-A8B7-9131651C6B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4061" y="1339860"/>
            <a:ext cx="2311811" cy="227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553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1321E34-27CE-45BD-9E0F-211A44205320}"/>
              </a:ext>
            </a:extLst>
          </p:cNvPr>
          <p:cNvSpPr/>
          <p:nvPr/>
        </p:nvSpPr>
        <p:spPr>
          <a:xfrm>
            <a:off x="1339403" y="2086377"/>
            <a:ext cx="6757518" cy="310917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Open Data au Maroc</a:t>
            </a:r>
          </a:p>
        </p:txBody>
      </p:sp>
    </p:spTree>
    <p:extLst>
      <p:ext uri="{BB962C8B-B14F-4D97-AF65-F5344CB8AC3E}">
        <p14:creationId xmlns:p14="http://schemas.microsoft.com/office/powerpoint/2010/main" val="24390121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4583ED-7106-41BC-8750-C5E4008A0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L’Open Data au Maroc</a:t>
            </a:r>
          </a:p>
        </p:txBody>
      </p:sp>
      <p:sp>
        <p:nvSpPr>
          <p:cNvPr id="7" name="Espace réservé du contenu 1">
            <a:extLst>
              <a:ext uri="{FF2B5EF4-FFF2-40B4-BE49-F238E27FC236}">
                <a16:creationId xmlns:a16="http://schemas.microsoft.com/office/drawing/2014/main" id="{2A1A28DF-896A-46AF-A459-525D4E6154C9}"/>
              </a:ext>
            </a:extLst>
          </p:cNvPr>
          <p:cNvSpPr>
            <a:spLocks/>
          </p:cNvSpPr>
          <p:nvPr/>
        </p:nvSpPr>
        <p:spPr bwMode="auto">
          <a:xfrm>
            <a:off x="248478" y="1163782"/>
            <a:ext cx="8647044" cy="187729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dirty="0"/>
              <a:t>Pionnier dans le lancement d’un portail Open Data en 2011 </a:t>
            </a: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 comité Open Data dirigé par l’ADD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 portail national Open Data géré par l’ADD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Des portails dans certains ministères (BC,HCP)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Une série de législations régissant déjà la publication de données gouvernementale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 impact économique et social faible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 état des lieux et une stratégie développée en 2020 avec le support de la Banque Mondiale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4A9B931-396C-4E44-874E-6EC628776B87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65065" y="4765963"/>
            <a:ext cx="1118717" cy="14755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1908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887156" cy="812800"/>
          </a:xfrm>
        </p:spPr>
        <p:txBody>
          <a:bodyPr/>
          <a:lstStyle/>
          <a:p>
            <a:r>
              <a:rPr lang="fr-FR" sz="2800" dirty="0"/>
              <a:t>Etat des lieux: Leadership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52401" y="2114467"/>
            <a:ext cx="3650061" cy="2138027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r>
              <a:rPr lang="fr-FR" sz="5500" dirty="0"/>
              <a:t>Un leader, ADD, et un engagement du gouvernement (PGO)</a:t>
            </a:r>
          </a:p>
          <a:p>
            <a:r>
              <a:rPr lang="fr-FR" sz="5500" dirty="0"/>
              <a:t>Des compétences complémentaires et un intérêt: HCP, MEF-DRA, Archives du Maroc, CNDP/CDAI, ANRT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E7DDFC-52E0-438D-AEDB-E26B9CF7E6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170" y="883483"/>
            <a:ext cx="1107886" cy="123098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02164F-1D91-481E-BEAB-0E2C54C1F9FE}"/>
              </a:ext>
            </a:extLst>
          </p:cNvPr>
          <p:cNvSpPr txBox="1">
            <a:spLocks/>
          </p:cNvSpPr>
          <p:nvPr/>
        </p:nvSpPr>
        <p:spPr>
          <a:xfrm>
            <a:off x="3940332" y="2185151"/>
            <a:ext cx="3467491" cy="426080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700" dirty="0"/>
              <a:t>Manque de Leadership sur l’OD comparé au gouvernement ouvert, la simplification des procédures, les services au citoyen (ex. les données au centre de la gouvernance, le développement de l’économie numérique)</a:t>
            </a:r>
          </a:p>
          <a:p>
            <a:r>
              <a:rPr lang="fr-FR" sz="1700" dirty="0"/>
              <a:t>Faible compréhension et rôle de l’Open Data</a:t>
            </a:r>
          </a:p>
          <a:p>
            <a:r>
              <a:rPr lang="fr-FR" sz="1600" dirty="0"/>
              <a:t>Problématique relatives à la prise de décision pour la publication</a:t>
            </a:r>
            <a:endParaRPr lang="fr-FR" sz="1700" dirty="0"/>
          </a:p>
          <a:p>
            <a:r>
              <a:rPr lang="fr-FR" sz="1700" dirty="0"/>
              <a:t>Mise en place d’une approche centralisée  pour data.gov.ma qui apporte peu de résultats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02A8248-6E7D-484D-B336-64C90DC1C7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6088" y="1128036"/>
            <a:ext cx="892470" cy="9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5217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887156" cy="812800"/>
          </a:xfrm>
        </p:spPr>
        <p:txBody>
          <a:bodyPr/>
          <a:lstStyle/>
          <a:p>
            <a:r>
              <a:rPr lang="fr-FR" sz="2800" dirty="0"/>
              <a:t>Etat des lieux : Cadre réglementaire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13993" y="2070461"/>
            <a:ext cx="3467491" cy="4236071"/>
          </a:xfrm>
          <a:prstGeom prst="rect">
            <a:avLst/>
          </a:prstGeom>
        </p:spPr>
        <p:txBody>
          <a:bodyPr>
            <a:normAutofit fontScale="32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r>
              <a:rPr lang="fr-FR" sz="5500" dirty="0"/>
              <a:t>Un arsenal législatif adapté et performant autour de la loi d’accès à l’information et loi de la protection des données personnelles.</a:t>
            </a:r>
          </a:p>
          <a:p>
            <a:r>
              <a:rPr lang="fr-FR" sz="5500" dirty="0"/>
              <a:t>Un plan de nouvelles lois en cours pour combler les lacunes (ex. loi relative à l’administration électronique, protection des données personnelles, loi statistique) 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E7DDFC-52E0-438D-AEDB-E26B9CF7E6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170" y="883483"/>
            <a:ext cx="1107886" cy="123098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02164F-1D91-481E-BEAB-0E2C54C1F9FE}"/>
              </a:ext>
            </a:extLst>
          </p:cNvPr>
          <p:cNvSpPr txBox="1">
            <a:spLocks/>
          </p:cNvSpPr>
          <p:nvPr/>
        </p:nvSpPr>
        <p:spPr>
          <a:xfrm>
            <a:off x="3940332" y="2201333"/>
            <a:ext cx="4436024" cy="441395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/>
              <a:t>Manque de cadre juridique pour l’open data et la réutilisation des données</a:t>
            </a:r>
          </a:p>
          <a:p>
            <a:r>
              <a:rPr lang="fr-FR" sz="1800" dirty="0"/>
              <a:t>Hétérogénéité des licences de réutilisation</a:t>
            </a:r>
          </a:p>
          <a:p>
            <a:r>
              <a:rPr lang="fr-FR" sz="1800" dirty="0"/>
              <a:t>Absence d’une législation sur la classification des données</a:t>
            </a:r>
          </a:p>
          <a:p>
            <a:r>
              <a:rPr lang="fr-FR" sz="1800" dirty="0"/>
              <a:t>Faible compréhension de la loi sur la protection des données personnelles</a:t>
            </a:r>
          </a:p>
          <a:p>
            <a:r>
              <a:rPr lang="fr-FR" sz="1800" dirty="0"/>
              <a:t>Des éléments de la loi d’accès qui sont problématiques pour l’Open Data ou qui nécessitent des clarifications</a:t>
            </a:r>
          </a:p>
          <a:p>
            <a:pPr lvl="1"/>
            <a:r>
              <a:rPr lang="fr-FR" sz="1800" dirty="0"/>
              <a:t>Article 2 (contenu relatif aux missions de service public), Article 7 (exceptions), Article 6 (réutilisation), Article 5 (gratuité)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02A8248-6E7D-484D-B336-64C90DC1C7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6088" y="1128036"/>
            <a:ext cx="892470" cy="9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019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887156" cy="812800"/>
          </a:xfrm>
        </p:spPr>
        <p:txBody>
          <a:bodyPr/>
          <a:lstStyle/>
          <a:p>
            <a:r>
              <a:rPr lang="fr-FR" sz="2800" dirty="0"/>
              <a:t>Etat des lieux : Structure institutionnelle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13993" y="1970202"/>
            <a:ext cx="3467491" cy="4637988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r>
              <a:rPr lang="fr-FR" sz="3600" dirty="0"/>
              <a:t>Fonctionnement naturel en mode transversal avec des comités de pilotage inter-ministères (ex. le comité ODRA) et des thématiques en réseau (Chargés d’accès à l’information, de communication, réseau informel de l’ADD...)</a:t>
            </a:r>
          </a:p>
          <a:p>
            <a:r>
              <a:rPr lang="fr-FR" sz="3600" dirty="0"/>
              <a:t>Des administrations qui pensent à mettre en place des Structures/unités dédiées à la Données (Banque Centrale, DEF, Poste,…)</a:t>
            </a:r>
          </a:p>
          <a:p>
            <a:r>
              <a:rPr lang="fr-FR" sz="3600" dirty="0"/>
              <a:t>Des outils incitatifs: FOMAP, FSU, e-mtiaz </a:t>
            </a:r>
          </a:p>
          <a:p>
            <a:r>
              <a:rPr lang="fr-FR" sz="3600" dirty="0"/>
              <a:t>Des solutions potentielles de support technique: soft-center, digital factory, futur défis nationaux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E7DDFC-52E0-438D-AEDB-E26B9CF7E6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170" y="883483"/>
            <a:ext cx="1107886" cy="123098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02164F-1D91-481E-BEAB-0E2C54C1F9FE}"/>
              </a:ext>
            </a:extLst>
          </p:cNvPr>
          <p:cNvSpPr txBox="1">
            <a:spLocks/>
          </p:cNvSpPr>
          <p:nvPr/>
        </p:nvSpPr>
        <p:spPr>
          <a:xfrm>
            <a:off x="3881484" y="2114467"/>
            <a:ext cx="3467491" cy="1689264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dirty="0"/>
              <a:t>Positionnement de l’Open Data?</a:t>
            </a:r>
          </a:p>
          <a:p>
            <a:r>
              <a:rPr lang="fr-FR" sz="2000" dirty="0"/>
              <a:t>Absence de responsable OD ou de AGD (Administrateur Général de Données) au sein des structures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02A8248-6E7D-484D-B336-64C90DC1C7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6088" y="1187776"/>
            <a:ext cx="838736" cy="93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008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887156" cy="812800"/>
          </a:xfrm>
        </p:spPr>
        <p:txBody>
          <a:bodyPr/>
          <a:lstStyle/>
          <a:p>
            <a:r>
              <a:rPr lang="fr-FR" sz="2800" dirty="0"/>
              <a:t>Etat des lieux : Données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20394" y="1899088"/>
            <a:ext cx="3467491" cy="4578696"/>
          </a:xfrm>
          <a:prstGeom prst="rect">
            <a:avLst/>
          </a:prstGeom>
        </p:spPr>
        <p:txBody>
          <a:bodyPr>
            <a:normAutofit fontScale="400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r>
              <a:rPr lang="fr-FR" sz="4000" dirty="0"/>
              <a:t>Des ministères qui publient énormément de données</a:t>
            </a:r>
          </a:p>
          <a:p>
            <a:r>
              <a:rPr lang="fr-FR" sz="4000" dirty="0"/>
              <a:t>De nombreux observatoires existants ou prévus</a:t>
            </a:r>
          </a:p>
          <a:p>
            <a:r>
              <a:rPr lang="fr-FR" sz="4000" dirty="0"/>
              <a:t>Des mines de données disponibles apparemment facilement accessibles via les observatoires existants (ex. ONDH), la BDS, les systèmes d’information en ligne (ex. la carte sanitaire, SI MASSAR,…), API ouverte BC</a:t>
            </a:r>
          </a:p>
          <a:p>
            <a:r>
              <a:rPr lang="fr-FR" sz="4000" dirty="0"/>
              <a:t>Quasiment aucune vente de données</a:t>
            </a:r>
          </a:p>
          <a:p>
            <a:pPr marL="0" indent="0">
              <a:buNone/>
            </a:pPr>
            <a:r>
              <a:rPr lang="fr-FR" sz="3600" dirty="0"/>
              <a:t> 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E7DDFC-52E0-438D-AEDB-E26B9CF7E6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170" y="883483"/>
            <a:ext cx="1107886" cy="123098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02164F-1D91-481E-BEAB-0E2C54C1F9FE}"/>
              </a:ext>
            </a:extLst>
          </p:cNvPr>
          <p:cNvSpPr txBox="1">
            <a:spLocks/>
          </p:cNvSpPr>
          <p:nvPr/>
        </p:nvSpPr>
        <p:spPr>
          <a:xfrm>
            <a:off x="3887885" y="2114467"/>
            <a:ext cx="5152419" cy="4578696"/>
          </a:xfrm>
          <a:prstGeom prst="rect">
            <a:avLst/>
          </a:prstGeom>
        </p:spPr>
        <p:txBody>
          <a:bodyPr>
            <a:normAutofit fontScale="400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dirty="0"/>
              <a:t>Un portail ancien et quasi vide et non mis à jour</a:t>
            </a:r>
          </a:p>
          <a:p>
            <a:r>
              <a:rPr lang="fr-FR" sz="4000" dirty="0"/>
              <a:t>Manque de standards techniques </a:t>
            </a:r>
          </a:p>
          <a:p>
            <a:r>
              <a:rPr lang="fr-FR" sz="4000" dirty="0"/>
              <a:t>Manque de sensibilisation à l’open data: différence entre informations, données, statistiques, données brutes. Différence entre portail Web et portail de données. Formats de données ouverts. Jeux de données.</a:t>
            </a:r>
          </a:p>
          <a:p>
            <a:r>
              <a:rPr lang="fr-FR" sz="4000" dirty="0"/>
              <a:t>Quasi-absence d’inventaire de données</a:t>
            </a:r>
          </a:p>
          <a:p>
            <a:r>
              <a:rPr lang="fr-FR" sz="4000" dirty="0"/>
              <a:t>Faible découvrabilité des données</a:t>
            </a:r>
          </a:p>
          <a:p>
            <a:r>
              <a:rPr lang="fr-FR" sz="4000" dirty="0"/>
              <a:t>Problème de référentiels (absent ou non partagé), de désagrégations qui impactent la réutilisabilité</a:t>
            </a:r>
          </a:p>
          <a:p>
            <a:r>
              <a:rPr lang="fr-FR" sz="4000" dirty="0"/>
              <a:t>Perception des risques et des opportunités</a:t>
            </a:r>
          </a:p>
          <a:p>
            <a:pPr lvl="1"/>
            <a:r>
              <a:rPr lang="fr-FR" sz="4000" dirty="0"/>
              <a:t>Risque individuel</a:t>
            </a:r>
          </a:p>
          <a:p>
            <a:r>
              <a:rPr lang="fr-FR" sz="4000" dirty="0"/>
              <a:t>Procédures administrative lourdes pour l’ échange de données inter-administrations</a:t>
            </a:r>
          </a:p>
          <a:p>
            <a:r>
              <a:rPr lang="fr-FR" sz="4000" dirty="0"/>
              <a:t>Des idées de valorisation directe des données</a:t>
            </a:r>
          </a:p>
          <a:p>
            <a:r>
              <a:rPr lang="fr-FR" sz="4000" dirty="0"/>
              <a:t>Des achats de données inter-administration: Météo, OMPIC, Cadastre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4000" dirty="0"/>
              <a:t>Anecdote sur les marchés publiques 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02A8248-6E7D-484D-B336-64C90DC1C7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6661" y="1078212"/>
            <a:ext cx="892470" cy="9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1929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1" y="0"/>
            <a:ext cx="5887156" cy="812800"/>
          </a:xfrm>
        </p:spPr>
        <p:txBody>
          <a:bodyPr/>
          <a:lstStyle/>
          <a:p>
            <a:r>
              <a:rPr lang="fr-FR" sz="2800" dirty="0"/>
              <a:t>Etat des lieux : Demande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13993" y="2070461"/>
            <a:ext cx="3467491" cy="4407322"/>
          </a:xfrm>
          <a:prstGeom prst="rect">
            <a:avLst/>
          </a:prstGeom>
        </p:spPr>
        <p:txBody>
          <a:bodyPr>
            <a:normAutofit fontScale="400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/>
          </a:p>
          <a:p>
            <a:r>
              <a:rPr lang="fr-FR" sz="4000" dirty="0"/>
              <a:t>Une société civile active et poussant pour la publication au niveau national et local, et développant des plateformes réutilisant les données</a:t>
            </a:r>
          </a:p>
          <a:p>
            <a:r>
              <a:rPr lang="fr-FR" sz="4000" dirty="0"/>
              <a:t>Quelques acteurs portés sur les données: TAFRA, F. Mascir, ICT4Dev, OSM.ma</a:t>
            </a:r>
          </a:p>
          <a:p>
            <a:r>
              <a:rPr lang="fr-FR" sz="4000" dirty="0"/>
              <a:t>Un secteur des TIC et de l’innovation actif avec l’organisation de quantité de hackathons sur tous les sujets (agriculture, démocratie, etc.)</a:t>
            </a:r>
          </a:p>
          <a:p>
            <a:r>
              <a:rPr lang="fr-FR" sz="4000" dirty="0"/>
              <a:t>Des outils de requêtes en place: chikaya.ma, future plateforme pour le droit d’accès </a:t>
            </a:r>
          </a:p>
          <a:p>
            <a:r>
              <a:rPr lang="fr-FR" sz="4000" dirty="0"/>
              <a:t>Des professionnels de bonne qualité technique</a:t>
            </a:r>
          </a:p>
          <a:p>
            <a:pPr marL="0" indent="0">
              <a:buNone/>
            </a:pPr>
            <a:r>
              <a:rPr lang="fr-FR" sz="3600" dirty="0"/>
              <a:t> </a:t>
            </a:r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E7DDFC-52E0-438D-AEDB-E26B9CF7E6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170" y="883483"/>
            <a:ext cx="1107886" cy="123098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02164F-1D91-481E-BEAB-0E2C54C1F9FE}"/>
              </a:ext>
            </a:extLst>
          </p:cNvPr>
          <p:cNvSpPr txBox="1">
            <a:spLocks/>
          </p:cNvSpPr>
          <p:nvPr/>
        </p:nvSpPr>
        <p:spPr>
          <a:xfrm>
            <a:off x="3887886" y="2241714"/>
            <a:ext cx="3842093" cy="3716026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100" dirty="0"/>
              <a:t>Manque d’interaction et de coordinations entre les acteurs non-gouvernementaux et les ministères</a:t>
            </a:r>
          </a:p>
          <a:p>
            <a:r>
              <a:rPr lang="fr-FR" sz="2100" dirty="0"/>
              <a:t>Quelques faiblesses dans le support à l’innovation en cours  de résolution: statut des startups (étudiants, enseignants),incitation fiscale,…</a:t>
            </a:r>
          </a:p>
          <a:p>
            <a:r>
              <a:rPr lang="fr-FR" sz="2100" dirty="0"/>
              <a:t>Pas de cursus open data dans les établissements TIC, ENSA ou autres</a:t>
            </a:r>
          </a:p>
          <a:p>
            <a:r>
              <a:rPr lang="fr-FR" sz="2100" dirty="0"/>
              <a:t>Pas de canal facile pour le dialogue avec le gouvernement</a:t>
            </a:r>
          </a:p>
          <a:p>
            <a:r>
              <a:rPr lang="fr-FR" sz="2100" dirty="0"/>
              <a:t>Faible visibilité des données disponibles</a:t>
            </a:r>
          </a:p>
          <a:p>
            <a:endParaRPr lang="fr-FR" sz="2100" dirty="0"/>
          </a:p>
          <a:p>
            <a:pPr lvl="1"/>
            <a:endParaRPr lang="fr-FR" dirty="0"/>
          </a:p>
          <a:p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02A8248-6E7D-484D-B336-64C90DC1C7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6088" y="1128036"/>
            <a:ext cx="892470" cy="99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9545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0" y="0"/>
            <a:ext cx="5832763" cy="812800"/>
          </a:xfrm>
        </p:spPr>
        <p:txBody>
          <a:bodyPr/>
          <a:lstStyle/>
          <a:p>
            <a:r>
              <a:rPr lang="fr-FR" sz="2800" dirty="0"/>
              <a:t>Proposition d’actions à court terme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52401" y="1212980"/>
            <a:ext cx="6155093" cy="505719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  <a:p>
            <a:pPr marL="0" indent="0">
              <a:buFont typeface="Courier New" pitchFamily="49" charset="0"/>
              <a:buNone/>
            </a:pPr>
            <a:endParaRPr lang="fr-FR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87602C2-42FF-458C-A902-C07883F3FA14}"/>
              </a:ext>
            </a:extLst>
          </p:cNvPr>
          <p:cNvSpPr txBox="1">
            <a:spLocks/>
          </p:cNvSpPr>
          <p:nvPr/>
        </p:nvSpPr>
        <p:spPr>
          <a:xfrm>
            <a:off x="72044" y="1127478"/>
            <a:ext cx="5713614" cy="5057191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Annonce officielle de lancement de l’initiative</a:t>
            </a:r>
          </a:p>
          <a:p>
            <a:r>
              <a:rPr lang="fr-FR" dirty="0"/>
              <a:t>Mise en place de la gouvernance</a:t>
            </a:r>
          </a:p>
          <a:p>
            <a:r>
              <a:rPr lang="fr-FR" dirty="0"/>
              <a:t>Conception et Mise en place du plan de suivi et évaluation</a:t>
            </a:r>
          </a:p>
          <a:p>
            <a:r>
              <a:rPr lang="fr-FR" dirty="0"/>
              <a:t>Sélection des ministères pilotes</a:t>
            </a:r>
          </a:p>
          <a:p>
            <a:r>
              <a:rPr lang="fr-FR" dirty="0"/>
              <a:t>Mise en place de l’appui technique aux administrations pilotes </a:t>
            </a:r>
          </a:p>
          <a:p>
            <a:r>
              <a:rPr lang="fr-FR" dirty="0"/>
              <a:t>Formation des points focaux </a:t>
            </a:r>
          </a:p>
          <a:p>
            <a:r>
              <a:rPr lang="fr-FR" dirty="0"/>
              <a:t>Lancement des chantiers</a:t>
            </a:r>
          </a:p>
          <a:p>
            <a:pPr lvl="1"/>
            <a:r>
              <a:rPr lang="fr-FR" dirty="0"/>
              <a:t>Inventaire</a:t>
            </a:r>
          </a:p>
          <a:p>
            <a:pPr lvl="1"/>
            <a:r>
              <a:rPr lang="fr-FR" dirty="0"/>
              <a:t>Référentiels</a:t>
            </a:r>
          </a:p>
          <a:p>
            <a:pPr lvl="1"/>
            <a:r>
              <a:rPr lang="fr-FR" dirty="0"/>
              <a:t>Plateforme technique et standard</a:t>
            </a:r>
          </a:p>
          <a:p>
            <a:pPr lvl="1"/>
            <a:r>
              <a:rPr lang="fr-FR" dirty="0"/>
              <a:t>Métadonnées</a:t>
            </a:r>
          </a:p>
          <a:p>
            <a:pPr lvl="1"/>
            <a:r>
              <a:rPr lang="fr-FR" dirty="0"/>
              <a:t>Licences</a:t>
            </a:r>
          </a:p>
          <a:p>
            <a:r>
              <a:rPr lang="fr-FR" dirty="0"/>
              <a:t>Lancement du développement de la législation Open Data</a:t>
            </a:r>
          </a:p>
          <a:p>
            <a:r>
              <a:rPr lang="fr-FR" dirty="0"/>
              <a:t>Lancement du développement d’une législation sur la classification des données</a:t>
            </a:r>
          </a:p>
          <a:p>
            <a:r>
              <a:rPr lang="fr-FR" dirty="0"/>
              <a:t>Développement des cas d’usages internes et externes</a:t>
            </a:r>
          </a:p>
          <a:p>
            <a:r>
              <a:rPr lang="fr-FR" dirty="0"/>
              <a:t>Identification d’un budget de lancement des actions</a:t>
            </a:r>
          </a:p>
          <a:p>
            <a:pPr lvl="1"/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50C357F-5635-4E75-9E26-C239485774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5163" y="2194560"/>
            <a:ext cx="2877044" cy="192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271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8" y="0"/>
            <a:ext cx="5918662" cy="812800"/>
          </a:xfrm>
        </p:spPr>
        <p:txBody>
          <a:bodyPr/>
          <a:lstStyle/>
          <a:p>
            <a:r>
              <a:rPr lang="fr-FR" sz="2400" dirty="0"/>
              <a:t>Feuille de route: 1</a:t>
            </a:r>
            <a:r>
              <a:rPr lang="fr-FR" sz="2400" baseline="30000" dirty="0"/>
              <a:t>ère</a:t>
            </a:r>
            <a:r>
              <a:rPr lang="fr-FR" sz="2400" dirty="0"/>
              <a:t> étape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284930" y="1201775"/>
            <a:ext cx="6787117" cy="410451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Sensibilisation des hauts responsables</a:t>
            </a:r>
          </a:p>
          <a:p>
            <a:r>
              <a:rPr lang="fr-FR" dirty="0"/>
              <a:t> Développement de manuels de procédure</a:t>
            </a:r>
          </a:p>
          <a:p>
            <a:pPr lvl="1"/>
            <a:r>
              <a:rPr lang="fr-FR" dirty="0"/>
              <a:t>Pour les Responsables Open Data</a:t>
            </a:r>
          </a:p>
          <a:p>
            <a:pPr lvl="1"/>
            <a:r>
              <a:rPr lang="fr-FR" dirty="0"/>
              <a:t>Pour les Gestionnaires de données</a:t>
            </a:r>
          </a:p>
          <a:p>
            <a:r>
              <a:rPr lang="fr-FR" dirty="0"/>
              <a:t>Sensibilisation des ROD et GdD</a:t>
            </a:r>
          </a:p>
          <a:p>
            <a:r>
              <a:rPr lang="fr-FR" dirty="0"/>
              <a:t>Travaux préliminaires sur les référentiels de données</a:t>
            </a:r>
          </a:p>
          <a:p>
            <a:pPr marL="514350" indent="-514350"/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9BFAE9E1-8B41-427E-881F-BC8AC16ACF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0833" y="4824420"/>
            <a:ext cx="2618237" cy="163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425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1321E34-27CE-45BD-9E0F-211A44205320}"/>
              </a:ext>
            </a:extLst>
          </p:cNvPr>
          <p:cNvSpPr/>
          <p:nvPr/>
        </p:nvSpPr>
        <p:spPr>
          <a:xfrm>
            <a:off x="1339403" y="2086377"/>
            <a:ext cx="6757518" cy="310917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Open Data  </a:t>
            </a:r>
          </a:p>
          <a:p>
            <a:pPr algn="ctr"/>
            <a:r>
              <a:rPr lang="fr-FR" sz="3600" b="1" dirty="0"/>
              <a:t>Mythes</a:t>
            </a:r>
            <a:r>
              <a:rPr lang="en-GB" sz="3600" b="1" dirty="0"/>
              <a:t> et </a:t>
            </a:r>
            <a:r>
              <a:rPr lang="fr-FR" sz="3600" b="1" dirty="0"/>
              <a:t>Risques</a:t>
            </a:r>
          </a:p>
        </p:txBody>
      </p:sp>
    </p:spTree>
    <p:extLst>
      <p:ext uri="{BB962C8B-B14F-4D97-AF65-F5344CB8AC3E}">
        <p14:creationId xmlns:p14="http://schemas.microsoft.com/office/powerpoint/2010/main" val="19949201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Open Data: mythes and risques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200" dirty="0"/>
              <a:t> </a:t>
            </a:r>
          </a:p>
          <a:p>
            <a:r>
              <a:rPr lang="fr-FR" dirty="0"/>
              <a:t>Risques &amp; danger d’ouvrir ses données</a:t>
            </a:r>
          </a:p>
          <a:p>
            <a:r>
              <a:rPr lang="fr-FR" sz="2900" dirty="0"/>
              <a:t>Motivation &amp; Justification pour ne pas ouvrir ses données</a:t>
            </a:r>
          </a:p>
          <a:p>
            <a:endParaRPr lang="fr-FR" sz="2900" dirty="0"/>
          </a:p>
          <a:p>
            <a:pPr marL="0" indent="0">
              <a:buNone/>
            </a:pPr>
            <a:br>
              <a:rPr lang="fr-FR" sz="2900" dirty="0"/>
            </a:b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863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1: quelles données publier?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/>
              <a:t>Mythe 1</a:t>
            </a:r>
            <a:r>
              <a:rPr lang="fr-FR" dirty="0"/>
              <a:t>: Tout publier vs rien publier</a:t>
            </a:r>
          </a:p>
          <a:p>
            <a:pPr marL="0" indent="0">
              <a:buNone/>
            </a:pPr>
            <a:r>
              <a:rPr lang="fr-FR" b="1" u="sng" dirty="0"/>
              <a:t>Réalité</a:t>
            </a:r>
            <a:r>
              <a:rPr lang="fr-FR" dirty="0"/>
              <a:t> Le spectre des données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br>
              <a:rPr lang="fr-FR" sz="2900" dirty="0"/>
            </a:b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  <p:grpSp>
        <p:nvGrpSpPr>
          <p:cNvPr id="5" name="Groupe 4">
            <a:extLst>
              <a:ext uri="{FF2B5EF4-FFF2-40B4-BE49-F238E27FC236}">
                <a16:creationId xmlns:a16="http://schemas.microsoft.com/office/drawing/2014/main" id="{B7ECC364-6449-4280-816A-C1C5AAC1C0AC}"/>
              </a:ext>
            </a:extLst>
          </p:cNvPr>
          <p:cNvGrpSpPr/>
          <p:nvPr/>
        </p:nvGrpSpPr>
        <p:grpSpPr>
          <a:xfrm>
            <a:off x="339406" y="2902226"/>
            <a:ext cx="7739594" cy="2152865"/>
            <a:chOff x="871735" y="2582825"/>
            <a:chExt cx="7739594" cy="2152865"/>
          </a:xfrm>
        </p:grpSpPr>
        <p:grpSp>
          <p:nvGrpSpPr>
            <p:cNvPr id="7" name="Shape 137">
              <a:extLst>
                <a:ext uri="{FF2B5EF4-FFF2-40B4-BE49-F238E27FC236}">
                  <a16:creationId xmlns:a16="http://schemas.microsoft.com/office/drawing/2014/main" id="{306BD2A1-F350-484B-B04C-E0A9E165C325}"/>
                </a:ext>
              </a:extLst>
            </p:cNvPr>
            <p:cNvGrpSpPr/>
            <p:nvPr/>
          </p:nvGrpSpPr>
          <p:grpSpPr>
            <a:xfrm>
              <a:off x="871735" y="2921678"/>
              <a:ext cx="7363508" cy="1367279"/>
              <a:chOff x="2133930" y="3964583"/>
              <a:chExt cx="19820405" cy="5793552"/>
            </a:xfrm>
          </p:grpSpPr>
          <p:sp>
            <p:nvSpPr>
              <p:cNvPr id="16" name="Shape 138">
                <a:extLst>
                  <a:ext uri="{FF2B5EF4-FFF2-40B4-BE49-F238E27FC236}">
                    <a16:creationId xmlns:a16="http://schemas.microsoft.com/office/drawing/2014/main" id="{306D1A78-F922-4A2F-AD3D-8A53AC0AD154}"/>
                  </a:ext>
                </a:extLst>
              </p:cNvPr>
              <p:cNvSpPr/>
              <p:nvPr/>
            </p:nvSpPr>
            <p:spPr>
              <a:xfrm rot="10800000">
                <a:off x="2133930" y="8387022"/>
                <a:ext cx="3199229" cy="1371113"/>
              </a:xfrm>
              <a:custGeom>
                <a:avLst/>
                <a:gdLst/>
                <a:ahLst/>
                <a:cxnLst/>
                <a:rect l="0" t="0" r="0" b="0"/>
                <a:pathLst>
                  <a:path w="21600" h="21600" extrusionOk="0">
                    <a:moveTo>
                      <a:pt x="12566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33730"/>
                </a:srgbClr>
              </a:solidFill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fr-FR" sz="1200" b="0" i="0" u="none" strike="noStrike" cap="none" baseline="0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Shape 139">
                <a:extLst>
                  <a:ext uri="{FF2B5EF4-FFF2-40B4-BE49-F238E27FC236}">
                    <a16:creationId xmlns:a16="http://schemas.microsoft.com/office/drawing/2014/main" id="{EBDA7F1D-BE0A-4298-AEF3-1149544259FF}"/>
                  </a:ext>
                </a:extLst>
              </p:cNvPr>
              <p:cNvSpPr/>
              <p:nvPr/>
            </p:nvSpPr>
            <p:spPr>
              <a:xfrm rot="10800000">
                <a:off x="3505039" y="8387022"/>
                <a:ext cx="6707610" cy="1371113"/>
              </a:xfrm>
              <a:custGeom>
                <a:avLst/>
                <a:gdLst/>
                <a:ahLst/>
                <a:cxnLst/>
                <a:rect l="0" t="0" r="0" b="0"/>
                <a:pathLst>
                  <a:path w="21600" h="21600" extrusionOk="0">
                    <a:moveTo>
                      <a:pt x="13329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33730"/>
                </a:srgbClr>
              </a:solidFill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fr-FR" sz="1200" b="0" i="0" u="none" strike="noStrike" cap="none" baseline="0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Shape 140">
                <a:extLst>
                  <a:ext uri="{FF2B5EF4-FFF2-40B4-BE49-F238E27FC236}">
                    <a16:creationId xmlns:a16="http://schemas.microsoft.com/office/drawing/2014/main" id="{BB46A0F5-D290-4F5E-B06B-4E2CE854409A}"/>
                  </a:ext>
                </a:extLst>
              </p:cNvPr>
              <p:cNvSpPr/>
              <p:nvPr/>
            </p:nvSpPr>
            <p:spPr>
              <a:xfrm rot="10800000">
                <a:off x="7164648" y="8387022"/>
                <a:ext cx="6401807" cy="1371113"/>
              </a:xfrm>
              <a:custGeom>
                <a:avLst/>
                <a:gdLst/>
                <a:ahLst/>
                <a:cxnLst/>
                <a:rect l="0" t="0" r="0" b="0"/>
                <a:pathLst>
                  <a:path w="21600" h="21600" extrusionOk="0">
                    <a:moveTo>
                      <a:pt x="12566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33730"/>
                </a:srgbClr>
              </a:solidFill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fr-FR" sz="1200" b="0" i="0" u="none" strike="noStrike" cap="none" baseline="0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Shape 141">
                <a:extLst>
                  <a:ext uri="{FF2B5EF4-FFF2-40B4-BE49-F238E27FC236}">
                    <a16:creationId xmlns:a16="http://schemas.microsoft.com/office/drawing/2014/main" id="{ED68506E-A71A-4DD2-84F2-E00AD82DA926}"/>
                  </a:ext>
                </a:extLst>
              </p:cNvPr>
              <p:cNvSpPr/>
              <p:nvPr/>
            </p:nvSpPr>
            <p:spPr>
              <a:xfrm rot="10800000">
                <a:off x="10669597" y="8387136"/>
                <a:ext cx="9755699" cy="1370999"/>
              </a:xfrm>
              <a:prstGeom prst="triangle">
                <a:avLst>
                  <a:gd name="adj" fmla="val 50000"/>
                </a:avLst>
              </a:prstGeom>
              <a:solidFill>
                <a:srgbClr val="FFFFFF">
                  <a:alpha val="33730"/>
                </a:srgbClr>
              </a:solidFill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fr-FR" sz="1200" b="0" i="0" u="none" strike="noStrike" cap="none" baseline="0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Shape 142">
                <a:extLst>
                  <a:ext uri="{FF2B5EF4-FFF2-40B4-BE49-F238E27FC236}">
                    <a16:creationId xmlns:a16="http://schemas.microsoft.com/office/drawing/2014/main" id="{B218348D-2B05-439F-B92A-4EB668EB7EF9}"/>
                  </a:ext>
                </a:extLst>
              </p:cNvPr>
              <p:cNvSpPr/>
              <p:nvPr/>
            </p:nvSpPr>
            <p:spPr>
              <a:xfrm rot="10800000">
                <a:off x="19511243" y="8387022"/>
                <a:ext cx="2436371" cy="1371113"/>
              </a:xfrm>
              <a:custGeom>
                <a:avLst/>
                <a:gdLst/>
                <a:ahLst/>
                <a:cxnLst/>
                <a:rect l="0" t="0" r="0" b="0"/>
                <a:pathLst>
                  <a:path w="21600" h="21600" extrusionOk="0">
                    <a:moveTo>
                      <a:pt x="15857" y="0"/>
                    </a:moveTo>
                    <a:lnTo>
                      <a:pt x="0" y="21600"/>
                    </a:ln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FFFFFF">
                  <a:alpha val="33730"/>
                </a:srgbClr>
              </a:solidFill>
              <a:ln>
                <a:noFill/>
              </a:ln>
            </p:spPr>
            <p:txBody>
              <a:bodyPr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fr-FR" sz="1200" b="0" i="0" u="none" strike="noStrike" cap="none" baseline="0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1" name="Shape 143">
                <a:extLst>
                  <a:ext uri="{FF2B5EF4-FFF2-40B4-BE49-F238E27FC236}">
                    <a16:creationId xmlns:a16="http://schemas.microsoft.com/office/drawing/2014/main" id="{6354DDA3-7299-4CD0-AA40-3A7F282867F4}"/>
                  </a:ext>
                </a:extLst>
              </p:cNvPr>
              <p:cNvPicPr preferRelativeResize="0"/>
              <p:nvPr/>
            </p:nvPicPr>
            <p:blipFill rotWithShape="1">
              <a:blip r:embed="rId3" cstate="email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2133935" y="3964583"/>
                <a:ext cx="19820400" cy="44393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" name="Shape 133">
              <a:extLst>
                <a:ext uri="{FF2B5EF4-FFF2-40B4-BE49-F238E27FC236}">
                  <a16:creationId xmlns:a16="http://schemas.microsoft.com/office/drawing/2014/main" id="{483A9A68-B1DD-41C7-A61C-E35449C524B1}"/>
                </a:ext>
              </a:extLst>
            </p:cNvPr>
            <p:cNvSpPr/>
            <p:nvPr/>
          </p:nvSpPr>
          <p:spPr>
            <a:xfrm>
              <a:off x="903858" y="2582825"/>
              <a:ext cx="2058003" cy="312299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b="1" i="0" u="none" strike="noStrike" cap="none" baseline="0" dirty="0">
                  <a:solidFill>
                    <a:schemeClr val="tx1">
                      <a:lumMod val="50000"/>
                    </a:schemeClr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Données Fermées</a:t>
              </a:r>
            </a:p>
          </p:txBody>
        </p:sp>
        <p:sp>
          <p:nvSpPr>
            <p:cNvPr id="9" name="Shape 133">
              <a:extLst>
                <a:ext uri="{FF2B5EF4-FFF2-40B4-BE49-F238E27FC236}">
                  <a16:creationId xmlns:a16="http://schemas.microsoft.com/office/drawing/2014/main" id="{C7A30443-A721-46CC-936C-527B0B640F2F}"/>
                </a:ext>
              </a:extLst>
            </p:cNvPr>
            <p:cNvSpPr/>
            <p:nvPr/>
          </p:nvSpPr>
          <p:spPr>
            <a:xfrm>
              <a:off x="3531697" y="2596103"/>
              <a:ext cx="2197070" cy="29902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b="1" i="0" u="none" strike="noStrike" cap="none" baseline="0" dirty="0">
                  <a:solidFill>
                    <a:schemeClr val="tx1">
                      <a:lumMod val="50000"/>
                    </a:schemeClr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Données Partagées</a:t>
              </a:r>
            </a:p>
          </p:txBody>
        </p:sp>
        <p:sp>
          <p:nvSpPr>
            <p:cNvPr id="10" name="Shape 133">
              <a:extLst>
                <a:ext uri="{FF2B5EF4-FFF2-40B4-BE49-F238E27FC236}">
                  <a16:creationId xmlns:a16="http://schemas.microsoft.com/office/drawing/2014/main" id="{DF153FA6-64AA-4CD1-BB90-58C54F5EA570}"/>
                </a:ext>
              </a:extLst>
            </p:cNvPr>
            <p:cNvSpPr/>
            <p:nvPr/>
          </p:nvSpPr>
          <p:spPr>
            <a:xfrm>
              <a:off x="6298603" y="2603422"/>
              <a:ext cx="2058003" cy="32358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b="1" i="0" u="none" strike="noStrike" cap="none" baseline="0" dirty="0">
                  <a:solidFill>
                    <a:schemeClr val="tx1">
                      <a:lumMod val="50000"/>
                    </a:schemeClr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Données Ouvertes</a:t>
              </a:r>
            </a:p>
          </p:txBody>
        </p:sp>
        <p:sp>
          <p:nvSpPr>
            <p:cNvPr id="11" name="Shape 129">
              <a:extLst>
                <a:ext uri="{FF2B5EF4-FFF2-40B4-BE49-F238E27FC236}">
                  <a16:creationId xmlns:a16="http://schemas.microsoft.com/office/drawing/2014/main" id="{48B06ED6-783B-4487-BCD6-30518E9E7450}"/>
                </a:ext>
              </a:extLst>
            </p:cNvPr>
            <p:cNvSpPr/>
            <p:nvPr/>
          </p:nvSpPr>
          <p:spPr>
            <a:xfrm>
              <a:off x="3560294" y="4154869"/>
              <a:ext cx="1327467" cy="312299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sz="1400" b="1" i="0" u="none" strike="noStrike" cap="none" baseline="0" dirty="0">
                  <a:latin typeface="Helvetica Neue"/>
                  <a:ea typeface="Helvetica Neue"/>
                  <a:cs typeface="Helvetica Neue"/>
                  <a:sym typeface="Helvetica Neue"/>
                </a:rPr>
                <a:t>Informations personnelles</a:t>
              </a:r>
            </a:p>
          </p:txBody>
        </p:sp>
        <p:sp>
          <p:nvSpPr>
            <p:cNvPr id="12" name="Shape 130">
              <a:extLst>
                <a:ext uri="{FF2B5EF4-FFF2-40B4-BE49-F238E27FC236}">
                  <a16:creationId xmlns:a16="http://schemas.microsoft.com/office/drawing/2014/main" id="{51FABE04-A67C-408A-A150-529620C3BA35}"/>
                </a:ext>
              </a:extLst>
            </p:cNvPr>
            <p:cNvSpPr/>
            <p:nvPr/>
          </p:nvSpPr>
          <p:spPr>
            <a:xfrm>
              <a:off x="2084318" y="4127165"/>
              <a:ext cx="1305315" cy="608525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sz="1400" b="1" i="0" u="none" strike="noStrike" cap="none" baseline="0" dirty="0">
                  <a:latin typeface="Helvetica Neue"/>
                  <a:ea typeface="Helvetica Neue"/>
                  <a:cs typeface="Helvetica Neue"/>
                  <a:sym typeface="Helvetica Neue"/>
                </a:rPr>
                <a:t>Information commerciale sensible, brevet, …</a:t>
              </a:r>
            </a:p>
          </p:txBody>
        </p:sp>
        <p:sp>
          <p:nvSpPr>
            <p:cNvPr id="13" name="Shape 131">
              <a:extLst>
                <a:ext uri="{FF2B5EF4-FFF2-40B4-BE49-F238E27FC236}">
                  <a16:creationId xmlns:a16="http://schemas.microsoft.com/office/drawing/2014/main" id="{43F86D25-7E42-4C31-8A9D-82057287893A}"/>
                </a:ext>
              </a:extLst>
            </p:cNvPr>
            <p:cNvSpPr/>
            <p:nvPr/>
          </p:nvSpPr>
          <p:spPr>
            <a:xfrm>
              <a:off x="5328305" y="4127165"/>
              <a:ext cx="1441433" cy="518215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sz="1400" b="1" i="0" u="none" strike="noStrike" cap="none" baseline="0" dirty="0">
                  <a:latin typeface="Helvetica Neue"/>
                  <a:ea typeface="Helvetica Neue"/>
                  <a:cs typeface="Helvetica Neue"/>
                  <a:sym typeface="Helvetica Neue"/>
                </a:rPr>
                <a:t>Données de santé agrégées</a:t>
              </a:r>
            </a:p>
          </p:txBody>
        </p:sp>
        <p:sp>
          <p:nvSpPr>
            <p:cNvPr id="14" name="Shape 132">
              <a:extLst>
                <a:ext uri="{FF2B5EF4-FFF2-40B4-BE49-F238E27FC236}">
                  <a16:creationId xmlns:a16="http://schemas.microsoft.com/office/drawing/2014/main" id="{7745D143-D232-4736-9BC6-E8A3569D7B34}"/>
                </a:ext>
              </a:extLst>
            </p:cNvPr>
            <p:cNvSpPr/>
            <p:nvPr/>
          </p:nvSpPr>
          <p:spPr>
            <a:xfrm>
              <a:off x="7062564" y="4149226"/>
              <a:ext cx="1548765" cy="31794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sz="1400" b="1" i="0" u="none" strike="noStrike" cap="none" baseline="0" dirty="0">
                  <a:latin typeface="Helvetica Neue"/>
                  <a:ea typeface="Helvetica Neue"/>
                  <a:cs typeface="Helvetica Neue"/>
                  <a:sym typeface="Helvetica Neue"/>
                </a:rPr>
                <a:t>Horaire de bus</a:t>
              </a:r>
            </a:p>
          </p:txBody>
        </p:sp>
        <p:sp>
          <p:nvSpPr>
            <p:cNvPr id="15" name="Shape 133">
              <a:extLst>
                <a:ext uri="{FF2B5EF4-FFF2-40B4-BE49-F238E27FC236}">
                  <a16:creationId xmlns:a16="http://schemas.microsoft.com/office/drawing/2014/main" id="{7EE28C7F-4288-42F4-B631-0329AD007708}"/>
                </a:ext>
              </a:extLst>
            </p:cNvPr>
            <p:cNvSpPr/>
            <p:nvPr/>
          </p:nvSpPr>
          <p:spPr>
            <a:xfrm>
              <a:off x="984647" y="4145172"/>
              <a:ext cx="841903" cy="59051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buSzPct val="25000"/>
                <a:buNone/>
              </a:pPr>
              <a:r>
                <a:rPr lang="fr-FR" sz="1400" b="1" i="0" u="none" strike="noStrike" cap="none" baseline="0" dirty="0">
                  <a:latin typeface="Helvetica Neue"/>
                  <a:ea typeface="Helvetica Neue"/>
                  <a:cs typeface="Helvetica Neue"/>
                  <a:sym typeface="Helvetica Neue"/>
                </a:rPr>
                <a:t>Sécurité Nationale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54354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2: La qualité des données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b="1" dirty="0"/>
              <a:t>Mythe 2</a:t>
            </a:r>
            <a:r>
              <a:rPr lang="fr-FR" dirty="0"/>
              <a:t>: 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Les données sont fausses ou de mauvaise qualité. Les utilisateurs seront mécontents et je vais donner une mauvaise image de l’administration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r>
              <a:rPr lang="fr-FR" sz="2200" b="1" u="sng" dirty="0">
                <a:latin typeface="Trebuchet MS" pitchFamily="34" charset="0"/>
                <a:cs typeface="ＭＳ Ｐゴシック" pitchFamily="34" charset="-128"/>
              </a:rPr>
              <a:t>Réalité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: La qualité est un processus itératif qui bénéficie de la publication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Si les données sont de 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faible qualité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, la communauté contribuera à 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l’amélioration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des données si elles sont utiles, permettant de créer un 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cercle vertueux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.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Exemple: Le Royaume-Uni a publié la localisation de 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300 000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stations de bus au début des années 2010. La communauté a corrigé 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18 000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 d’entre elles (</a:t>
            </a:r>
            <a:r>
              <a:rPr lang="fr-FR" sz="2000" b="1" dirty="0">
                <a:latin typeface="Trebuchet MS" pitchFamily="34" charset="0"/>
                <a:cs typeface="ＭＳ Ｐゴシック" pitchFamily="34" charset="-128"/>
              </a:rPr>
              <a:t>~6%</a:t>
            </a: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)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788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3: Légalité de la publication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b="1" dirty="0"/>
              <a:t>Mythe 3</a:t>
            </a:r>
            <a:r>
              <a:rPr lang="fr-FR" dirty="0"/>
              <a:t>: 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Je n’ai pas le droit de publier mes données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r>
              <a:rPr lang="fr-FR" sz="2200" b="1" u="sng" dirty="0">
                <a:latin typeface="Trebuchet MS" pitchFamily="34" charset="0"/>
                <a:cs typeface="ＭＳ Ｐゴシック" pitchFamily="34" charset="-128"/>
              </a:rPr>
              <a:t>Réalité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: plusieurs législations imposent la publication de données et punissent la non-publication de la plupart des données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099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4: Mauvaise utilisation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2400" b="1" dirty="0"/>
              <a:t>Mythe 4</a:t>
            </a:r>
            <a:r>
              <a:rPr lang="fr-FR" dirty="0"/>
              <a:t>: 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Quelqu’un pourrait tirer des conclusions hâtives, sans considérer une perspective globale</a:t>
            </a:r>
          </a:p>
          <a:p>
            <a:pPr marL="0" indent="0">
              <a:buNone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Mythe 4bis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: des réutilisateurs mal intentionnés pourraient modifier les données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r>
              <a:rPr lang="fr-FR" sz="2400" b="1" u="sng" dirty="0">
                <a:latin typeface="Trebuchet MS" pitchFamily="34" charset="0"/>
                <a:cs typeface="ＭＳ Ｐゴシック" pitchFamily="34" charset="-128"/>
              </a:rPr>
              <a:t>Réalité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: 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Les rumeurs et les interprétations sur la base d’informations partielles alimentent la suspicion, les analyses sur la base des faits réels sont indiscutables scientifiquement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La source officielle est connue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Plusieurs dispositions légales punissent l’utilisation frauduleuse de données et la diffamation</a:t>
            </a: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783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5 : Bénéfices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483841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3400" b="1" dirty="0"/>
              <a:t>Mythe 5 </a:t>
            </a:r>
            <a:r>
              <a:rPr lang="fr-FR" dirty="0"/>
              <a:t>: </a:t>
            </a:r>
            <a:r>
              <a:rPr lang="fr-FR" sz="2900" dirty="0">
                <a:latin typeface="Trebuchet MS" pitchFamily="34" charset="0"/>
                <a:cs typeface="ＭＳ Ｐゴシック" pitchFamily="34" charset="-128"/>
              </a:rPr>
              <a:t>Les données valent de l’or, et la gratuité annihile les revenus potentiels</a:t>
            </a:r>
          </a:p>
          <a:p>
            <a:pPr marL="0" indent="0">
              <a:buNone/>
              <a:defRPr/>
            </a:pPr>
            <a:r>
              <a:rPr lang="fr-FR" sz="3400" b="1" u="sng" dirty="0">
                <a:latin typeface="Trebuchet MS" pitchFamily="34" charset="0"/>
                <a:cs typeface="ＭＳ Ｐゴシック" pitchFamily="34" charset="-128"/>
              </a:rPr>
              <a:t>Réalité </a:t>
            </a:r>
            <a:r>
              <a:rPr lang="fr-FR" sz="2900" dirty="0">
                <a:latin typeface="Trebuchet MS" pitchFamily="34" charset="0"/>
                <a:cs typeface="ＭＳ Ｐゴシック" pitchFamily="34" charset="-128"/>
              </a:rPr>
              <a:t>: 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La valeur des données n’est pas intrinsèque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La valeur des données dépend de leur usage et de leur utilisation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La valeur des données est directement liée au partage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La gratuité concerne les données brutes. Des revenus sont possibles concernant des services sur l’analyse de données, ou pour couvrir les  coûts de publication 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Les données valent de l’or si elles sont partagées et utilisées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Les données ouvertes offrent des opportunités de revenus sur des services à plus forte valeur ajoutée</a:t>
            </a: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178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5bis : Bénéfices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339406" y="1374159"/>
            <a:ext cx="7128532" cy="5483841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3400" b="1" dirty="0"/>
              <a:t>Mythe 5bis </a:t>
            </a:r>
            <a:r>
              <a:rPr lang="fr-FR" dirty="0"/>
              <a:t>: </a:t>
            </a:r>
            <a:r>
              <a:rPr lang="fr-FR" sz="2900" dirty="0">
                <a:latin typeface="Trebuchet MS" pitchFamily="34" charset="0"/>
                <a:cs typeface="ＭＳ Ｐゴシック" pitchFamily="34" charset="-128"/>
              </a:rPr>
              <a:t>Tout le monde bénéficie de la publication sauf moi/ma structure/le gouvernement. Est-ce que je ne vais pas perdre mon emploi/mon importance si j’ouvre mes données?</a:t>
            </a:r>
          </a:p>
          <a:p>
            <a:pPr marL="0" indent="0">
              <a:buNone/>
              <a:defRPr/>
            </a:pPr>
            <a:r>
              <a:rPr lang="fr-FR" sz="3400" b="1" u="sng" dirty="0">
                <a:latin typeface="Trebuchet MS" pitchFamily="34" charset="0"/>
                <a:cs typeface="ＭＳ Ｐゴシック" pitchFamily="34" charset="-128"/>
              </a:rPr>
              <a:t>Réalité </a:t>
            </a:r>
            <a:r>
              <a:rPr lang="fr-FR" sz="2900" dirty="0">
                <a:latin typeface="Trebuchet MS" pitchFamily="34" charset="0"/>
                <a:cs typeface="ＭＳ Ｐゴシック" pitchFamily="34" charset="-128"/>
              </a:rPr>
              <a:t>: 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Le pays dans son ensemble bénéficie des impacts sociaux et économiques; nouveaux services, création d’emploi, création de richesse, …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Les structures publiques ont un intérêt direct:</a:t>
            </a:r>
          </a:p>
          <a:p>
            <a:pPr lvl="1"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Une nouvelle approche de la résolution de problème, de la mesure d’impact des politiques publiques, des investissements</a:t>
            </a:r>
          </a:p>
          <a:p>
            <a:pPr lvl="1"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Une rationalisation de la collecte et la validation de données</a:t>
            </a:r>
          </a:p>
          <a:p>
            <a:pPr>
              <a:defRPr/>
            </a:pPr>
            <a:r>
              <a:rPr lang="fr-FR" sz="2600" dirty="0">
                <a:latin typeface="Trebuchet MS" pitchFamily="34" charset="0"/>
                <a:cs typeface="ＭＳ Ｐゴシック" pitchFamily="34" charset="-128"/>
              </a:rPr>
              <a:t>La valeur des données dépend de leur usage, plus la valeur augmente plus le responsable de ces données à de la valeur</a:t>
            </a: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6573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93" y="9939"/>
            <a:ext cx="6363733" cy="812800"/>
          </a:xfrm>
        </p:spPr>
        <p:txBody>
          <a:bodyPr/>
          <a:lstStyle/>
          <a:p>
            <a:r>
              <a:rPr lang="fr-FR" dirty="0"/>
              <a:t>Mythe 5ter : Bénéfices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48384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2400" b="1" dirty="0"/>
              <a:t>Mythe 5ter </a:t>
            </a:r>
            <a:r>
              <a:rPr lang="fr-FR" dirty="0"/>
              <a:t>: </a:t>
            </a:r>
            <a:r>
              <a:rPr lang="fr-FR" sz="2000" dirty="0"/>
              <a:t>D’autres (startups, etc.) vont tirer des bénéfices commerciaux de mes données</a:t>
            </a: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r>
              <a:rPr lang="fr-FR" sz="2400" b="1" u="sng" dirty="0">
                <a:latin typeface="Trebuchet MS" pitchFamily="34" charset="0"/>
                <a:cs typeface="ＭＳ Ｐゴシック" pitchFamily="34" charset="-128"/>
              </a:rPr>
              <a:t>Réalité 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: 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Le gouvernement n’a pas pour mandat d’expérimenter avec les données. Les données ouvertes permettent à d’autres d’innover!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Les structures publiques sont de très mauvais entrepreneurs 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Le but de l’état est de favoriser le développement économique et l’entreprenariat</a:t>
            </a: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4751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128" y="0"/>
            <a:ext cx="6363733" cy="812800"/>
          </a:xfrm>
        </p:spPr>
        <p:txBody>
          <a:bodyPr/>
          <a:lstStyle/>
          <a:p>
            <a:r>
              <a:rPr lang="fr-FR" dirty="0"/>
              <a:t>Mythe 6 : effort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48384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2400" b="1" dirty="0"/>
              <a:t>Mythe 6 </a:t>
            </a:r>
            <a:r>
              <a:rPr lang="fr-FR" dirty="0"/>
              <a:t>: </a:t>
            </a:r>
            <a:r>
              <a:rPr lang="fr-FR" sz="2000" dirty="0">
                <a:latin typeface="Trebuchet MS" pitchFamily="34" charset="0"/>
              </a:rPr>
              <a:t>L’ouverture des données, c’est beaucoup de travail</a:t>
            </a:r>
          </a:p>
          <a:p>
            <a:pPr marL="0" indent="0">
              <a:buNone/>
              <a:defRPr/>
            </a:pPr>
            <a:r>
              <a:rPr lang="fr-FR" sz="2400" b="1" dirty="0"/>
              <a:t>Mythe 6 bis</a:t>
            </a:r>
            <a:r>
              <a:rPr lang="fr-FR" sz="2000" dirty="0"/>
              <a:t>: </a:t>
            </a:r>
            <a:r>
              <a:rPr lang="fr-FR" sz="2000" dirty="0">
                <a:latin typeface="Trebuchet MS" pitchFamily="34" charset="0"/>
              </a:rPr>
              <a:t>L’ouverture des données, ça coûte cher</a:t>
            </a:r>
          </a:p>
          <a:p>
            <a:pPr marL="0" indent="0">
              <a:buNone/>
              <a:defRPr/>
            </a:pPr>
            <a:endParaRPr lang="fr-FR" sz="20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r>
              <a:rPr lang="fr-FR" sz="2400" b="1" u="sng" dirty="0">
                <a:latin typeface="Trebuchet MS" pitchFamily="34" charset="0"/>
                <a:cs typeface="ＭＳ Ｐゴシック" pitchFamily="34" charset="-128"/>
              </a:rPr>
              <a:t>Réalité 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: 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L’ouverture des données ne présente pas de coût supplémentaire s’il s’agit du résultat de la mise en place de processus de gestion de données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La transformation en données ouvertes peut être automatisée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La gestion des demandes d’information est facilitée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Passé les investissements initiaux, et l’automatisation des publications, les coûts spécifiques sont faibles (PFOD, gestion des demandes, inventaires)</a:t>
            </a:r>
          </a:p>
          <a:p>
            <a:pPr>
              <a:defRPr/>
            </a:pPr>
            <a:r>
              <a:rPr lang="fr-FR" sz="2000" dirty="0">
                <a:latin typeface="Trebuchet MS" pitchFamily="34" charset="0"/>
                <a:cs typeface="ＭＳ Ｐゴシック" pitchFamily="34" charset="-128"/>
              </a:rPr>
              <a:t>Les impacts financiers sont très largement supérieurs aux coûts</a:t>
            </a: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566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79552"/>
            <a:ext cx="6656654" cy="45481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1321E34-27CE-45BD-9E0F-211A44205320}"/>
              </a:ext>
            </a:extLst>
          </p:cNvPr>
          <p:cNvSpPr/>
          <p:nvPr/>
        </p:nvSpPr>
        <p:spPr>
          <a:xfrm>
            <a:off x="1339403" y="2086377"/>
            <a:ext cx="6757518" cy="3109175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/>
              <a:t>Open Data  &amp; Leadership</a:t>
            </a:r>
          </a:p>
        </p:txBody>
      </p:sp>
    </p:spTree>
    <p:extLst>
      <p:ext uri="{BB962C8B-B14F-4D97-AF65-F5344CB8AC3E}">
        <p14:creationId xmlns:p14="http://schemas.microsoft.com/office/powerpoint/2010/main" val="38222328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568985-9F11-4AD0-9FEB-AD0CBC83A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</a:t>
            </a:r>
          </a:p>
        </p:txBody>
      </p:sp>
      <p:pic>
        <p:nvPicPr>
          <p:cNvPr id="4" name="Image 3" descr="Une image contenant capture d’écran, carte de visite&#10;&#10;Description générée automatiquement">
            <a:extLst>
              <a:ext uri="{FF2B5EF4-FFF2-40B4-BE49-F238E27FC236}">
                <a16:creationId xmlns:a16="http://schemas.microsoft.com/office/drawing/2014/main" id="{242FB397-87C2-4B72-94A9-489C6EDC75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620" y="1501902"/>
            <a:ext cx="8366760" cy="385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5035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568985-9F11-4AD0-9FEB-AD0CBC83A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Vision</a:t>
            </a:r>
          </a:p>
        </p:txBody>
      </p:sp>
      <p:pic>
        <p:nvPicPr>
          <p:cNvPr id="5" name="Image 4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282AC97B-FEA6-487B-B1F2-D8AA21A3A0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0745" y="1265187"/>
            <a:ext cx="5600595" cy="2470471"/>
          </a:xfrm>
          <a:prstGeom prst="rect">
            <a:avLst/>
          </a:prstGeom>
        </p:spPr>
      </p:pic>
      <p:pic>
        <p:nvPicPr>
          <p:cNvPr id="6" name="Image 5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5CB1AF72-3AEE-4908-918B-A5B0ED7DA9E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827" y="3814029"/>
            <a:ext cx="6425661" cy="274132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545E7E3-A051-415D-BDBC-84E1ED35D3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0915" y="1826394"/>
            <a:ext cx="1602606" cy="160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7596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objet&#10;&#10;Description générée automatiquement">
            <a:extLst>
              <a:ext uri="{FF2B5EF4-FFF2-40B4-BE49-F238E27FC236}">
                <a16:creationId xmlns:a16="http://schemas.microsoft.com/office/drawing/2014/main" id="{FB8D4C54-1DD1-41DA-94C6-6B535D603C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82627" y="2170965"/>
            <a:ext cx="2634114" cy="1535688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775FDD3-4C8B-454A-9B09-295ACC13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  <a:buClr>
                <a:schemeClr val="accent1"/>
              </a:buClr>
              <a:defRPr/>
            </a:pPr>
            <a:r>
              <a:rPr lang="fr-FR" sz="2800" dirty="0">
                <a:latin typeface="Trebuchet MS" pitchFamily="34" charset="0"/>
                <a:cs typeface="ＭＳ Ｐゴシック" pitchFamily="34" charset="-128"/>
              </a:rPr>
              <a:t>Facteurs de succès au sein d’une structure</a:t>
            </a:r>
          </a:p>
        </p:txBody>
      </p:sp>
      <p:sp>
        <p:nvSpPr>
          <p:cNvPr id="6" name="Espace réservé du contenu 1">
            <a:extLst>
              <a:ext uri="{FF2B5EF4-FFF2-40B4-BE49-F238E27FC236}">
                <a16:creationId xmlns:a16="http://schemas.microsoft.com/office/drawing/2014/main" id="{3CB005BA-83F8-427B-9EC2-ECD52FF2AAF7}"/>
              </a:ext>
            </a:extLst>
          </p:cNvPr>
          <p:cNvSpPr>
            <a:spLocks/>
          </p:cNvSpPr>
          <p:nvPr/>
        </p:nvSpPr>
        <p:spPr bwMode="auto">
          <a:xfrm>
            <a:off x="129209" y="1312189"/>
            <a:ext cx="6223465" cy="4939402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/>
          </a:bodyPr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 leadership fort pour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Fixer la vision, les priorités et les objectifs pour l’ensemble des personnels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Préparer les mentalités au changement et à l’implémentation de nouvelles approches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Définir avec l’aide du point focal Open Data la feuille de route et le budget correspondant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Suivre les résultats de la feuille de route et adapter les actions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Un point focal qui exécute la feuille de route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defRPr/>
            </a:pPr>
            <a:endParaRPr lang="fr-FR" sz="2400" dirty="0">
              <a:latin typeface="Trebuchet MS" pitchFamily="34" charset="0"/>
              <a:cs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60838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Les acteurs de l’Open Data</a:t>
            </a:r>
            <a:endParaRPr lang="en-GB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E08AC90-0AB8-4D55-ADE3-CE2A2D87A6F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2109" y="1212272"/>
            <a:ext cx="7813964" cy="534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601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Rôle du ROD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07297" y="1548342"/>
            <a:ext cx="6515176" cy="4658494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900" dirty="0"/>
              <a:t>Promouvoir l’Open Data au sein de l’organisme et promouvoir les recommandations du COD ;</a:t>
            </a:r>
          </a:p>
          <a:p>
            <a:pPr lvl="0"/>
            <a:r>
              <a:rPr lang="fr-FR" sz="2900" dirty="0"/>
              <a:t>Définir le plan d’action annuel d’activité Open Data de l’organisme et mettre en œuvre les activités associées ; </a:t>
            </a:r>
          </a:p>
          <a:p>
            <a:pPr lvl="0"/>
            <a:r>
              <a:rPr lang="fr-FR" sz="2900" dirty="0"/>
              <a:t>Coordonner la publication des données sous format ouvert et sur le portail sélectionné par l’organisme (portail national ou portail sectoriel ou local) ; </a:t>
            </a:r>
          </a:p>
          <a:p>
            <a:pPr lvl="0"/>
            <a:r>
              <a:rPr lang="fr-FR" sz="2900" dirty="0"/>
              <a:t>Appuyer le chargé d’accès à l’information (CAI) pour le sensibiliser à l’Open Data, et coordonner la publication proactive d’information initié par le CAI sous format Open Data;</a:t>
            </a:r>
          </a:p>
          <a:p>
            <a:pPr lvl="0"/>
            <a:r>
              <a:rPr lang="fr-FR" sz="2900" dirty="0"/>
              <a:t>Coordonner le développement et la maintenance de l’inventaire de données de l’organisme;</a:t>
            </a:r>
          </a:p>
          <a:p>
            <a:pPr lvl="0"/>
            <a:r>
              <a:rPr lang="fr-FR" sz="2900" dirty="0"/>
              <a:t>Mettre en place et maintenir le plan de suivi et évaluation Open Data de l’organisme;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6" name="Image 5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2AA4C9D5-A885-45DA-912D-2AF8924BBA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71239" y="3429000"/>
            <a:ext cx="1827127" cy="181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688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Le ROD et l’ADD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448128" y="1199268"/>
            <a:ext cx="6257361" cy="553503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L’ADD organise l’initiative dans son ensemble</a:t>
            </a:r>
          </a:p>
          <a:p>
            <a:pPr lvl="0"/>
            <a:r>
              <a:rPr lang="fr-FR" sz="2800" dirty="0"/>
              <a:t>L’ADD coordonne les PFOD</a:t>
            </a:r>
          </a:p>
          <a:p>
            <a:pPr lvl="0"/>
            <a:r>
              <a:rPr lang="fr-FR" sz="2800" dirty="0"/>
              <a:t>L’ADD assiste les ROD dans la résolution des défis</a:t>
            </a:r>
          </a:p>
          <a:p>
            <a:pPr lvl="1"/>
            <a:r>
              <a:rPr lang="fr-FR" sz="2100" dirty="0"/>
              <a:t>Problèmes techniques</a:t>
            </a:r>
          </a:p>
          <a:p>
            <a:pPr lvl="1"/>
            <a:r>
              <a:rPr lang="fr-FR" sz="2100" dirty="0"/>
              <a:t>Formations</a:t>
            </a:r>
          </a:p>
          <a:p>
            <a:pPr lvl="1"/>
            <a:r>
              <a:rPr lang="fr-FR" sz="2100" dirty="0"/>
              <a:t>…</a:t>
            </a:r>
          </a:p>
          <a:p>
            <a:pPr lvl="0"/>
            <a:r>
              <a:rPr lang="fr-FR" sz="2800" dirty="0"/>
              <a:t>L’ADD aide à l’implémentation des activités </a:t>
            </a:r>
          </a:p>
          <a:p>
            <a:pPr lvl="0"/>
            <a:r>
              <a:rPr lang="fr-FR" sz="2800" dirty="0"/>
              <a:t>L’ADD suit les indicateurs du plan de S&amp;E</a:t>
            </a:r>
          </a:p>
          <a:p>
            <a:pPr lvl="0"/>
            <a:r>
              <a:rPr lang="fr-FR" sz="2800" dirty="0"/>
              <a:t>L’ADD gère le portail national</a:t>
            </a:r>
          </a:p>
          <a:p>
            <a:pPr lvl="0"/>
            <a:r>
              <a:rPr lang="fr-FR" sz="2800" dirty="0"/>
              <a:t>L’ADD gère le COD qui définit le cadre de l’implémentation au sein des structures</a:t>
            </a:r>
            <a:endParaRPr lang="fr-FR" sz="44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D2A4B5A-CD24-479F-A65D-83E0F69BD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785" y="3119093"/>
            <a:ext cx="1625741" cy="6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356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Le ROD et le CAI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01690"/>
            <a:ext cx="7074779" cy="55350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Le CAI est en charge de l’application de la loi d’accès à l’information: qu’est-ce qui peut/doit être publié?</a:t>
            </a:r>
          </a:p>
          <a:p>
            <a:pPr lvl="0"/>
            <a:r>
              <a:rPr lang="fr-FR" sz="2800" dirty="0"/>
              <a:t>Le ROD est en charge de s’assurer que ce qui peut être publié le soit sous un format ouvert et exploitable</a:t>
            </a:r>
          </a:p>
          <a:p>
            <a:pPr lvl="0"/>
            <a:r>
              <a:rPr lang="fr-FR" sz="2800" dirty="0"/>
              <a:t>Taches communes</a:t>
            </a:r>
          </a:p>
          <a:p>
            <a:pPr lvl="1"/>
            <a:r>
              <a:rPr lang="fr-FR" sz="2400" dirty="0"/>
              <a:t> L’inventaire de données</a:t>
            </a:r>
          </a:p>
          <a:p>
            <a:r>
              <a:rPr lang="fr-FR" sz="2800" dirty="0"/>
              <a:t>Opportunité pour le CAI</a:t>
            </a:r>
          </a:p>
          <a:p>
            <a:pPr lvl="1"/>
            <a:r>
              <a:rPr lang="fr-FR" sz="2100" dirty="0"/>
              <a:t>Augmentation de la publication proactive et donc diminution des requêtes</a:t>
            </a:r>
          </a:p>
          <a:p>
            <a:pPr lvl="1"/>
            <a:r>
              <a:rPr lang="fr-FR" sz="2100" dirty="0"/>
              <a:t>Publication des réponses aux requêtes et réutilisations  </a:t>
            </a:r>
          </a:p>
          <a:p>
            <a:r>
              <a:rPr lang="fr-FR" sz="2800" dirty="0"/>
              <a:t>Rôle du ROD: </a:t>
            </a:r>
          </a:p>
          <a:p>
            <a:pPr lvl="1"/>
            <a:r>
              <a:rPr lang="fr-FR" sz="2100" dirty="0"/>
              <a:t>Sensibiliser le CAI sur l’Open Data</a:t>
            </a:r>
          </a:p>
          <a:p>
            <a:pPr lvl="1"/>
            <a:r>
              <a:rPr lang="fr-FR" sz="2100" dirty="0"/>
              <a:t>Assister le CAI pour la publication sous forme Open Data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616DFE1-3032-482B-A0F4-5E8AB97128B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5930" y="2792742"/>
            <a:ext cx="1477050" cy="1952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3054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42991" cy="812800"/>
          </a:xfrm>
        </p:spPr>
        <p:txBody>
          <a:bodyPr/>
          <a:lstStyle/>
          <a:p>
            <a:r>
              <a:rPr lang="fr-FR" sz="2400" dirty="0"/>
              <a:t>Le ROD et les gestionnaires de données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11629"/>
            <a:ext cx="6257361" cy="55350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Promouvoir l’Open Data et la politique de gestion de données</a:t>
            </a:r>
          </a:p>
          <a:p>
            <a:pPr lvl="1"/>
            <a:r>
              <a:rPr lang="fr-FR" sz="2100" dirty="0"/>
              <a:t>Sensibilisation</a:t>
            </a:r>
          </a:p>
          <a:p>
            <a:pPr lvl="1"/>
            <a:r>
              <a:rPr lang="fr-FR" sz="2100" dirty="0"/>
              <a:t>Formation</a:t>
            </a:r>
          </a:p>
          <a:p>
            <a:pPr lvl="1"/>
            <a:r>
              <a:rPr lang="fr-FR" sz="2100" dirty="0"/>
              <a:t>Développement de cas d’usage</a:t>
            </a:r>
          </a:p>
          <a:p>
            <a:pPr lvl="1"/>
            <a:r>
              <a:rPr lang="fr-FR" sz="2100" dirty="0"/>
              <a:t>Implication dans les initiatives de réutilisation</a:t>
            </a:r>
          </a:p>
          <a:p>
            <a:r>
              <a:rPr lang="fr-FR" sz="2800" dirty="0"/>
              <a:t>Organiser le partage d’expérience</a:t>
            </a:r>
          </a:p>
          <a:p>
            <a:r>
              <a:rPr lang="fr-FR" sz="2800" dirty="0"/>
              <a:t>Vérifier la qualité des publications</a:t>
            </a:r>
          </a:p>
          <a:p>
            <a:r>
              <a:rPr lang="fr-FR" sz="2800" dirty="0"/>
              <a:t>Suivi des commentaires</a:t>
            </a:r>
          </a:p>
          <a:p>
            <a:pPr lvl="0"/>
            <a:r>
              <a:rPr lang="fr-FR" sz="2800" dirty="0"/>
              <a:t>Développement de l’inventaire</a:t>
            </a:r>
          </a:p>
          <a:p>
            <a:pPr lvl="0"/>
            <a:r>
              <a:rPr lang="fr-FR" sz="2800" dirty="0"/>
              <a:t>Aider a la réutilisation des données des autres structures</a:t>
            </a:r>
            <a:endParaRPr lang="fr-FR" sz="44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43B94E-73F1-4DFD-8ADD-43CB00DD36B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5369" y="2170861"/>
            <a:ext cx="1212600" cy="16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656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42991" cy="812800"/>
          </a:xfrm>
        </p:spPr>
        <p:txBody>
          <a:bodyPr/>
          <a:lstStyle/>
          <a:p>
            <a:r>
              <a:rPr lang="fr-FR" sz="2400" dirty="0"/>
              <a:t>Le ROD et le service informatique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Développement de l’inventaire</a:t>
            </a:r>
          </a:p>
          <a:p>
            <a:pPr lvl="0"/>
            <a:r>
              <a:rPr lang="fr-FR" sz="2800" dirty="0"/>
              <a:t>Choix du portail</a:t>
            </a:r>
          </a:p>
          <a:p>
            <a:pPr lvl="0"/>
            <a:r>
              <a:rPr lang="fr-FR" sz="2800" dirty="0"/>
              <a:t>Mise en place de mécanismes de publication automatique</a:t>
            </a:r>
          </a:p>
          <a:p>
            <a:pPr lvl="0"/>
            <a:r>
              <a:rPr lang="fr-FR" sz="2800" dirty="0"/>
              <a:t>Mise en place de processus automatiques pour </a:t>
            </a:r>
          </a:p>
          <a:p>
            <a:pPr lvl="1"/>
            <a:r>
              <a:rPr lang="fr-FR" sz="2100" dirty="0"/>
              <a:t>Le transcodage de format</a:t>
            </a:r>
          </a:p>
          <a:p>
            <a:pPr lvl="1"/>
            <a:r>
              <a:rPr lang="fr-FR" sz="2100" dirty="0"/>
              <a:t>L’utilisation de référentiels et nomenclature</a:t>
            </a:r>
          </a:p>
          <a:p>
            <a:pPr lvl="1"/>
            <a:r>
              <a:rPr lang="fr-FR" sz="2100" dirty="0"/>
              <a:t>…</a:t>
            </a:r>
          </a:p>
          <a:p>
            <a:r>
              <a:rPr lang="fr-FR" sz="2800" dirty="0"/>
              <a:t>Collecte d’informations pour le plan de suivi et évaluation </a:t>
            </a:r>
            <a:endParaRPr lang="fr-FR" sz="44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25AE95D-AB9D-47C1-9C28-E6E73966F0A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1124" y="2403200"/>
            <a:ext cx="1767300" cy="171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159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521" y="0"/>
            <a:ext cx="6042991" cy="812800"/>
          </a:xfrm>
        </p:spPr>
        <p:txBody>
          <a:bodyPr/>
          <a:lstStyle/>
          <a:p>
            <a:r>
              <a:rPr lang="fr-FR" sz="2400" dirty="0"/>
              <a:t>Le ROD et les réutilisateurs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endParaRPr lang="fr-FR" sz="44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DCAEA8A-87ED-46FC-82BD-23D9A117E22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1390" y="5009583"/>
            <a:ext cx="1057800" cy="1455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7DFFD8D-1AA1-4229-AEF9-D6AB12E9951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1390" y="2685073"/>
            <a:ext cx="915900" cy="117046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47E2588-3823-4C38-B137-CDB7608C6C3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9697" y="3944328"/>
            <a:ext cx="1025550" cy="97646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1368ECF-01D9-40A6-91CF-5AAC355202F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1390" y="1395230"/>
            <a:ext cx="857850" cy="1112267"/>
          </a:xfrm>
          <a:prstGeom prst="rect">
            <a:avLst/>
          </a:prstGeom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D1175125-092F-4274-A58F-3B505F0AC14A}"/>
              </a:ext>
            </a:extLst>
          </p:cNvPr>
          <p:cNvPicPr>
            <a:picLocks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5596" y="2216426"/>
            <a:ext cx="4699891" cy="2537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Left Brace 8">
            <a:extLst>
              <a:ext uri="{FF2B5EF4-FFF2-40B4-BE49-F238E27FC236}">
                <a16:creationId xmlns:a16="http://schemas.microsoft.com/office/drawing/2014/main" id="{DC8852D7-A1C6-4E78-848F-EDFD2B4E2E8D}"/>
              </a:ext>
            </a:extLst>
          </p:cNvPr>
          <p:cNvSpPr/>
          <p:nvPr/>
        </p:nvSpPr>
        <p:spPr>
          <a:xfrm rot="16200000">
            <a:off x="2009550" y="3760376"/>
            <a:ext cx="276253" cy="2280145"/>
          </a:xfrm>
          <a:prstGeom prst="leftBrace">
            <a:avLst>
              <a:gd name="adj1" fmla="val 8593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12" name="Left Brace 9">
            <a:extLst>
              <a:ext uri="{FF2B5EF4-FFF2-40B4-BE49-F238E27FC236}">
                <a16:creationId xmlns:a16="http://schemas.microsoft.com/office/drawing/2014/main" id="{F150C66F-3C59-43C0-8601-66184CC52A29}"/>
              </a:ext>
            </a:extLst>
          </p:cNvPr>
          <p:cNvSpPr/>
          <p:nvPr/>
        </p:nvSpPr>
        <p:spPr>
          <a:xfrm rot="16200000">
            <a:off x="4287487" y="3770415"/>
            <a:ext cx="276253" cy="2280145"/>
          </a:xfrm>
          <a:prstGeom prst="leftBrace">
            <a:avLst>
              <a:gd name="adj1" fmla="val 8593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48D9F3-F11E-40C2-938C-ABECA4F689A6}"/>
              </a:ext>
            </a:extLst>
          </p:cNvPr>
          <p:cNvSpPr/>
          <p:nvPr/>
        </p:nvSpPr>
        <p:spPr bwMode="ltGray">
          <a:xfrm>
            <a:off x="1007604" y="5190314"/>
            <a:ext cx="2280145" cy="22100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dirty="0">
                <a:solidFill>
                  <a:sysClr val="windowText" lastClr="000000"/>
                </a:solidFill>
                <a:latin typeface="Hand Of Sean" pitchFamily="2" charset="-128"/>
                <a:ea typeface="Hand Of Sean" pitchFamily="2" charset="-128"/>
              </a:rPr>
              <a:t>Offre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7A5937-F988-4EAF-88D6-EA945076A93A}"/>
              </a:ext>
            </a:extLst>
          </p:cNvPr>
          <p:cNvSpPr/>
          <p:nvPr/>
        </p:nvSpPr>
        <p:spPr bwMode="ltGray">
          <a:xfrm>
            <a:off x="3245784" y="5190314"/>
            <a:ext cx="2280145" cy="221002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400" dirty="0">
                <a:solidFill>
                  <a:sysClr val="windowText" lastClr="000000"/>
                </a:solidFill>
                <a:latin typeface="Hand Of Sean" pitchFamily="2" charset="-128"/>
                <a:ea typeface="Hand Of Sean" pitchFamily="2" charset="-128"/>
              </a:rPr>
              <a:t>Demande</a:t>
            </a:r>
          </a:p>
        </p:txBody>
      </p:sp>
    </p:spTree>
    <p:extLst>
      <p:ext uri="{BB962C8B-B14F-4D97-AF65-F5344CB8AC3E}">
        <p14:creationId xmlns:p14="http://schemas.microsoft.com/office/powerpoint/2010/main" val="25106333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42991" cy="812800"/>
          </a:xfrm>
        </p:spPr>
        <p:txBody>
          <a:bodyPr/>
          <a:lstStyle/>
          <a:p>
            <a:r>
              <a:rPr lang="fr-FR" sz="2400" dirty="0"/>
              <a:t>Le ROD et les réutilisateurs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Promotion de l’Open Data</a:t>
            </a:r>
          </a:p>
          <a:p>
            <a:pPr lvl="1"/>
            <a:r>
              <a:rPr lang="fr-FR" sz="2100" dirty="0"/>
              <a:t>Blog/Couverture média</a:t>
            </a:r>
          </a:p>
          <a:p>
            <a:pPr lvl="1"/>
            <a:r>
              <a:rPr lang="fr-FR" sz="2100" dirty="0"/>
              <a:t>Présentation/Conférences/Meetup</a:t>
            </a:r>
          </a:p>
          <a:p>
            <a:pPr lvl="1"/>
            <a:r>
              <a:rPr lang="fr-FR" sz="2100" dirty="0"/>
              <a:t>Réunion de sensibilisation</a:t>
            </a:r>
          </a:p>
          <a:p>
            <a:pPr lvl="0"/>
            <a:r>
              <a:rPr lang="fr-FR" sz="2800" dirty="0"/>
              <a:t>Mise en place de canaux d’interaction</a:t>
            </a:r>
          </a:p>
          <a:p>
            <a:pPr lvl="1"/>
            <a:r>
              <a:rPr lang="fr-FR" sz="2100" dirty="0"/>
              <a:t>Forum</a:t>
            </a:r>
          </a:p>
          <a:p>
            <a:pPr lvl="1"/>
            <a:r>
              <a:rPr lang="fr-FR" sz="2100" dirty="0"/>
              <a:t>Commentaires sur les jeux de données</a:t>
            </a:r>
          </a:p>
          <a:p>
            <a:pPr lvl="1"/>
            <a:r>
              <a:rPr lang="fr-FR" sz="2100" dirty="0"/>
              <a:t>Requête de jeux</a:t>
            </a:r>
          </a:p>
          <a:p>
            <a:pPr lvl="1"/>
            <a:r>
              <a:rPr lang="fr-FR" sz="2100" dirty="0"/>
              <a:t>Contribution à l’inventaire</a:t>
            </a:r>
          </a:p>
          <a:p>
            <a:pPr lvl="1"/>
            <a:r>
              <a:rPr lang="fr-FR" sz="2100" dirty="0"/>
              <a:t>Enquêtes</a:t>
            </a:r>
          </a:p>
          <a:p>
            <a:pPr lvl="1"/>
            <a:r>
              <a:rPr lang="fr-FR" sz="2100" dirty="0"/>
              <a:t>…</a:t>
            </a:r>
          </a:p>
          <a:p>
            <a:pPr lvl="0"/>
            <a:r>
              <a:rPr lang="fr-FR" sz="2800" dirty="0"/>
              <a:t>Organisation d’événements d’innovation (hackathon)</a:t>
            </a:r>
          </a:p>
          <a:p>
            <a:pPr lvl="0"/>
            <a:r>
              <a:rPr lang="fr-FR" sz="2800" dirty="0"/>
              <a:t> </a:t>
            </a:r>
            <a:endParaRPr lang="fr-FR" sz="4400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B8683D8-8843-4D05-90C2-5688AB6F6F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1024" y="4860496"/>
            <a:ext cx="1057800" cy="1455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913D3EE-2945-40DB-830D-F90D0479F7D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1024" y="2535986"/>
            <a:ext cx="915900" cy="117046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1EA0C85-840C-47AF-8723-026C2BD8069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9331" y="3795241"/>
            <a:ext cx="1025550" cy="97646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97F826B-C28C-499F-AFF6-801391E1C11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1024" y="1246143"/>
            <a:ext cx="857850" cy="111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212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Tâches du ROD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Plan annuel d’activité: Conception en coopération avec le responsable et suivi</a:t>
            </a:r>
          </a:p>
          <a:p>
            <a:pPr lvl="1"/>
            <a:r>
              <a:rPr lang="fr-FR" dirty="0"/>
              <a:t> Sensibilisation</a:t>
            </a:r>
          </a:p>
          <a:p>
            <a:pPr lvl="1"/>
            <a:r>
              <a:rPr lang="fr-FR" dirty="0"/>
              <a:t> Formation</a:t>
            </a:r>
          </a:p>
          <a:p>
            <a:pPr lvl="1"/>
            <a:r>
              <a:rPr lang="fr-FR" dirty="0"/>
              <a:t> Publication</a:t>
            </a:r>
          </a:p>
          <a:p>
            <a:pPr lvl="1"/>
            <a:r>
              <a:rPr lang="fr-FR" dirty="0"/>
              <a:t> Activité de réutilisation interne et externe</a:t>
            </a:r>
          </a:p>
          <a:p>
            <a:r>
              <a:rPr lang="fr-FR" dirty="0"/>
              <a:t>Inventaire de données</a:t>
            </a:r>
          </a:p>
          <a:p>
            <a:r>
              <a:rPr lang="fr-FR" dirty="0"/>
              <a:t>Plan de suivi et évaluation</a:t>
            </a:r>
          </a:p>
        </p:txBody>
      </p:sp>
      <p:pic>
        <p:nvPicPr>
          <p:cNvPr id="6" name="Image 5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2AA4C9D5-A885-45DA-912D-2AF8924BBA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8512" y="1854556"/>
            <a:ext cx="2528279" cy="250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6544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Pourquoi un inventaire?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6700" y="1201553"/>
            <a:ext cx="6393370" cy="518930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dirty="0"/>
              <a:t>Identifier le patrimoine de données existant;</a:t>
            </a:r>
          </a:p>
          <a:p>
            <a:pPr lvl="0"/>
            <a:r>
              <a:rPr lang="fr-FR" dirty="0"/>
              <a:t>Organiser et prioriser la publication des données </a:t>
            </a:r>
          </a:p>
          <a:p>
            <a:pPr lvl="0"/>
            <a:r>
              <a:rPr lang="fr-FR" dirty="0"/>
              <a:t>Constituer un catalogue de jeux de données pour les utilisateurs/réutilisateurs publics, privés ou citoyens de l’open data au Maroc ou à l’étranger</a:t>
            </a:r>
          </a:p>
          <a:p>
            <a:pPr lvl="0"/>
            <a:r>
              <a:rPr lang="fr-FR" dirty="0"/>
              <a:t>Identifier les redondances dans l’administration et aider à la constitution de référentiels nationaux ouverts.</a:t>
            </a:r>
          </a:p>
          <a:p>
            <a:pPr marL="0" lv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3400" dirty="0"/>
              <a:t>L’inventaire est un processus itératif: chaque activité contribue au contenu (cas d’usage, etc.)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3300" dirty="0"/>
              <a:t>L’inventaire de données dépasse le cadre de l’open data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1FFA0F7-ECBE-42A5-9D90-192F272185E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4634" y="3021495"/>
            <a:ext cx="2082666" cy="270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556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Le ROD et les responsables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497363" cy="553503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Rôle du responsable</a:t>
            </a:r>
          </a:p>
          <a:p>
            <a:pPr lvl="1"/>
            <a:r>
              <a:rPr lang="fr-FR" sz="2400" dirty="0"/>
              <a:t>Leadership sur l’open data: </a:t>
            </a:r>
            <a:r>
              <a:rPr lang="fr-FR" sz="2200" dirty="0"/>
              <a:t>définition des objectifs, de la stratégie, mobilisation des personnels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000" b="1" u="sng" dirty="0"/>
              <a:t>Préparer les esprits au changement pour que les actions du ROD apportent les impacts attendus</a:t>
            </a:r>
          </a:p>
          <a:p>
            <a:pPr lvl="1"/>
            <a:r>
              <a:rPr lang="fr-FR" sz="2400" dirty="0"/>
              <a:t>Appuie du ROD</a:t>
            </a:r>
          </a:p>
          <a:p>
            <a:pPr lvl="2"/>
            <a:r>
              <a:rPr lang="fr-FR" sz="2200" dirty="0"/>
              <a:t>Mise en place des outils institutionnels nécessaire à l’action du ROD</a:t>
            </a:r>
            <a:endParaRPr lang="fr-FR" sz="2000" dirty="0"/>
          </a:p>
          <a:p>
            <a:pPr lvl="2"/>
            <a:r>
              <a:rPr lang="fr-FR" sz="2200" dirty="0"/>
              <a:t>Appuie spécifique</a:t>
            </a:r>
          </a:p>
          <a:p>
            <a:r>
              <a:rPr lang="fr-FR" sz="3100" dirty="0"/>
              <a:t>Rôle du ROD</a:t>
            </a:r>
          </a:p>
          <a:p>
            <a:pPr lvl="1"/>
            <a:r>
              <a:rPr lang="fr-FR" sz="2400" dirty="0"/>
              <a:t>Sensibilisation aux processus et opportunités de l’Open Data</a:t>
            </a:r>
          </a:p>
          <a:p>
            <a:pPr lvl="1"/>
            <a:r>
              <a:rPr lang="fr-FR" sz="2400" dirty="0"/>
              <a:t>Validation du plan annuel d’activité</a:t>
            </a:r>
          </a:p>
          <a:p>
            <a:pPr lvl="1"/>
            <a:r>
              <a:rPr lang="fr-FR" sz="2400" dirty="0"/>
              <a:t>Budget</a:t>
            </a:r>
          </a:p>
          <a:p>
            <a:pPr lvl="1"/>
            <a:r>
              <a:rPr lang="fr-FR" sz="2400" dirty="0"/>
              <a:t>Evaluation d’impact et mesures correctives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BB8BF4C-CC85-461D-B462-CED1220371C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0606" y="1497191"/>
            <a:ext cx="1181606" cy="146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1082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L’approche</a:t>
            </a:r>
            <a:endParaRPr lang="en-GB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543DA3B-1E29-4FE6-9544-3B5AADA7D26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6649" y="1391999"/>
            <a:ext cx="6230701" cy="407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387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906" y="0"/>
            <a:ext cx="6363733" cy="812800"/>
          </a:xfrm>
        </p:spPr>
        <p:txBody>
          <a:bodyPr/>
          <a:lstStyle/>
          <a:p>
            <a:r>
              <a:rPr lang="fr-FR" dirty="0"/>
              <a:t>L’Open Data une tache ponctuelle ?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D01618-DD48-4332-B2D2-DAEBB319CCA0}"/>
              </a:ext>
            </a:extLst>
          </p:cNvPr>
          <p:cNvSpPr txBox="1">
            <a:spLocks/>
          </p:cNvSpPr>
          <p:nvPr/>
        </p:nvSpPr>
        <p:spPr>
          <a:xfrm>
            <a:off x="178906" y="1046168"/>
            <a:ext cx="7128532" cy="5177567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b="1" dirty="0"/>
              <a:t>Objectifs: impact! Impact! impact!</a:t>
            </a:r>
          </a:p>
          <a:p>
            <a:pPr lvl="1">
              <a:defRPr/>
            </a:pPr>
            <a:r>
              <a:rPr lang="fr-FR" dirty="0"/>
              <a:t>Impact externe de la publication et la réutilisation de jeux de données: Création de services, emplois, richesse</a:t>
            </a:r>
          </a:p>
          <a:p>
            <a:pPr lvl="1">
              <a:defRPr/>
            </a:pPr>
            <a:r>
              <a:rPr lang="fr-FR" dirty="0"/>
              <a:t>Impact interne: </a:t>
            </a:r>
          </a:p>
          <a:p>
            <a:pPr lvl="2">
              <a:defRPr/>
            </a:pPr>
            <a:r>
              <a:rPr lang="fr-FR" dirty="0"/>
              <a:t>Mise en place d’une politique de gestion de données</a:t>
            </a:r>
          </a:p>
          <a:p>
            <a:pPr lvl="2">
              <a:defRPr/>
            </a:pPr>
            <a:r>
              <a:rPr lang="fr-FR" dirty="0"/>
              <a:t>Rationalisation des stratégies, des investissements, des mesures d’impacts</a:t>
            </a:r>
          </a:p>
          <a:p>
            <a:pPr lvl="2">
              <a:defRPr/>
            </a:pPr>
            <a:r>
              <a:rPr lang="fr-FR" dirty="0"/>
              <a:t>Engagement citoyen </a:t>
            </a:r>
          </a:p>
          <a:p>
            <a:pPr>
              <a:defRPr/>
            </a:pPr>
            <a:r>
              <a:rPr lang="fr-FR" sz="2200" b="1" dirty="0">
                <a:latin typeface="Trebuchet MS" pitchFamily="34" charset="0"/>
                <a:cs typeface="ＭＳ Ｐゴシック" pitchFamily="34" charset="-128"/>
              </a:rPr>
              <a:t>Mythe 1: 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le volume (nombre de jeux de données) est le plus important</a:t>
            </a:r>
          </a:p>
          <a:p>
            <a:pPr lvl="1">
              <a:defRPr/>
            </a:pPr>
            <a:r>
              <a:rPr lang="fr-FR" sz="1500" dirty="0">
                <a:latin typeface="Trebuchet MS" pitchFamily="34" charset="0"/>
                <a:cs typeface="ＭＳ Ｐゴシック" pitchFamily="34" charset="-128"/>
              </a:rPr>
              <a:t>L’important, ce sont les jeux de données à forte valeur: utiles, demandés, de bonne qualité, sous des formats exploitables, maintenus, documentés et à jour</a:t>
            </a:r>
          </a:p>
          <a:p>
            <a:pPr>
              <a:defRPr/>
            </a:pPr>
            <a:r>
              <a:rPr lang="fr-FR" sz="2200" b="1" dirty="0">
                <a:latin typeface="Trebuchet MS" pitchFamily="34" charset="0"/>
                <a:cs typeface="ＭＳ Ｐゴシック" pitchFamily="34" charset="-128"/>
              </a:rPr>
              <a:t>Mythe 2: </a:t>
            </a:r>
            <a:r>
              <a:rPr lang="fr-FR" sz="2200" dirty="0">
                <a:latin typeface="Trebuchet MS" pitchFamily="34" charset="0"/>
                <a:cs typeface="ＭＳ Ｐゴシック" pitchFamily="34" charset="-128"/>
              </a:rPr>
              <a:t>une fois que tout sera publié, mon travail sera terminé</a:t>
            </a:r>
          </a:p>
          <a:p>
            <a:pPr lvl="1">
              <a:defRPr/>
            </a:pPr>
            <a:r>
              <a:rPr lang="fr-FR" sz="1500" dirty="0">
                <a:latin typeface="Trebuchet MS" pitchFamily="34" charset="0"/>
                <a:cs typeface="ＭＳ Ｐゴシック" pitchFamily="34" charset="-128"/>
              </a:rPr>
              <a:t>Le suivi est essentiel: commentaires, questions, mises à jour etc.</a:t>
            </a:r>
          </a:p>
          <a:p>
            <a:pPr lvl="1">
              <a:defRPr/>
            </a:pPr>
            <a:r>
              <a:rPr lang="fr-FR" sz="1500" dirty="0">
                <a:latin typeface="Trebuchet MS" pitchFamily="34" charset="0"/>
                <a:cs typeface="ＭＳ Ｐゴシック" pitchFamily="34" charset="-128"/>
              </a:rPr>
              <a:t>La promotion et la réutilisation amène l’impact</a:t>
            </a:r>
          </a:p>
          <a:p>
            <a:pPr lvl="1">
              <a:defRPr/>
            </a:pPr>
            <a:r>
              <a:rPr lang="fr-FR" sz="1500" dirty="0">
                <a:latin typeface="Trebuchet MS" pitchFamily="34" charset="0"/>
                <a:cs typeface="ＭＳ Ｐゴシック" pitchFamily="34" charset="-128"/>
              </a:rPr>
              <a:t>La gestion de données est dynamique au sein d’une structure</a:t>
            </a:r>
          </a:p>
          <a:p>
            <a:pPr lvl="1">
              <a:defRPr/>
            </a:pPr>
            <a:endParaRPr lang="fr-FR" sz="1500" dirty="0">
              <a:latin typeface="Trebuchet MS" pitchFamily="34" charset="0"/>
              <a:cs typeface="ＭＳ Ｐゴシック" pitchFamily="34" charset="-128"/>
            </a:endParaRPr>
          </a:p>
          <a:p>
            <a:pPr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  <a:p>
            <a:pPr marL="0" indent="0">
              <a:buNone/>
              <a:defRPr/>
            </a:pPr>
            <a:endParaRPr lang="fr-FR" sz="2200" dirty="0">
              <a:latin typeface="Trebuchet MS" pitchFamily="34" charset="0"/>
              <a:cs typeface="ＭＳ Ｐゴシック" pitchFamily="34" charset="-128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0065492-AD4A-4EE7-B239-4A9EFFC7F4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789" y="4909930"/>
            <a:ext cx="1313805" cy="131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254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Conduite du changement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B7B250B-B632-4F7F-BA23-5680999B9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426" y="1439955"/>
            <a:ext cx="4743338" cy="483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359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Préparer le Changement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B7B250B-B632-4F7F-BA23-5680999B97B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9675" b="50526"/>
          <a:stretch/>
        </p:blipFill>
        <p:spPr>
          <a:xfrm>
            <a:off x="519766" y="1283615"/>
            <a:ext cx="2387064" cy="2393235"/>
          </a:xfrm>
          <a:prstGeom prst="rect">
            <a:avLst/>
          </a:prstGeom>
        </p:spPr>
      </p:pic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72814B49-A75B-46E0-8187-9D483ADA7796}"/>
              </a:ext>
            </a:extLst>
          </p:cNvPr>
          <p:cNvSpPr>
            <a:spLocks/>
          </p:cNvSpPr>
          <p:nvPr/>
        </p:nvSpPr>
        <p:spPr bwMode="auto">
          <a:xfrm>
            <a:off x="3234088" y="1091142"/>
            <a:ext cx="5457525" cy="53866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10000"/>
          </a:bodyPr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i="1" u="sng" dirty="0">
                <a:latin typeface="Trebuchet MS" pitchFamily="34" charset="0"/>
                <a:cs typeface="ＭＳ Ｐゴシック" pitchFamily="34" charset="-128"/>
              </a:rPr>
              <a:t>Mettre en place le ROD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i="1" u="sng" dirty="0">
                <a:latin typeface="Trebuchet MS" pitchFamily="34" charset="0"/>
                <a:cs typeface="ＭＳ Ｐゴシック" pitchFamily="34" charset="-128"/>
              </a:rPr>
              <a:t> Etablir la vision: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i="1" u="sng" dirty="0">
                <a:latin typeface="Trebuchet MS" pitchFamily="34" charset="0"/>
                <a:cs typeface="ＭＳ Ｐゴシック" pitchFamily="34" charset="-128"/>
              </a:rPr>
              <a:t> A quoi va me servir l’open data dans les missions de ma structure? du gouvernement? Du pays?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Etablir les priorités en fonction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De l’importance du sujet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Des résultats antérieurs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Des personnels et leurs motivations</a:t>
            </a: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Evaluer les capacités et les facteurs motivants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</a:t>
            </a:r>
            <a:r>
              <a:rPr lang="fr-FR" sz="2400" i="1" u="sng" dirty="0">
                <a:latin typeface="Trebuchet MS" pitchFamily="34" charset="0"/>
                <a:cs typeface="ＭＳ Ｐゴシック" pitchFamily="34" charset="-128"/>
              </a:rPr>
              <a:t>Définir les objectifs globaux de la structure </a:t>
            </a: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et les objectifs spécifiques des cibles prioritaires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Mettre en place les équipes</a:t>
            </a:r>
          </a:p>
        </p:txBody>
      </p:sp>
    </p:spTree>
    <p:extLst>
      <p:ext uri="{BB962C8B-B14F-4D97-AF65-F5344CB8AC3E}">
        <p14:creationId xmlns:p14="http://schemas.microsoft.com/office/powerpoint/2010/main" val="14624701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849A8F-3EBE-4049-8D78-C6E6C8F6A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Profil du ROD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BDC73F-5F58-44EE-9DA4-7FA85A0E266A}"/>
              </a:ext>
            </a:extLst>
          </p:cNvPr>
          <p:cNvSpPr/>
          <p:nvPr/>
        </p:nvSpPr>
        <p:spPr>
          <a:xfrm>
            <a:off x="77004" y="1035976"/>
            <a:ext cx="670880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Clr>
                <a:srgbClr val="92D050"/>
              </a:buClr>
              <a:buFont typeface="Courier New" panose="02070309020205020404" pitchFamily="49" charset="0"/>
              <a:buChar char="o"/>
            </a:pPr>
            <a:r>
              <a:rPr lang="fr-FR" sz="2000" dirty="0">
                <a:ea typeface="DengXian" panose="020B0503020204020204" pitchFamily="2" charset="-122"/>
                <a:cs typeface="Arial" panose="020B0604020202020204" pitchFamily="34" charset="0"/>
              </a:rPr>
              <a:t>Motivation</a:t>
            </a:r>
          </a:p>
          <a:p>
            <a:pPr marL="342900" lvl="0" indent="-342900">
              <a:spcAft>
                <a:spcPts val="0"/>
              </a:spcAft>
              <a:buClr>
                <a:srgbClr val="92D050"/>
              </a:buClr>
              <a:buFont typeface="Courier New" panose="02070309020205020404" pitchFamily="49" charset="0"/>
              <a:buChar char="o"/>
            </a:pPr>
            <a:r>
              <a:rPr lang="fr-FR" sz="2000" dirty="0">
                <a:ea typeface="DengXian" panose="020B0503020204020204" pitchFamily="2" charset="-122"/>
                <a:cs typeface="Arial" panose="020B0604020202020204" pitchFamily="34" charset="0"/>
              </a:rPr>
              <a:t>Intérêt pour l’Open Data</a:t>
            </a:r>
          </a:p>
          <a:p>
            <a:pPr marL="342900" indent="-342900">
              <a:spcAft>
                <a:spcPts val="0"/>
              </a:spcAft>
              <a:buClr>
                <a:srgbClr val="92D050"/>
              </a:buClr>
              <a:buFont typeface="Courier New" panose="02070309020205020404" pitchFamily="49" charset="0"/>
              <a:buChar char="o"/>
            </a:pPr>
            <a:r>
              <a:rPr lang="fr-FR" sz="2000" dirty="0">
                <a:ea typeface="DengXian" panose="020B0503020204020204" pitchFamily="2" charset="-122"/>
                <a:cs typeface="Arial" panose="020B0604020202020204" pitchFamily="34" charset="0"/>
              </a:rPr>
              <a:t>Vision globale du fonctionnement de l’organisme</a:t>
            </a:r>
          </a:p>
          <a:p>
            <a:pPr marL="342900" lvl="0" indent="-342900">
              <a:spcAft>
                <a:spcPts val="0"/>
              </a:spcAft>
              <a:buClr>
                <a:srgbClr val="92D050"/>
              </a:buClr>
              <a:buFont typeface="Courier New" panose="02070309020205020404" pitchFamily="49" charset="0"/>
              <a:buChar char="o"/>
            </a:pPr>
            <a:r>
              <a:rPr lang="fr-FR" sz="2000" dirty="0">
                <a:ea typeface="DengXian" panose="020B0503020204020204" pitchFamily="2" charset="-122"/>
                <a:cs typeface="Arial" panose="020B0604020202020204" pitchFamily="34" charset="0"/>
              </a:rPr>
              <a:t>Réseau de contacts développé dans les différents départements de la structure</a:t>
            </a:r>
          </a:p>
          <a:p>
            <a:pPr marL="342900" lvl="0" indent="-342900">
              <a:spcAft>
                <a:spcPts val="0"/>
              </a:spcAft>
              <a:buClr>
                <a:srgbClr val="92D050"/>
              </a:buClr>
              <a:buFont typeface="Courier New" panose="02070309020205020404" pitchFamily="49" charset="0"/>
              <a:buChar char="o"/>
            </a:pPr>
            <a:r>
              <a:rPr lang="fr-FR" sz="2000" dirty="0">
                <a:ea typeface="DengXian" panose="020B0503020204020204" pitchFamily="2" charset="-122"/>
                <a:cs typeface="Arial" panose="020B0604020202020204" pitchFamily="34" charset="0"/>
              </a:rPr>
              <a:t>Intérêt pour travailler avec les autres structures</a:t>
            </a:r>
          </a:p>
          <a:p>
            <a:pPr marL="342900" lvl="0" indent="-342900">
              <a:spcAft>
                <a:spcPts val="0"/>
              </a:spcAft>
              <a:buClr>
                <a:srgbClr val="92D050"/>
              </a:buClr>
              <a:buFont typeface="Courier New" panose="02070309020205020404" pitchFamily="49" charset="0"/>
              <a:buChar char="o"/>
            </a:pPr>
            <a:r>
              <a:rPr lang="fr-FR" sz="2000" dirty="0">
                <a:ea typeface="DengXian" panose="020B0503020204020204" pitchFamily="2" charset="-122"/>
                <a:cs typeface="Arial" panose="020B0604020202020204" pitchFamily="34" charset="0"/>
              </a:rPr>
              <a:t>Intérêt pour travailler avec des acteurs non-gouvernementaux</a:t>
            </a:r>
          </a:p>
          <a:p>
            <a:pPr marL="342900" lvl="0" indent="-342900">
              <a:spcAft>
                <a:spcPts val="0"/>
              </a:spcAft>
              <a:buClr>
                <a:srgbClr val="92D050"/>
              </a:buClr>
              <a:buFont typeface="Courier New" panose="02070309020205020404" pitchFamily="49" charset="0"/>
              <a:buChar char="o"/>
            </a:pPr>
            <a:r>
              <a:rPr lang="fr-FR" sz="2000" dirty="0">
                <a:ea typeface="DengXian" panose="020B0503020204020204" pitchFamily="2" charset="-122"/>
                <a:cs typeface="Arial" panose="020B0604020202020204" pitchFamily="34" charset="0"/>
              </a:rPr>
              <a:t>Des compétences techniques minimales permettant une interaction aisée avec le service informatique</a:t>
            </a:r>
          </a:p>
          <a:p>
            <a:pPr marL="342900" lvl="0" indent="-342900">
              <a:spcAft>
                <a:spcPts val="0"/>
              </a:spcAft>
              <a:buClr>
                <a:srgbClr val="92D050"/>
              </a:buClr>
              <a:buFont typeface="Courier New" panose="02070309020205020404" pitchFamily="49" charset="0"/>
              <a:buChar char="o"/>
            </a:pPr>
            <a:r>
              <a:rPr lang="fr-FR" sz="2000" b="1" dirty="0">
                <a:ea typeface="DengXian" panose="020B0503020204020204" pitchFamily="2" charset="-122"/>
                <a:cs typeface="Arial" panose="020B0604020202020204" pitchFamily="34" charset="0"/>
              </a:rPr>
              <a:t>La formation des ROD</a:t>
            </a:r>
            <a:r>
              <a:rPr lang="fr-FR" sz="2000" dirty="0">
                <a:ea typeface="DengXian" panose="020B0503020204020204" pitchFamily="2" charset="-122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spcAft>
                <a:spcPts val="0"/>
              </a:spcAft>
              <a:buClr>
                <a:srgbClr val="92D050"/>
              </a:buClr>
              <a:buFont typeface="Courier New" panose="02070309020205020404" pitchFamily="49" charset="0"/>
              <a:buChar char="o"/>
            </a:pPr>
            <a:r>
              <a:rPr lang="fr-FR" sz="2000" dirty="0">
                <a:ea typeface="DengXian" panose="020B0503020204020204" pitchFamily="2" charset="-122"/>
                <a:cs typeface="Arial" panose="020B0604020202020204" pitchFamily="34" charset="0"/>
              </a:rPr>
              <a:t>La connaissance des textes législatifs, en particulier concernant l’accès à l’information, la protection des données personnelles, et les droits d’auteurs</a:t>
            </a:r>
          </a:p>
          <a:p>
            <a:pPr marL="800100" lvl="1" indent="-342900">
              <a:spcAft>
                <a:spcPts val="0"/>
              </a:spcAft>
              <a:buClr>
                <a:srgbClr val="92D050"/>
              </a:buClr>
              <a:buFont typeface="Courier New" panose="02070309020205020404" pitchFamily="49" charset="0"/>
              <a:buChar char="o"/>
            </a:pPr>
            <a:r>
              <a:rPr lang="fr-FR" sz="2000" dirty="0">
                <a:ea typeface="DengXian" panose="020B0503020204020204" pitchFamily="2" charset="-122"/>
                <a:cs typeface="Arial" panose="020B0604020202020204" pitchFamily="34" charset="0"/>
              </a:rPr>
              <a:t>Les tâches spécifiques du ROD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E02D046-53B1-41B2-ACA9-7D67AF1C76D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56877" y="2277933"/>
            <a:ext cx="1689900" cy="230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025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849A8F-3EBE-4049-8D78-C6E6C8F6A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équipes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16FDA01-679A-45FC-9F57-6C05CA6D2C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339" y="1267737"/>
            <a:ext cx="7011151" cy="512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5124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Planifier le changement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B7B250B-B632-4F7F-BA23-5680999B97B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122" b="50725"/>
          <a:stretch/>
        </p:blipFill>
        <p:spPr>
          <a:xfrm>
            <a:off x="6535553" y="956389"/>
            <a:ext cx="2365899" cy="2383610"/>
          </a:xfrm>
          <a:prstGeom prst="rect">
            <a:avLst/>
          </a:prstGeom>
        </p:spPr>
      </p:pic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EE246E43-162C-4DC3-B331-42E45715602C}"/>
              </a:ext>
            </a:extLst>
          </p:cNvPr>
          <p:cNvSpPr>
            <a:spLocks/>
          </p:cNvSpPr>
          <p:nvPr/>
        </p:nvSpPr>
        <p:spPr bwMode="auto">
          <a:xfrm>
            <a:off x="242548" y="1094630"/>
            <a:ext cx="5457525" cy="5386660"/>
          </a:xfrm>
          <a:prstGeom prst="rect">
            <a:avLst/>
          </a:prstGeom>
          <a:noFill/>
          <a:ln>
            <a:noFill/>
          </a:ln>
        </p:spPr>
        <p:txBody>
          <a:bodyPr>
            <a:normAutofit lnSpcReduction="10000"/>
          </a:bodyPr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Développer un plan d’activité détaillé avec des objectifs clairs avec le ROD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mettre en place les facteurs de motivations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Développer un plan de communication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Interne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Formel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Informel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Externe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Concevoir une feuille de route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Budgéter les activités</a:t>
            </a:r>
          </a:p>
        </p:txBody>
      </p:sp>
    </p:spTree>
    <p:extLst>
      <p:ext uri="{BB962C8B-B14F-4D97-AF65-F5344CB8AC3E}">
        <p14:creationId xmlns:p14="http://schemas.microsoft.com/office/powerpoint/2010/main" val="26104084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Exécuter le changement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B7B250B-B632-4F7F-BA23-5680999B97B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324" t="50469"/>
          <a:stretch/>
        </p:blipFill>
        <p:spPr>
          <a:xfrm>
            <a:off x="6545180" y="4032985"/>
            <a:ext cx="2356274" cy="2396050"/>
          </a:xfrm>
          <a:prstGeom prst="rect">
            <a:avLst/>
          </a:prstGeom>
        </p:spPr>
      </p:pic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2ED3B0E3-E5E7-420C-A8C1-B00CB3E631F9}"/>
              </a:ext>
            </a:extLst>
          </p:cNvPr>
          <p:cNvSpPr>
            <a:spLocks/>
          </p:cNvSpPr>
          <p:nvPr/>
        </p:nvSpPr>
        <p:spPr bwMode="auto">
          <a:xfrm>
            <a:off x="521068" y="1214131"/>
            <a:ext cx="5457525" cy="53866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Exécution de la feuille de route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Focalisation sur les gains/objectifs rapides et faciles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Suivi et évaluation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Identification des résistances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Plans correctifs</a:t>
            </a:r>
          </a:p>
        </p:txBody>
      </p:sp>
    </p:spTree>
    <p:extLst>
      <p:ext uri="{BB962C8B-B14F-4D97-AF65-F5344CB8AC3E}">
        <p14:creationId xmlns:p14="http://schemas.microsoft.com/office/powerpoint/2010/main" val="34676695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Renforcer le changement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257361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B7B250B-B632-4F7F-BA23-5680999B97B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9871" r="50284" b="1579"/>
          <a:stretch/>
        </p:blipFill>
        <p:spPr>
          <a:xfrm>
            <a:off x="625643" y="3946358"/>
            <a:ext cx="2358188" cy="2348564"/>
          </a:xfrm>
          <a:prstGeom prst="rect">
            <a:avLst/>
          </a:prstGeom>
        </p:spPr>
      </p:pic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718EA999-4898-45E8-9149-FF3CB90EB904}"/>
              </a:ext>
            </a:extLst>
          </p:cNvPr>
          <p:cNvSpPr>
            <a:spLocks/>
          </p:cNvSpPr>
          <p:nvPr/>
        </p:nvSpPr>
        <p:spPr bwMode="auto">
          <a:xfrm>
            <a:off x="3234088" y="1091142"/>
            <a:ext cx="5457525" cy="53866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/>
          </a:bodyPr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Fêter les succès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Interne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En interne </a:t>
            </a:r>
          </a:p>
          <a:p>
            <a:pPr lvl="2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Publiquement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De réutilisations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Analyser le déroulement du plan et tirer les enseignements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Analyser le retour des réutilisateurs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Mener des enquêtes de satisfaction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en ligne/traditionnelles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interne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externe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dirty="0">
                <a:latin typeface="Trebuchet MS" pitchFamily="34" charset="0"/>
                <a:cs typeface="ＭＳ Ｐゴシック" pitchFamily="34" charset="-128"/>
              </a:rPr>
              <a:t> Finaliser le plan de suivi et évaluation</a:t>
            </a:r>
          </a:p>
        </p:txBody>
      </p:sp>
    </p:spTree>
    <p:extLst>
      <p:ext uri="{BB962C8B-B14F-4D97-AF65-F5344CB8AC3E}">
        <p14:creationId xmlns:p14="http://schemas.microsoft.com/office/powerpoint/2010/main" val="29106941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128" y="0"/>
            <a:ext cx="5327030" cy="812800"/>
          </a:xfrm>
        </p:spPr>
        <p:txBody>
          <a:bodyPr/>
          <a:lstStyle/>
          <a:p>
            <a:r>
              <a:rPr lang="fr-FR" sz="2400" dirty="0"/>
              <a:t>Un maillon essentiel: le lancement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78FE03-FB1D-453A-8EAD-7141F74268FE}"/>
              </a:ext>
            </a:extLst>
          </p:cNvPr>
          <p:cNvSpPr txBox="1">
            <a:spLocks/>
          </p:cNvSpPr>
          <p:nvPr/>
        </p:nvSpPr>
        <p:spPr>
          <a:xfrm>
            <a:off x="337360" y="1497763"/>
            <a:ext cx="6414972" cy="432761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Lancement interne officiel</a:t>
            </a:r>
          </a:p>
          <a:p>
            <a:pPr lvl="1"/>
            <a:r>
              <a:rPr lang="fr-FR" dirty="0"/>
              <a:t>Définition des objectifs: En quoi la nouvelle approche va servir la structure</a:t>
            </a:r>
          </a:p>
          <a:p>
            <a:pPr lvl="1"/>
            <a:r>
              <a:rPr lang="fr-FR" dirty="0"/>
              <a:t>Introduction des personnels et leurs taches</a:t>
            </a:r>
          </a:p>
          <a:p>
            <a:pPr lvl="1"/>
            <a:r>
              <a:rPr lang="fr-FR" dirty="0"/>
              <a:t>Introduction des processus et des objectifs</a:t>
            </a:r>
          </a:p>
          <a:p>
            <a:pPr lvl="1"/>
            <a:r>
              <a:rPr lang="fr-FR" dirty="0"/>
              <a:t>Mise en place des outils appropriés: note de services, opportunité de reconnaissances, etc.</a:t>
            </a:r>
          </a:p>
          <a:p>
            <a:r>
              <a:rPr lang="fr-FR" dirty="0"/>
              <a:t>Lancement externe officiel: </a:t>
            </a:r>
          </a:p>
          <a:p>
            <a:pPr lvl="1"/>
            <a:r>
              <a:rPr lang="fr-FR" dirty="0"/>
              <a:t>Blog/Couverture Media </a:t>
            </a:r>
          </a:p>
          <a:p>
            <a:pPr lvl="1"/>
            <a:r>
              <a:rPr lang="fr-FR" dirty="0"/>
              <a:t>Réunions avec les acteurs non-gouvernementaux du secteurs</a:t>
            </a:r>
          </a:p>
          <a:p>
            <a:pPr lvl="1"/>
            <a:r>
              <a:rPr lang="fr-FR" dirty="0"/>
              <a:t>Mise en place des outils d’interaction (forum, adresse mail, …)</a:t>
            </a:r>
          </a:p>
          <a:p>
            <a:pPr lvl="1"/>
            <a:r>
              <a:rPr lang="fr-FR" dirty="0"/>
              <a:t>Présentation des objectifs</a:t>
            </a:r>
          </a:p>
        </p:txBody>
      </p:sp>
      <p:pic>
        <p:nvPicPr>
          <p:cNvPr id="4" name="Image 3" descr="Une image contenant clipart&#10;&#10;Description générée automatiquement">
            <a:extLst>
              <a:ext uri="{FF2B5EF4-FFF2-40B4-BE49-F238E27FC236}">
                <a16:creationId xmlns:a16="http://schemas.microsoft.com/office/drawing/2014/main" id="{97444DE9-DCC0-421E-B574-5DF8CADB9E8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1226" y="1530626"/>
            <a:ext cx="2693504" cy="179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579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Facteurs de succès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678FE03-FB1D-453A-8EAD-7141F74268FE}"/>
              </a:ext>
            </a:extLst>
          </p:cNvPr>
          <p:cNvSpPr txBox="1">
            <a:spLocks/>
          </p:cNvSpPr>
          <p:nvPr/>
        </p:nvSpPr>
        <p:spPr>
          <a:xfrm>
            <a:off x="337360" y="1497763"/>
            <a:ext cx="6414972" cy="432761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Leadership fort pour l’Open Data</a:t>
            </a:r>
          </a:p>
          <a:p>
            <a:r>
              <a:rPr lang="fr-FR" dirty="0"/>
              <a:t>Stratégie claire &amp; spécifique</a:t>
            </a:r>
          </a:p>
          <a:p>
            <a:r>
              <a:rPr lang="fr-FR" dirty="0"/>
              <a:t>Bénéfices claires</a:t>
            </a:r>
          </a:p>
          <a:p>
            <a:r>
              <a:rPr lang="fr-FR" dirty="0"/>
              <a:t>Implication de toutes les parties (interne et externe)</a:t>
            </a:r>
          </a:p>
          <a:p>
            <a:r>
              <a:rPr lang="fr-FR" dirty="0"/>
              <a:t>Acquisition des compétences</a:t>
            </a:r>
          </a:p>
          <a:p>
            <a:r>
              <a:rPr lang="fr-FR" dirty="0"/>
              <a:t>Une focalisation sur les besoins</a:t>
            </a:r>
          </a:p>
          <a:p>
            <a:r>
              <a:rPr lang="fr-FR" dirty="0"/>
              <a:t>Des objectifs ambitieux mais atteignables</a:t>
            </a:r>
          </a:p>
          <a:p>
            <a:pPr lvl="1"/>
            <a:r>
              <a:rPr lang="fr-FR" dirty="0"/>
              <a:t>Focalisation sur les département avec des personnels motivés (« early-movers ») et les bénéfices à court terme (« quick wins », « low-hanging fruits »)</a:t>
            </a:r>
          </a:p>
          <a:p>
            <a:endParaRPr lang="fr-FR" dirty="0"/>
          </a:p>
        </p:txBody>
      </p:sp>
      <p:pic>
        <p:nvPicPr>
          <p:cNvPr id="4" name="Image 3" descr="Une image contenant objet&#10;&#10;Description générée automatiquement">
            <a:extLst>
              <a:ext uri="{FF2B5EF4-FFF2-40B4-BE49-F238E27FC236}">
                <a16:creationId xmlns:a16="http://schemas.microsoft.com/office/drawing/2014/main" id="{F3164C98-558F-41AA-A6B1-C07DDD7D853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4893" y="1497763"/>
            <a:ext cx="1603246" cy="160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56743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C132D2-0CD7-4E6A-8E18-B8531395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400" dirty="0"/>
              <a:t>Discussion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C17A8F-F326-49DA-A16C-476074B53C53}"/>
              </a:ext>
            </a:extLst>
          </p:cNvPr>
          <p:cNvSpPr txBox="1">
            <a:spLocks/>
          </p:cNvSpPr>
          <p:nvPr/>
        </p:nvSpPr>
        <p:spPr>
          <a:xfrm>
            <a:off x="121151" y="1091142"/>
            <a:ext cx="6366276" cy="55350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sz="27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Courier New" pitchFamily="49" charset="0"/>
              <a:buChar char="o"/>
              <a:defRPr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ＭＳ Ｐゴシック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fr-FR" sz="2800" dirty="0"/>
              <a:t>Thèmes: la conduite du changement</a:t>
            </a:r>
          </a:p>
          <a:p>
            <a:pPr lvl="1"/>
            <a:r>
              <a:rPr lang="fr-FR" sz="2100" dirty="0"/>
              <a:t>Quels processus de lancement ?</a:t>
            </a:r>
          </a:p>
          <a:p>
            <a:pPr lvl="1"/>
            <a:r>
              <a:rPr lang="fr-FR" sz="2100" dirty="0"/>
              <a:t>Quelles approches et quels outils (note de services, compétitions, cas d’usage, etc.) pour créer une dynamique ?</a:t>
            </a:r>
            <a:endParaRPr lang="fr-FR" sz="1900" dirty="0"/>
          </a:p>
          <a:p>
            <a:pPr lvl="1"/>
            <a:r>
              <a:rPr lang="fr-FR" sz="2100" dirty="0"/>
              <a:t>Quels difficultés/risques vous voyez? de quels supports avez-vous besoin? Quels éléments vous empêcherait de démarrer demain ?</a:t>
            </a:r>
          </a:p>
          <a:p>
            <a:pPr marL="0" indent="0">
              <a:buNone/>
            </a:pPr>
            <a:endParaRPr lang="fr-FR" sz="2100" dirty="0"/>
          </a:p>
          <a:p>
            <a:pPr lvl="0"/>
            <a:endParaRPr lang="fr-FR" dirty="0"/>
          </a:p>
        </p:txBody>
      </p:sp>
      <p:pic>
        <p:nvPicPr>
          <p:cNvPr id="5" name="Image 4" descr="Une image contenant graphiques vectoriels&#10;&#10;Description générée automatiquement">
            <a:extLst>
              <a:ext uri="{FF2B5EF4-FFF2-40B4-BE49-F238E27FC236}">
                <a16:creationId xmlns:a16="http://schemas.microsoft.com/office/drawing/2014/main" id="{91AD3AF0-10AB-4772-A8B7-9131651C6BA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4061" y="1339860"/>
            <a:ext cx="2311811" cy="227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924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fr-FR" dirty="0"/>
              <a:t>Résumé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334020" y="3429000"/>
            <a:ext cx="8007190" cy="45958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Arial" pitchFamily="34" charset="0"/>
              </a:rPr>
              <a:t> Autonomiser les équipes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Arial" pitchFamily="34" charset="0"/>
              </a:rPr>
              <a:t> Promouvoir la gestion des données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Arial" pitchFamily="34" charset="0"/>
              </a:rPr>
              <a:t> Promouvoir l’utilisation des données pour la résolution de problèmes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Arial" pitchFamily="34" charset="0"/>
              </a:rPr>
              <a:t> Tisser des liens avec les réutilisateurs externes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Arial" pitchFamily="34" charset="0"/>
              </a:rPr>
              <a:t> Pour améliorer les services publics </a:t>
            </a:r>
          </a:p>
          <a:p>
            <a:pPr lvl="1"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2400" b="1" dirty="0">
                <a:latin typeface="Trebuchet MS" pitchFamily="34" charset="0"/>
                <a:cs typeface="Arial" pitchFamily="34" charset="0"/>
              </a:rPr>
              <a:t> Pour permettre l’éclosion de services innovants</a:t>
            </a:r>
          </a:p>
        </p:txBody>
      </p:sp>
      <p:pic>
        <p:nvPicPr>
          <p:cNvPr id="6" name="Image 5" descr="Une image contenant capture d’écran, carte de visite&#10;&#10;Description générée automatiquement">
            <a:extLst>
              <a:ext uri="{FF2B5EF4-FFF2-40B4-BE49-F238E27FC236}">
                <a16:creationId xmlns:a16="http://schemas.microsoft.com/office/drawing/2014/main" id="{D8FD2567-5C60-4F3D-BA66-48C830A2F8D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2262" y="971030"/>
            <a:ext cx="5020778" cy="231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2049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8128" y="0"/>
            <a:ext cx="7303800" cy="812800"/>
          </a:xfrm>
        </p:spPr>
        <p:txBody>
          <a:bodyPr/>
          <a:lstStyle/>
          <a:p>
            <a:r>
              <a:rPr lang="fr-FR" dirty="0"/>
              <a:t>Les étapes</a:t>
            </a:r>
          </a:p>
        </p:txBody>
      </p:sp>
      <p:sp>
        <p:nvSpPr>
          <p:cNvPr id="4" name="Espace réservé du contenu 1"/>
          <p:cNvSpPr>
            <a:spLocks/>
          </p:cNvSpPr>
          <p:nvPr/>
        </p:nvSpPr>
        <p:spPr bwMode="auto">
          <a:xfrm>
            <a:off x="218517" y="1616610"/>
            <a:ext cx="7019681" cy="345347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3200" b="1" dirty="0">
                <a:latin typeface="Trebuchet MS" pitchFamily="34" charset="0"/>
                <a:cs typeface="Arial" pitchFamily="34" charset="0"/>
              </a:rPr>
              <a:t> Identifier et nommer un ROD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3200" b="1" dirty="0">
                <a:latin typeface="Trebuchet MS" pitchFamily="34" charset="0"/>
                <a:cs typeface="Arial" pitchFamily="34" charset="0"/>
              </a:rPr>
              <a:t> Former le ROD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3200" b="1" dirty="0">
                <a:latin typeface="Trebuchet MS" pitchFamily="34" charset="0"/>
                <a:cs typeface="Arial" pitchFamily="34" charset="0"/>
              </a:rPr>
              <a:t> Développer le premier plan d’activité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3200" b="1" dirty="0">
                <a:latin typeface="Trebuchet MS" pitchFamily="34" charset="0"/>
                <a:cs typeface="Arial" pitchFamily="34" charset="0"/>
              </a:rPr>
              <a:t> Organiser le lancement interne</a:t>
            </a:r>
          </a:p>
          <a:p>
            <a:pPr eaLnBrk="0" hangingPunct="0">
              <a:spcBef>
                <a:spcPct val="20000"/>
              </a:spcBef>
              <a:buClr>
                <a:schemeClr val="accent1"/>
              </a:buClr>
              <a:buFont typeface="Courier New" pitchFamily="49" charset="0"/>
              <a:buChar char="o"/>
              <a:defRPr/>
            </a:pPr>
            <a:r>
              <a:rPr lang="fr-FR" sz="3200" b="1" dirty="0">
                <a:latin typeface="Trebuchet MS" pitchFamily="34" charset="0"/>
                <a:cs typeface="Arial" pitchFamily="34" charset="0"/>
              </a:rPr>
              <a:t> Organiser le lancement publiquement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A2BDA0E-38E5-458E-BE18-D2E55115F38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6985" y="4178795"/>
            <a:ext cx="2227015" cy="222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8366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Copyright © 2011. World Wide Web Foundation. All rights reserved</a:t>
            </a:r>
          </a:p>
        </p:txBody>
      </p:sp>
      <p:pic>
        <p:nvPicPr>
          <p:cNvPr id="7" name="Picture 2" descr="C:\Users\boyera\Desktop\icon-thank-you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33386" y="1767341"/>
            <a:ext cx="4907641" cy="369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4506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web foundation 1">
      <a:dk1>
        <a:srgbClr val="535555"/>
      </a:dk1>
      <a:lt1>
        <a:srgbClr val="FFFFFF"/>
      </a:lt1>
      <a:dk2>
        <a:srgbClr val="747678"/>
      </a:dk2>
      <a:lt2>
        <a:srgbClr val="E5E6E5"/>
      </a:lt2>
      <a:accent1>
        <a:srgbClr val="A4C400"/>
      </a:accent1>
      <a:accent2>
        <a:srgbClr val="C50A1D"/>
      </a:accent2>
      <a:accent3>
        <a:srgbClr val="B5418B"/>
      </a:accent3>
      <a:accent4>
        <a:srgbClr val="38B5B8"/>
      </a:accent4>
      <a:accent5>
        <a:srgbClr val="F29400"/>
      </a:accent5>
      <a:accent6>
        <a:srgbClr val="E1DC00"/>
      </a:accent6>
      <a:hlink>
        <a:srgbClr val="363636"/>
      </a:hlink>
      <a:folHlink>
        <a:srgbClr val="B8A796"/>
      </a:folHlink>
    </a:clrScheme>
    <a:fontScheme name="Révolution">
      <a:majorFont>
        <a:latin typeface="Trebuchet MS"/>
        <a:ea typeface=""/>
        <a:cs typeface=""/>
        <a:font script="Jpan" typeface="ＭＳ ゴシック"/>
      </a:majorFont>
      <a:minorFont>
        <a:latin typeface="Trebuchet MS"/>
        <a:ea typeface=""/>
        <a:cs typeface=""/>
        <a:font script="Jpan" typeface="ＭＳ 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reflection blurRad="6350" stA="52000" endA="300" endPos="35000" dir="5400000" sy="-100000" algn="bl" rotWithShape="0"/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15497</TotalTime>
  <Words>4728</Words>
  <Application>Microsoft Office PowerPoint</Application>
  <PresentationFormat>Affichage à l'écran (4:3)</PresentationFormat>
  <Paragraphs>685</Paragraphs>
  <Slides>88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88</vt:i4>
      </vt:variant>
    </vt:vector>
  </HeadingPairs>
  <TitlesOfParts>
    <vt:vector size="98" baseType="lpstr">
      <vt:lpstr>Arial</vt:lpstr>
      <vt:lpstr>Calibri</vt:lpstr>
      <vt:lpstr>Courier New</vt:lpstr>
      <vt:lpstr>Hand Of Sean</vt:lpstr>
      <vt:lpstr>Helvetica Neue</vt:lpstr>
      <vt:lpstr>PT Sans</vt:lpstr>
      <vt:lpstr>PT Serif</vt:lpstr>
      <vt:lpstr>Trebuchet MS</vt:lpstr>
      <vt:lpstr>Wingdings</vt:lpstr>
      <vt:lpstr>Thème Office</vt:lpstr>
      <vt:lpstr>Open Data &amp; Leadership</vt:lpstr>
      <vt:lpstr>Objectifs de la session</vt:lpstr>
      <vt:lpstr>Présentation PowerPoint</vt:lpstr>
      <vt:lpstr>Open Data: Concept</vt:lpstr>
      <vt:lpstr>Open Data: Un Mouvement mondial</vt:lpstr>
      <vt:lpstr>Open Data: Les pays leader ODB 2017</vt:lpstr>
      <vt:lpstr>Les composantes d’une initiative d’ouverture des données</vt:lpstr>
      <vt:lpstr>Objectif</vt:lpstr>
      <vt:lpstr>Définition d’une donnée ouverte</vt:lpstr>
      <vt:lpstr>Données Ouvertes d’un point de vue technique</vt:lpstr>
      <vt:lpstr>Données Ouvertes d’un point de vue légal</vt:lpstr>
      <vt:lpstr>Données gouvernementales</vt:lpstr>
      <vt:lpstr>Quelles données ?</vt:lpstr>
      <vt:lpstr>Open Data et La protection des données personnelles</vt:lpstr>
      <vt:lpstr>Facteurs clés de succès</vt:lpstr>
      <vt:lpstr>Les opportunités</vt:lpstr>
      <vt:lpstr>Présentation PowerPoint</vt:lpstr>
      <vt:lpstr>Applications Open Data</vt:lpstr>
      <vt:lpstr>Epidémie de choléra Londres – 1854</vt:lpstr>
      <vt:lpstr>Epidémie de choléra Londres – 1854</vt:lpstr>
      <vt:lpstr>Exemples de service</vt:lpstr>
      <vt:lpstr>Open Data dans l’éducation</vt:lpstr>
      <vt:lpstr>Présentation PowerPoint</vt:lpstr>
      <vt:lpstr>Présentation PowerPoint</vt:lpstr>
      <vt:lpstr>Open Data et consommation</vt:lpstr>
      <vt:lpstr>Open Data &amp; Transparence</vt:lpstr>
      <vt:lpstr>Open Data &amp; Transparence</vt:lpstr>
      <vt:lpstr>Journalisme basé sur les données</vt:lpstr>
      <vt:lpstr>Journalisme basé sur les données</vt:lpstr>
      <vt:lpstr>Exemples d’impact économique</vt:lpstr>
      <vt:lpstr>Innovation &amp; Open data</vt:lpstr>
      <vt:lpstr>Bénéfices pour les structures publiques?</vt:lpstr>
      <vt:lpstr>Open Data: la 3ème révolution digitale</vt:lpstr>
      <vt:lpstr>Open Data et Gestion de données</vt:lpstr>
      <vt:lpstr>Présentation PowerPoint</vt:lpstr>
      <vt:lpstr>Open Data dans les services publics</vt:lpstr>
      <vt:lpstr>Open Data: l’engagement citoyen</vt:lpstr>
      <vt:lpstr>Amélioration des services publics</vt:lpstr>
      <vt:lpstr>Discussion</vt:lpstr>
      <vt:lpstr>Présentation PowerPoint</vt:lpstr>
      <vt:lpstr>L’Open Data au Maroc</vt:lpstr>
      <vt:lpstr>Etat des lieux: Leadership</vt:lpstr>
      <vt:lpstr>Etat des lieux : Cadre réglementaire</vt:lpstr>
      <vt:lpstr>Etat des lieux : Structure institutionnelle</vt:lpstr>
      <vt:lpstr>Etat des lieux : Données</vt:lpstr>
      <vt:lpstr>Etat des lieux : Demande</vt:lpstr>
      <vt:lpstr>Proposition d’actions à court terme</vt:lpstr>
      <vt:lpstr>Feuille de route: 1ère étape</vt:lpstr>
      <vt:lpstr>Présentation PowerPoint</vt:lpstr>
      <vt:lpstr>Open Data: mythes and risques</vt:lpstr>
      <vt:lpstr>Mythe 1: quelles données publier?</vt:lpstr>
      <vt:lpstr>Mythe 2: La qualité des données</vt:lpstr>
      <vt:lpstr>Mythe 3: Légalité de la publication</vt:lpstr>
      <vt:lpstr>Mythe 4: Mauvaise utilisation</vt:lpstr>
      <vt:lpstr>Mythe 5 : Bénéfices</vt:lpstr>
      <vt:lpstr>Mythe 5bis : Bénéfices</vt:lpstr>
      <vt:lpstr>Mythe 5ter : Bénéfices</vt:lpstr>
      <vt:lpstr>Mythe 6 : effort</vt:lpstr>
      <vt:lpstr>Présentation PowerPoint</vt:lpstr>
      <vt:lpstr>Objectifs</vt:lpstr>
      <vt:lpstr>Vision</vt:lpstr>
      <vt:lpstr>Facteurs de succès au sein d’une structure</vt:lpstr>
      <vt:lpstr>Les acteurs de l’Open Data</vt:lpstr>
      <vt:lpstr>Rôle du ROD</vt:lpstr>
      <vt:lpstr>Le ROD et l’ADD</vt:lpstr>
      <vt:lpstr>Le ROD et le CAI</vt:lpstr>
      <vt:lpstr>Le ROD et les gestionnaires de données</vt:lpstr>
      <vt:lpstr>Le ROD et le service informatique</vt:lpstr>
      <vt:lpstr>Le ROD et les réutilisateurs</vt:lpstr>
      <vt:lpstr>Le ROD et les réutilisateurs</vt:lpstr>
      <vt:lpstr>Tâches du ROD</vt:lpstr>
      <vt:lpstr>Pourquoi un inventaire?</vt:lpstr>
      <vt:lpstr>Le ROD et les responsables</vt:lpstr>
      <vt:lpstr>L’approche</vt:lpstr>
      <vt:lpstr>L’Open Data une tache ponctuelle ?</vt:lpstr>
      <vt:lpstr>Conduite du changement</vt:lpstr>
      <vt:lpstr>Préparer le Changement</vt:lpstr>
      <vt:lpstr>Profil du ROD</vt:lpstr>
      <vt:lpstr>Les équipes</vt:lpstr>
      <vt:lpstr>Planifier le changement</vt:lpstr>
      <vt:lpstr>Exécuter le changement</vt:lpstr>
      <vt:lpstr>Renforcer le changement</vt:lpstr>
      <vt:lpstr>Un maillon essentiel: le lancement</vt:lpstr>
      <vt:lpstr>Facteurs de succès</vt:lpstr>
      <vt:lpstr>Discussion</vt:lpstr>
      <vt:lpstr>Résumé</vt:lpstr>
      <vt:lpstr>Les étapes</vt:lpstr>
      <vt:lpstr>Présentation PowerPoint</vt:lpstr>
    </vt:vector>
  </TitlesOfParts>
  <Company>WITHYOU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Fabrice de Comarmond</dc:creator>
  <cp:lastModifiedBy>Stephane Boyera</cp:lastModifiedBy>
  <cp:revision>1091</cp:revision>
  <cp:lastPrinted>2016-06-03T13:40:18Z</cp:lastPrinted>
  <dcterms:created xsi:type="dcterms:W3CDTF">2009-10-15T09:24:18Z</dcterms:created>
  <dcterms:modified xsi:type="dcterms:W3CDTF">2020-11-20T09:39:39Z</dcterms:modified>
</cp:coreProperties>
</file>