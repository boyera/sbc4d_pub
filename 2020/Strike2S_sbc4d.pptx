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90" r:id="rId3"/>
    <p:sldId id="276" r:id="rId4"/>
    <p:sldId id="445" r:id="rId5"/>
    <p:sldId id="449" r:id="rId6"/>
    <p:sldId id="442" r:id="rId7"/>
    <p:sldId id="450" r:id="rId8"/>
    <p:sldId id="451" r:id="rId9"/>
    <p:sldId id="452" r:id="rId10"/>
    <p:sldId id="453" r:id="rId11"/>
    <p:sldId id="454" r:id="rId12"/>
    <p:sldId id="455" r:id="rId13"/>
    <p:sldId id="456" r:id="rId14"/>
    <p:sldId id="457" r:id="rId15"/>
    <p:sldId id="458" r:id="rId16"/>
    <p:sldId id="459" r:id="rId17"/>
    <p:sldId id="460" r:id="rId18"/>
    <p:sldId id="461" r:id="rId19"/>
    <p:sldId id="462" r:id="rId20"/>
    <p:sldId id="463" r:id="rId21"/>
    <p:sldId id="464" r:id="rId22"/>
    <p:sldId id="465" r:id="rId23"/>
    <p:sldId id="466" r:id="rId24"/>
    <p:sldId id="476" r:id="rId25"/>
    <p:sldId id="390" r:id="rId26"/>
    <p:sldId id="360" r:id="rId27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A6EC"/>
    <a:srgbClr val="50D450"/>
    <a:srgbClr val="29A428"/>
    <a:srgbClr val="1F547E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17" autoAdjust="0"/>
  </p:normalViewPr>
  <p:slideViewPr>
    <p:cSldViewPr snapToGrid="0">
      <p:cViewPr varScale="1">
        <p:scale>
          <a:sx n="66" d="100"/>
          <a:sy n="66" d="100"/>
        </p:scale>
        <p:origin x="156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17/02/2020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17/02/2020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First profiling experience in 2010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About a dozen design/implementation/deployments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Senegal (FO - 80k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The Gambia (NGO/FO - 6k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Fiji (Government - 35k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Comoros (Government/Coop. – 2k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Mali (NGO - 12k 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Kenya (NGO)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Liberia (NGO)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India (NGO)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Advisor on a few projects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National Farmer Digital Profiling (</a:t>
            </a:r>
            <a:r>
              <a:rPr lang="en-US" sz="2000" b="1" dirty="0" err="1">
                <a:latin typeface="Trebuchet MS" pitchFamily="34" charset="0"/>
                <a:cs typeface="ＭＳ Ｐゴシック" pitchFamily="34" charset="-128"/>
              </a:rPr>
              <a:t>MoA</a:t>
            </a: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- Rwanda)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FEPAB (CTA/Afdi – Burkina Faso)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A few publications on the topic (CTA working paper)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665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0547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639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61328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</a:rPr>
              <a:t>SB</a:t>
            </a:r>
            <a:r>
              <a:rPr lang="en-US" sz="1100" baseline="0" dirty="0">
                <a:solidFill>
                  <a:schemeClr val="bg1"/>
                </a:solidFill>
              </a:rPr>
              <a:t>C4D – http://wwww.sbc4d.com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54" y="58803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Shape 9">
            <a:extLst>
              <a:ext uri="{FF2B5EF4-FFF2-40B4-BE49-F238E27FC236}">
                <a16:creationId xmlns:a16="http://schemas.microsoft.com/office/drawing/2014/main" id="{56582277-02FF-4233-AC19-920B827C03C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4648" r="50281" b="49974"/>
          <a:stretch/>
        </p:blipFill>
        <p:spPr>
          <a:xfrm>
            <a:off x="178073" y="6597704"/>
            <a:ext cx="627436" cy="23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5ED871-B57E-4789-85E4-8A98B3C5F3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6454" y="115866"/>
            <a:ext cx="605325" cy="49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2/17/2020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642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ta.int/en/digitalisation/article/farmer-profiling-making-data-work-for-smallholder-farmers-sid08ef124c5-a521-4128-b7dd-db108d2232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hyperlink" Target="https://www.cta.int/en/digitalisation/all/article/agricultural-data-systems-to-transform-smallholder-farming-sid0ec4b7362-20bc-476f-b0ad-3fe3d5a4aa24" TargetMode="External"/><Relationship Id="rId4" Type="http://schemas.openxmlformats.org/officeDocument/2006/relationships/hyperlink" Target="https://www.usaid.gov/digitalag/documents/data-driven-agriculture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470015"/>
            <a:ext cx="9016678" cy="1181101"/>
          </a:xfrm>
        </p:spPr>
        <p:txBody>
          <a:bodyPr/>
          <a:lstStyle/>
          <a:p>
            <a:pPr algn="ctr"/>
            <a:r>
              <a:rPr lang="en-US" dirty="0"/>
              <a:t>Farmer profiling : lessons from 7 initiatives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>
                <a:latin typeface="Trebuchet MS" pitchFamily="34" charset="0"/>
              </a:rPr>
              <a:t>Stéphane Boyera</a:t>
            </a:r>
          </a:p>
          <a:p>
            <a:r>
              <a:rPr lang="fr-FR" sz="1600" b="1" dirty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>
                <a:latin typeface="Trebuchet MS" pitchFamily="34" charset="0"/>
              </a:rPr>
              <a:t>SBC4D – http://www.sbc4d.com</a:t>
            </a:r>
          </a:p>
          <a:p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823355D4-211A-4E5B-B2E6-CEBE30DB61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6551" y="5556030"/>
            <a:ext cx="1084124" cy="887382"/>
          </a:xfrm>
          <a:prstGeom prst="rect">
            <a:avLst/>
          </a:prstGeom>
        </p:spPr>
      </p:pic>
      <p:pic>
        <p:nvPicPr>
          <p:cNvPr id="1026" name="Picture 2" descr="Digital Transparency in the Food Chain">
            <a:extLst>
              <a:ext uri="{FF2B5EF4-FFF2-40B4-BE49-F238E27FC236}">
                <a16:creationId xmlns:a16="http://schemas.microsoft.com/office/drawing/2014/main" id="{6BB5FD7A-4EFB-40A1-9314-28DFAC5CD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858" y="5615016"/>
            <a:ext cx="1689927" cy="82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Overview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519AF5B-1243-4865-B079-B5605EE1F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2" y="4350327"/>
            <a:ext cx="3082939" cy="1890869"/>
          </a:xfrm>
          <a:prstGeom prst="rect">
            <a:avLst/>
          </a:prstGeom>
        </p:spPr>
      </p:pic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B0A0CA2-7717-4EDA-9136-F6A3BDAAA953}"/>
              </a:ext>
            </a:extLst>
          </p:cNvPr>
          <p:cNvSpPr>
            <a:spLocks/>
          </p:cNvSpPr>
          <p:nvPr/>
        </p:nvSpPr>
        <p:spPr bwMode="auto">
          <a:xfrm>
            <a:off x="375301" y="1636845"/>
            <a:ext cx="7959074" cy="2251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SBC4D experience in Farmer profiling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Introduction to Farmer profiling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CTA Data4Ag experience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400" b="1" dirty="0">
                <a:latin typeface="Trebuchet MS" pitchFamily="34" charset="0"/>
                <a:cs typeface="ＭＳ Ｐゴシック" pitchFamily="34" charset="-128"/>
              </a:rPr>
              <a:t> Main lessons &amp; Best practices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/>
              <a:t>SBC4D: Where ICT meets Social &amp; Economic Development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34495" y="1078407"/>
            <a:ext cx="7303800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Consulting Company specialized in ICTD since 2009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Mobile &amp; Web services: Strategy, design, implementation, deployment. Specific expertise on multi-channel applications, and ICT for illiterate underprivileged communities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Open Data &amp; Open Linked Data: Strategy &amp; Implementation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Sector Expertise: primarily Agriculture, but also Governance, Media, Health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ICT4Ag: farmer profiling, AMIS, business matching, insurance, communication (IVR, CC, etc.)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Major clients: Governments, Development agencies (USAID, MCC,…), UN (ITC, UNDP, FAO, IFAD, etc.), WB, EU (CTA,…) private foundations &amp; NGO (Care, BMGF, …), private sector (Orange, MTV, Al Jazeera, …)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Geography:</a:t>
            </a:r>
            <a:r>
              <a:rPr lang="en-US" b="1" dirty="0">
                <a:latin typeface="Trebuchet MS" pitchFamily="34" charset="0"/>
                <a:cs typeface="Arial" pitchFamily="34" charset="0"/>
              </a:rPr>
              <a:t> 70% of activities in Sub-Saharan Africa,  Operation in South Asia (India, Vietnam, Bhutan, Indonesia), Pacific Islands (Fiji), Latin America (Chile, Colombia)</a:t>
            </a:r>
          </a:p>
        </p:txBody>
      </p:sp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226" y="2951017"/>
            <a:ext cx="1697644" cy="159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</a:t>
            </a:r>
            <a:endParaRPr lang="en-US" dirty="0"/>
          </a:p>
        </p:txBody>
      </p:sp>
      <p:pic>
        <p:nvPicPr>
          <p:cNvPr id="4" name="Image 3" descr="Une image contenant carte, texte&#10;&#10;Description générée automatiquement">
            <a:extLst>
              <a:ext uri="{FF2B5EF4-FFF2-40B4-BE49-F238E27FC236}">
                <a16:creationId xmlns:a16="http://schemas.microsoft.com/office/drawing/2014/main" id="{D1DEA354-3C8F-47F7-9FA9-7112996C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9" y="1036124"/>
            <a:ext cx="8356922" cy="525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5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Principles of Farmer Profiling (2)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442E82-4AF5-4E92-BEC9-EDB7D9D7BBC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22" y="1472339"/>
            <a:ext cx="7702658" cy="47424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756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Services leveraging farmer profiles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7F790C-6A75-4762-9F96-6C79720EA1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7" y="1115877"/>
            <a:ext cx="8911525" cy="5377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08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Farmer profiling expected impact</a:t>
            </a:r>
            <a:endParaRPr lang="en-US" dirty="0"/>
          </a:p>
        </p:txBody>
      </p:sp>
      <p:pic>
        <p:nvPicPr>
          <p:cNvPr id="1026" name="Picture 2" descr="Image result for impact icon">
            <a:extLst>
              <a:ext uri="{FF2B5EF4-FFF2-40B4-BE49-F238E27FC236}">
                <a16:creationId xmlns:a16="http://schemas.microsoft.com/office/drawing/2014/main" id="{46F4D647-FDD3-4E3D-AE10-ED7857DAC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1" t="25959" r="25882" b="20455"/>
          <a:stretch/>
        </p:blipFill>
        <p:spPr bwMode="auto">
          <a:xfrm>
            <a:off x="7199453" y="4376517"/>
            <a:ext cx="1689903" cy="2033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98660" y="1386445"/>
            <a:ext cx="7645744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Better policy based on real data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More advocacy power for Farmer Organizations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access to financial services by smallholder farmers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Easier access to extension and trade services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yields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Greater income</a:t>
            </a:r>
          </a:p>
        </p:txBody>
      </p:sp>
    </p:spTree>
    <p:extLst>
      <p:ext uri="{BB962C8B-B14F-4D97-AF65-F5344CB8AC3E}">
        <p14:creationId xmlns:p14="http://schemas.microsoft.com/office/powerpoint/2010/main" val="49545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Building blocks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37557" y="1687387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Profile content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Which information needed for which services?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Data collection and update model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Technical platform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Business model</a:t>
            </a:r>
          </a:p>
        </p:txBody>
      </p:sp>
      <p:pic>
        <p:nvPicPr>
          <p:cNvPr id="2050" name="Picture 2" descr="Image result for icon building block">
            <a:extLst>
              <a:ext uri="{FF2B5EF4-FFF2-40B4-BE49-F238E27FC236}">
                <a16:creationId xmlns:a16="http://schemas.microsoft.com/office/drawing/2014/main" id="{D927E575-E245-4F82-BB95-B02D26980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22" y="4225861"/>
            <a:ext cx="1708689" cy="170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10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/>
              <a:t>CTA Data4Ag initiative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A joint initiative with PAFO and </a:t>
            </a:r>
            <a:r>
              <a:rPr lang="en-US" sz="2800" dirty="0" err="1">
                <a:latin typeface="Trebuchet MS" pitchFamily="34" charset="0"/>
                <a:cs typeface="ＭＳ Ｐゴシック" pitchFamily="34" charset="-128"/>
              </a:rPr>
              <a:t>Agricord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 since 2016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Objective: Support FOs to take advantage of new data-driven services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Implementation: funding of a series of FOs across Africa to test various technologies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This study: Review the farmer profiling component of 7 projects</a:t>
            </a:r>
          </a:p>
        </p:txBody>
      </p:sp>
      <p:pic>
        <p:nvPicPr>
          <p:cNvPr id="3" name="Picture 2" descr="Image result for pafo logo&quot;">
            <a:extLst>
              <a:ext uri="{FF2B5EF4-FFF2-40B4-BE49-F238E27FC236}">
                <a16:creationId xmlns:a16="http://schemas.microsoft.com/office/drawing/2014/main" id="{CA812667-66ED-4F9E-9FE7-BBEDF61CD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597" y="5355745"/>
            <a:ext cx="2030935" cy="100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agricord logo&quot;">
            <a:extLst>
              <a:ext uri="{FF2B5EF4-FFF2-40B4-BE49-F238E27FC236}">
                <a16:creationId xmlns:a16="http://schemas.microsoft.com/office/drawing/2014/main" id="{77DD32B8-6EB6-482F-8487-3017758E6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92" b="28810"/>
          <a:stretch/>
        </p:blipFill>
        <p:spPr bwMode="auto">
          <a:xfrm>
            <a:off x="1324337" y="5359077"/>
            <a:ext cx="2885637" cy="114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cta logo&quot;">
            <a:extLst>
              <a:ext uri="{FF2B5EF4-FFF2-40B4-BE49-F238E27FC236}">
                <a16:creationId xmlns:a16="http://schemas.microsoft.com/office/drawing/2014/main" id="{9993FB88-A04F-4BAA-A56D-0EB61A188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434" y="2129422"/>
            <a:ext cx="1590072" cy="1299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019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303800" cy="812800"/>
          </a:xfrm>
        </p:spPr>
        <p:txBody>
          <a:bodyPr/>
          <a:lstStyle/>
          <a:p>
            <a:r>
              <a:rPr lang="en-US" dirty="0"/>
              <a:t>National Union of Coffee Agribusiness and Farm Enterprises (NUCAFE)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074" name="Picture 2" descr="Image result for uganda icon&quot;">
            <a:extLst>
              <a:ext uri="{FF2B5EF4-FFF2-40B4-BE49-F238E27FC236}">
                <a16:creationId xmlns:a16="http://schemas.microsoft.com/office/drawing/2014/main" id="{8CEB88F0-01FE-4FF2-8DA4-652C3730D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185" y="892610"/>
            <a:ext cx="1631660" cy="163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offee icon&quot;">
            <a:extLst>
              <a:ext uri="{FF2B5EF4-FFF2-40B4-BE49-F238E27FC236}">
                <a16:creationId xmlns:a16="http://schemas.microsoft.com/office/drawing/2014/main" id="{7592DB8E-AAD5-4742-AC76-BE11235CF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585" y="3591484"/>
            <a:ext cx="1652648" cy="100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contenu 1">
            <a:extLst>
              <a:ext uri="{FF2B5EF4-FFF2-40B4-BE49-F238E27FC236}">
                <a16:creationId xmlns:a16="http://schemas.microsoft.com/office/drawing/2014/main" id="{25226FD8-4DA8-44B7-A43E-9195FF8F0C81}"/>
              </a:ext>
            </a:extLst>
          </p:cNvPr>
          <p:cNvSpPr>
            <a:spLocks/>
          </p:cNvSpPr>
          <p:nvPr/>
        </p:nvSpPr>
        <p:spPr bwMode="auto">
          <a:xfrm>
            <a:off x="277966" y="1261053"/>
            <a:ext cx="7384475" cy="283123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Almost 19.000 farmers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Main objective: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digitization of membership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New services: Value chain support and access to credit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Profile use: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Work at individual farmer level (training needs…)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Geographical Indication &amp; Certification (fair trade, organic)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Traceability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Advocacy and global impact measurement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Main output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Increased farmer production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Increased coffee revenue for farmers (GI, Traceability)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Better position of collection points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801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sz="3200" dirty="0" err="1"/>
              <a:t>Igara</a:t>
            </a:r>
            <a:r>
              <a:rPr lang="en-US" sz="3200" dirty="0"/>
              <a:t> Growers Tea Factory (IGTF)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Almost 20k farmers and more than 22k gardens profiled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Profile use: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Input calculation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Access to credit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Main success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Saving for IGTF on inputs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More farmers delivering to IGTF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Better position of delivery points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Easier access to credit for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Greater trust from farmers</a:t>
            </a:r>
          </a:p>
        </p:txBody>
      </p:sp>
      <p:pic>
        <p:nvPicPr>
          <p:cNvPr id="3074" name="Picture 2" descr="Image result for uganda icon&quot;">
            <a:extLst>
              <a:ext uri="{FF2B5EF4-FFF2-40B4-BE49-F238E27FC236}">
                <a16:creationId xmlns:a16="http://schemas.microsoft.com/office/drawing/2014/main" id="{8CEB88F0-01FE-4FF2-8DA4-652C3730D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185" y="892610"/>
            <a:ext cx="1631660" cy="163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 result for tea leaf icon&quot;">
            <a:extLst>
              <a:ext uri="{FF2B5EF4-FFF2-40B4-BE49-F238E27FC236}">
                <a16:creationId xmlns:a16="http://schemas.microsoft.com/office/drawing/2014/main" id="{1F3007E3-65E0-4409-B696-371711CE0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043" y="2977586"/>
            <a:ext cx="1601165" cy="1601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2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7751928" cy="812800"/>
          </a:xfrm>
        </p:spPr>
        <p:txBody>
          <a:bodyPr/>
          <a:lstStyle/>
          <a:p>
            <a:r>
              <a:rPr lang="fr-FR" dirty="0"/>
              <a:t>FÉDÉRATION DES PROFESSIONNELS AGRICOLES DU BURKINA (FEPA/B) 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7" y="1108653"/>
            <a:ext cx="6587750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2053 farmers profiled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Main focus: FEPA/B advocacy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Main output: Data collection capacities within FEPA/B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Future use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Access to cheaper inputs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Market Linkages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Challenges: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Business model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Benefit/cost ratio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Scale-up</a:t>
            </a:r>
          </a:p>
        </p:txBody>
      </p:sp>
      <p:pic>
        <p:nvPicPr>
          <p:cNvPr id="5122" name="Picture 2" descr="Image result for burkina flag&quot;">
            <a:extLst>
              <a:ext uri="{FF2B5EF4-FFF2-40B4-BE49-F238E27FC236}">
                <a16:creationId xmlns:a16="http://schemas.microsoft.com/office/drawing/2014/main" id="{6F97B0A7-C7DF-4290-B2AC-9E18AA3E6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198" y="2816831"/>
            <a:ext cx="2304173" cy="169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83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626362" cy="812800"/>
          </a:xfrm>
        </p:spPr>
        <p:txBody>
          <a:bodyPr/>
          <a:lstStyle/>
          <a:p>
            <a:r>
              <a:rPr lang="fr-FR" dirty="0"/>
              <a:t>Confédération des Associations des Producteurs Agricoles pour le Développement (CAPAD) 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299651"/>
            <a:ext cx="700443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Joint initiative with </a:t>
            </a:r>
            <a:r>
              <a:rPr lang="en-US" sz="2000" dirty="0" err="1">
                <a:latin typeface="Trebuchet MS" pitchFamily="34" charset="0"/>
                <a:cs typeface="ＭＳ Ｐゴシック" pitchFamily="34" charset="-128"/>
              </a:rPr>
              <a:t>Collectif</a:t>
            </a: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err="1">
                <a:latin typeface="Trebuchet MS" pitchFamily="34" charset="0"/>
                <a:cs typeface="ＭＳ Ｐゴシック" pitchFamily="34" charset="-128"/>
              </a:rPr>
              <a:t>Stratégie</a:t>
            </a: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 err="1">
                <a:latin typeface="Trebuchet MS" pitchFamily="34" charset="0"/>
                <a:cs typeface="ＭＳ Ｐゴシック" pitchFamily="34" charset="-128"/>
              </a:rPr>
              <a:t>Alimentaire</a:t>
            </a: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14153 farmers from 39 cooperatives profiled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Main objective: support smallholder farmers in production and selling of agriculture products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Profile use: help CAPAD provide better on-time services (input provision, credit) to their members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Main output: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More cooperatives are able to sell product to WFP schools cafeteria program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Cooperatives have data to support dispute resolution with the Tax authority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More advocacy power for CAPAD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Main challenges: Technical platform (offline capabilities)</a:t>
            </a:r>
          </a:p>
        </p:txBody>
      </p:sp>
      <p:pic>
        <p:nvPicPr>
          <p:cNvPr id="6150" name="Picture 6" descr="Image result for burundi flag&quot;">
            <a:extLst>
              <a:ext uri="{FF2B5EF4-FFF2-40B4-BE49-F238E27FC236}">
                <a16:creationId xmlns:a16="http://schemas.microsoft.com/office/drawing/2014/main" id="{42F056F4-586C-4EB6-9B13-36B750929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693" y="4611340"/>
            <a:ext cx="2009342" cy="118223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2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626362" cy="812800"/>
          </a:xfrm>
        </p:spPr>
        <p:txBody>
          <a:bodyPr/>
          <a:lstStyle/>
          <a:p>
            <a:r>
              <a:rPr lang="en-US" dirty="0"/>
              <a:t>Eastern Africa Farmers’ Federation (EAFF) 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7626362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Approx. 190.000 farmers in Kenya and 14.000 in Uganda profiles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Profile use: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Access to credit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Access to cheaper input (group buying)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Market linkages (group selling)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E-extension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Output</a:t>
            </a: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Greater revenue for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Access to larger credit for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Greater advocacy power for EAFF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Design of a future business intelligence service for EAFF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Challenge: credit interest rates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7170" name="Picture 2" descr="Image result for kenya flag&quot;">
            <a:extLst>
              <a:ext uri="{FF2B5EF4-FFF2-40B4-BE49-F238E27FC236}">
                <a16:creationId xmlns:a16="http://schemas.microsoft.com/office/drawing/2014/main" id="{28A07A1A-A394-4927-BE31-FC15A180E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247" y="2856990"/>
            <a:ext cx="1625361" cy="108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760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983846"/>
            <a:ext cx="7832951" cy="270139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Joint initiative with SACAU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Approximately 23.000 farmers profiled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Main objective: digitalize farmer union membership management 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Main output: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Better understanding of membership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Partnership with </a:t>
            </a:r>
            <a:r>
              <a:rPr lang="en-US" dirty="0" err="1">
                <a:latin typeface="Trebuchet MS" pitchFamily="34" charset="0"/>
                <a:cs typeface="ＭＳ Ｐゴシック" pitchFamily="34" charset="-128"/>
              </a:rPr>
              <a:t>MoA</a:t>
            </a:r>
            <a:r>
              <a:rPr lang="en-US" dirty="0">
                <a:latin typeface="Trebuchet MS" pitchFamily="34" charset="0"/>
                <a:cs typeface="ＭＳ Ｐゴシック" pitchFamily="34" charset="-128"/>
              </a:rPr>
              <a:t> to implement the national subsidy scheme for Maize via e-voucher system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Profile use: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Direct communication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Policy studies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Advocacy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Challenges: </a:t>
            </a:r>
          </a:p>
          <a:p>
            <a:pPr marL="504000" lvl="1" indent="-457200" eaLnBrk="0" hangingPunct="0">
              <a:spcBef>
                <a:spcPts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Business model</a:t>
            </a:r>
          </a:p>
          <a:p>
            <a:pPr marL="504000" lvl="1" indent="-457200" eaLnBrk="0" hangingPunct="0">
              <a:spcBef>
                <a:spcPts val="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Technical platform</a:t>
            </a:r>
            <a:endParaRPr lang="en-US" sz="2400" dirty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Swaziland National Agriculture Union (SNAU) </a:t>
            </a:r>
            <a:endParaRPr lang="fr-FR" dirty="0"/>
          </a:p>
        </p:txBody>
      </p:sp>
      <p:pic>
        <p:nvPicPr>
          <p:cNvPr id="8194" name="Picture 2" descr="Image result for eswatini flag&quot;">
            <a:extLst>
              <a:ext uri="{FF2B5EF4-FFF2-40B4-BE49-F238E27FC236}">
                <a16:creationId xmlns:a16="http://schemas.microsoft.com/office/drawing/2014/main" id="{59A46BA6-1D95-47F1-819B-80AB58181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98" y="5050750"/>
            <a:ext cx="1506638" cy="100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39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9367" y="46299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Lesotho National Farmers Union (LENAFU)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37141" y="1027630"/>
            <a:ext cx="8543871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Joint initiative with SACAU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52000 farmer profiled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Main objective: digitized LENAFU farmer registry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Main output: 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Data collection capacities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Access to new opportunities thanks to data &amp; capacities: Partnership with WFP and with </a:t>
            </a:r>
            <a:r>
              <a:rPr lang="en-US" dirty="0" err="1">
                <a:latin typeface="Trebuchet MS" pitchFamily="34" charset="0"/>
                <a:cs typeface="ＭＳ Ｐゴシック" pitchFamily="34" charset="-128"/>
              </a:rPr>
              <a:t>MoA</a:t>
            </a:r>
            <a:r>
              <a:rPr lang="en-US" dirty="0">
                <a:latin typeface="Trebuchet MS" pitchFamily="34" charset="0"/>
                <a:cs typeface="ＭＳ Ｐゴシック" pitchFamily="34" charset="-128"/>
              </a:rPr>
              <a:t> &amp; FAO</a:t>
            </a: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Profile use: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Communication with members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Design new services for members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Business intelligence service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Challenges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Business model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Technical platform</a:t>
            </a:r>
          </a:p>
        </p:txBody>
      </p:sp>
      <p:pic>
        <p:nvPicPr>
          <p:cNvPr id="9218" name="Picture 2" descr="Image result for Lesotho flag&quot;">
            <a:extLst>
              <a:ext uri="{FF2B5EF4-FFF2-40B4-BE49-F238E27FC236}">
                <a16:creationId xmlns:a16="http://schemas.microsoft.com/office/drawing/2014/main" id="{676D129A-2A19-4AC0-B30F-B901E2B03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801" y="4927546"/>
            <a:ext cx="1602211" cy="106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496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1: Profiling is beneficial to all FOs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4282" y="160636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FOs acquired ICT and data collection skills that are valuable in the country and open doors for new opportunities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Profile repository contains useful data that can be used for other purposes than the one primary objective</a:t>
            </a: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901" y="2932888"/>
            <a:ext cx="1875099" cy="187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9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2: Sustainability comes from financial impact of profiling task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3 over 7 projects did not continue the process after project funding due to cost/benefit ratio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Successful projects make farmers proactive in provision of profile information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Require a critical mass of profiled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Require the delivery of financially impactful services to farmers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Reinforcing FO advocacy power is not a strong-enough incentive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Growing fatigue among farmer and resistance to numerous data collection that does not provide any output to them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Sustainability also relies on low operational costs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Almost all SaaS model have been dropped after the end of the project</a:t>
            </a: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962" y="2662177"/>
            <a:ext cx="1731380" cy="173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462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3: Personal Data Protection legislations have a major impact on profiling 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073929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Only few FOs are aware of the need to comply to PDP regulations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Some are infringing laws on data hosting, declaration, capture of consent,…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PDP best practices are useful to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Leverage trust among farmers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Prepare FOs for change in legislation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PDP impacts many components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Software and hosting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Training of enumerator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Data collection setup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Profile data use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PDP best practices have to be considered at the earliest possible stage of such projects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942" y="195515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776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4: no free and open-source reference technical platform for farmer profiling 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050779"/>
            <a:ext cx="7293806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Almost all projects were facing challenges with the technical platform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Financial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Technical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Legal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Profile information is useful for other services (credit, value chain development, etc.) with their own platform. Profile information should be a pluggable module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There isn’t any free and open source package with all functionalities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Some reference module (e.g. ODK)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Some fully-integrated solutions (e.g. blue number)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A promising initiative from CSA/CAPAD project: PUMA2 published on </a:t>
            </a:r>
            <a:r>
              <a:rPr lang="en-US" sz="2000" dirty="0" err="1">
                <a:latin typeface="Trebuchet MS" pitchFamily="34" charset="0"/>
                <a:cs typeface="ＭＳ Ｐゴシック" pitchFamily="34" charset="-128"/>
              </a:rPr>
              <a:t>Framagit</a:t>
            </a:r>
            <a:endParaRPr lang="en-US" sz="2000" dirty="0">
              <a:latin typeface="Trebuchet MS" pitchFamily="34" charset="0"/>
              <a:cs typeface="ＭＳ Ｐゴシック" pitchFamily="34" charset="-128"/>
            </a:endParaRP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Need further investment and the development of a community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372" y="1345557"/>
            <a:ext cx="1561575" cy="156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211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5: Profile content should be designed through a multi-stakeholder process 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/>
              <a:t>Different stakeholders and different services require different types of data point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The sustainability of a profiling platform depends on the number of users of profile information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Some services/stakeholders require specific data collection and verification process that needs to be included in the data collection and update model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endParaRPr lang="en-US" sz="28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76" y="4407702"/>
            <a:ext cx="1913681" cy="1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6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6: Profile data update is problematic 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Organization of a census-type activity is costly but relatively easy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Such approach does not fit with quarterly or even annually update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Options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Self-update process through mobile 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How to validate?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Use existing structure and network to update and validate information: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Collection points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Extension agents</a:t>
            </a:r>
          </a:p>
          <a:p>
            <a:pPr marL="1371600" lvl="2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latin typeface="Trebuchet MS" pitchFamily="34" charset="0"/>
                <a:cs typeface="ＭＳ Ｐゴシック" pitchFamily="34" charset="-128"/>
              </a:rPr>
              <a:t>…</a:t>
            </a: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942" y="195515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015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566" y="0"/>
            <a:ext cx="7832951" cy="812800"/>
          </a:xfrm>
        </p:spPr>
        <p:txBody>
          <a:bodyPr/>
          <a:lstStyle/>
          <a:p>
            <a:pPr lvl="0"/>
            <a:r>
              <a:rPr lang="en-US" dirty="0"/>
              <a:t>Lesson 7: Potential of business intelligence services on top of profile data?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25566" y="1108653"/>
            <a:ext cx="6994619" cy="283123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Almost all projects foresee potential revenue linked to BI service on top of profile data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None have successfully demonstrated the viability of this hypothesis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Require a detailed market analysis to identify products and customers</a:t>
            </a:r>
          </a:p>
          <a:p>
            <a:pPr marL="914400" lvl="1" indent="-4572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Require data analytics/data science expertise</a:t>
            </a:r>
          </a:p>
          <a:p>
            <a:pPr marL="457200" indent="-4572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This area needs further investigations</a:t>
            </a:r>
          </a:p>
        </p:txBody>
      </p:sp>
      <p:pic>
        <p:nvPicPr>
          <p:cNvPr id="10242" name="Picture 2" descr="Image result for result icon&quot;">
            <a:extLst>
              <a:ext uri="{FF2B5EF4-FFF2-40B4-BE49-F238E27FC236}">
                <a16:creationId xmlns:a16="http://schemas.microsoft.com/office/drawing/2014/main" id="{53923272-2EA5-42A1-9423-C98BADADD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595" y="1367699"/>
            <a:ext cx="1656187" cy="16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269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objet, horloge&#10;&#10;Description générée avec un niveau de confiance très élevé">
            <a:extLst>
              <a:ext uri="{FF2B5EF4-FFF2-40B4-BE49-F238E27FC236}">
                <a16:creationId xmlns:a16="http://schemas.microsoft.com/office/drawing/2014/main" id="{CB58E789-2E4B-4C54-9A0C-699268B73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99" y="4949964"/>
            <a:ext cx="1480336" cy="1480336"/>
          </a:xfrm>
          <a:prstGeom prst="rect">
            <a:avLst/>
          </a:prstGeom>
        </p:spPr>
      </p:pic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328922" y="342967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Conclusion</a:t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58459" y="1056334"/>
            <a:ext cx="7596579" cy="373612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dirty="0">
                <a:latin typeface="+mn-lt"/>
              </a:rPr>
              <a:t>The output of the 7 projects are quite homogeneous in terms of challenges and in terms of opportunities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</a:rPr>
              <a:t> All FOs involved had a direct outcome (e.g. securing new projects) from the profiling activity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</a:rPr>
              <a:t> The sustainability of such approaches is hard to achieve and rely on the farmers active contribution in the process. Such contribution occurs when there is a clear direct benefit for them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+mn-lt"/>
              </a:rPr>
              <a:t>  Profiling is a tool to implement services for farmers and is not a goal.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dirty="0">
              <a:latin typeface="+mn-lt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</a:rPr>
              <a:t> The domain requires further investigation and development: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</a:rPr>
              <a:t> An open source package for the technical platform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</a:rPr>
              <a:t> Exploration and validation of BI service on top of profile data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046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Références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1140CD-1FA2-4AF1-BA05-4C0B875E29DA}"/>
              </a:ext>
            </a:extLst>
          </p:cNvPr>
          <p:cNvSpPr txBox="1">
            <a:spLocks/>
          </p:cNvSpPr>
          <p:nvPr/>
        </p:nvSpPr>
        <p:spPr>
          <a:xfrm>
            <a:off x="208618" y="1179552"/>
            <a:ext cx="669112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F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CC8D15-6176-470F-9917-36C5F6DAA496}"/>
              </a:ext>
            </a:extLst>
          </p:cNvPr>
          <p:cNvSpPr txBox="1">
            <a:spLocks/>
          </p:cNvSpPr>
          <p:nvPr/>
        </p:nvSpPr>
        <p:spPr>
          <a:xfrm>
            <a:off x="361018" y="1331952"/>
            <a:ext cx="669112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CTA Working Paper “Farmer profiling: Making data work for smallholder farmers”: </a:t>
            </a:r>
            <a:r>
              <a:rPr lang="en-US" sz="1900" dirty="0">
                <a:hlinkClick r:id="rId3"/>
              </a:rPr>
              <a:t>https://www.cta.int/en/digitalisation/article/farmer-profiling-making-data-work-for-smallholder-farmers-sid08ef124c5-a521-4128-b7dd-db108d223250</a:t>
            </a:r>
            <a:r>
              <a:rPr lang="en-US" sz="1900" dirty="0"/>
              <a:t> </a:t>
            </a:r>
          </a:p>
          <a:p>
            <a:r>
              <a:rPr lang="en-US" sz="2000" dirty="0"/>
              <a:t>DIGITAL FARMER PROFILES: Reimagining Smallholder Agriculture. Landscaping Study, USAID, Grameen Foundation: </a:t>
            </a:r>
            <a:r>
              <a:rPr lang="en-US" sz="2000" dirty="0">
                <a:hlinkClick r:id="rId4"/>
              </a:rPr>
              <a:t>https://www.usaid.gov/digitalag/documents/data-driven-agriculture</a:t>
            </a:r>
            <a:endParaRPr lang="en-US" sz="2000" dirty="0"/>
          </a:p>
          <a:p>
            <a:r>
              <a:rPr lang="en-US" sz="2000" dirty="0"/>
              <a:t>CTA Experiences : </a:t>
            </a:r>
            <a:r>
              <a:rPr lang="en-US" sz="2000" dirty="0">
                <a:hlinkClick r:id="rId5"/>
              </a:rPr>
              <a:t>https://www.cta.int/en/digitalisation/all/article/agricultural-data-systems-to-transform-smallholder-farming-sid0ec4b7362-20bc-476f-b0ad-3fe3d5a4aa24</a:t>
            </a:r>
            <a:r>
              <a:rPr lang="en-US" sz="20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F48C42-1A2F-42B3-8FFE-063A77764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407" y="4316145"/>
            <a:ext cx="23145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78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79" y="1583564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76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60871</TotalTime>
  <Words>1651</Words>
  <Application>Microsoft Office PowerPoint</Application>
  <PresentationFormat>Affichage à l'écran (4:3)</PresentationFormat>
  <Paragraphs>215</Paragraphs>
  <Slides>26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Trebuchet MS</vt:lpstr>
      <vt:lpstr>Wingdings</vt:lpstr>
      <vt:lpstr>Thème Office</vt:lpstr>
      <vt:lpstr>Farmer profiling : lessons from 7 initiatives</vt:lpstr>
      <vt:lpstr>Overview</vt:lpstr>
      <vt:lpstr>SBC4D: Where ICT meets Social &amp; Economic Development</vt:lpstr>
      <vt:lpstr>Principles of Farmer Profiling</vt:lpstr>
      <vt:lpstr>Principles of Farmer Profiling (2)</vt:lpstr>
      <vt:lpstr>Services leveraging farmer profiles</vt:lpstr>
      <vt:lpstr>Farmer profiling expected impact</vt:lpstr>
      <vt:lpstr>Building blocks</vt:lpstr>
      <vt:lpstr>CTA Data4Ag initiative</vt:lpstr>
      <vt:lpstr>National Union of Coffee Agribusiness and Farm Enterprises (NUCAFE)</vt:lpstr>
      <vt:lpstr>Igara Growers Tea Factory (IGTF)</vt:lpstr>
      <vt:lpstr>FÉDÉRATION DES PROFESSIONNELS AGRICOLES DU BURKINA (FEPA/B) </vt:lpstr>
      <vt:lpstr>Confédération des Associations des Producteurs Agricoles pour le Développement (CAPAD) </vt:lpstr>
      <vt:lpstr>Eastern Africa Farmers’ Federation (EAFF) </vt:lpstr>
      <vt:lpstr>Swaziland National Agriculture Union (SNAU) </vt:lpstr>
      <vt:lpstr>Lesotho National Farmers Union (LENAFU)</vt:lpstr>
      <vt:lpstr>Lesson 1: Profiling is beneficial to all FOs</vt:lpstr>
      <vt:lpstr>Lesson 2: Sustainability comes from financial impact of profiling task</vt:lpstr>
      <vt:lpstr>Lesson 3: Personal Data Protection legislations have a major impact on profiling </vt:lpstr>
      <vt:lpstr>Lesson 4: no free and open-source reference technical platform for farmer profiling </vt:lpstr>
      <vt:lpstr>Lesson 5: Profile content should be designed through a multi-stakeholder process </vt:lpstr>
      <vt:lpstr>Lesson 6: Profile data update is problematic </vt:lpstr>
      <vt:lpstr>Lesson 7: Potential of business intelligence services on top of profile data?</vt:lpstr>
      <vt:lpstr>Conclusion </vt:lpstr>
      <vt:lpstr>Références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Stephane Boyera</cp:lastModifiedBy>
  <cp:revision>829</cp:revision>
  <cp:lastPrinted>2011-11-29T16:00:44Z</cp:lastPrinted>
  <dcterms:created xsi:type="dcterms:W3CDTF">2009-10-15T09:24:18Z</dcterms:created>
  <dcterms:modified xsi:type="dcterms:W3CDTF">2020-02-17T17:02:07Z</dcterms:modified>
</cp:coreProperties>
</file>