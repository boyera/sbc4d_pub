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603" r:id="rId3"/>
    <p:sldId id="461" r:id="rId4"/>
    <p:sldId id="398" r:id="rId5"/>
    <p:sldId id="308" r:id="rId6"/>
    <p:sldId id="610" r:id="rId7"/>
    <p:sldId id="351" r:id="rId8"/>
    <p:sldId id="399" r:id="rId9"/>
    <p:sldId id="361" r:id="rId10"/>
    <p:sldId id="611" r:id="rId11"/>
    <p:sldId id="363" r:id="rId12"/>
    <p:sldId id="402" r:id="rId13"/>
    <p:sldId id="616" r:id="rId14"/>
    <p:sldId id="618" r:id="rId15"/>
    <p:sldId id="619" r:id="rId16"/>
    <p:sldId id="327" r:id="rId17"/>
    <p:sldId id="617" r:id="rId18"/>
    <p:sldId id="621" r:id="rId19"/>
    <p:sldId id="387" r:id="rId20"/>
    <p:sldId id="385" r:id="rId21"/>
    <p:sldId id="622" r:id="rId22"/>
    <p:sldId id="487" r:id="rId23"/>
    <p:sldId id="623" r:id="rId24"/>
    <p:sldId id="624" r:id="rId25"/>
    <p:sldId id="486" r:id="rId26"/>
    <p:sldId id="625" r:id="rId27"/>
    <p:sldId id="612" r:id="rId28"/>
    <p:sldId id="613" r:id="rId29"/>
    <p:sldId id="614" r:id="rId30"/>
    <p:sldId id="605" r:id="rId31"/>
    <p:sldId id="382" r:id="rId32"/>
    <p:sldId id="524" r:id="rId33"/>
    <p:sldId id="472" r:id="rId34"/>
    <p:sldId id="433" r:id="rId35"/>
    <p:sldId id="566" r:id="rId36"/>
    <p:sldId id="626" r:id="rId37"/>
    <p:sldId id="578" r:id="rId38"/>
    <p:sldId id="494" r:id="rId39"/>
    <p:sldId id="579" r:id="rId40"/>
    <p:sldId id="627" r:id="rId41"/>
    <p:sldId id="511" r:id="rId42"/>
    <p:sldId id="394" r:id="rId43"/>
    <p:sldId id="395" r:id="rId44"/>
    <p:sldId id="396" r:id="rId45"/>
    <p:sldId id="397" r:id="rId46"/>
    <p:sldId id="631" r:id="rId47"/>
    <p:sldId id="379" r:id="rId48"/>
    <p:sldId id="632" r:id="rId49"/>
    <p:sldId id="628" r:id="rId50"/>
    <p:sldId id="525" r:id="rId51"/>
    <p:sldId id="526" r:id="rId52"/>
    <p:sldId id="527" r:id="rId53"/>
    <p:sldId id="528" r:id="rId54"/>
    <p:sldId id="529" r:id="rId55"/>
    <p:sldId id="530" r:id="rId56"/>
    <p:sldId id="563" r:id="rId57"/>
    <p:sldId id="532" r:id="rId58"/>
    <p:sldId id="531" r:id="rId59"/>
    <p:sldId id="629" r:id="rId60"/>
    <p:sldId id="569" r:id="rId61"/>
    <p:sldId id="586" r:id="rId62"/>
    <p:sldId id="595" r:id="rId63"/>
    <p:sldId id="594" r:id="rId64"/>
    <p:sldId id="517" r:id="rId65"/>
    <p:sldId id="518" r:id="rId66"/>
    <p:sldId id="519" r:id="rId67"/>
    <p:sldId id="520" r:id="rId68"/>
    <p:sldId id="521" r:id="rId69"/>
    <p:sldId id="565" r:id="rId70"/>
    <p:sldId id="568" r:id="rId71"/>
    <p:sldId id="633" r:id="rId72"/>
    <p:sldId id="634" r:id="rId73"/>
    <p:sldId id="513" r:id="rId74"/>
    <p:sldId id="635" r:id="rId75"/>
    <p:sldId id="636" r:id="rId76"/>
    <p:sldId id="537" r:id="rId77"/>
    <p:sldId id="442" r:id="rId78"/>
    <p:sldId id="441" r:id="rId79"/>
    <p:sldId id="534" r:id="rId80"/>
    <p:sldId id="545" r:id="rId81"/>
    <p:sldId id="548" r:id="rId82"/>
    <p:sldId id="535" r:id="rId83"/>
    <p:sldId id="538" r:id="rId84"/>
    <p:sldId id="541" r:id="rId85"/>
    <p:sldId id="445" r:id="rId86"/>
    <p:sldId id="539" r:id="rId87"/>
    <p:sldId id="540" r:id="rId88"/>
    <p:sldId id="542" r:id="rId89"/>
    <p:sldId id="637" r:id="rId90"/>
    <p:sldId id="638" r:id="rId91"/>
    <p:sldId id="546" r:id="rId92"/>
    <p:sldId id="552" r:id="rId93"/>
    <p:sldId id="536" r:id="rId94"/>
    <p:sldId id="639" r:id="rId95"/>
    <p:sldId id="641" r:id="rId96"/>
    <p:sldId id="642" r:id="rId97"/>
    <p:sldId id="643" r:id="rId98"/>
    <p:sldId id="646" r:id="rId99"/>
    <p:sldId id="647" r:id="rId100"/>
    <p:sldId id="649" r:id="rId101"/>
    <p:sldId id="648" r:id="rId102"/>
    <p:sldId id="650" r:id="rId103"/>
    <p:sldId id="654" r:id="rId104"/>
    <p:sldId id="644" r:id="rId105"/>
    <p:sldId id="651" r:id="rId106"/>
    <p:sldId id="645" r:id="rId107"/>
    <p:sldId id="652" r:id="rId108"/>
    <p:sldId id="653" r:id="rId109"/>
    <p:sldId id="655" r:id="rId110"/>
    <p:sldId id="272" r:id="rId111"/>
  </p:sldIdLst>
  <p:sldSz cx="9144000" cy="6858000" type="screen4x3"/>
  <p:notesSz cx="6761163" cy="99425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m garnaoui" initials="rg" lastIdx="5" clrIdx="0">
    <p:extLst>
      <p:ext uri="{19B8F6BF-5375-455C-9EA6-DF929625EA0E}">
        <p15:presenceInfo xmlns:p15="http://schemas.microsoft.com/office/powerpoint/2012/main" userId="S-1-5-21-3387079846-1850129929-159453078-23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50D450"/>
    <a:srgbClr val="005D92"/>
    <a:srgbClr val="FFC100"/>
    <a:srgbClr val="29A428"/>
    <a:srgbClr val="1F547E"/>
    <a:srgbClr val="1F497D"/>
    <a:srgbClr val="B7A797"/>
    <a:srgbClr val="B1BCA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2" autoAdjust="0"/>
    <p:restoredTop sz="60547" autoAdjust="0"/>
  </p:normalViewPr>
  <p:slideViewPr>
    <p:cSldViewPr snapToGrid="0">
      <p:cViewPr varScale="1">
        <p:scale>
          <a:sx n="33" d="100"/>
          <a:sy n="33" d="100"/>
        </p:scale>
        <p:origin x="210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57DAF0-5FEA-4306-8A11-86C68E3D453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25E6B8-70B0-4267-B25F-5AEC7743AEB9}">
      <dgm:prSet phldrT="[Text]"/>
      <dgm:spPr>
        <a:xfrm>
          <a:off x="2421831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t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28190EB-2B5F-406B-AAD4-4578FDD0D6B5}" type="parTrans" cxnId="{F5A81637-CFE8-418E-B100-25CDF51C02E2}">
      <dgm:prSet/>
      <dgm:spPr/>
      <dgm:t>
        <a:bodyPr/>
        <a:lstStyle/>
        <a:p>
          <a:endParaRPr lang="en-US"/>
        </a:p>
      </dgm:t>
    </dgm:pt>
    <dgm:pt modelId="{3B466001-F8A1-40C0-9D51-CCA3D654FF57}" type="sibTrans" cxnId="{F5A81637-CFE8-418E-B100-25CDF51C02E2}">
      <dgm:prSet/>
      <dgm:spPr/>
      <dgm:t>
        <a:bodyPr/>
        <a:lstStyle/>
        <a:p>
          <a:endParaRPr lang="en-US"/>
        </a:p>
      </dgm:t>
    </dgm:pt>
    <dgm:pt modelId="{59557596-4ED7-49C8-BD24-DA36F20934D0}">
      <dgm:prSet phldrT="[Text]"/>
      <dgm:spPr>
        <a:xfrm>
          <a:off x="915561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B5B97B4-5AE6-4955-94C7-6BE46A67BC01}" type="parTrans" cxnId="{A82B6B06-FEE3-4CD4-8449-1544C6E3A62B}">
      <dgm:prSet/>
      <dgm:spPr/>
      <dgm:t>
        <a:bodyPr/>
        <a:lstStyle/>
        <a:p>
          <a:endParaRPr lang="en-US"/>
        </a:p>
      </dgm:t>
    </dgm:pt>
    <dgm:pt modelId="{05F02268-ECA0-43E8-9CD6-98773F30D76C}" type="sibTrans" cxnId="{A82B6B06-FEE3-4CD4-8449-1544C6E3A62B}">
      <dgm:prSet/>
      <dgm:spPr/>
      <dgm:t>
        <a:bodyPr/>
        <a:lstStyle/>
        <a:p>
          <a:endParaRPr lang="en-US"/>
        </a:p>
      </dgm:t>
    </dgm:pt>
    <dgm:pt modelId="{1233D5CD-050A-4ACF-B62B-BCF7A3CD5F3C}">
      <dgm:prSet phldrT="[Text]"/>
      <dgm:spPr>
        <a:xfrm>
          <a:off x="3634294" y="1828793"/>
          <a:ext cx="3632830" cy="3304907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1F46999-B9EE-41B3-AC74-39966FB4CDE0}" type="sibTrans" cxnId="{5BBFBCD3-D7DC-4CF4-9F19-9EB50408C0D0}">
      <dgm:prSet/>
      <dgm:spPr/>
      <dgm:t>
        <a:bodyPr/>
        <a:lstStyle/>
        <a:p>
          <a:endParaRPr lang="en-US"/>
        </a:p>
      </dgm:t>
    </dgm:pt>
    <dgm:pt modelId="{623814AB-6B89-43A6-A85C-EF5C9B5D3B3C}" type="parTrans" cxnId="{5BBFBCD3-D7DC-4CF4-9F19-9EB50408C0D0}">
      <dgm:prSet/>
      <dgm:spPr/>
      <dgm:t>
        <a:bodyPr/>
        <a:lstStyle/>
        <a:p>
          <a:endParaRPr lang="en-US"/>
        </a:p>
      </dgm:t>
    </dgm:pt>
    <dgm:pt modelId="{F6CBE81D-DD8A-47B7-9F55-617DB020ECDE}" type="pres">
      <dgm:prSet presAssocID="{5257DAF0-5FEA-4306-8A11-86C68E3D453E}" presName="compositeShape" presStyleCnt="0">
        <dgm:presLayoutVars>
          <dgm:chMax val="7"/>
          <dgm:dir/>
          <dgm:resizeHandles val="exact"/>
        </dgm:presLayoutVars>
      </dgm:prSet>
      <dgm:spPr/>
    </dgm:pt>
    <dgm:pt modelId="{272F86AD-6531-4A45-9B4C-FB7A2F4A56E5}" type="pres">
      <dgm:prSet presAssocID="{E925E6B8-70B0-4267-B25F-5AEC7743AEB9}" presName="circ1" presStyleLbl="vennNode1" presStyleIdx="0" presStyleCnt="3" custScaleX="106042" custScaleY="105564" custLinFactNeighborX="1934" custLinFactNeighborY="3155"/>
      <dgm:spPr/>
    </dgm:pt>
    <dgm:pt modelId="{CE864A37-13B5-4665-ADFD-A8E88B80B235}" type="pres">
      <dgm:prSet presAssocID="{E925E6B8-70B0-4267-B25F-5AEC7743AEB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B251B-586A-4808-9EDC-F6186A7B6F15}" type="pres">
      <dgm:prSet presAssocID="{59557596-4ED7-49C8-BD24-DA36F20934D0}" presName="circ2" presStyleLbl="vennNode1" presStyleIdx="1" presStyleCnt="3" custScaleX="105353" custScaleY="105720" custLinFactNeighborX="-80896" custLinFactNeighborY="-8910"/>
      <dgm:spPr/>
    </dgm:pt>
    <dgm:pt modelId="{F160D6A4-694B-4D4F-BBF0-BC753D1B09E6}" type="pres">
      <dgm:prSet presAssocID="{59557596-4ED7-49C8-BD24-DA36F20934D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6DCD3DF-9309-4439-8C36-8B180F8FC979}" type="pres">
      <dgm:prSet presAssocID="{1233D5CD-050A-4ACF-B62B-BCF7A3CD5F3C}" presName="circ3" presStyleLbl="vennNode1" presStyleIdx="2" presStyleCnt="3" custScaleX="111913" custScaleY="101811" custLinFactNeighborX="79551" custLinFactNeighborY="-10299"/>
      <dgm:spPr/>
    </dgm:pt>
    <dgm:pt modelId="{6257ABAD-8122-4776-B74F-7BFB0D29339F}" type="pres">
      <dgm:prSet presAssocID="{1233D5CD-050A-4ACF-B62B-BCF7A3CD5F3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82B6B06-FEE3-4CD4-8449-1544C6E3A62B}" srcId="{5257DAF0-5FEA-4306-8A11-86C68E3D453E}" destId="{59557596-4ED7-49C8-BD24-DA36F20934D0}" srcOrd="1" destOrd="0" parTransId="{2B5B97B4-5AE6-4955-94C7-6BE46A67BC01}" sibTransId="{05F02268-ECA0-43E8-9CD6-98773F30D76C}"/>
    <dgm:cxn modelId="{F5A81637-CFE8-418E-B100-25CDF51C02E2}" srcId="{5257DAF0-5FEA-4306-8A11-86C68E3D453E}" destId="{E925E6B8-70B0-4267-B25F-5AEC7743AEB9}" srcOrd="0" destOrd="0" parTransId="{028190EB-2B5F-406B-AAD4-4578FDD0D6B5}" sibTransId="{3B466001-F8A1-40C0-9D51-CCA3D654FF57}"/>
    <dgm:cxn modelId="{5D179075-3931-40F6-A333-38796A5C69A6}" type="presOf" srcId="{59557596-4ED7-49C8-BD24-DA36F20934D0}" destId="{6B9B251B-586A-4808-9EDC-F6186A7B6F15}" srcOrd="0" destOrd="0" presId="urn:microsoft.com/office/officeart/2005/8/layout/venn1"/>
    <dgm:cxn modelId="{EB6F737D-20CF-4F45-9185-0BDDD416FFD9}" type="presOf" srcId="{1233D5CD-050A-4ACF-B62B-BCF7A3CD5F3C}" destId="{6257ABAD-8122-4776-B74F-7BFB0D29339F}" srcOrd="1" destOrd="0" presId="urn:microsoft.com/office/officeart/2005/8/layout/venn1"/>
    <dgm:cxn modelId="{0CA0407E-6EDF-485D-BB65-198A8C3211CA}" type="presOf" srcId="{E925E6B8-70B0-4267-B25F-5AEC7743AEB9}" destId="{CE864A37-13B5-4665-ADFD-A8E88B80B235}" srcOrd="1" destOrd="0" presId="urn:microsoft.com/office/officeart/2005/8/layout/venn1"/>
    <dgm:cxn modelId="{70FB49A5-425A-4CEB-843B-2BC634855B00}" type="presOf" srcId="{59557596-4ED7-49C8-BD24-DA36F20934D0}" destId="{F160D6A4-694B-4D4F-BBF0-BC753D1B09E6}" srcOrd="1" destOrd="0" presId="urn:microsoft.com/office/officeart/2005/8/layout/venn1"/>
    <dgm:cxn modelId="{4DAA5BCA-C919-4F01-B202-1D70B68A5DB8}" type="presOf" srcId="{5257DAF0-5FEA-4306-8A11-86C68E3D453E}" destId="{F6CBE81D-DD8A-47B7-9F55-617DB020ECDE}" srcOrd="0" destOrd="0" presId="urn:microsoft.com/office/officeart/2005/8/layout/venn1"/>
    <dgm:cxn modelId="{5BBFBCD3-D7DC-4CF4-9F19-9EB50408C0D0}" srcId="{5257DAF0-5FEA-4306-8A11-86C68E3D453E}" destId="{1233D5CD-050A-4ACF-B62B-BCF7A3CD5F3C}" srcOrd="2" destOrd="0" parTransId="{623814AB-6B89-43A6-A85C-EF5C9B5D3B3C}" sibTransId="{01F46999-B9EE-41B3-AC74-39966FB4CDE0}"/>
    <dgm:cxn modelId="{336DCBF4-5969-4733-B229-B97380C49C38}" type="presOf" srcId="{E925E6B8-70B0-4267-B25F-5AEC7743AEB9}" destId="{272F86AD-6531-4A45-9B4C-FB7A2F4A56E5}" srcOrd="0" destOrd="0" presId="urn:microsoft.com/office/officeart/2005/8/layout/venn1"/>
    <dgm:cxn modelId="{45426DF6-BC73-44FD-B7A6-9D0EBB46509E}" type="presOf" srcId="{1233D5CD-050A-4ACF-B62B-BCF7A3CD5F3C}" destId="{E6DCD3DF-9309-4439-8C36-8B180F8FC979}" srcOrd="0" destOrd="0" presId="urn:microsoft.com/office/officeart/2005/8/layout/venn1"/>
    <dgm:cxn modelId="{F27EC92E-B7E8-4D42-9490-8C58428289DD}" type="presParOf" srcId="{F6CBE81D-DD8A-47B7-9F55-617DB020ECDE}" destId="{272F86AD-6531-4A45-9B4C-FB7A2F4A56E5}" srcOrd="0" destOrd="0" presId="urn:microsoft.com/office/officeart/2005/8/layout/venn1"/>
    <dgm:cxn modelId="{C489BC56-EAFA-4E8E-9052-392D501A1169}" type="presParOf" srcId="{F6CBE81D-DD8A-47B7-9F55-617DB020ECDE}" destId="{CE864A37-13B5-4665-ADFD-A8E88B80B235}" srcOrd="1" destOrd="0" presId="urn:microsoft.com/office/officeart/2005/8/layout/venn1"/>
    <dgm:cxn modelId="{FFEDAA0A-644C-4DE7-BCDD-B1DF81C27BF5}" type="presParOf" srcId="{F6CBE81D-DD8A-47B7-9F55-617DB020ECDE}" destId="{6B9B251B-586A-4808-9EDC-F6186A7B6F15}" srcOrd="2" destOrd="0" presId="urn:microsoft.com/office/officeart/2005/8/layout/venn1"/>
    <dgm:cxn modelId="{54434772-60FF-4572-A476-06622C21A0AD}" type="presParOf" srcId="{F6CBE81D-DD8A-47B7-9F55-617DB020ECDE}" destId="{F160D6A4-694B-4D4F-BBF0-BC753D1B09E6}" srcOrd="3" destOrd="0" presId="urn:microsoft.com/office/officeart/2005/8/layout/venn1"/>
    <dgm:cxn modelId="{C6D52FB0-53E6-461D-8C25-F9DA6BDED9F5}" type="presParOf" srcId="{F6CBE81D-DD8A-47B7-9F55-617DB020ECDE}" destId="{E6DCD3DF-9309-4439-8C36-8B180F8FC979}" srcOrd="4" destOrd="0" presId="urn:microsoft.com/office/officeart/2005/8/layout/venn1"/>
    <dgm:cxn modelId="{51394D03-61C3-4168-A37E-48238038139F}" type="presParOf" srcId="{F6CBE81D-DD8A-47B7-9F55-617DB020ECDE}" destId="{6257ABAD-8122-4776-B74F-7BFB0D29339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57DAF0-5FEA-4306-8A11-86C68E3D453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25E6B8-70B0-4267-B25F-5AEC7743AEB9}">
      <dgm:prSet phldrT="[Text]"/>
      <dgm:spPr>
        <a:xfrm>
          <a:off x="2351820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t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28190EB-2B5F-406B-AAD4-4578FDD0D6B5}" type="parTrans" cxnId="{F5A81637-CFE8-418E-B100-25CDF51C02E2}">
      <dgm:prSet/>
      <dgm:spPr/>
      <dgm:t>
        <a:bodyPr/>
        <a:lstStyle/>
        <a:p>
          <a:endParaRPr lang="en-US"/>
        </a:p>
      </dgm:t>
    </dgm:pt>
    <dgm:pt modelId="{3B466001-F8A1-40C0-9D51-CCA3D654FF57}" type="sibTrans" cxnId="{F5A81637-CFE8-418E-B100-25CDF51C02E2}">
      <dgm:prSet/>
      <dgm:spPr/>
      <dgm:t>
        <a:bodyPr/>
        <a:lstStyle/>
        <a:p>
          <a:endParaRPr lang="en-US"/>
        </a:p>
      </dgm:t>
    </dgm:pt>
    <dgm:pt modelId="{59557596-4ED7-49C8-BD24-DA36F20934D0}">
      <dgm:prSet phldrT="[Text]"/>
      <dgm:spPr>
        <a:xfrm>
          <a:off x="845550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B5B97B4-5AE6-4955-94C7-6BE46A67BC01}" type="parTrans" cxnId="{A82B6B06-FEE3-4CD4-8449-1544C6E3A62B}">
      <dgm:prSet/>
      <dgm:spPr/>
      <dgm:t>
        <a:bodyPr/>
        <a:lstStyle/>
        <a:p>
          <a:endParaRPr lang="en-US"/>
        </a:p>
      </dgm:t>
    </dgm:pt>
    <dgm:pt modelId="{05F02268-ECA0-43E8-9CD6-98773F30D76C}" type="sibTrans" cxnId="{A82B6B06-FEE3-4CD4-8449-1544C6E3A62B}">
      <dgm:prSet/>
      <dgm:spPr/>
      <dgm:t>
        <a:bodyPr/>
        <a:lstStyle/>
        <a:p>
          <a:endParaRPr lang="en-US"/>
        </a:p>
      </dgm:t>
    </dgm:pt>
    <dgm:pt modelId="{1233D5CD-050A-4ACF-B62B-BCF7A3CD5F3C}">
      <dgm:prSet phldrT="[Text]"/>
      <dgm:spPr>
        <a:xfrm>
          <a:off x="3704305" y="1904996"/>
          <a:ext cx="3352787" cy="3152501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1F46999-B9EE-41B3-AC74-39966FB4CDE0}" type="sibTrans" cxnId="{5BBFBCD3-D7DC-4CF4-9F19-9EB50408C0D0}">
      <dgm:prSet/>
      <dgm:spPr/>
      <dgm:t>
        <a:bodyPr/>
        <a:lstStyle/>
        <a:p>
          <a:endParaRPr lang="en-US"/>
        </a:p>
      </dgm:t>
    </dgm:pt>
    <dgm:pt modelId="{623814AB-6B89-43A6-A85C-EF5C9B5D3B3C}" type="parTrans" cxnId="{5BBFBCD3-D7DC-4CF4-9F19-9EB50408C0D0}">
      <dgm:prSet/>
      <dgm:spPr/>
      <dgm:t>
        <a:bodyPr/>
        <a:lstStyle/>
        <a:p>
          <a:endParaRPr lang="en-US"/>
        </a:p>
      </dgm:t>
    </dgm:pt>
    <dgm:pt modelId="{F6CBE81D-DD8A-47B7-9F55-617DB020ECDE}" type="pres">
      <dgm:prSet presAssocID="{5257DAF0-5FEA-4306-8A11-86C68E3D453E}" presName="compositeShape" presStyleCnt="0">
        <dgm:presLayoutVars>
          <dgm:chMax val="7"/>
          <dgm:dir/>
          <dgm:resizeHandles val="exact"/>
        </dgm:presLayoutVars>
      </dgm:prSet>
      <dgm:spPr/>
    </dgm:pt>
    <dgm:pt modelId="{272F86AD-6531-4A45-9B4C-FB7A2F4A56E5}" type="pres">
      <dgm:prSet presAssocID="{E925E6B8-70B0-4267-B25F-5AEC7743AEB9}" presName="circ1" presStyleLbl="vennNode1" presStyleIdx="0" presStyleCnt="3" custScaleX="106042" custScaleY="105564" custLinFactNeighborX="1934" custLinFactNeighborY="3155"/>
      <dgm:spPr/>
    </dgm:pt>
    <dgm:pt modelId="{CE864A37-13B5-4665-ADFD-A8E88B80B235}" type="pres">
      <dgm:prSet presAssocID="{E925E6B8-70B0-4267-B25F-5AEC7743AEB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B251B-586A-4808-9EDC-F6186A7B6F15}" type="pres">
      <dgm:prSet presAssocID="{59557596-4ED7-49C8-BD24-DA36F20934D0}" presName="circ2" presStyleLbl="vennNode1" presStyleIdx="1" presStyleCnt="3" custScaleX="105353" custScaleY="105720" custLinFactNeighborX="-80896" custLinFactNeighborY="-8910"/>
      <dgm:spPr/>
    </dgm:pt>
    <dgm:pt modelId="{F160D6A4-694B-4D4F-BBF0-BC753D1B09E6}" type="pres">
      <dgm:prSet presAssocID="{59557596-4ED7-49C8-BD24-DA36F20934D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6DCD3DF-9309-4439-8C36-8B180F8FC979}" type="pres">
      <dgm:prSet presAssocID="{1233D5CD-050A-4ACF-B62B-BCF7A3CD5F3C}" presName="circ3" presStyleLbl="vennNode1" presStyleIdx="2" presStyleCnt="3" custScaleX="103286" custScaleY="97116" custLinFactNeighborX="78304" custLinFactNeighborY="-7301"/>
      <dgm:spPr/>
    </dgm:pt>
    <dgm:pt modelId="{6257ABAD-8122-4776-B74F-7BFB0D29339F}" type="pres">
      <dgm:prSet presAssocID="{1233D5CD-050A-4ACF-B62B-BCF7A3CD5F3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82B6B06-FEE3-4CD4-8449-1544C6E3A62B}" srcId="{5257DAF0-5FEA-4306-8A11-86C68E3D453E}" destId="{59557596-4ED7-49C8-BD24-DA36F20934D0}" srcOrd="1" destOrd="0" parTransId="{2B5B97B4-5AE6-4955-94C7-6BE46A67BC01}" sibTransId="{05F02268-ECA0-43E8-9CD6-98773F30D76C}"/>
    <dgm:cxn modelId="{CB7B171F-546C-4829-9E45-B07F5C9E2653}" type="presOf" srcId="{1233D5CD-050A-4ACF-B62B-BCF7A3CD5F3C}" destId="{E6DCD3DF-9309-4439-8C36-8B180F8FC979}" srcOrd="0" destOrd="0" presId="urn:microsoft.com/office/officeart/2005/8/layout/venn1"/>
    <dgm:cxn modelId="{407CA921-60FB-497C-8843-3F1B5D1897A7}" type="presOf" srcId="{E925E6B8-70B0-4267-B25F-5AEC7743AEB9}" destId="{272F86AD-6531-4A45-9B4C-FB7A2F4A56E5}" srcOrd="0" destOrd="0" presId="urn:microsoft.com/office/officeart/2005/8/layout/venn1"/>
    <dgm:cxn modelId="{F5A81637-CFE8-418E-B100-25CDF51C02E2}" srcId="{5257DAF0-5FEA-4306-8A11-86C68E3D453E}" destId="{E925E6B8-70B0-4267-B25F-5AEC7743AEB9}" srcOrd="0" destOrd="0" parTransId="{028190EB-2B5F-406B-AAD4-4578FDD0D6B5}" sibTransId="{3B466001-F8A1-40C0-9D51-CCA3D654FF57}"/>
    <dgm:cxn modelId="{095C294C-788C-45E8-BD32-E0C6D2CC1D52}" type="presOf" srcId="{59557596-4ED7-49C8-BD24-DA36F20934D0}" destId="{F160D6A4-694B-4D4F-BBF0-BC753D1B09E6}" srcOrd="1" destOrd="0" presId="urn:microsoft.com/office/officeart/2005/8/layout/venn1"/>
    <dgm:cxn modelId="{B63F49B9-5709-4901-B3A7-E00872E50CA1}" type="presOf" srcId="{E925E6B8-70B0-4267-B25F-5AEC7743AEB9}" destId="{CE864A37-13B5-4665-ADFD-A8E88B80B235}" srcOrd="1" destOrd="0" presId="urn:microsoft.com/office/officeart/2005/8/layout/venn1"/>
    <dgm:cxn modelId="{90AB35CD-0382-48C2-9CE9-FF645829F3D5}" type="presOf" srcId="{1233D5CD-050A-4ACF-B62B-BCF7A3CD5F3C}" destId="{6257ABAD-8122-4776-B74F-7BFB0D29339F}" srcOrd="1" destOrd="0" presId="urn:microsoft.com/office/officeart/2005/8/layout/venn1"/>
    <dgm:cxn modelId="{5BBFBCD3-D7DC-4CF4-9F19-9EB50408C0D0}" srcId="{5257DAF0-5FEA-4306-8A11-86C68E3D453E}" destId="{1233D5CD-050A-4ACF-B62B-BCF7A3CD5F3C}" srcOrd="2" destOrd="0" parTransId="{623814AB-6B89-43A6-A85C-EF5C9B5D3B3C}" sibTransId="{01F46999-B9EE-41B3-AC74-39966FB4CDE0}"/>
    <dgm:cxn modelId="{92BE5ADA-61E6-4D74-801B-E1314ADAE1FE}" type="presOf" srcId="{59557596-4ED7-49C8-BD24-DA36F20934D0}" destId="{6B9B251B-586A-4808-9EDC-F6186A7B6F15}" srcOrd="0" destOrd="0" presId="urn:microsoft.com/office/officeart/2005/8/layout/venn1"/>
    <dgm:cxn modelId="{3E5881F2-3B66-432D-98DD-CB7128A24BE5}" type="presOf" srcId="{5257DAF0-5FEA-4306-8A11-86C68E3D453E}" destId="{F6CBE81D-DD8A-47B7-9F55-617DB020ECDE}" srcOrd="0" destOrd="0" presId="urn:microsoft.com/office/officeart/2005/8/layout/venn1"/>
    <dgm:cxn modelId="{1BED0CD4-CDD4-4BF9-99C8-6CBC19DF7898}" type="presParOf" srcId="{F6CBE81D-DD8A-47B7-9F55-617DB020ECDE}" destId="{272F86AD-6531-4A45-9B4C-FB7A2F4A56E5}" srcOrd="0" destOrd="0" presId="urn:microsoft.com/office/officeart/2005/8/layout/venn1"/>
    <dgm:cxn modelId="{1C9B4ECE-A4A4-46A8-8FA1-1EF1C8CBB55F}" type="presParOf" srcId="{F6CBE81D-DD8A-47B7-9F55-617DB020ECDE}" destId="{CE864A37-13B5-4665-ADFD-A8E88B80B235}" srcOrd="1" destOrd="0" presId="urn:microsoft.com/office/officeart/2005/8/layout/venn1"/>
    <dgm:cxn modelId="{AA550CCB-3D69-4178-9752-A73B5901DC32}" type="presParOf" srcId="{F6CBE81D-DD8A-47B7-9F55-617DB020ECDE}" destId="{6B9B251B-586A-4808-9EDC-F6186A7B6F15}" srcOrd="2" destOrd="0" presId="urn:microsoft.com/office/officeart/2005/8/layout/venn1"/>
    <dgm:cxn modelId="{78C90AB0-8482-4217-8612-83E4F6567FB7}" type="presParOf" srcId="{F6CBE81D-DD8A-47B7-9F55-617DB020ECDE}" destId="{F160D6A4-694B-4D4F-BBF0-BC753D1B09E6}" srcOrd="3" destOrd="0" presId="urn:microsoft.com/office/officeart/2005/8/layout/venn1"/>
    <dgm:cxn modelId="{A140E3F3-FF7C-40B5-84FF-8B1839CCC649}" type="presParOf" srcId="{F6CBE81D-DD8A-47B7-9F55-617DB020ECDE}" destId="{E6DCD3DF-9309-4439-8C36-8B180F8FC979}" srcOrd="4" destOrd="0" presId="urn:microsoft.com/office/officeart/2005/8/layout/venn1"/>
    <dgm:cxn modelId="{9A70BB7B-4773-432A-BB4A-A0ACB00BA64C}" type="presParOf" srcId="{F6CBE81D-DD8A-47B7-9F55-617DB020ECDE}" destId="{6257ABAD-8122-4776-B74F-7BFB0D29339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AFBF8A-289F-45FA-9C3A-9C9904BC2D22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3662D77-2D7A-4DA9-8061-C16521F7EE6D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Collection &amp; création</a:t>
          </a:r>
        </a:p>
      </dgm:t>
    </dgm:pt>
    <dgm:pt modelId="{88E3D82E-58F6-4BD7-B351-F979E8C9F8C1}" type="parTrans" cxnId="{24B38434-D78C-4C19-9531-C112E9DABD51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44F24F55-1CB1-40B1-A210-F6A47CCE580A}" type="sibTrans" cxnId="{24B38434-D78C-4C19-9531-C112E9DABD51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A2C1C447-180E-4FE0-9DAD-1BB080E24935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Classification &amp; traitement</a:t>
          </a:r>
        </a:p>
      </dgm:t>
    </dgm:pt>
    <dgm:pt modelId="{8FA9A683-D6F6-4DDA-BFEF-9625B079DE72}" type="parTrans" cxnId="{C9950A81-57FD-44EB-88FB-E4DE0A845B7D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EF701BEB-FDBD-4F52-AA43-FAEF1241C6D9}" type="sibTrans" cxnId="{C9950A81-57FD-44EB-88FB-E4DE0A845B7D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3EEEE4F0-95EC-4A58-95E4-17D44D39786F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Manipulation, conversion ou modification</a:t>
          </a:r>
        </a:p>
      </dgm:t>
    </dgm:pt>
    <dgm:pt modelId="{3BD6020E-6D8A-48CB-AF95-31D6C7C3B119}" type="parTrans" cxnId="{4146C793-FF70-42DF-9B70-319C573B3C8B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BD0E25A6-DD47-46CA-BF25-C68C21862826}" type="sibTrans" cxnId="{4146C793-FF70-42DF-9B70-319C573B3C8B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8146CBAC-9BFA-4FDA-B288-8EE95D794F28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Analyse &amp; présentation</a:t>
          </a:r>
        </a:p>
      </dgm:t>
    </dgm:pt>
    <dgm:pt modelId="{920B427C-471D-4902-BD8B-2030D32AF65F}" type="parTrans" cxnId="{64BB34DB-7451-40E7-B547-E2FF04B8299F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7A703E83-ECB8-4507-8F4B-4B9A15EEC97E}" type="sibTrans" cxnId="{64BB34DB-7451-40E7-B547-E2FF04B8299F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61B4C8EE-7C88-43DD-A923-5568A4DB61D9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Préservation &amp; stockage</a:t>
          </a:r>
        </a:p>
      </dgm:t>
    </dgm:pt>
    <dgm:pt modelId="{BBBFF5F3-EC30-4A84-8019-E171B80C98F2}" type="parTrans" cxnId="{3A47F754-B8D2-44F3-8458-D25CEC0653F6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C86A8448-628C-4C2D-AC99-2675E6E68630}" type="sibTrans" cxnId="{3A47F754-B8D2-44F3-8458-D25CEC0653F6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8E88C64B-2B5F-474E-94E6-7C03B3840C03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Publication &amp; accès</a:t>
          </a:r>
        </a:p>
      </dgm:t>
    </dgm:pt>
    <dgm:pt modelId="{DA2B81F1-F863-4FEA-BC04-3868F3E68021}" type="parTrans" cxnId="{75EABC3A-BFEA-4649-888B-12AF43A4BC18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F48B9435-1072-4447-97F6-E34A80DEF9C6}" type="sibTrans" cxnId="{75EABC3A-BFEA-4649-888B-12AF43A4BC18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AAAF340E-1564-486E-8384-79BF0C54D0E6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Conservation &amp;</a:t>
          </a:r>
          <a:br>
            <a:rPr lang="fr-FR" sz="1100" b="1" noProof="0" dirty="0">
              <a:latin typeface="PT Serif" panose="020A0603040505020204" pitchFamily="18" charset="0"/>
            </a:rPr>
          </a:br>
          <a:r>
            <a:rPr lang="fr-FR" sz="1100" b="1" noProof="0" dirty="0">
              <a:latin typeface="PT Serif" panose="020A0603040505020204" pitchFamily="18" charset="0"/>
            </a:rPr>
            <a:t>réutilisation</a:t>
          </a:r>
        </a:p>
      </dgm:t>
    </dgm:pt>
    <dgm:pt modelId="{F59ED2A8-C39C-4F3D-BE33-E50CE32C9A4B}" type="parTrans" cxnId="{25E8F92D-5155-4976-961C-C555F5AAE9A7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FB4156C9-D7C8-46AE-B32D-AF31F46A3369}" type="sibTrans" cxnId="{25E8F92D-5155-4976-961C-C555F5AAE9A7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45B046F6-D884-4A51-9550-AD23BDE7B51B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Archivage ou Effacement</a:t>
          </a:r>
        </a:p>
      </dgm:t>
    </dgm:pt>
    <dgm:pt modelId="{E3B6C2BD-49D3-4B1B-9778-A9FEBF06C7AD}" type="parTrans" cxnId="{68F5C43D-4014-4B8B-B939-D913198BB81E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831DB2DE-DF64-4D77-9D5D-33072F52692E}" type="sibTrans" cxnId="{68F5C43D-4014-4B8B-B939-D913198BB81E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3A6DD83C-35C0-41C6-BB0B-46775A8E8492}" type="pres">
      <dgm:prSet presAssocID="{55AFBF8A-289F-45FA-9C3A-9C9904BC2D22}" presName="cycle" presStyleCnt="0">
        <dgm:presLayoutVars>
          <dgm:dir/>
          <dgm:resizeHandles val="exact"/>
        </dgm:presLayoutVars>
      </dgm:prSet>
      <dgm:spPr/>
    </dgm:pt>
    <dgm:pt modelId="{D4473D12-701B-4D6F-B7F3-E5390B6430F3}" type="pres">
      <dgm:prSet presAssocID="{63662D77-2D7A-4DA9-8061-C16521F7EE6D}" presName="node" presStyleLbl="node1" presStyleIdx="0" presStyleCnt="8" custScaleX="138250" custScaleY="86406">
        <dgm:presLayoutVars>
          <dgm:bulletEnabled val="1"/>
        </dgm:presLayoutVars>
      </dgm:prSet>
      <dgm:spPr/>
    </dgm:pt>
    <dgm:pt modelId="{E77D5904-2ADD-49BB-8A8B-E02E95EEE4EC}" type="pres">
      <dgm:prSet presAssocID="{44F24F55-1CB1-40B1-A210-F6A47CCE580A}" presName="sibTrans" presStyleLbl="sibTrans2D1" presStyleIdx="0" presStyleCnt="8"/>
      <dgm:spPr/>
    </dgm:pt>
    <dgm:pt modelId="{0A838EAD-2DAA-4DA1-9E92-9A4541F31E2F}" type="pres">
      <dgm:prSet presAssocID="{44F24F55-1CB1-40B1-A210-F6A47CCE580A}" presName="connectorText" presStyleLbl="sibTrans2D1" presStyleIdx="0" presStyleCnt="8"/>
      <dgm:spPr/>
    </dgm:pt>
    <dgm:pt modelId="{3CF71FD7-4624-4D96-A9A9-C2C65C97F992}" type="pres">
      <dgm:prSet presAssocID="{A2C1C447-180E-4FE0-9DAD-1BB080E24935}" presName="node" presStyleLbl="node1" presStyleIdx="1" presStyleCnt="8" custScaleX="138250" custScaleY="86406">
        <dgm:presLayoutVars>
          <dgm:bulletEnabled val="1"/>
        </dgm:presLayoutVars>
      </dgm:prSet>
      <dgm:spPr/>
    </dgm:pt>
    <dgm:pt modelId="{5445EE97-F540-4E1E-BAAC-22E7EC032E88}" type="pres">
      <dgm:prSet presAssocID="{EF701BEB-FDBD-4F52-AA43-FAEF1241C6D9}" presName="sibTrans" presStyleLbl="sibTrans2D1" presStyleIdx="1" presStyleCnt="8"/>
      <dgm:spPr/>
    </dgm:pt>
    <dgm:pt modelId="{4EC6AF53-756A-4300-BAE3-7B2D9B1DCDC2}" type="pres">
      <dgm:prSet presAssocID="{EF701BEB-FDBD-4F52-AA43-FAEF1241C6D9}" presName="connectorText" presStyleLbl="sibTrans2D1" presStyleIdx="1" presStyleCnt="8"/>
      <dgm:spPr/>
    </dgm:pt>
    <dgm:pt modelId="{8A8DA8DF-BDC2-4274-9C14-308D30C5418A}" type="pres">
      <dgm:prSet presAssocID="{3EEEE4F0-95EC-4A58-95E4-17D44D39786F}" presName="node" presStyleLbl="node1" presStyleIdx="2" presStyleCnt="8" custScaleX="138250" custScaleY="86406">
        <dgm:presLayoutVars>
          <dgm:bulletEnabled val="1"/>
        </dgm:presLayoutVars>
      </dgm:prSet>
      <dgm:spPr/>
    </dgm:pt>
    <dgm:pt modelId="{F0679691-16D9-4423-9B5A-9B43DEDA5CFB}" type="pres">
      <dgm:prSet presAssocID="{BD0E25A6-DD47-46CA-BF25-C68C21862826}" presName="sibTrans" presStyleLbl="sibTrans2D1" presStyleIdx="2" presStyleCnt="8"/>
      <dgm:spPr/>
    </dgm:pt>
    <dgm:pt modelId="{97DC9D75-FDDC-486B-BB06-97D477CD4C34}" type="pres">
      <dgm:prSet presAssocID="{BD0E25A6-DD47-46CA-BF25-C68C21862826}" presName="connectorText" presStyleLbl="sibTrans2D1" presStyleIdx="2" presStyleCnt="8"/>
      <dgm:spPr/>
    </dgm:pt>
    <dgm:pt modelId="{68E2BB20-5F81-4127-A06A-C5F82130117D}" type="pres">
      <dgm:prSet presAssocID="{8146CBAC-9BFA-4FDA-B288-8EE95D794F28}" presName="node" presStyleLbl="node1" presStyleIdx="3" presStyleCnt="8" custScaleX="138250" custScaleY="86406">
        <dgm:presLayoutVars>
          <dgm:bulletEnabled val="1"/>
        </dgm:presLayoutVars>
      </dgm:prSet>
      <dgm:spPr/>
    </dgm:pt>
    <dgm:pt modelId="{E7C425B6-3108-430E-AD58-A76963618CB4}" type="pres">
      <dgm:prSet presAssocID="{7A703E83-ECB8-4507-8F4B-4B9A15EEC97E}" presName="sibTrans" presStyleLbl="sibTrans2D1" presStyleIdx="3" presStyleCnt="8"/>
      <dgm:spPr/>
    </dgm:pt>
    <dgm:pt modelId="{2A561512-23ED-4674-BB5B-73C3FB57C99E}" type="pres">
      <dgm:prSet presAssocID="{7A703E83-ECB8-4507-8F4B-4B9A15EEC97E}" presName="connectorText" presStyleLbl="sibTrans2D1" presStyleIdx="3" presStyleCnt="8"/>
      <dgm:spPr/>
    </dgm:pt>
    <dgm:pt modelId="{A34D2FCB-0F9B-43B7-86A9-12C6E2B49A45}" type="pres">
      <dgm:prSet presAssocID="{61B4C8EE-7C88-43DD-A923-5568A4DB61D9}" presName="node" presStyleLbl="node1" presStyleIdx="4" presStyleCnt="8" custScaleX="138250" custScaleY="86406">
        <dgm:presLayoutVars>
          <dgm:bulletEnabled val="1"/>
        </dgm:presLayoutVars>
      </dgm:prSet>
      <dgm:spPr/>
    </dgm:pt>
    <dgm:pt modelId="{01F08BD6-7551-4A54-A788-3ADB669C6C7F}" type="pres">
      <dgm:prSet presAssocID="{C86A8448-628C-4C2D-AC99-2675E6E68630}" presName="sibTrans" presStyleLbl="sibTrans2D1" presStyleIdx="4" presStyleCnt="8"/>
      <dgm:spPr/>
    </dgm:pt>
    <dgm:pt modelId="{9A9BE2E4-99E3-4B76-89FE-5B405C84B89A}" type="pres">
      <dgm:prSet presAssocID="{C86A8448-628C-4C2D-AC99-2675E6E68630}" presName="connectorText" presStyleLbl="sibTrans2D1" presStyleIdx="4" presStyleCnt="8"/>
      <dgm:spPr/>
    </dgm:pt>
    <dgm:pt modelId="{CD4F82AC-D5BC-407C-A52A-7212B1B2140A}" type="pres">
      <dgm:prSet presAssocID="{8E88C64B-2B5F-474E-94E6-7C03B3840C03}" presName="node" presStyleLbl="node1" presStyleIdx="5" presStyleCnt="8" custScaleX="138250" custScaleY="86406">
        <dgm:presLayoutVars>
          <dgm:bulletEnabled val="1"/>
        </dgm:presLayoutVars>
      </dgm:prSet>
      <dgm:spPr/>
    </dgm:pt>
    <dgm:pt modelId="{3DF731AD-299F-4423-A28B-01DA6A8DB8D4}" type="pres">
      <dgm:prSet presAssocID="{F48B9435-1072-4447-97F6-E34A80DEF9C6}" presName="sibTrans" presStyleLbl="sibTrans2D1" presStyleIdx="5" presStyleCnt="8"/>
      <dgm:spPr/>
    </dgm:pt>
    <dgm:pt modelId="{56BF416D-A086-4C3D-B6F9-76780BB254F8}" type="pres">
      <dgm:prSet presAssocID="{F48B9435-1072-4447-97F6-E34A80DEF9C6}" presName="connectorText" presStyleLbl="sibTrans2D1" presStyleIdx="5" presStyleCnt="8"/>
      <dgm:spPr/>
    </dgm:pt>
    <dgm:pt modelId="{626738A7-9E00-4FD6-881C-F2BDA38A738F}" type="pres">
      <dgm:prSet presAssocID="{AAAF340E-1564-486E-8384-79BF0C54D0E6}" presName="node" presStyleLbl="node1" presStyleIdx="6" presStyleCnt="8" custScaleX="138250" custScaleY="86406">
        <dgm:presLayoutVars>
          <dgm:bulletEnabled val="1"/>
        </dgm:presLayoutVars>
      </dgm:prSet>
      <dgm:spPr/>
    </dgm:pt>
    <dgm:pt modelId="{FE1C798B-58E5-460E-AE15-E1114CC937F5}" type="pres">
      <dgm:prSet presAssocID="{FB4156C9-D7C8-46AE-B32D-AF31F46A3369}" presName="sibTrans" presStyleLbl="sibTrans2D1" presStyleIdx="6" presStyleCnt="8"/>
      <dgm:spPr/>
    </dgm:pt>
    <dgm:pt modelId="{AC6573F8-DDE8-4E01-8661-270C52D22668}" type="pres">
      <dgm:prSet presAssocID="{FB4156C9-D7C8-46AE-B32D-AF31F46A3369}" presName="connectorText" presStyleLbl="sibTrans2D1" presStyleIdx="6" presStyleCnt="8"/>
      <dgm:spPr/>
    </dgm:pt>
    <dgm:pt modelId="{A5D0D481-9254-473D-A901-2EEAE9FF6D00}" type="pres">
      <dgm:prSet presAssocID="{45B046F6-D884-4A51-9550-AD23BDE7B51B}" presName="node" presStyleLbl="node1" presStyleIdx="7" presStyleCnt="8" custScaleX="138250" custScaleY="86406">
        <dgm:presLayoutVars>
          <dgm:bulletEnabled val="1"/>
        </dgm:presLayoutVars>
      </dgm:prSet>
      <dgm:spPr/>
    </dgm:pt>
    <dgm:pt modelId="{84E0E61D-DCE1-44B0-B380-652934B7BF2E}" type="pres">
      <dgm:prSet presAssocID="{831DB2DE-DF64-4D77-9D5D-33072F52692E}" presName="sibTrans" presStyleLbl="sibTrans2D1" presStyleIdx="7" presStyleCnt="8"/>
      <dgm:spPr/>
    </dgm:pt>
    <dgm:pt modelId="{E3F752A2-A0D8-4340-966A-3C4EDBFCA36A}" type="pres">
      <dgm:prSet presAssocID="{831DB2DE-DF64-4D77-9D5D-33072F52692E}" presName="connectorText" presStyleLbl="sibTrans2D1" presStyleIdx="7" presStyleCnt="8"/>
      <dgm:spPr/>
    </dgm:pt>
  </dgm:ptLst>
  <dgm:cxnLst>
    <dgm:cxn modelId="{C2EDB506-A309-4C20-8BF5-0FDFC9F9B6AF}" type="presOf" srcId="{FB4156C9-D7C8-46AE-B32D-AF31F46A3369}" destId="{AC6573F8-DDE8-4E01-8661-270C52D22668}" srcOrd="1" destOrd="0" presId="urn:microsoft.com/office/officeart/2005/8/layout/cycle2"/>
    <dgm:cxn modelId="{0AD25212-DB02-4335-93F3-E7C84569E988}" type="presOf" srcId="{C86A8448-628C-4C2D-AC99-2675E6E68630}" destId="{01F08BD6-7551-4A54-A788-3ADB669C6C7F}" srcOrd="0" destOrd="0" presId="urn:microsoft.com/office/officeart/2005/8/layout/cycle2"/>
    <dgm:cxn modelId="{3E91091E-35FE-45FF-871B-A883FCD620F0}" type="presOf" srcId="{BD0E25A6-DD47-46CA-BF25-C68C21862826}" destId="{F0679691-16D9-4423-9B5A-9B43DEDA5CFB}" srcOrd="0" destOrd="0" presId="urn:microsoft.com/office/officeart/2005/8/layout/cycle2"/>
    <dgm:cxn modelId="{25E8F92D-5155-4976-961C-C555F5AAE9A7}" srcId="{55AFBF8A-289F-45FA-9C3A-9C9904BC2D22}" destId="{AAAF340E-1564-486E-8384-79BF0C54D0E6}" srcOrd="6" destOrd="0" parTransId="{F59ED2A8-C39C-4F3D-BE33-E50CE32C9A4B}" sibTransId="{FB4156C9-D7C8-46AE-B32D-AF31F46A3369}"/>
    <dgm:cxn modelId="{FA6F832F-F59D-4B92-B5E7-795EBB49AF2C}" type="presOf" srcId="{C86A8448-628C-4C2D-AC99-2675E6E68630}" destId="{9A9BE2E4-99E3-4B76-89FE-5B405C84B89A}" srcOrd="1" destOrd="0" presId="urn:microsoft.com/office/officeart/2005/8/layout/cycle2"/>
    <dgm:cxn modelId="{9476AF31-E437-4ACB-8972-E646D4F5E4F6}" type="presOf" srcId="{F48B9435-1072-4447-97F6-E34A80DEF9C6}" destId="{56BF416D-A086-4C3D-B6F9-76780BB254F8}" srcOrd="1" destOrd="0" presId="urn:microsoft.com/office/officeart/2005/8/layout/cycle2"/>
    <dgm:cxn modelId="{24B38434-D78C-4C19-9531-C112E9DABD51}" srcId="{55AFBF8A-289F-45FA-9C3A-9C9904BC2D22}" destId="{63662D77-2D7A-4DA9-8061-C16521F7EE6D}" srcOrd="0" destOrd="0" parTransId="{88E3D82E-58F6-4BD7-B351-F979E8C9F8C1}" sibTransId="{44F24F55-1CB1-40B1-A210-F6A47CCE580A}"/>
    <dgm:cxn modelId="{10991635-E104-4C2B-B5E6-0061CB7FDFF6}" type="presOf" srcId="{EF701BEB-FDBD-4F52-AA43-FAEF1241C6D9}" destId="{5445EE97-F540-4E1E-BAAC-22E7EC032E88}" srcOrd="0" destOrd="0" presId="urn:microsoft.com/office/officeart/2005/8/layout/cycle2"/>
    <dgm:cxn modelId="{75EABC3A-BFEA-4649-888B-12AF43A4BC18}" srcId="{55AFBF8A-289F-45FA-9C3A-9C9904BC2D22}" destId="{8E88C64B-2B5F-474E-94E6-7C03B3840C03}" srcOrd="5" destOrd="0" parTransId="{DA2B81F1-F863-4FEA-BC04-3868F3E68021}" sibTransId="{F48B9435-1072-4447-97F6-E34A80DEF9C6}"/>
    <dgm:cxn modelId="{68F5C43D-4014-4B8B-B939-D913198BB81E}" srcId="{55AFBF8A-289F-45FA-9C3A-9C9904BC2D22}" destId="{45B046F6-D884-4A51-9550-AD23BDE7B51B}" srcOrd="7" destOrd="0" parTransId="{E3B6C2BD-49D3-4B1B-9778-A9FEBF06C7AD}" sibTransId="{831DB2DE-DF64-4D77-9D5D-33072F52692E}"/>
    <dgm:cxn modelId="{3441F95C-0CD5-4BD0-9388-7634CC84BBB6}" type="presOf" srcId="{BD0E25A6-DD47-46CA-BF25-C68C21862826}" destId="{97DC9D75-FDDC-486B-BB06-97D477CD4C34}" srcOrd="1" destOrd="0" presId="urn:microsoft.com/office/officeart/2005/8/layout/cycle2"/>
    <dgm:cxn modelId="{B4003446-CB3C-4FAB-ACC0-A61EBE464767}" type="presOf" srcId="{3EEEE4F0-95EC-4A58-95E4-17D44D39786F}" destId="{8A8DA8DF-BDC2-4274-9C14-308D30C5418A}" srcOrd="0" destOrd="0" presId="urn:microsoft.com/office/officeart/2005/8/layout/cycle2"/>
    <dgm:cxn modelId="{31DBC04B-BB69-4040-BDB1-A964DFFD5DCD}" type="presOf" srcId="{EF701BEB-FDBD-4F52-AA43-FAEF1241C6D9}" destId="{4EC6AF53-756A-4300-BAE3-7B2D9B1DCDC2}" srcOrd="1" destOrd="0" presId="urn:microsoft.com/office/officeart/2005/8/layout/cycle2"/>
    <dgm:cxn modelId="{8CE6464F-533C-44A3-8FC3-09C14605F022}" type="presOf" srcId="{FB4156C9-D7C8-46AE-B32D-AF31F46A3369}" destId="{FE1C798B-58E5-460E-AE15-E1114CC937F5}" srcOrd="0" destOrd="0" presId="urn:microsoft.com/office/officeart/2005/8/layout/cycle2"/>
    <dgm:cxn modelId="{D3568950-C95D-4DF8-B78F-BDDEFF68D9BF}" type="presOf" srcId="{44F24F55-1CB1-40B1-A210-F6A47CCE580A}" destId="{E77D5904-2ADD-49BB-8A8B-E02E95EEE4EC}" srcOrd="0" destOrd="0" presId="urn:microsoft.com/office/officeart/2005/8/layout/cycle2"/>
    <dgm:cxn modelId="{AC88D571-2EE0-4C9B-8E20-81BAD9454E7E}" type="presOf" srcId="{831DB2DE-DF64-4D77-9D5D-33072F52692E}" destId="{E3F752A2-A0D8-4340-966A-3C4EDBFCA36A}" srcOrd="1" destOrd="0" presId="urn:microsoft.com/office/officeart/2005/8/layout/cycle2"/>
    <dgm:cxn modelId="{3A47F754-B8D2-44F3-8458-D25CEC0653F6}" srcId="{55AFBF8A-289F-45FA-9C3A-9C9904BC2D22}" destId="{61B4C8EE-7C88-43DD-A923-5568A4DB61D9}" srcOrd="4" destOrd="0" parTransId="{BBBFF5F3-EC30-4A84-8019-E171B80C98F2}" sibTransId="{C86A8448-628C-4C2D-AC99-2675E6E68630}"/>
    <dgm:cxn modelId="{11E0F159-D64A-46E5-90A2-B6C4AB0C3E03}" type="presOf" srcId="{63662D77-2D7A-4DA9-8061-C16521F7EE6D}" destId="{D4473D12-701B-4D6F-B7F3-E5390B6430F3}" srcOrd="0" destOrd="0" presId="urn:microsoft.com/office/officeart/2005/8/layout/cycle2"/>
    <dgm:cxn modelId="{C9950A81-57FD-44EB-88FB-E4DE0A845B7D}" srcId="{55AFBF8A-289F-45FA-9C3A-9C9904BC2D22}" destId="{A2C1C447-180E-4FE0-9DAD-1BB080E24935}" srcOrd="1" destOrd="0" parTransId="{8FA9A683-D6F6-4DDA-BFEF-9625B079DE72}" sibTransId="{EF701BEB-FDBD-4F52-AA43-FAEF1241C6D9}"/>
    <dgm:cxn modelId="{20C5D285-3DD3-4CFE-AC88-22C71EC59369}" type="presOf" srcId="{45B046F6-D884-4A51-9550-AD23BDE7B51B}" destId="{A5D0D481-9254-473D-A901-2EEAE9FF6D00}" srcOrd="0" destOrd="0" presId="urn:microsoft.com/office/officeart/2005/8/layout/cycle2"/>
    <dgm:cxn modelId="{46782C8B-0DCC-4BA9-8D0C-ECE0F8608F35}" type="presOf" srcId="{A2C1C447-180E-4FE0-9DAD-1BB080E24935}" destId="{3CF71FD7-4624-4D96-A9A9-C2C65C97F992}" srcOrd="0" destOrd="0" presId="urn:microsoft.com/office/officeart/2005/8/layout/cycle2"/>
    <dgm:cxn modelId="{17B0AC8B-7BDB-4566-A914-1EA9911EC518}" type="presOf" srcId="{AAAF340E-1564-486E-8384-79BF0C54D0E6}" destId="{626738A7-9E00-4FD6-881C-F2BDA38A738F}" srcOrd="0" destOrd="0" presId="urn:microsoft.com/office/officeart/2005/8/layout/cycle2"/>
    <dgm:cxn modelId="{4146C793-FF70-42DF-9B70-319C573B3C8B}" srcId="{55AFBF8A-289F-45FA-9C3A-9C9904BC2D22}" destId="{3EEEE4F0-95EC-4A58-95E4-17D44D39786F}" srcOrd="2" destOrd="0" parTransId="{3BD6020E-6D8A-48CB-AF95-31D6C7C3B119}" sibTransId="{BD0E25A6-DD47-46CA-BF25-C68C21862826}"/>
    <dgm:cxn modelId="{210E2394-A9A2-435F-8C36-7CD7E212108D}" type="presOf" srcId="{55AFBF8A-289F-45FA-9C3A-9C9904BC2D22}" destId="{3A6DD83C-35C0-41C6-BB0B-46775A8E8492}" srcOrd="0" destOrd="0" presId="urn:microsoft.com/office/officeart/2005/8/layout/cycle2"/>
    <dgm:cxn modelId="{21E0B5AD-B196-4795-9A4A-EB2DFDBCE258}" type="presOf" srcId="{61B4C8EE-7C88-43DD-A923-5568A4DB61D9}" destId="{A34D2FCB-0F9B-43B7-86A9-12C6E2B49A45}" srcOrd="0" destOrd="0" presId="urn:microsoft.com/office/officeart/2005/8/layout/cycle2"/>
    <dgm:cxn modelId="{8FD2BBB2-DFA5-4856-9D63-29086C718237}" type="presOf" srcId="{F48B9435-1072-4447-97F6-E34A80DEF9C6}" destId="{3DF731AD-299F-4423-A28B-01DA6A8DB8D4}" srcOrd="0" destOrd="0" presId="urn:microsoft.com/office/officeart/2005/8/layout/cycle2"/>
    <dgm:cxn modelId="{BC9FDABD-D58B-41F8-889E-CFE241B716B9}" type="presOf" srcId="{831DB2DE-DF64-4D77-9D5D-33072F52692E}" destId="{84E0E61D-DCE1-44B0-B380-652934B7BF2E}" srcOrd="0" destOrd="0" presId="urn:microsoft.com/office/officeart/2005/8/layout/cycle2"/>
    <dgm:cxn modelId="{2B0468C3-ABC1-4FB0-B7D9-73820FA78859}" type="presOf" srcId="{8146CBAC-9BFA-4FDA-B288-8EE95D794F28}" destId="{68E2BB20-5F81-4127-A06A-C5F82130117D}" srcOrd="0" destOrd="0" presId="urn:microsoft.com/office/officeart/2005/8/layout/cycle2"/>
    <dgm:cxn modelId="{64BB34DB-7451-40E7-B547-E2FF04B8299F}" srcId="{55AFBF8A-289F-45FA-9C3A-9C9904BC2D22}" destId="{8146CBAC-9BFA-4FDA-B288-8EE95D794F28}" srcOrd="3" destOrd="0" parTransId="{920B427C-471D-4902-BD8B-2030D32AF65F}" sibTransId="{7A703E83-ECB8-4507-8F4B-4B9A15EEC97E}"/>
    <dgm:cxn modelId="{51B735E7-0127-4ABF-B585-EE8ECF1E49CE}" type="presOf" srcId="{7A703E83-ECB8-4507-8F4B-4B9A15EEC97E}" destId="{E7C425B6-3108-430E-AD58-A76963618CB4}" srcOrd="0" destOrd="0" presId="urn:microsoft.com/office/officeart/2005/8/layout/cycle2"/>
    <dgm:cxn modelId="{77CAE6E9-A4A3-45E3-93CE-6A3EC12E06BC}" type="presOf" srcId="{7A703E83-ECB8-4507-8F4B-4B9A15EEC97E}" destId="{2A561512-23ED-4674-BB5B-73C3FB57C99E}" srcOrd="1" destOrd="0" presId="urn:microsoft.com/office/officeart/2005/8/layout/cycle2"/>
    <dgm:cxn modelId="{D10F0FF2-C7A1-4164-A24D-3C311AA92723}" type="presOf" srcId="{44F24F55-1CB1-40B1-A210-F6A47CCE580A}" destId="{0A838EAD-2DAA-4DA1-9E92-9A4541F31E2F}" srcOrd="1" destOrd="0" presId="urn:microsoft.com/office/officeart/2005/8/layout/cycle2"/>
    <dgm:cxn modelId="{2DAB11F6-9F5A-42F1-B34A-1F676C684E56}" type="presOf" srcId="{8E88C64B-2B5F-474E-94E6-7C03B3840C03}" destId="{CD4F82AC-D5BC-407C-A52A-7212B1B2140A}" srcOrd="0" destOrd="0" presId="urn:microsoft.com/office/officeart/2005/8/layout/cycle2"/>
    <dgm:cxn modelId="{3D66BABC-3501-4DD7-A8BC-226827D866D8}" type="presParOf" srcId="{3A6DD83C-35C0-41C6-BB0B-46775A8E8492}" destId="{D4473D12-701B-4D6F-B7F3-E5390B6430F3}" srcOrd="0" destOrd="0" presId="urn:microsoft.com/office/officeart/2005/8/layout/cycle2"/>
    <dgm:cxn modelId="{F6B9CE99-9535-4A13-89B6-91AE5EC37110}" type="presParOf" srcId="{3A6DD83C-35C0-41C6-BB0B-46775A8E8492}" destId="{E77D5904-2ADD-49BB-8A8B-E02E95EEE4EC}" srcOrd="1" destOrd="0" presId="urn:microsoft.com/office/officeart/2005/8/layout/cycle2"/>
    <dgm:cxn modelId="{3C675922-33A0-443B-BA09-7B1D812B8ABF}" type="presParOf" srcId="{E77D5904-2ADD-49BB-8A8B-E02E95EEE4EC}" destId="{0A838EAD-2DAA-4DA1-9E92-9A4541F31E2F}" srcOrd="0" destOrd="0" presId="urn:microsoft.com/office/officeart/2005/8/layout/cycle2"/>
    <dgm:cxn modelId="{749A64E5-3092-4ECC-AABE-092ED1CEFD19}" type="presParOf" srcId="{3A6DD83C-35C0-41C6-BB0B-46775A8E8492}" destId="{3CF71FD7-4624-4D96-A9A9-C2C65C97F992}" srcOrd="2" destOrd="0" presId="urn:microsoft.com/office/officeart/2005/8/layout/cycle2"/>
    <dgm:cxn modelId="{6A4AAB14-3E97-4959-BFF9-E2F7366D7182}" type="presParOf" srcId="{3A6DD83C-35C0-41C6-BB0B-46775A8E8492}" destId="{5445EE97-F540-4E1E-BAAC-22E7EC032E88}" srcOrd="3" destOrd="0" presId="urn:microsoft.com/office/officeart/2005/8/layout/cycle2"/>
    <dgm:cxn modelId="{C4611759-E382-4E2D-A652-2FCA88CBBDD8}" type="presParOf" srcId="{5445EE97-F540-4E1E-BAAC-22E7EC032E88}" destId="{4EC6AF53-756A-4300-BAE3-7B2D9B1DCDC2}" srcOrd="0" destOrd="0" presId="urn:microsoft.com/office/officeart/2005/8/layout/cycle2"/>
    <dgm:cxn modelId="{702B0142-29B1-49EC-A287-71F42C480EAD}" type="presParOf" srcId="{3A6DD83C-35C0-41C6-BB0B-46775A8E8492}" destId="{8A8DA8DF-BDC2-4274-9C14-308D30C5418A}" srcOrd="4" destOrd="0" presId="urn:microsoft.com/office/officeart/2005/8/layout/cycle2"/>
    <dgm:cxn modelId="{91DE4A94-A262-4277-94B1-F0713A4AFF57}" type="presParOf" srcId="{3A6DD83C-35C0-41C6-BB0B-46775A8E8492}" destId="{F0679691-16D9-4423-9B5A-9B43DEDA5CFB}" srcOrd="5" destOrd="0" presId="urn:microsoft.com/office/officeart/2005/8/layout/cycle2"/>
    <dgm:cxn modelId="{6CA0A314-CADF-4CF8-95DB-31C9533608E6}" type="presParOf" srcId="{F0679691-16D9-4423-9B5A-9B43DEDA5CFB}" destId="{97DC9D75-FDDC-486B-BB06-97D477CD4C34}" srcOrd="0" destOrd="0" presId="urn:microsoft.com/office/officeart/2005/8/layout/cycle2"/>
    <dgm:cxn modelId="{E91DCC59-FF5D-4BA2-BB3C-40B9958E7549}" type="presParOf" srcId="{3A6DD83C-35C0-41C6-BB0B-46775A8E8492}" destId="{68E2BB20-5F81-4127-A06A-C5F82130117D}" srcOrd="6" destOrd="0" presId="urn:microsoft.com/office/officeart/2005/8/layout/cycle2"/>
    <dgm:cxn modelId="{F013EE55-4595-4F9C-B3CA-417DF8603E43}" type="presParOf" srcId="{3A6DD83C-35C0-41C6-BB0B-46775A8E8492}" destId="{E7C425B6-3108-430E-AD58-A76963618CB4}" srcOrd="7" destOrd="0" presId="urn:microsoft.com/office/officeart/2005/8/layout/cycle2"/>
    <dgm:cxn modelId="{2F70C10B-8B96-4FD9-BBC9-6118108AE5A5}" type="presParOf" srcId="{E7C425B6-3108-430E-AD58-A76963618CB4}" destId="{2A561512-23ED-4674-BB5B-73C3FB57C99E}" srcOrd="0" destOrd="0" presId="urn:microsoft.com/office/officeart/2005/8/layout/cycle2"/>
    <dgm:cxn modelId="{197A2F4D-1F52-492B-9236-49CE85BD19E1}" type="presParOf" srcId="{3A6DD83C-35C0-41C6-BB0B-46775A8E8492}" destId="{A34D2FCB-0F9B-43B7-86A9-12C6E2B49A45}" srcOrd="8" destOrd="0" presId="urn:microsoft.com/office/officeart/2005/8/layout/cycle2"/>
    <dgm:cxn modelId="{2D477F1C-4E12-4CAF-AC7B-D8DFF81C7F27}" type="presParOf" srcId="{3A6DD83C-35C0-41C6-BB0B-46775A8E8492}" destId="{01F08BD6-7551-4A54-A788-3ADB669C6C7F}" srcOrd="9" destOrd="0" presId="urn:microsoft.com/office/officeart/2005/8/layout/cycle2"/>
    <dgm:cxn modelId="{08B80D22-0F1D-4968-9965-D02D7FE7D75F}" type="presParOf" srcId="{01F08BD6-7551-4A54-A788-3ADB669C6C7F}" destId="{9A9BE2E4-99E3-4B76-89FE-5B405C84B89A}" srcOrd="0" destOrd="0" presId="urn:microsoft.com/office/officeart/2005/8/layout/cycle2"/>
    <dgm:cxn modelId="{FE4D1CD1-97E0-4111-B5A2-4000FF0740CD}" type="presParOf" srcId="{3A6DD83C-35C0-41C6-BB0B-46775A8E8492}" destId="{CD4F82AC-D5BC-407C-A52A-7212B1B2140A}" srcOrd="10" destOrd="0" presId="urn:microsoft.com/office/officeart/2005/8/layout/cycle2"/>
    <dgm:cxn modelId="{24A7D356-1BF4-426E-97E2-9EB6C33664A0}" type="presParOf" srcId="{3A6DD83C-35C0-41C6-BB0B-46775A8E8492}" destId="{3DF731AD-299F-4423-A28B-01DA6A8DB8D4}" srcOrd="11" destOrd="0" presId="urn:microsoft.com/office/officeart/2005/8/layout/cycle2"/>
    <dgm:cxn modelId="{A066E324-FC75-4389-9A43-D85592A608CA}" type="presParOf" srcId="{3DF731AD-299F-4423-A28B-01DA6A8DB8D4}" destId="{56BF416D-A086-4C3D-B6F9-76780BB254F8}" srcOrd="0" destOrd="0" presId="urn:microsoft.com/office/officeart/2005/8/layout/cycle2"/>
    <dgm:cxn modelId="{07AFCDDE-649E-498B-B4BA-C696921CCB25}" type="presParOf" srcId="{3A6DD83C-35C0-41C6-BB0B-46775A8E8492}" destId="{626738A7-9E00-4FD6-881C-F2BDA38A738F}" srcOrd="12" destOrd="0" presId="urn:microsoft.com/office/officeart/2005/8/layout/cycle2"/>
    <dgm:cxn modelId="{A2F67D32-CB17-4E9C-9A32-D7B5D52AFC45}" type="presParOf" srcId="{3A6DD83C-35C0-41C6-BB0B-46775A8E8492}" destId="{FE1C798B-58E5-460E-AE15-E1114CC937F5}" srcOrd="13" destOrd="0" presId="urn:microsoft.com/office/officeart/2005/8/layout/cycle2"/>
    <dgm:cxn modelId="{D5B2BFE0-EF31-48E8-8755-E0A0D0BCC115}" type="presParOf" srcId="{FE1C798B-58E5-460E-AE15-E1114CC937F5}" destId="{AC6573F8-DDE8-4E01-8661-270C52D22668}" srcOrd="0" destOrd="0" presId="urn:microsoft.com/office/officeart/2005/8/layout/cycle2"/>
    <dgm:cxn modelId="{C2A74EE6-3687-4233-BDA2-F66615B53415}" type="presParOf" srcId="{3A6DD83C-35C0-41C6-BB0B-46775A8E8492}" destId="{A5D0D481-9254-473D-A901-2EEAE9FF6D00}" srcOrd="14" destOrd="0" presId="urn:microsoft.com/office/officeart/2005/8/layout/cycle2"/>
    <dgm:cxn modelId="{E797BF5E-5433-44D7-B438-BA37207FA82D}" type="presParOf" srcId="{3A6DD83C-35C0-41C6-BB0B-46775A8E8492}" destId="{84E0E61D-DCE1-44B0-B380-652934B7BF2E}" srcOrd="15" destOrd="0" presId="urn:microsoft.com/office/officeart/2005/8/layout/cycle2"/>
    <dgm:cxn modelId="{3E77F2BF-F51B-4053-AC61-6451AC6E0D4F}" type="presParOf" srcId="{84E0E61D-DCE1-44B0-B380-652934B7BF2E}" destId="{E3F752A2-A0D8-4340-966A-3C4EDBFCA36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F86AD-6531-4A45-9B4C-FB7A2F4A56E5}">
      <dsp:nvSpPr>
        <dsp:cNvPr id="0" name=""/>
        <dsp:cNvSpPr/>
      </dsp:nvSpPr>
      <dsp:spPr>
        <a:xfrm>
          <a:off x="2330477" y="73888"/>
          <a:ext cx="3241298" cy="3226688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3110747" y="851201"/>
        <a:ext cx="1680758" cy="1026725"/>
      </dsp:txXfrm>
    </dsp:sp>
    <dsp:sp modelId="{6B9B251B-586A-4808-9EDC-F6186A7B6F15}">
      <dsp:nvSpPr>
        <dsp:cNvPr id="0" name=""/>
        <dsp:cNvSpPr/>
      </dsp:nvSpPr>
      <dsp:spPr>
        <a:xfrm>
          <a:off x="912140" y="1613109"/>
          <a:ext cx="3220238" cy="3231456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179952" y="2708182"/>
        <a:ext cx="1366231" cy="1256740"/>
      </dsp:txXfrm>
    </dsp:sp>
    <dsp:sp modelId="{E6DCD3DF-9309-4439-8C36-8B180F8FC979}">
      <dsp:nvSpPr>
        <dsp:cNvPr id="0" name=""/>
        <dsp:cNvSpPr/>
      </dsp:nvSpPr>
      <dsp:spPr>
        <a:xfrm>
          <a:off x="3510275" y="1630394"/>
          <a:ext cx="3420752" cy="3111973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132970" y="2684977"/>
        <a:ext cx="1451303" cy="1210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F86AD-6531-4A45-9B4C-FB7A2F4A56E5}">
      <dsp:nvSpPr>
        <dsp:cNvPr id="0" name=""/>
        <dsp:cNvSpPr/>
      </dsp:nvSpPr>
      <dsp:spPr>
        <a:xfrm>
          <a:off x="2351820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3180465" y="903973"/>
        <a:ext cx="1784961" cy="1090380"/>
      </dsp:txXfrm>
    </dsp:sp>
    <dsp:sp modelId="{6B9B251B-586A-4808-9EDC-F6186A7B6F15}">
      <dsp:nvSpPr>
        <dsp:cNvPr id="0" name=""/>
        <dsp:cNvSpPr/>
      </dsp:nvSpPr>
      <dsp:spPr>
        <a:xfrm>
          <a:off x="845550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191963" y="2876082"/>
        <a:ext cx="1450934" cy="1334656"/>
      </dsp:txXfrm>
    </dsp:sp>
    <dsp:sp modelId="{E6DCD3DF-9309-4439-8C36-8B180F8FC979}">
      <dsp:nvSpPr>
        <dsp:cNvPr id="0" name=""/>
        <dsp:cNvSpPr/>
      </dsp:nvSpPr>
      <dsp:spPr>
        <a:xfrm>
          <a:off x="3704305" y="1904996"/>
          <a:ext cx="3352787" cy="3152501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314629" y="2973312"/>
        <a:ext cx="1422466" cy="1226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73D12-701B-4D6F-B7F3-E5390B6430F3}">
      <dsp:nvSpPr>
        <dsp:cNvPr id="0" name=""/>
        <dsp:cNvSpPr/>
      </dsp:nvSpPr>
      <dsp:spPr>
        <a:xfrm>
          <a:off x="3483671" y="136433"/>
          <a:ext cx="1817633" cy="11360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Collection &amp; création</a:t>
          </a:r>
        </a:p>
      </dsp:txBody>
      <dsp:txXfrm>
        <a:off x="3749857" y="302799"/>
        <a:ext cx="1285261" cy="803285"/>
      </dsp:txXfrm>
    </dsp:sp>
    <dsp:sp modelId="{E77D5904-2ADD-49BB-8A8B-E02E95EEE4EC}">
      <dsp:nvSpPr>
        <dsp:cNvPr id="0" name=""/>
        <dsp:cNvSpPr/>
      </dsp:nvSpPr>
      <dsp:spPr>
        <a:xfrm rot="1350000">
          <a:off x="5211401" y="858575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5213429" y="937123"/>
        <a:ext cx="124349" cy="266236"/>
      </dsp:txXfrm>
    </dsp:sp>
    <dsp:sp modelId="{3CF71FD7-4624-4D96-A9A9-C2C65C97F992}">
      <dsp:nvSpPr>
        <dsp:cNvPr id="0" name=""/>
        <dsp:cNvSpPr/>
      </dsp:nvSpPr>
      <dsp:spPr>
        <a:xfrm>
          <a:off x="5308430" y="892273"/>
          <a:ext cx="1817633" cy="11360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Classification &amp; traitement</a:t>
          </a:r>
        </a:p>
      </dsp:txBody>
      <dsp:txXfrm>
        <a:off x="5574616" y="1058639"/>
        <a:ext cx="1285261" cy="803285"/>
      </dsp:txXfrm>
    </dsp:sp>
    <dsp:sp modelId="{5445EE97-F540-4E1E-BAAC-22E7EC032E88}">
      <dsp:nvSpPr>
        <dsp:cNvPr id="0" name=""/>
        <dsp:cNvSpPr/>
      </dsp:nvSpPr>
      <dsp:spPr>
        <a:xfrm rot="4050000">
          <a:off x="6382709" y="213992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6421221" y="2171031"/>
        <a:ext cx="291135" cy="266236"/>
      </dsp:txXfrm>
    </dsp:sp>
    <dsp:sp modelId="{8A8DA8DF-BDC2-4274-9C14-308D30C5418A}">
      <dsp:nvSpPr>
        <dsp:cNvPr id="0" name=""/>
        <dsp:cNvSpPr/>
      </dsp:nvSpPr>
      <dsp:spPr>
        <a:xfrm>
          <a:off x="6064271" y="2717032"/>
          <a:ext cx="1817633" cy="11360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Manipulation, conversion ou modification</a:t>
          </a:r>
        </a:p>
      </dsp:txBody>
      <dsp:txXfrm>
        <a:off x="6330457" y="2883398"/>
        <a:ext cx="1285261" cy="803285"/>
      </dsp:txXfrm>
    </dsp:sp>
    <dsp:sp modelId="{F0679691-16D9-4423-9B5A-9B43DEDA5CFB}">
      <dsp:nvSpPr>
        <dsp:cNvPr id="0" name=""/>
        <dsp:cNvSpPr/>
      </dsp:nvSpPr>
      <dsp:spPr>
        <a:xfrm rot="6750000">
          <a:off x="6391718" y="396468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6477978" y="3995791"/>
        <a:ext cx="291135" cy="266236"/>
      </dsp:txXfrm>
    </dsp:sp>
    <dsp:sp modelId="{68E2BB20-5F81-4127-A06A-C5F82130117D}">
      <dsp:nvSpPr>
        <dsp:cNvPr id="0" name=""/>
        <dsp:cNvSpPr/>
      </dsp:nvSpPr>
      <dsp:spPr>
        <a:xfrm>
          <a:off x="5308430" y="4541792"/>
          <a:ext cx="1817633" cy="113601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Analyse &amp; présentation</a:t>
          </a:r>
        </a:p>
      </dsp:txBody>
      <dsp:txXfrm>
        <a:off x="5574616" y="4708158"/>
        <a:ext cx="1285261" cy="803285"/>
      </dsp:txXfrm>
    </dsp:sp>
    <dsp:sp modelId="{E7C425B6-3108-430E-AD58-A76963618CB4}">
      <dsp:nvSpPr>
        <dsp:cNvPr id="0" name=""/>
        <dsp:cNvSpPr/>
      </dsp:nvSpPr>
      <dsp:spPr>
        <a:xfrm rot="9450000">
          <a:off x="5220691" y="5263934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5271955" y="5342482"/>
        <a:ext cx="124349" cy="266236"/>
      </dsp:txXfrm>
    </dsp:sp>
    <dsp:sp modelId="{A34D2FCB-0F9B-43B7-86A9-12C6E2B49A45}">
      <dsp:nvSpPr>
        <dsp:cNvPr id="0" name=""/>
        <dsp:cNvSpPr/>
      </dsp:nvSpPr>
      <dsp:spPr>
        <a:xfrm>
          <a:off x="3483671" y="5297632"/>
          <a:ext cx="1817633" cy="113601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Préservation &amp; stockage</a:t>
          </a:r>
        </a:p>
      </dsp:txBody>
      <dsp:txXfrm>
        <a:off x="3749857" y="5463998"/>
        <a:ext cx="1285261" cy="803285"/>
      </dsp:txXfrm>
    </dsp:sp>
    <dsp:sp modelId="{01F08BD6-7551-4A54-A788-3ADB669C6C7F}">
      <dsp:nvSpPr>
        <dsp:cNvPr id="0" name=""/>
        <dsp:cNvSpPr/>
      </dsp:nvSpPr>
      <dsp:spPr>
        <a:xfrm rot="12150000">
          <a:off x="3395932" y="5267782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3447196" y="5366724"/>
        <a:ext cx="124349" cy="266236"/>
      </dsp:txXfrm>
    </dsp:sp>
    <dsp:sp modelId="{CD4F82AC-D5BC-407C-A52A-7212B1B2140A}">
      <dsp:nvSpPr>
        <dsp:cNvPr id="0" name=""/>
        <dsp:cNvSpPr/>
      </dsp:nvSpPr>
      <dsp:spPr>
        <a:xfrm>
          <a:off x="1658911" y="4541792"/>
          <a:ext cx="1817633" cy="11360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Publication &amp; accès</a:t>
          </a:r>
        </a:p>
      </dsp:txBody>
      <dsp:txXfrm>
        <a:off x="1925097" y="4708158"/>
        <a:ext cx="1285261" cy="803285"/>
      </dsp:txXfrm>
    </dsp:sp>
    <dsp:sp modelId="{3DF731AD-299F-4423-A28B-01DA6A8DB8D4}">
      <dsp:nvSpPr>
        <dsp:cNvPr id="0" name=""/>
        <dsp:cNvSpPr/>
      </dsp:nvSpPr>
      <dsp:spPr>
        <a:xfrm rot="14850000">
          <a:off x="1986359" y="398643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2072619" y="4132815"/>
        <a:ext cx="291135" cy="266236"/>
      </dsp:txXfrm>
    </dsp:sp>
    <dsp:sp modelId="{626738A7-9E00-4FD6-881C-F2BDA38A738F}">
      <dsp:nvSpPr>
        <dsp:cNvPr id="0" name=""/>
        <dsp:cNvSpPr/>
      </dsp:nvSpPr>
      <dsp:spPr>
        <a:xfrm>
          <a:off x="903071" y="2717032"/>
          <a:ext cx="1817633" cy="11360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Conservation &amp;</a:t>
          </a:r>
          <a:br>
            <a:rPr lang="fr-FR" sz="1100" b="1" kern="1200" noProof="0" dirty="0">
              <a:latin typeface="PT Serif" panose="020A0603040505020204" pitchFamily="18" charset="0"/>
            </a:rPr>
          </a:br>
          <a:r>
            <a:rPr lang="fr-FR" sz="1100" b="1" kern="1200" noProof="0" dirty="0">
              <a:latin typeface="PT Serif" panose="020A0603040505020204" pitchFamily="18" charset="0"/>
            </a:rPr>
            <a:t>réutilisation</a:t>
          </a:r>
        </a:p>
      </dsp:txBody>
      <dsp:txXfrm>
        <a:off x="1169257" y="2883398"/>
        <a:ext cx="1285261" cy="803285"/>
      </dsp:txXfrm>
    </dsp:sp>
    <dsp:sp modelId="{FE1C798B-58E5-460E-AE15-E1114CC937F5}">
      <dsp:nvSpPr>
        <dsp:cNvPr id="0" name=""/>
        <dsp:cNvSpPr/>
      </dsp:nvSpPr>
      <dsp:spPr>
        <a:xfrm rot="17550000">
          <a:off x="1977349" y="216167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2015861" y="2308055"/>
        <a:ext cx="291135" cy="266236"/>
      </dsp:txXfrm>
    </dsp:sp>
    <dsp:sp modelId="{A5D0D481-9254-473D-A901-2EEAE9FF6D00}">
      <dsp:nvSpPr>
        <dsp:cNvPr id="0" name=""/>
        <dsp:cNvSpPr/>
      </dsp:nvSpPr>
      <dsp:spPr>
        <a:xfrm>
          <a:off x="1658911" y="892273"/>
          <a:ext cx="1817633" cy="11360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Archivage ou Effacement</a:t>
          </a:r>
        </a:p>
      </dsp:txBody>
      <dsp:txXfrm>
        <a:off x="1925097" y="1058639"/>
        <a:ext cx="1285261" cy="803285"/>
      </dsp:txXfrm>
    </dsp:sp>
    <dsp:sp modelId="{84E0E61D-DCE1-44B0-B380-652934B7BF2E}">
      <dsp:nvSpPr>
        <dsp:cNvPr id="0" name=""/>
        <dsp:cNvSpPr/>
      </dsp:nvSpPr>
      <dsp:spPr>
        <a:xfrm rot="20250000">
          <a:off x="3386642" y="862422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3388670" y="961364"/>
        <a:ext cx="124349" cy="266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20/11/2020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20/11/2020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44538"/>
            <a:ext cx="497046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2" tIns="47721" rIns="95442" bIns="47721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5511" y="4721858"/>
            <a:ext cx="5410142" cy="4475805"/>
          </a:xfrm>
          <a:prstGeom prst="rect">
            <a:avLst/>
          </a:prstGeom>
        </p:spPr>
        <p:txBody>
          <a:bodyPr vert="horz" lIns="95442" tIns="47721" rIns="95442" bIns="47721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804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6056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6735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8993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1501775" y="661988"/>
            <a:ext cx="4416425" cy="33115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741997" y="4194297"/>
            <a:ext cx="5935978" cy="3973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233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501775" y="661988"/>
            <a:ext cx="4416425" cy="33115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741997" y="4194297"/>
            <a:ext cx="5935978" cy="3973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821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927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8631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271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9640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509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005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8661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0537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9369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2104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170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118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809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7315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9924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2535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9567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972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978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6917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89843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99246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83830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9592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82697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923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71340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495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9843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3725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55740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41792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89195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17440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82091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64030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66577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52893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82538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00491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89715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85735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2691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45034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36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aseline="0" dirty="0">
                <a:solidFill>
                  <a:schemeClr val="bg1"/>
                </a:solidFill>
              </a:rPr>
              <a:t>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8A81F24-B482-4E7F-A736-1752437275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0683" y="193544"/>
            <a:ext cx="1599122" cy="4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11/20/2020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664200"/>
          </a:xfrm>
          <a:prstGeom prst="rect">
            <a:avLst/>
          </a:prstGeom>
          <a:solidFill>
            <a:srgbClr val="D9D9D9">
              <a:alpha val="55769"/>
            </a:srgbClr>
          </a:solidFill>
        </p:spPr>
        <p:txBody>
          <a:bodyPr spcFirstLastPara="1" wrap="square" lIns="91425" tIns="91425" rIns="91425" bIns="91425" anchor="t" anchorCtr="0"/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2"/>
          </p:nvPr>
        </p:nvSpPr>
        <p:spPr>
          <a:xfrm>
            <a:off x="3821125" y="6449200"/>
            <a:ext cx="4865700" cy="208500"/>
          </a:xfrm>
          <a:prstGeom prst="rect">
            <a:avLst/>
          </a:prstGeom>
          <a:solidFill>
            <a:srgbClr val="D9D9D9">
              <a:alpha val="55769"/>
            </a:srgbClr>
          </a:solidFill>
        </p:spPr>
        <p:txBody>
          <a:bodyPr spcFirstLastPara="1" wrap="square" lIns="91425" tIns="91425" rIns="91425" bIns="91425" anchor="ctr" anchorCtr="0"/>
          <a:lstStyle>
            <a:lvl1pPr marL="457200" lvl="0" indent="-279400" algn="r" rtl="0">
              <a:spcBef>
                <a:spcPts val="60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algn="r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827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1pPr>
            <a:lvl2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2pPr>
            <a:lvl3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3pPr>
            <a:lvl4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4pPr>
            <a:lvl5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0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  <p:sldLayoutId id="2147485047" r:id="rId4"/>
    <p:sldLayoutId id="2147485048" r:id="rId5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health.statistics.go.tz/#/dash/points/facilities/" TargetMode="External"/><Relationship Id="rId2" Type="http://schemas.openxmlformats.org/officeDocument/2006/relationships/hyperlink" Target="http://education.statistics.go.tz/#/dashboard/prim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gheiti.gov.gh/#home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6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gheiti.gov.gh/#home" TargetMode="External"/><Relationship Id="rId5" Type="http://schemas.openxmlformats.org/officeDocument/2006/relationships/hyperlink" Target="http://health.statistics.go.tz/#/dash/points/facilities/" TargetMode="External"/><Relationship Id="rId4" Type="http://schemas.openxmlformats.org/officeDocument/2006/relationships/hyperlink" Target="http://education.statistics.go.tz/#/dashboard/primary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://try.goodtables.io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405173" y="3582729"/>
            <a:ext cx="10009763" cy="1181101"/>
          </a:xfrm>
        </p:spPr>
        <p:txBody>
          <a:bodyPr/>
          <a:lstStyle/>
          <a:p>
            <a:pPr algn="ctr"/>
            <a:r>
              <a:rPr lang="fr-FR" sz="3200" dirty="0"/>
              <a:t>Mise en place </a:t>
            </a:r>
            <a:r>
              <a:rPr lang="fr-FR" sz="3200"/>
              <a:t>opérationnelle de </a:t>
            </a:r>
            <a:r>
              <a:rPr lang="fr-FR" sz="3200" dirty="0"/>
              <a:t>l’Open Data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234576" y="4991588"/>
            <a:ext cx="8305800" cy="600458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Stéphane Boyera (SBC4D) stephane@sbc4d.com</a:t>
            </a:r>
          </a:p>
          <a:p>
            <a:endParaRPr lang="fr-FR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5B8FF4-BA9D-4309-9DAF-D782D42F3D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237" y="6066919"/>
            <a:ext cx="2255525" cy="6004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8F065B2-1DB1-4156-B1FD-19BBF7CB5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820" y="6047562"/>
            <a:ext cx="1625741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6455" y="0"/>
            <a:ext cx="7303800" cy="812800"/>
          </a:xfrm>
        </p:spPr>
        <p:txBody>
          <a:bodyPr/>
          <a:lstStyle/>
          <a:p>
            <a:r>
              <a:rPr lang="fr-FR" dirty="0"/>
              <a:t>Objectifs de la session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95180-398C-4735-8868-1EC86A3569DF}"/>
              </a:ext>
            </a:extLst>
          </p:cNvPr>
          <p:cNvSpPr/>
          <p:nvPr/>
        </p:nvSpPr>
        <p:spPr bwMode="auto">
          <a:xfrm>
            <a:off x="932565" y="1820462"/>
            <a:ext cx="7182401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Sensibiliser les responsables à l’Open Data, et à l’initiative Open Data au Maroc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D8D67-27B5-4BEB-8D65-C8906DCE5CAC}"/>
              </a:ext>
            </a:extLst>
          </p:cNvPr>
          <p:cNvSpPr/>
          <p:nvPr/>
        </p:nvSpPr>
        <p:spPr bwMode="auto">
          <a:xfrm>
            <a:off x="448128" y="1820462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B6E680-730B-4BEE-9691-6AB85C9D976D}"/>
              </a:ext>
            </a:extLst>
          </p:cNvPr>
          <p:cNvSpPr/>
          <p:nvPr/>
        </p:nvSpPr>
        <p:spPr bwMode="auto">
          <a:xfrm>
            <a:off x="932565" y="2747064"/>
            <a:ext cx="7182401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Présenter les bénéfices de l’approche pour les structures publiques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64E138-894B-4532-912F-BB5B0A1916EF}"/>
              </a:ext>
            </a:extLst>
          </p:cNvPr>
          <p:cNvSpPr/>
          <p:nvPr/>
        </p:nvSpPr>
        <p:spPr bwMode="auto">
          <a:xfrm>
            <a:off x="448128" y="2747064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F3D38B-75C4-4173-9A04-1F98B0FAB517}"/>
              </a:ext>
            </a:extLst>
          </p:cNvPr>
          <p:cNvSpPr/>
          <p:nvPr/>
        </p:nvSpPr>
        <p:spPr bwMode="auto">
          <a:xfrm>
            <a:off x="935478" y="3673666"/>
            <a:ext cx="7177164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La mise en œuvre d’une initiative Open Data au sein d’une structure publique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369A9F-1CBF-4DB5-8981-62A8E4D0643C}"/>
              </a:ext>
            </a:extLst>
          </p:cNvPr>
          <p:cNvSpPr/>
          <p:nvPr/>
        </p:nvSpPr>
        <p:spPr bwMode="auto">
          <a:xfrm>
            <a:off x="457647" y="3677874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D5D1-B8FC-491F-A120-D97E4843E635}"/>
              </a:ext>
            </a:extLst>
          </p:cNvPr>
          <p:cNvSpPr/>
          <p:nvPr/>
        </p:nvSpPr>
        <p:spPr bwMode="auto">
          <a:xfrm>
            <a:off x="963183" y="4463378"/>
            <a:ext cx="7177164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La publication de données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C804B8-5C1A-4134-B469-619E67BDB9BF}"/>
              </a:ext>
            </a:extLst>
          </p:cNvPr>
          <p:cNvSpPr/>
          <p:nvPr/>
        </p:nvSpPr>
        <p:spPr bwMode="auto">
          <a:xfrm>
            <a:off x="485352" y="4467586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9293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AD91FA8-7782-46CA-913E-FA3869581009}"/>
              </a:ext>
            </a:extLst>
          </p:cNvPr>
          <p:cNvSpPr/>
          <p:nvPr/>
        </p:nvSpPr>
        <p:spPr>
          <a:xfrm>
            <a:off x="1193241" y="1899038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Les concepts de l’Open Data</a:t>
            </a:r>
          </a:p>
        </p:txBody>
      </p:sp>
    </p:spTree>
    <p:extLst>
      <p:ext uri="{BB962C8B-B14F-4D97-AF65-F5344CB8AC3E}">
        <p14:creationId xmlns:p14="http://schemas.microsoft.com/office/powerpoint/2010/main" val="43666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fr-FR" dirty="0"/>
              <a:t>Open Data: Concept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2125" y="1358013"/>
            <a:ext cx="6958273" cy="46548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Un concept né en 2009 aux USA et au Royaume-Uni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approche de la gestion des données publiques </a:t>
            </a:r>
            <a:r>
              <a:rPr lang="fr-FR" sz="2400" dirty="0">
                <a:latin typeface="Trebuchet MS" pitchFamily="34" charset="0"/>
                <a:cs typeface="Arial" pitchFamily="34" charset="0"/>
              </a:rPr>
              <a:t>et de leur publication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 la collaboration intra- et extra- gouvernementale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des services publics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 support à l’innovation et aux startup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 la transparence de gouvernance: Fournir aux citoyens les moyens d’évaluer les politiques mises en œuvre par le gouvernement et leurs impacts</a:t>
            </a:r>
          </a:p>
        </p:txBody>
      </p:sp>
      <p:pic>
        <p:nvPicPr>
          <p:cNvPr id="5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0398" y="2067979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694608" cy="812800"/>
          </a:xfrm>
        </p:spPr>
        <p:txBody>
          <a:bodyPr/>
          <a:lstStyle/>
          <a:p>
            <a:r>
              <a:rPr lang="fr-FR" sz="2400" dirty="0"/>
              <a:t>Open Data: Un Mouvement mondial</a:t>
            </a:r>
          </a:p>
        </p:txBody>
      </p:sp>
      <p:sp>
        <p:nvSpPr>
          <p:cNvPr id="12" name="Espace réservé du contenu 1"/>
          <p:cNvSpPr>
            <a:spLocks/>
          </p:cNvSpPr>
          <p:nvPr/>
        </p:nvSpPr>
        <p:spPr bwMode="auto">
          <a:xfrm>
            <a:off x="179415" y="1143003"/>
            <a:ext cx="8283704" cy="87085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300" b="1" dirty="0">
                <a:latin typeface="Trebuchet MS" pitchFamily="34" charset="0"/>
                <a:cs typeface="ＭＳ Ｐゴシック" pitchFamily="34" charset="-128"/>
              </a:rPr>
              <a:t>Activités dans plus de 122 pays</a:t>
            </a:r>
          </a:p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3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781F29-18D1-41B8-80C2-33C77A9B9D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157" y="1798766"/>
            <a:ext cx="7705962" cy="42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8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694608" cy="812800"/>
          </a:xfrm>
        </p:spPr>
        <p:txBody>
          <a:bodyPr/>
          <a:lstStyle/>
          <a:p>
            <a:r>
              <a:rPr lang="fr-FR" sz="2400" dirty="0"/>
              <a:t>Open Data: Les pays leader</a:t>
            </a:r>
            <a:br>
              <a:rPr lang="fr-FR" sz="2400" dirty="0"/>
            </a:br>
            <a:r>
              <a:rPr lang="fr-FR" sz="2400" dirty="0"/>
              <a:t>ODB 2017</a:t>
            </a:r>
          </a:p>
        </p:txBody>
      </p:sp>
      <p:sp>
        <p:nvSpPr>
          <p:cNvPr id="12" name="Espace réservé du contenu 1"/>
          <p:cNvSpPr>
            <a:spLocks/>
          </p:cNvSpPr>
          <p:nvPr/>
        </p:nvSpPr>
        <p:spPr bwMode="auto">
          <a:xfrm>
            <a:off x="179415" y="1143003"/>
            <a:ext cx="8283704" cy="87085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3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" name="Image 4" descr="Une image contenant capture d’écran, blanc, ordinateur, grand&#10;&#10;Description générée automatiquement">
            <a:extLst>
              <a:ext uri="{FF2B5EF4-FFF2-40B4-BE49-F238E27FC236}">
                <a16:creationId xmlns:a16="http://schemas.microsoft.com/office/drawing/2014/main" id="{3A5ED325-752B-476A-95C3-073BDF0D10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39092"/>
            <a:ext cx="9144000" cy="5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3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5954" y="0"/>
            <a:ext cx="5585773" cy="812800"/>
          </a:xfrm>
        </p:spPr>
        <p:txBody>
          <a:bodyPr/>
          <a:lstStyle/>
          <a:p>
            <a:r>
              <a:rPr lang="fr-FR" sz="2400" dirty="0"/>
              <a:t>Les composantes d’une initiative d’ouverture des données</a:t>
            </a:r>
          </a:p>
        </p:txBody>
      </p:sp>
      <p:graphicFrame>
        <p:nvGraphicFramePr>
          <p:cNvPr id="26" name="Diagram 2"/>
          <p:cNvGraphicFramePr/>
          <p:nvPr/>
        </p:nvGraphicFramePr>
        <p:xfrm>
          <a:off x="599083" y="1551352"/>
          <a:ext cx="7683766" cy="5094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TextBox 10"/>
          <p:cNvSpPr txBox="1"/>
          <p:nvPr/>
        </p:nvSpPr>
        <p:spPr>
          <a:xfrm>
            <a:off x="3723462" y="2391527"/>
            <a:ext cx="1435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TIC </a:t>
            </a:r>
          </a:p>
        </p:txBody>
      </p:sp>
      <p:sp>
        <p:nvSpPr>
          <p:cNvPr id="31" name="TextBox 11"/>
          <p:cNvSpPr txBox="1"/>
          <p:nvPr/>
        </p:nvSpPr>
        <p:spPr>
          <a:xfrm>
            <a:off x="4767286" y="4494781"/>
            <a:ext cx="2860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spc="-70" dirty="0">
                <a:solidFill>
                  <a:prstClr val="black"/>
                </a:solidFill>
                <a:latin typeface="Calibri"/>
                <a:ea typeface="+mn-ea"/>
              </a:rPr>
              <a:t>Données Gouvernementales</a:t>
            </a:r>
          </a:p>
        </p:txBody>
      </p:sp>
      <p:sp>
        <p:nvSpPr>
          <p:cNvPr id="32" name="TextBox 12"/>
          <p:cNvSpPr txBox="1"/>
          <p:nvPr/>
        </p:nvSpPr>
        <p:spPr>
          <a:xfrm>
            <a:off x="1741651" y="4558694"/>
            <a:ext cx="2635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Secteur Non-Gouvernemental</a:t>
            </a:r>
          </a:p>
        </p:txBody>
      </p:sp>
      <p:sp>
        <p:nvSpPr>
          <p:cNvPr id="39" name="TextBox 5"/>
          <p:cNvSpPr txBox="1"/>
          <p:nvPr/>
        </p:nvSpPr>
        <p:spPr>
          <a:xfrm>
            <a:off x="2988840" y="960478"/>
            <a:ext cx="29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Initiative d’ouverture des Données Gouvernementales 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b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16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fr-FR" dirty="0"/>
              <a:t>Objectif</a:t>
            </a:r>
          </a:p>
        </p:txBody>
      </p:sp>
      <p:graphicFrame>
        <p:nvGraphicFramePr>
          <p:cNvPr id="4" name="Diagram 2"/>
          <p:cNvGraphicFramePr/>
          <p:nvPr/>
        </p:nvGraphicFramePr>
        <p:xfrm>
          <a:off x="556720" y="1273624"/>
          <a:ext cx="805388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3487" y="3483424"/>
            <a:ext cx="1795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Données </a:t>
            </a:r>
          </a:p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spc="-100" dirty="0">
                <a:solidFill>
                  <a:prstClr val="white"/>
                </a:solidFill>
                <a:latin typeface="Calibri"/>
                <a:ea typeface="+mn-ea"/>
              </a:rPr>
              <a:t>Gouvernementales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376" y="1589461"/>
            <a:ext cx="2904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Rendre accessibles et exploitables les Données Gouvernementales 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Ouvertes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2579" y="3227528"/>
            <a:ext cx="1092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Données </a:t>
            </a:r>
          </a:p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Ouvertes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5181600" y="4393359"/>
            <a:ext cx="2314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spc="-70" dirty="0">
                <a:solidFill>
                  <a:prstClr val="black"/>
                </a:solidFill>
                <a:latin typeface="Calibri"/>
                <a:ea typeface="+mn-ea"/>
              </a:rPr>
              <a:t>GOUVERNEMENT</a:t>
            </a:r>
          </a:p>
        </p:txBody>
      </p:sp>
      <p:sp>
        <p:nvSpPr>
          <p:cNvPr id="9" name="TextBox 12"/>
          <p:cNvSpPr txBox="1"/>
          <p:nvPr/>
        </p:nvSpPr>
        <p:spPr>
          <a:xfrm>
            <a:off x="1972635" y="4686490"/>
            <a:ext cx="1249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OUVERT</a:t>
            </a:r>
          </a:p>
        </p:txBody>
      </p:sp>
      <p:sp>
        <p:nvSpPr>
          <p:cNvPr id="10" name="TextBox 13"/>
          <p:cNvSpPr txBox="1"/>
          <p:nvPr/>
        </p:nvSpPr>
        <p:spPr>
          <a:xfrm>
            <a:off x="3885415" y="4917323"/>
            <a:ext cx="1499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G</a:t>
            </a:r>
            <a:r>
              <a:rPr lang="fr-FR" b="1" spc="-90" dirty="0">
                <a:solidFill>
                  <a:prstClr val="white"/>
                </a:solidFill>
                <a:latin typeface="Calibri"/>
                <a:ea typeface="+mn-ea"/>
              </a:rPr>
              <a:t>ouvernement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spc="-90" dirty="0">
                <a:solidFill>
                  <a:prstClr val="white"/>
                </a:solidFill>
                <a:latin typeface="Calibri"/>
                <a:ea typeface="+mn-ea"/>
              </a:rPr>
              <a:t>Ouvert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7486" y="2004958"/>
            <a:ext cx="150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DONNÉES </a:t>
            </a:r>
          </a:p>
        </p:txBody>
      </p:sp>
      <p:cxnSp>
        <p:nvCxnSpPr>
          <p:cNvPr id="13" name="Straight Arrow Connector 7"/>
          <p:cNvCxnSpPr/>
          <p:nvPr/>
        </p:nvCxnSpPr>
        <p:spPr>
          <a:xfrm>
            <a:off x="2438400" y="2409967"/>
            <a:ext cx="2057400" cy="2162033"/>
          </a:xfrm>
          <a:prstGeom prst="straightConnector1">
            <a:avLst/>
          </a:prstGeom>
          <a:noFill/>
          <a:ln w="9525" cap="flat" cmpd="sng" algn="ctr">
            <a:solidFill>
              <a:srgbClr val="CC4757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A55C214C-ABAF-4F46-9CFC-1A799A1791E6}"/>
              </a:ext>
            </a:extLst>
          </p:cNvPr>
          <p:cNvCxnSpPr>
            <a:cxnSpLocks/>
          </p:cNvCxnSpPr>
          <p:nvPr/>
        </p:nvCxnSpPr>
        <p:spPr>
          <a:xfrm flipH="1">
            <a:off x="5224464" y="2409967"/>
            <a:ext cx="2041040" cy="1921093"/>
          </a:xfrm>
          <a:prstGeom prst="straightConnector1">
            <a:avLst/>
          </a:prstGeom>
          <a:noFill/>
          <a:ln w="9525" cap="flat" cmpd="sng" algn="ctr">
            <a:solidFill>
              <a:srgbClr val="CC4757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5B232116-4398-4FF1-9C2B-25D0CB7C9174}"/>
              </a:ext>
            </a:extLst>
          </p:cNvPr>
          <p:cNvSpPr txBox="1"/>
          <p:nvPr/>
        </p:nvSpPr>
        <p:spPr>
          <a:xfrm>
            <a:off x="6235204" y="1681792"/>
            <a:ext cx="290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Améliorer la gestion des données gouvernementales</a:t>
            </a:r>
          </a:p>
        </p:txBody>
      </p:sp>
    </p:spTree>
    <p:extLst>
      <p:ext uri="{BB962C8B-B14F-4D97-AF65-F5344CB8AC3E}">
        <p14:creationId xmlns:p14="http://schemas.microsoft.com/office/powerpoint/2010/main" val="200319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233186" y="0"/>
            <a:ext cx="6203496" cy="812800"/>
          </a:xfrm>
        </p:spPr>
        <p:txBody>
          <a:bodyPr/>
          <a:lstStyle/>
          <a:p>
            <a:pPr>
              <a:defRPr/>
            </a:pPr>
            <a:r>
              <a:rPr lang="fr-FR" dirty="0"/>
              <a:t>Définition d’une donnée ouverte</a:t>
            </a:r>
            <a:endParaRPr lang="en-US" dirty="0"/>
          </a:p>
        </p:txBody>
      </p:sp>
      <p:pic>
        <p:nvPicPr>
          <p:cNvPr id="5" name="Picture 2" descr="Image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" y="1382482"/>
            <a:ext cx="3733800" cy="2514600"/>
          </a:xfrm>
          <a:prstGeom prst="rect">
            <a:avLst/>
          </a:prstGeom>
          <a:noFill/>
        </p:spPr>
      </p:pic>
      <p:pic>
        <p:nvPicPr>
          <p:cNvPr id="7" name="Picture 4" descr="binary code in shape of k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1306282"/>
            <a:ext cx="3581400" cy="2590800"/>
          </a:xfrm>
          <a:prstGeom prst="rect">
            <a:avLst/>
          </a:prstGeom>
          <a:noFill/>
        </p:spPr>
      </p:pic>
      <p:sp>
        <p:nvSpPr>
          <p:cNvPr id="8" name="Right Arrow 6"/>
          <p:cNvSpPr/>
          <p:nvPr/>
        </p:nvSpPr>
        <p:spPr>
          <a:xfrm>
            <a:off x="3986212" y="2296882"/>
            <a:ext cx="1323975" cy="6858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210175" y="4600989"/>
            <a:ext cx="4800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2. </a:t>
            </a:r>
            <a:r>
              <a:rPr lang="fr-FR" sz="2000" b="1" u="sng" dirty="0">
                <a:solidFill>
                  <a:srgbClr val="C00000"/>
                </a:solidFill>
              </a:rPr>
              <a:t>Légalement ouvertes</a:t>
            </a:r>
            <a:r>
              <a:rPr lang="fr-FR" sz="2000" dirty="0">
                <a:solidFill>
                  <a:srgbClr val="C00000"/>
                </a:solidFill>
              </a:rPr>
              <a:t>: </a:t>
            </a:r>
          </a:p>
          <a:p>
            <a:r>
              <a:rPr lang="fr-FR" sz="2000" dirty="0"/>
              <a:t>Ayant une licence d’exploitation autorisant l'utilisation </a:t>
            </a:r>
          </a:p>
          <a:p>
            <a:r>
              <a:rPr lang="fr-FR" sz="2000" dirty="0"/>
              <a:t>commerciale et non-commerciale </a:t>
            </a:r>
          </a:p>
          <a:p>
            <a:r>
              <a:rPr lang="fr-FR" sz="2000" dirty="0"/>
              <a:t>et la réutilisation sans restrictions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E226D3-7D22-4CA0-AC86-D2FA7F5236C2}"/>
              </a:ext>
            </a:extLst>
          </p:cNvPr>
          <p:cNvSpPr/>
          <p:nvPr/>
        </p:nvSpPr>
        <p:spPr>
          <a:xfrm>
            <a:off x="304801" y="4736110"/>
            <a:ext cx="39528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1. </a:t>
            </a:r>
            <a:r>
              <a:rPr lang="fr-FR" sz="2000" b="1" u="sng" dirty="0">
                <a:solidFill>
                  <a:srgbClr val="C00000"/>
                </a:solidFill>
              </a:rPr>
              <a:t>Techniquement ouvertes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fr-FR" sz="2000" dirty="0"/>
              <a:t>disponibles  dans un format standardisé et exploitable par une machine</a:t>
            </a:r>
            <a:br>
              <a:rPr lang="fr-FR" sz="2000" dirty="0"/>
            </a:b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01F4B-74DD-4264-AFCC-9078D1A78EDB}"/>
              </a:ext>
            </a:extLst>
          </p:cNvPr>
          <p:cNvSpPr txBox="1"/>
          <p:nvPr/>
        </p:nvSpPr>
        <p:spPr>
          <a:xfrm>
            <a:off x="4233863" y="4834927"/>
            <a:ext cx="82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&amp;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1A4578FC-FAAA-4783-803D-24317C1F5DED}"/>
              </a:ext>
            </a:extLst>
          </p:cNvPr>
          <p:cNvSpPr/>
          <p:nvPr/>
        </p:nvSpPr>
        <p:spPr>
          <a:xfrm rot="5400000">
            <a:off x="4444303" y="2475773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97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5148943" cy="812800"/>
          </a:xfrm>
        </p:spPr>
        <p:txBody>
          <a:bodyPr/>
          <a:lstStyle/>
          <a:p>
            <a:r>
              <a:rPr lang="fr-FR" sz="2400" dirty="0"/>
              <a:t>Données Ouvertes d’un point de vue technique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152400" y="1306280"/>
            <a:ext cx="8763000" cy="5987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Courier New" pitchFamily="49" charset="0"/>
              <a:buNone/>
            </a:pPr>
            <a:r>
              <a:rPr lang="fr-FR" sz="2800" dirty="0"/>
              <a:t>Une donnée est </a:t>
            </a:r>
            <a:r>
              <a:rPr lang="fr-FR" sz="2800" b="1" dirty="0"/>
              <a:t>techniquement </a:t>
            </a:r>
            <a:r>
              <a:rPr lang="fr-FR" sz="2800" dirty="0"/>
              <a:t>ouverte quand:</a:t>
            </a:r>
          </a:p>
          <a:p>
            <a:pPr lvl="2">
              <a:buFont typeface="Courier New" pitchFamily="49" charset="0"/>
              <a:buNone/>
            </a:pPr>
            <a:endParaRPr lang="fr-FR" sz="20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685100" y="3956101"/>
          <a:ext cx="3894274" cy="23917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519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800" dirty="0">
                        <a:solidFill>
                          <a:srgbClr val="00B050"/>
                        </a:solidFill>
                      </a:endParaRPr>
                    </a:p>
                  </a:txBody>
                  <a:tcPr marL="98612" marR="98612" marT="49306" marB="493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417">
                <a:tc>
                  <a:txBody>
                    <a:bodyPr/>
                    <a:lstStyle/>
                    <a:p>
                      <a:pPr algn="ctr"/>
                      <a:r>
                        <a:rPr lang="fr-FR" sz="2200" noProof="0" dirty="0">
                          <a:solidFill>
                            <a:schemeClr val="tx1"/>
                          </a:solidFill>
                        </a:rPr>
                        <a:t>  PDF, images (JPG,</a:t>
                      </a:r>
                      <a:r>
                        <a:rPr lang="fr-FR" sz="2200" baseline="0" noProof="0" dirty="0">
                          <a:solidFill>
                            <a:schemeClr val="tx1"/>
                          </a:solidFill>
                        </a:rPr>
                        <a:t> GIF, PNG), d’autres formats propriétaires.</a:t>
                      </a:r>
                      <a:endParaRPr lang="fr-FR" sz="22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Image 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3C6C011B-E82A-4074-978F-16E2E7B76D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9995" y="4290422"/>
            <a:ext cx="584484" cy="5844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B69203-7E20-4E9C-8459-FEC548A73CC5}"/>
              </a:ext>
            </a:extLst>
          </p:cNvPr>
          <p:cNvSpPr/>
          <p:nvPr/>
        </p:nvSpPr>
        <p:spPr>
          <a:xfrm>
            <a:off x="661059" y="2107111"/>
            <a:ext cx="3143250" cy="19812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Font typeface="Courier New" pitchFamily="49" charset="0"/>
              <a:buNone/>
            </a:pPr>
            <a:r>
              <a:rPr lang="fr-FR" sz="2000" dirty="0"/>
              <a:t>Vous pouvez la </a:t>
            </a:r>
            <a:r>
              <a:rPr lang="fr-FR" sz="2000" b="1" dirty="0"/>
              <a:t>chercher </a:t>
            </a:r>
            <a:r>
              <a:rPr lang="fr-FR" sz="2000" dirty="0"/>
              <a:t>et la </a:t>
            </a:r>
            <a:r>
              <a:rPr lang="fr-FR" sz="2000" b="1" dirty="0"/>
              <a:t>trouver </a:t>
            </a:r>
            <a:r>
              <a:rPr lang="fr-FR" sz="2000" dirty="0"/>
              <a:t>facilement en </a:t>
            </a:r>
            <a:r>
              <a:rPr lang="fr-FR" sz="2000" b="1" dirty="0"/>
              <a:t>ligne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DF6881-8502-4A51-B348-B6274110956E}"/>
              </a:ext>
            </a:extLst>
          </p:cNvPr>
          <p:cNvSpPr/>
          <p:nvPr/>
        </p:nvSpPr>
        <p:spPr>
          <a:xfrm>
            <a:off x="5133974" y="2107111"/>
            <a:ext cx="3145536" cy="19812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Font typeface="Courier New" pitchFamily="49" charset="0"/>
              <a:buNone/>
            </a:pPr>
            <a:r>
              <a:rPr lang="fr-FR" sz="2000" dirty="0"/>
              <a:t>Elle est disponible sous un format </a:t>
            </a:r>
            <a:r>
              <a:rPr lang="fr-FR" sz="2000" b="1" dirty="0"/>
              <a:t>électronique modifiable</a:t>
            </a:r>
            <a:r>
              <a:rPr lang="fr-FR" sz="2000" dirty="0"/>
              <a:t> ou au travers d’une </a:t>
            </a:r>
            <a:r>
              <a:rPr lang="fr-FR" sz="2000" b="1" dirty="0"/>
              <a:t>interface de programmation </a:t>
            </a:r>
            <a:r>
              <a:rPr lang="fr-FR" sz="2000" dirty="0"/>
              <a:t>(</a:t>
            </a:r>
            <a:r>
              <a:rPr lang="fr-FR" sz="2000" b="1" dirty="0"/>
              <a:t>API)</a:t>
            </a:r>
            <a:r>
              <a:rPr lang="fr-FR" sz="2000" dirty="0"/>
              <a:t> </a:t>
            </a:r>
            <a:endParaRPr lang="fr-FR" sz="2000" b="1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B6F5E8-12BC-4BFB-9FF0-A3F96A30E215}"/>
              </a:ext>
            </a:extLst>
          </p:cNvPr>
          <p:cNvSpPr/>
          <p:nvPr/>
        </p:nvSpPr>
        <p:spPr>
          <a:xfrm>
            <a:off x="533400" y="1965089"/>
            <a:ext cx="433391" cy="433391"/>
          </a:xfrm>
          <a:prstGeom prst="flowChartConnector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D92"/>
                </a:solidFill>
              </a:rPr>
              <a:t>1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713649B-5C8F-4E8B-9EC4-C237B2AC00F1}"/>
              </a:ext>
            </a:extLst>
          </p:cNvPr>
          <p:cNvSpPr/>
          <p:nvPr/>
        </p:nvSpPr>
        <p:spPr>
          <a:xfrm>
            <a:off x="4917279" y="2005275"/>
            <a:ext cx="433391" cy="433391"/>
          </a:xfrm>
          <a:prstGeom prst="flowChartConnector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D92"/>
                </a:solidFill>
              </a:rPr>
              <a:t>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1DD736-9F33-43C5-B2C6-B98B7FC4A559}"/>
              </a:ext>
            </a:extLst>
          </p:cNvPr>
          <p:cNvGraphicFramePr>
            <a:graphicFrameLocks noGrp="1"/>
          </p:cNvGraphicFramePr>
          <p:nvPr/>
        </p:nvGraphicFramePr>
        <p:xfrm>
          <a:off x="678204" y="3956101"/>
          <a:ext cx="3108960" cy="23917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97989247"/>
                    </a:ext>
                  </a:extLst>
                </a:gridCol>
              </a:tblGrid>
              <a:tr h="1230396">
                <a:tc>
                  <a:txBody>
                    <a:bodyPr/>
                    <a:lstStyle/>
                    <a:p>
                      <a:pPr algn="ctr"/>
                      <a:r>
                        <a:rPr lang="en-US" sz="7800" dirty="0">
                          <a:solidFill>
                            <a:srgbClr val="00B050"/>
                          </a:solidFill>
                          <a:sym typeface="Wingdings"/>
                        </a:rPr>
                        <a:t></a:t>
                      </a:r>
                      <a:endParaRPr lang="en-US" sz="780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670085"/>
                  </a:ext>
                </a:extLst>
              </a:tr>
              <a:tr h="1055604">
                <a:tc>
                  <a:txBody>
                    <a:bodyPr/>
                    <a:lstStyle/>
                    <a:p>
                      <a:pPr algn="ctr"/>
                      <a:r>
                        <a:rPr lang="fr-FR" sz="2200" noProof="0" dirty="0">
                          <a:solidFill>
                            <a:schemeClr val="tx1"/>
                          </a:solidFill>
                        </a:rPr>
                        <a:t>xls, json, txt,</a:t>
                      </a:r>
                      <a:r>
                        <a:rPr lang="fr-FR" sz="2200" baseline="0" noProof="0" dirty="0">
                          <a:solidFill>
                            <a:schemeClr val="tx1"/>
                          </a:solidFill>
                        </a:rPr>
                        <a:t> csv, xml, html, doc, API, odt, ods etc.</a:t>
                      </a:r>
                      <a:endParaRPr lang="fr-FR" sz="22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99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08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23904" y="0"/>
            <a:ext cx="6267449" cy="812800"/>
          </a:xfrm>
        </p:spPr>
        <p:txBody>
          <a:bodyPr/>
          <a:lstStyle/>
          <a:p>
            <a:r>
              <a:rPr lang="fr-FR" sz="2300" dirty="0"/>
              <a:t>Données Ouvertes d’un point de vue légal</a:t>
            </a: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-114300" y="1008136"/>
            <a:ext cx="8839200" cy="51054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Courier New" pitchFamily="49" charset="0"/>
              <a:buNone/>
            </a:pPr>
            <a:r>
              <a:rPr lang="fr-FR" dirty="0"/>
              <a:t> </a:t>
            </a:r>
            <a:endParaRPr lang="fr-FR" b="1" dirty="0"/>
          </a:p>
          <a:p>
            <a:pPr algn="ctr">
              <a:buFont typeface="Courier New" pitchFamily="49" charset="0"/>
              <a:buNone/>
            </a:pPr>
            <a:endParaRPr lang="fr-FR" b="1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 </a:t>
            </a:r>
            <a:r>
              <a:rPr lang="fr-FR" sz="3500" b="1" dirty="0"/>
              <a:t>utiliser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 </a:t>
            </a:r>
            <a:r>
              <a:rPr lang="fr-FR" sz="3500" b="1" dirty="0"/>
              <a:t>réutiliser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</a:t>
            </a:r>
            <a:r>
              <a:rPr lang="fr-FR" sz="3500" b="1" dirty="0"/>
              <a:t> redistribuer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endParaRPr lang="fr-FR" sz="3500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Pour une utilisation</a:t>
            </a:r>
            <a:r>
              <a:rPr lang="fr-FR" sz="3500" b="1" dirty="0"/>
              <a:t> commerciale </a:t>
            </a:r>
            <a:r>
              <a:rPr lang="fr-FR" sz="3500" dirty="0"/>
              <a:t>et </a:t>
            </a:r>
            <a:r>
              <a:rPr lang="fr-FR" sz="3500" b="1" dirty="0"/>
              <a:t>non-commerciale</a:t>
            </a:r>
            <a:endParaRPr lang="fr-FR" sz="3500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On peut demander </a:t>
            </a:r>
            <a:r>
              <a:rPr lang="fr-FR" sz="3500" b="1" dirty="0"/>
              <a:t>l’attribution</a:t>
            </a:r>
          </a:p>
          <a:p>
            <a:pPr lvl="1">
              <a:lnSpc>
                <a:spcPct val="130000"/>
              </a:lnSpc>
              <a:buFont typeface="Courier New" pitchFamily="49" charset="0"/>
              <a:buNone/>
            </a:pPr>
            <a:endParaRPr lang="en-US" sz="4300" dirty="0"/>
          </a:p>
          <a:p>
            <a:pPr lvl="1">
              <a:lnSpc>
                <a:spcPct val="130000"/>
              </a:lnSpc>
              <a:buFont typeface="Courier New" pitchFamily="49" charset="0"/>
              <a:buNone/>
            </a:pPr>
            <a:r>
              <a:rPr lang="en-US" sz="4300" dirty="0"/>
              <a:t>				    Copyright</a:t>
            </a:r>
            <a:r>
              <a:rPr lang="en-US" sz="4300" dirty="0">
                <a:solidFill>
                  <a:schemeClr val="bg1"/>
                </a:solidFill>
              </a:rPr>
              <a:t> </a:t>
            </a:r>
            <a:r>
              <a:rPr lang="en-US" sz="4300" dirty="0"/>
              <a:t>©</a:t>
            </a:r>
            <a:r>
              <a:rPr lang="en-US" sz="4300" dirty="0">
                <a:solidFill>
                  <a:schemeClr val="bg1"/>
                </a:solidFill>
              </a:rPr>
              <a:t> </a:t>
            </a:r>
            <a:r>
              <a:rPr lang="fr-FR" sz="4200" b="1" dirty="0"/>
              <a:t> vs 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endParaRPr lang="fr-FR" sz="2400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4" name="Shape 9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6128" y="5315785"/>
            <a:ext cx="997584" cy="4245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rrow: Chevron 4">
            <a:extLst>
              <a:ext uri="{FF2B5EF4-FFF2-40B4-BE49-F238E27FC236}">
                <a16:creationId xmlns:a16="http://schemas.microsoft.com/office/drawing/2014/main" id="{2591973D-5851-4ECD-9CD9-A978B3233F1C}"/>
              </a:ext>
            </a:extLst>
          </p:cNvPr>
          <p:cNvSpPr/>
          <p:nvPr/>
        </p:nvSpPr>
        <p:spPr>
          <a:xfrm rot="5400000">
            <a:off x="4594276" y="3838648"/>
            <a:ext cx="263666" cy="2310972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0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3D738-20D2-4722-A3EC-C0A22BB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gouvernementales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565A76A-6394-4FBF-A2DB-A31D2B6EDB33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99248"/>
          <a:ext cx="8382000" cy="48498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administratives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Découpage administratif, adresses, bâtiments publics, agendas, etc.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statistiques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Population, économie, environnement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2920718885"/>
                  </a:ext>
                </a:extLst>
              </a:tr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politiques</a:t>
                      </a:r>
                      <a:endParaRPr lang="fr-FR" sz="2000" b="1" baseline="0" noProof="0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Résultats des élections, interventions à l’assemblée, présence, etc.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1995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de recherche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Données générées par les instituts et organismes de recherche public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284">
                <a:tc>
                  <a:txBody>
                    <a:bodyPr/>
                    <a:lstStyle/>
                    <a:p>
                      <a:pPr algn="ctr"/>
                      <a:r>
                        <a:rPr lang="fr-FR" sz="2000" b="1" baseline="0" noProof="0" dirty="0"/>
                        <a:t>Données créées par les citoyens et les sociétés</a:t>
                      </a:r>
                      <a:endParaRPr lang="fr-FR" sz="2000" b="1" noProof="0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Données qui peuvent être considérées comme relevant du bien public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762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790" y="0"/>
            <a:ext cx="6067313" cy="935182"/>
          </a:xfrm>
        </p:spPr>
        <p:txBody>
          <a:bodyPr/>
          <a:lstStyle/>
          <a:p>
            <a:r>
              <a:rPr lang="fr-FR" dirty="0"/>
              <a:t>Quelles données ?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32917" y="1073988"/>
            <a:ext cx="7500938" cy="4869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+mn-lt"/>
                <a:cs typeface="ＭＳ Ｐゴシック" pitchFamily="34" charset="-128"/>
              </a:rPr>
              <a:t> </a:t>
            </a:r>
            <a:r>
              <a:rPr lang="fr-FR" sz="2400" dirty="0">
                <a:latin typeface="+mn-lt"/>
              </a:rPr>
              <a:t>Toutes les données produites par une agence du gouvernement peuvent être publiées en tant que données ouvertes, en préservant la confidentialité et la sécurité</a:t>
            </a:r>
            <a:endParaRPr lang="fr-FR" sz="2400" b="1" dirty="0">
              <a:latin typeface="+mn-lt"/>
            </a:endParaRP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+mn-lt"/>
              </a:rPr>
              <a:t> </a:t>
            </a:r>
            <a:r>
              <a:rPr lang="fr-FR" sz="2400" dirty="0">
                <a:latin typeface="+mn-lt"/>
              </a:rPr>
              <a:t>L’Open Data définit les formats et les processus de publication pas le contenu</a:t>
            </a: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+mn-lt"/>
              </a:rPr>
              <a:t> Un ensemble de législations définit les données à publier (Loi 31-13, Loi statistique…) </a:t>
            </a:r>
          </a:p>
          <a:p>
            <a:pPr lvl="1"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800" b="1" dirty="0">
              <a:latin typeface="Trebuchet MS" pitchFamily="34" charset="0"/>
              <a:cs typeface="ＭＳ Ｐゴシック" pitchFamily="34" charset="-128"/>
            </a:endParaRP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		 	</a:t>
            </a:r>
            <a:r>
              <a:rPr lang="fr-FR" sz="2800" b="1" dirty="0">
                <a:latin typeface="Trebuchet MS" pitchFamily="34" charset="0"/>
                <a:cs typeface="ＭＳ Ｐゴシック" pitchFamily="34" charset="-128"/>
              </a:rPr>
              <a:t>L’open data complémente les lois 				d’accès à l’information</a:t>
            </a: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6" name="Picture 2" descr="Image result for acces à l'information icon">
            <a:extLst>
              <a:ext uri="{FF2B5EF4-FFF2-40B4-BE49-F238E27FC236}">
                <a16:creationId xmlns:a16="http://schemas.microsoft.com/office/drawing/2014/main" id="{2E7544E8-8DF6-438E-BD62-35CEA6C0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5294" y="2252048"/>
            <a:ext cx="690056" cy="69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74D45473-40E5-4DFF-A469-48875E9602F5}"/>
              </a:ext>
            </a:extLst>
          </p:cNvPr>
          <p:cNvSpPr/>
          <p:nvPr/>
        </p:nvSpPr>
        <p:spPr>
          <a:xfrm>
            <a:off x="880733" y="4606637"/>
            <a:ext cx="324716" cy="53939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39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790" y="0"/>
            <a:ext cx="6067313" cy="935182"/>
          </a:xfrm>
        </p:spPr>
        <p:txBody>
          <a:bodyPr/>
          <a:lstStyle/>
          <a:p>
            <a:r>
              <a:rPr lang="fr-FR" sz="2400" dirty="0"/>
              <a:t>Open Data et La protection des données personnelles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56310" y="1142235"/>
            <a:ext cx="8887690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L’open data nécessite un cadre législatif claire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concernant la protection des donnée personnelles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Les lois de protection des données personnelles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définissent le contenu: Quelle données doivent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être protégées 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1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L’open data développe des capacités sur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l’anonymisation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16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Des défis communs à tous les pays: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Transparence vs protection des données 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personnelles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Les spécificités culturelles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0" name="Picture 2" descr="Image result for donnée personnelle icon">
            <a:extLst>
              <a:ext uri="{FF2B5EF4-FFF2-40B4-BE49-F238E27FC236}">
                <a16:creationId xmlns:a16="http://schemas.microsoft.com/office/drawing/2014/main" id="{23D1B6E4-3D92-4389-B768-B8F08FE2C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3642" y="2845737"/>
            <a:ext cx="2632135" cy="14870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0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04" y="0"/>
            <a:ext cx="4777015" cy="812800"/>
          </a:xfrm>
        </p:spPr>
        <p:txBody>
          <a:bodyPr/>
          <a:lstStyle/>
          <a:p>
            <a:pPr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Facteurs clés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de succès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191604" y="1156739"/>
            <a:ext cx="8760791" cy="521548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 leadership fort à tous les niveaux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Au plus haut niveau de l’Etat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Au niveau des Ministres, cabinets, conseillers et des directeurs 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généraux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Une législation incitative et protectrice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Une structure organisationnelle pour organiser les activités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Une implémentation au niveau de chaque organisme public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: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politique de gestion de données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Développement de capacités et leur mise en œuvre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Une communauté de réutilisateurs engagée avec le gouvernement et au niveau individuel de chaque secteur</a:t>
            </a:r>
          </a:p>
        </p:txBody>
      </p:sp>
      <p:pic>
        <p:nvPicPr>
          <p:cNvPr id="3" name="Image 2" descr="Une image contenant objet&#10;&#10;Description générée automatiquement">
            <a:extLst>
              <a:ext uri="{FF2B5EF4-FFF2-40B4-BE49-F238E27FC236}">
                <a16:creationId xmlns:a16="http://schemas.microsoft.com/office/drawing/2014/main" id="{78779663-79E4-4D0A-B0F2-BE0F642B7B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1183" y="983673"/>
            <a:ext cx="1844443" cy="10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2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9" y="0"/>
            <a:ext cx="4239492" cy="935182"/>
          </a:xfrm>
        </p:spPr>
        <p:txBody>
          <a:bodyPr/>
          <a:lstStyle/>
          <a:p>
            <a:r>
              <a:rPr lang="fr-FR" dirty="0"/>
              <a:t>Les opportunités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08683" y="1022819"/>
            <a:ext cx="8278092" cy="481600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Mettre les données au centre de la gouvernance: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Améliorer l’efficacité de l’administration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Faciliter la mise en place d’un cadre d’évaluation des politiques publiques basées sur les données (y compris les ODD)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Faciliter l’utilisation des données pour la prise de décision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Définir un nouveau contrat de gouvernance avec les citoyens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Implémenter les services publics en collaboration avec les citoyens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Utiliser l’innovation et l’intelligence collective pour la résolution des problèmes de l’administration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Développer l’innovation TIC dans tous les secteurs de l’économie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Augmenter la transparence de la gouvernance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720431-EC47-4B62-8576-AA9A0946A9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911"/>
          <a:stretch/>
        </p:blipFill>
        <p:spPr>
          <a:xfrm>
            <a:off x="7613576" y="5094325"/>
            <a:ext cx="1453426" cy="130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9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Exemples d’applications</a:t>
            </a:r>
          </a:p>
        </p:txBody>
      </p:sp>
    </p:spTree>
    <p:extLst>
      <p:ext uri="{BB962C8B-B14F-4D97-AF65-F5344CB8AC3E}">
        <p14:creationId xmlns:p14="http://schemas.microsoft.com/office/powerpoint/2010/main" val="177470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4" y="0"/>
            <a:ext cx="6368527" cy="812800"/>
          </a:xfrm>
        </p:spPr>
        <p:txBody>
          <a:bodyPr/>
          <a:lstStyle/>
          <a:p>
            <a:r>
              <a:rPr lang="fr-FR" dirty="0"/>
              <a:t>Applications Open Data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9AB0F164-8AE0-4E9D-89EE-77FF5D563954}"/>
              </a:ext>
            </a:extLst>
          </p:cNvPr>
          <p:cNvSpPr>
            <a:spLocks/>
          </p:cNvSpPr>
          <p:nvPr/>
        </p:nvSpPr>
        <p:spPr bwMode="auto">
          <a:xfrm>
            <a:off x="248478" y="1110672"/>
            <a:ext cx="6917866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Des applications de startups ou de citoyens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utilisant des données publiques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façon de faire du journalisme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services publics utilisant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gouvernementales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services publics coopératifs s’appuyant sur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les citoyens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façon de définir les politiques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publiques en se basant sur les données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212E2-67BB-4AFE-A70B-C5B26690A1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6344" y="4629150"/>
            <a:ext cx="1724024" cy="172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2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Epidémie de choléra</a:t>
            </a:r>
            <a:br>
              <a:rPr lang="fr-FR" dirty="0"/>
            </a:br>
            <a:r>
              <a:rPr lang="fr-FR" dirty="0"/>
              <a:t>Londres – 1854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9AB0F164-8AE0-4E9D-89EE-77FF5D563954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John Snow (médecin):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part d’une carte de Londres;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ajoute les décès par adresse;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ajoute les positions des pompes à eau;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constate une corrélation;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déduit la pompe à eau à fermer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va enlever la manivelle de la pompe</a:t>
            </a:r>
          </a:p>
        </p:txBody>
      </p:sp>
    </p:spTree>
    <p:extLst>
      <p:ext uri="{BB962C8B-B14F-4D97-AF65-F5344CB8AC3E}">
        <p14:creationId xmlns:p14="http://schemas.microsoft.com/office/powerpoint/2010/main" val="779626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Epidémie de choléra</a:t>
            </a:r>
            <a:br>
              <a:rPr lang="fr-FR" dirty="0"/>
            </a:br>
            <a:r>
              <a:rPr lang="fr-FR" dirty="0"/>
              <a:t>Londres – 1854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FFB91B1-0A64-4E25-967D-5B4A8E8874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06"/>
            <a:ext cx="9144000" cy="685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5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6955971" cy="812800"/>
          </a:xfrm>
        </p:spPr>
        <p:txBody>
          <a:bodyPr/>
          <a:lstStyle/>
          <a:p>
            <a:r>
              <a:rPr lang="fr-FR" sz="2800" dirty="0"/>
              <a:t>Exemples de service</a:t>
            </a:r>
          </a:p>
        </p:txBody>
      </p:sp>
      <p:pic>
        <p:nvPicPr>
          <p:cNvPr id="6146" name="Picture 2" descr="C:\Users\boyera\Desktop\tz_health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560" y="1893733"/>
            <a:ext cx="5965970" cy="423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13"/>
          <p:cNvSpPr txBox="1">
            <a:spLocks/>
          </p:cNvSpPr>
          <p:nvPr/>
        </p:nvSpPr>
        <p:spPr>
          <a:xfrm>
            <a:off x="511630" y="1237514"/>
            <a:ext cx="5760900" cy="338100"/>
          </a:xfrm>
          <a:prstGeom prst="rect">
            <a:avLst/>
          </a:prstGeom>
        </p:spPr>
        <p:txBody>
          <a:bodyPr vert="horz" lIns="91425" tIns="91425" rIns="91425" bIns="91425" anchor="t" anchorCtr="0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+mn-lt"/>
                <a:ea typeface="ＭＳ Ｐゴシック" charset="-128"/>
                <a:cs typeface="Calibri (Titres)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95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Centre de Santé en Tanzanie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B197B-549B-41ED-9058-C75F4EE21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1231" y="1105622"/>
            <a:ext cx="788111" cy="788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0147C9-16A8-4874-87AD-B830706704A6}"/>
              </a:ext>
            </a:extLst>
          </p:cNvPr>
          <p:cNvSpPr txBox="1"/>
          <p:nvPr/>
        </p:nvSpPr>
        <p:spPr>
          <a:xfrm>
            <a:off x="6886574" y="1893733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de la santé</a:t>
            </a:r>
          </a:p>
        </p:txBody>
      </p:sp>
    </p:spTree>
    <p:extLst>
      <p:ext uri="{BB962C8B-B14F-4D97-AF65-F5344CB8AC3E}">
        <p14:creationId xmlns:p14="http://schemas.microsoft.com/office/powerpoint/2010/main" val="103172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dans l’éducation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4A4358-430B-466B-85B9-38ECCC5DF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417" y="1142257"/>
            <a:ext cx="8428383" cy="52233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186C44-BFB9-4AA2-A113-35C3CDBE5D04}"/>
              </a:ext>
            </a:extLst>
          </p:cNvPr>
          <p:cNvSpPr/>
          <p:nvPr/>
        </p:nvSpPr>
        <p:spPr>
          <a:xfrm>
            <a:off x="6552713" y="6180946"/>
            <a:ext cx="2591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http://nendo.data.gov.bf</a:t>
            </a:r>
          </a:p>
        </p:txBody>
      </p:sp>
    </p:spTree>
    <p:extLst>
      <p:ext uri="{BB962C8B-B14F-4D97-AF65-F5344CB8AC3E}">
        <p14:creationId xmlns:p14="http://schemas.microsoft.com/office/powerpoint/2010/main" val="252806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Shape 20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323975"/>
            <a:ext cx="4023442" cy="526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5399952" y="1969044"/>
            <a:ext cx="3587100" cy="4111398"/>
          </a:xfrm>
          <a:prstGeom prst="rect">
            <a:avLst/>
          </a:prstGeom>
          <a:solidFill>
            <a:schemeClr val="bg1">
              <a:lumMod val="95000"/>
              <a:alpha val="5576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 dirty="0"/>
              <a:t>Les sites de recherche immobilière vous guident</a:t>
            </a:r>
            <a:r>
              <a:rPr lang="en" sz="2400" dirty="0"/>
              <a:t>: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Comparati</a:t>
            </a:r>
            <a:r>
              <a:rPr lang="fr-FR" sz="2400" dirty="0"/>
              <a:t>f des prix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Evolution historique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C</a:t>
            </a:r>
            <a:r>
              <a:rPr lang="en" sz="2400" dirty="0"/>
              <a:t>ompar</a:t>
            </a:r>
            <a:r>
              <a:rPr lang="fr-FR" sz="2400" dirty="0"/>
              <a:t>a</a:t>
            </a:r>
            <a:r>
              <a:rPr lang="en" sz="2400" dirty="0"/>
              <a:t>isons </a:t>
            </a:r>
            <a:r>
              <a:rPr lang="fr-FR" sz="2400" dirty="0"/>
              <a:t>régionales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Evolution des prix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CAEBF-C248-449E-9B7A-D43C9CF1154C}"/>
              </a:ext>
            </a:extLst>
          </p:cNvPr>
          <p:cNvSpPr txBox="1"/>
          <p:nvPr/>
        </p:nvSpPr>
        <p:spPr>
          <a:xfrm>
            <a:off x="0" y="823314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</a:t>
            </a:r>
            <a:r>
              <a:rPr lang="fr-FR" i="1" dirty="0">
                <a:solidFill>
                  <a:srgbClr val="29A428"/>
                </a:solidFill>
              </a:rPr>
              <a:t>immobilier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2B2F2-D98E-4571-A192-A7EA161710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18250"/>
            <a:ext cx="705064" cy="705064"/>
          </a:xfrm>
          <a:prstGeom prst="rect">
            <a:avLst/>
          </a:prstGeom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2B7D2531-7AAA-45DE-B79C-97622EE816C3}"/>
              </a:ext>
            </a:extLst>
          </p:cNvPr>
          <p:cNvSpPr/>
          <p:nvPr/>
        </p:nvSpPr>
        <p:spPr>
          <a:xfrm>
            <a:off x="4759716" y="2237648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98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Shape 21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2225" y="118250"/>
            <a:ext cx="5108225" cy="66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0" y="1762125"/>
            <a:ext cx="3295650" cy="4857750"/>
          </a:xfrm>
          <a:prstGeom prst="rect">
            <a:avLst/>
          </a:prstGeom>
          <a:solidFill>
            <a:schemeClr val="bg1">
              <a:lumMod val="95000"/>
              <a:alpha val="5576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dirty="0"/>
              <a:t>Les futurs résidents peuvent aussi voir</a:t>
            </a:r>
            <a:r>
              <a:rPr lang="en" sz="2400" dirty="0"/>
              <a:t>:</a:t>
            </a: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Quels sont leurs voisins ?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Le temps moyen pour se rendre au travail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Le taux de réussite dans les écoles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La criminalité</a:t>
            </a: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12673-3CD9-4C8F-810C-B42020FE3905}"/>
              </a:ext>
            </a:extLst>
          </p:cNvPr>
          <p:cNvSpPr txBox="1"/>
          <p:nvPr/>
        </p:nvSpPr>
        <p:spPr>
          <a:xfrm>
            <a:off x="0" y="823314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</a:t>
            </a:r>
            <a:r>
              <a:rPr lang="fr-LU" i="1" dirty="0">
                <a:solidFill>
                  <a:srgbClr val="29A428"/>
                </a:solidFill>
              </a:rPr>
              <a:t>immobilier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605B64-C558-489F-B614-A6C4C40F9DB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18250"/>
            <a:ext cx="705064" cy="705064"/>
          </a:xfrm>
          <a:prstGeom prst="rect">
            <a:avLst/>
          </a:prstGeom>
        </p:spPr>
      </p:pic>
      <p:sp>
        <p:nvSpPr>
          <p:cNvPr id="7" name="Arrow: Chevron 6">
            <a:extLst>
              <a:ext uri="{FF2B5EF4-FFF2-40B4-BE49-F238E27FC236}">
                <a16:creationId xmlns:a16="http://schemas.microsoft.com/office/drawing/2014/main" id="{C3B9C68F-0EC2-4888-8FCE-4548D72E0DB8}"/>
              </a:ext>
            </a:extLst>
          </p:cNvPr>
          <p:cNvSpPr/>
          <p:nvPr/>
        </p:nvSpPr>
        <p:spPr>
          <a:xfrm>
            <a:off x="3425042" y="2313848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658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28" y="0"/>
            <a:ext cx="5038272" cy="812800"/>
          </a:xfrm>
        </p:spPr>
        <p:txBody>
          <a:bodyPr/>
          <a:lstStyle/>
          <a:p>
            <a:r>
              <a:rPr lang="fr-FR" dirty="0"/>
              <a:t>Open Data et consommation</a:t>
            </a:r>
          </a:p>
        </p:txBody>
      </p:sp>
      <p:pic>
        <p:nvPicPr>
          <p:cNvPr id="7" name="Picture 2" descr="Screen Clipping">
            <a:extLst>
              <a:ext uri="{FF2B5EF4-FFF2-40B4-BE49-F238E27FC236}">
                <a16:creationId xmlns:a16="http://schemas.microsoft.com/office/drawing/2014/main" id="{D78BDF51-6EBF-4213-9F7A-3ABFAA7CE3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255" y="1085619"/>
            <a:ext cx="6954982" cy="521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2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&amp; Transparence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B22D5-301B-4636-995F-0B5CB069E451}"/>
              </a:ext>
            </a:extLst>
          </p:cNvPr>
          <p:cNvSpPr/>
          <p:nvPr/>
        </p:nvSpPr>
        <p:spPr>
          <a:xfrm>
            <a:off x="6150873" y="618415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dirty="0"/>
          </a:p>
        </p:txBody>
      </p:sp>
      <p:pic>
        <p:nvPicPr>
          <p:cNvPr id="7" name="Picture 4" descr="Screen Clipping">
            <a:extLst>
              <a:ext uri="{FF2B5EF4-FFF2-40B4-BE49-F238E27FC236}">
                <a16:creationId xmlns:a16="http://schemas.microsoft.com/office/drawing/2014/main" id="{AC658C93-688B-40A3-A2A6-840AF8972A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417" y="1168523"/>
            <a:ext cx="8730302" cy="493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51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&amp; Transparence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2CCC6D-7F5F-4A64-9C3E-01EDAFEB54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1031" y="2047601"/>
            <a:ext cx="3921816" cy="204823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DFC008-46C3-48A9-B111-996989EB0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4167417"/>
            <a:ext cx="5210175" cy="20288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DB22D5-301B-4636-995F-0B5CB069E451}"/>
              </a:ext>
            </a:extLst>
          </p:cNvPr>
          <p:cNvSpPr/>
          <p:nvPr/>
        </p:nvSpPr>
        <p:spPr>
          <a:xfrm>
            <a:off x="6150873" y="6184152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http://code4sa.org/taxclock/</a:t>
            </a:r>
          </a:p>
        </p:txBody>
      </p:sp>
    </p:spTree>
    <p:extLst>
      <p:ext uri="{BB962C8B-B14F-4D97-AF65-F5344CB8AC3E}">
        <p14:creationId xmlns:p14="http://schemas.microsoft.com/office/powerpoint/2010/main" val="1217214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7" y="0"/>
            <a:ext cx="5477933" cy="812800"/>
          </a:xfrm>
        </p:spPr>
        <p:txBody>
          <a:bodyPr/>
          <a:lstStyle/>
          <a:p>
            <a:r>
              <a:rPr lang="fr-FR" dirty="0"/>
              <a:t>Journalisme basé sur les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DECEB9-7E12-4C2C-9545-E6E4F293DFE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672" y="1186178"/>
            <a:ext cx="7938655" cy="50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73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7" y="0"/>
            <a:ext cx="5477933" cy="812800"/>
          </a:xfrm>
        </p:spPr>
        <p:txBody>
          <a:bodyPr/>
          <a:lstStyle/>
          <a:p>
            <a:r>
              <a:rPr lang="fr-FR" dirty="0"/>
              <a:t>Journalisme basé sur les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2267D23-F09A-4A9A-8211-7983FF78F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854" y="1020398"/>
            <a:ext cx="6417709" cy="525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8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705474" cy="812800"/>
          </a:xfrm>
        </p:spPr>
        <p:txBody>
          <a:bodyPr/>
          <a:lstStyle/>
          <a:p>
            <a:r>
              <a:rPr lang="fr-FR" sz="2800" dirty="0"/>
              <a:t>Exemples d’impact économique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9510" y="1155498"/>
            <a:ext cx="7512757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6559EB-12FA-462A-9F23-24ED2C362FCF}"/>
              </a:ext>
            </a:extLst>
          </p:cNvPr>
          <p:cNvSpPr/>
          <p:nvPr/>
        </p:nvSpPr>
        <p:spPr>
          <a:xfrm>
            <a:off x="304270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€1.7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milliards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A8CAB-1BF6-4463-B146-CF4C6808FE43}"/>
              </a:ext>
            </a:extLst>
          </p:cNvPr>
          <p:cNvSpPr/>
          <p:nvPr/>
        </p:nvSpPr>
        <p:spPr>
          <a:xfrm>
            <a:off x="2599266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629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millions d’heures d’attente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4851F-7DFE-4945-AA4C-775FEF80DD7C}"/>
              </a:ext>
            </a:extLst>
          </p:cNvPr>
          <p:cNvSpPr/>
          <p:nvPr/>
        </p:nvSpPr>
        <p:spPr>
          <a:xfrm>
            <a:off x="4894262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16%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de la consommation d’énergie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9F261F-E172-409B-94CD-EF2F4260FB6F}"/>
              </a:ext>
            </a:extLst>
          </p:cNvPr>
          <p:cNvSpPr/>
          <p:nvPr/>
        </p:nvSpPr>
        <p:spPr>
          <a:xfrm>
            <a:off x="304270" y="3295982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£92 milliards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B10126-8DA1-4822-8355-85F38755FE96}"/>
              </a:ext>
            </a:extLst>
          </p:cNvPr>
          <p:cNvSpPr/>
          <p:nvPr/>
        </p:nvSpPr>
        <p:spPr>
          <a:xfrm>
            <a:off x="2599266" y="3295982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500.000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emplois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7F712-4900-452B-8FB4-CAD16BEA4803}"/>
              </a:ext>
            </a:extLst>
          </p:cNvPr>
          <p:cNvSpPr/>
          <p:nvPr/>
        </p:nvSpPr>
        <p:spPr>
          <a:xfrm>
            <a:off x="304270" y="4912469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 $930 millions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807D3-21FD-4CC9-AEC2-BBFDE560E7D9}"/>
              </a:ext>
            </a:extLst>
          </p:cNvPr>
          <p:cNvSpPr txBox="1"/>
          <p:nvPr/>
        </p:nvSpPr>
        <p:spPr>
          <a:xfrm>
            <a:off x="516604" y="2164515"/>
            <a:ext cx="8667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D’après une étude européenne, d’ici à 2020 l’utilisation de l’Open data réduira les couts de l’administration de  €1.7 milliards dans les 28 pays de l’EU. Elle réduira également de 629 millions d’heure le temps d’attente sur les routes européennes, et permettra une réduction de 16% de la consommation d’énergie.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92D42-2EC5-46FB-A062-C128B6602EA5}"/>
              </a:ext>
            </a:extLst>
          </p:cNvPr>
          <p:cNvSpPr txBox="1"/>
          <p:nvPr/>
        </p:nvSpPr>
        <p:spPr>
          <a:xfrm>
            <a:off x="516604" y="4250750"/>
            <a:ext cx="8667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L’ODI a identifié 270 sociétés utilisant les données gouvernementales ouvertes, représentant un chiffre d’affaire de £92 milliards  et plus de 500.000 emploi.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FEF9A-04CC-4AF6-BABC-E946CE1D2CB5}"/>
              </a:ext>
            </a:extLst>
          </p:cNvPr>
          <p:cNvSpPr txBox="1"/>
          <p:nvPr/>
        </p:nvSpPr>
        <p:spPr>
          <a:xfrm>
            <a:off x="516604" y="5867237"/>
            <a:ext cx="8667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The Climate Corporation, une société américaine basée sur l’exploitation des données ouvertes a été vendue pour $930 millions.</a:t>
            </a:r>
          </a:p>
        </p:txBody>
      </p:sp>
      <p:pic>
        <p:nvPicPr>
          <p:cNvPr id="17" name="Image 5">
            <a:extLst>
              <a:ext uri="{FF2B5EF4-FFF2-40B4-BE49-F238E27FC236}">
                <a16:creationId xmlns:a16="http://schemas.microsoft.com/office/drawing/2014/main" id="{729C9A7E-969C-4E4A-BAA9-6CC4D45FFF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7431" y="1240731"/>
            <a:ext cx="2052674" cy="658307"/>
          </a:xfrm>
          <a:prstGeom prst="rect">
            <a:avLst/>
          </a:prstGeom>
        </p:spPr>
      </p:pic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E0AAEE1-61B6-4821-AE61-7543C21A7D91}"/>
              </a:ext>
            </a:extLst>
          </p:cNvPr>
          <p:cNvSpPr/>
          <p:nvPr/>
        </p:nvSpPr>
        <p:spPr>
          <a:xfrm>
            <a:off x="304270" y="5886125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B490F63B-3F8B-4A28-B861-3D37619ADEEF}"/>
              </a:ext>
            </a:extLst>
          </p:cNvPr>
          <p:cNvSpPr/>
          <p:nvPr/>
        </p:nvSpPr>
        <p:spPr>
          <a:xfrm>
            <a:off x="304270" y="4310223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9E7E1C3-CB40-4B53-8BD7-989DDC1C1D6E}"/>
              </a:ext>
            </a:extLst>
          </p:cNvPr>
          <p:cNvSpPr/>
          <p:nvPr/>
        </p:nvSpPr>
        <p:spPr>
          <a:xfrm>
            <a:off x="304270" y="2449917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649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130799" cy="812800"/>
          </a:xfrm>
        </p:spPr>
        <p:txBody>
          <a:bodyPr/>
          <a:lstStyle/>
          <a:p>
            <a:r>
              <a:rPr lang="fr-FR" sz="2800" dirty="0"/>
              <a:t>Innovation &amp; Open data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9510" y="1155498"/>
            <a:ext cx="7512757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73EED72-5B8D-4BEB-8A04-41092B7EC6E2}"/>
              </a:ext>
            </a:extLst>
          </p:cNvPr>
          <p:cNvSpPr txBox="1">
            <a:spLocks/>
          </p:cNvSpPr>
          <p:nvPr/>
        </p:nvSpPr>
        <p:spPr>
          <a:xfrm>
            <a:off x="1" y="115549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Nesta a investi £1.2m dans 7 compétition Open data</a:t>
            </a:r>
          </a:p>
          <a:p>
            <a:r>
              <a:rPr lang="fr-FR" sz="3200" dirty="0"/>
              <a:t>Les résultats sur 3 ans:</a:t>
            </a:r>
          </a:p>
          <a:p>
            <a:pPr lvl="1"/>
            <a:r>
              <a:rPr lang="fr-FR" sz="2500" dirty="0"/>
              <a:t>Un retour sur investissement pour chaque £1  entre £5 et £10 pour l’économie Anglaise soit une génération de £5.3m à £10.8m </a:t>
            </a:r>
          </a:p>
          <a:p>
            <a:pPr lvl="1"/>
            <a:r>
              <a:rPr lang="fr-FR" sz="2500" dirty="0"/>
              <a:t>La création de 75 à 141 emplois</a:t>
            </a:r>
          </a:p>
          <a:p>
            <a:pPr lvl="1"/>
            <a:r>
              <a:rPr lang="fr-FR" sz="2500" dirty="0"/>
              <a:t>Un large impact social et environnemental</a:t>
            </a:r>
            <a:br>
              <a:rPr lang="fr-FR" sz="2900" dirty="0"/>
            </a:b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0FE104D-96E9-4697-9BA1-488A2AD70B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532" y="3533422"/>
            <a:ext cx="2015467" cy="22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36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Bénéfices pour les structures publiques?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faits: de nombreuses études ont montré l’impact social et financier de l’Open Data en termes de création de nouveaux services, de richesses et d’emplois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Quels bénéfices pour les structures publiques?</a:t>
            </a:r>
          </a:p>
          <a:p>
            <a:pPr marL="457200" lvl="1" indent="0">
              <a:buNone/>
            </a:pPr>
            <a:br>
              <a:rPr lang="fr-FR" sz="2200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C7794F-ADC5-4EF9-BAFB-F966F8ED16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1861" y="2430117"/>
            <a:ext cx="1994696" cy="199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45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583ED-7106-41BC-8750-C5E4008A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2" y="0"/>
            <a:ext cx="6133171" cy="812800"/>
          </a:xfrm>
        </p:spPr>
        <p:txBody>
          <a:bodyPr/>
          <a:lstStyle/>
          <a:p>
            <a:r>
              <a:rPr lang="fr-FR" dirty="0"/>
              <a:t>Open Data: la 3</a:t>
            </a:r>
            <a:r>
              <a:rPr lang="fr-FR" baseline="30000" dirty="0"/>
              <a:t>ème</a:t>
            </a:r>
            <a:r>
              <a:rPr lang="fr-FR" dirty="0"/>
              <a:t> révolution digitale</a:t>
            </a:r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2A1A28DF-896A-46AF-A459-525D4E6154C9}"/>
              </a:ext>
            </a:extLst>
          </p:cNvPr>
          <p:cNvSpPr>
            <a:spLocks/>
          </p:cNvSpPr>
          <p:nvPr/>
        </p:nvSpPr>
        <p:spPr bwMode="auto">
          <a:xfrm>
            <a:off x="248478" y="1283352"/>
            <a:ext cx="8647044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Open Data = Web 3.0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1.0 : Les contenus statiques: 1990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2.0 : Tout le monde contribue: 2000-2005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3.0 : Les documents et les données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Chaque révolution apporte des améliorations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Les transitions sont difficiles et requièrent un leadership fort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1A70C38E-740F-44F0-95CB-73E58B51A4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1661" y="4563285"/>
            <a:ext cx="1625079" cy="16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52930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Open Data et Gestion de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0" y="1418041"/>
            <a:ext cx="7086600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Gestion de données: 3 objectifs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Savoir ce que l’on sait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Partager ce que l’on sait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Utiliser ce que l’on sait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pratique: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Identifier les données disponibles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Centraliser les données et les rendre interopérables &amp; réutilisables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Acquérir les capacités pour exploiter tout ou partie des données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Mettre en place des stratégies de travail basées sur l’analyse de données.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L’Open Data est un effet de bord de la mise en place d’une politique de gestion de données: la publication d’un sous-ensemble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 descr="Une image contenant équipement électronique&#10;&#10;Description générée automatiquement">
            <a:extLst>
              <a:ext uri="{FF2B5EF4-FFF2-40B4-BE49-F238E27FC236}">
                <a16:creationId xmlns:a16="http://schemas.microsoft.com/office/drawing/2014/main" id="{363F9684-0A0A-45FE-9701-DAFD3316F6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6968" y="1188440"/>
            <a:ext cx="3105264" cy="31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91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009C1B-48EC-49FB-88D2-0C4BDAF1C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397684"/>
              </p:ext>
            </p:extLst>
          </p:nvPr>
        </p:nvGraphicFramePr>
        <p:xfrm>
          <a:off x="179512" y="188640"/>
          <a:ext cx="8784976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1C4D7FF-0512-456C-91C9-425F4EE4CAC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1097468" cy="107622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7F3A71F-0725-488A-9A93-5D2B09F5A596}"/>
              </a:ext>
            </a:extLst>
          </p:cNvPr>
          <p:cNvGrpSpPr/>
          <p:nvPr/>
        </p:nvGrpSpPr>
        <p:grpSpPr>
          <a:xfrm>
            <a:off x="3815916" y="2852936"/>
            <a:ext cx="1512168" cy="1152128"/>
            <a:chOff x="3927077" y="3447338"/>
            <a:chExt cx="1134126" cy="81009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2867C4B9-5AC1-4F41-9FE8-FD73D5FBB90D}"/>
                </a:ext>
              </a:extLst>
            </p:cNvPr>
            <p:cNvSpPr/>
            <p:nvPr/>
          </p:nvSpPr>
          <p:spPr>
            <a:xfrm>
              <a:off x="3927077" y="3447338"/>
              <a:ext cx="1134126" cy="81009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0AD27E-B9F5-4E59-A71E-F6AF8098C407}"/>
                </a:ext>
              </a:extLst>
            </p:cNvPr>
            <p:cNvSpPr txBox="1"/>
            <p:nvPr/>
          </p:nvSpPr>
          <p:spPr>
            <a:xfrm>
              <a:off x="4143101" y="3702342"/>
              <a:ext cx="702078" cy="281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PT Serif" panose="020A0603040505020204" pitchFamily="18" charset="0"/>
                </a:rPr>
                <a:t>Data</a:t>
              </a:r>
            </a:p>
          </p:txBody>
        </p:sp>
      </p:grp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E1DD5EC3-A7EB-46A1-BEE5-4C67C65EEEE9}"/>
              </a:ext>
            </a:extLst>
          </p:cNvPr>
          <p:cNvSpPr/>
          <p:nvPr/>
        </p:nvSpPr>
        <p:spPr>
          <a:xfrm rot="5595986" flipH="1">
            <a:off x="675291" y="2065429"/>
            <a:ext cx="1008112" cy="1224136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7316"/>
              <a:gd name="adj5" fmla="val 12500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999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8" y="0"/>
            <a:ext cx="5357308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Open Data dans les services publics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D9D594-EC63-4149-BA8E-D67F95619F7B}"/>
              </a:ext>
            </a:extLst>
          </p:cNvPr>
          <p:cNvSpPr txBox="1">
            <a:spLocks/>
          </p:cNvSpPr>
          <p:nvPr/>
        </p:nvSpPr>
        <p:spPr>
          <a:xfrm>
            <a:off x="178333" y="1064538"/>
            <a:ext cx="8752307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b="1" dirty="0"/>
              <a:t>Placements de services publiques </a:t>
            </a:r>
            <a:r>
              <a:rPr lang="fr-FR" dirty="0"/>
              <a:t>en fonction de données légales, géospatiales, sociales, …: écoles, hôpitaux, commissariats,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Tableaux de bord</a:t>
            </a:r>
            <a:r>
              <a:rPr lang="fr-FR" dirty="0"/>
              <a:t>: </a:t>
            </a:r>
            <a:r>
              <a:rPr lang="fr-FR" dirty="0">
                <a:hlinkClick r:id="rId2"/>
              </a:rPr>
              <a:t>Education</a:t>
            </a:r>
            <a:r>
              <a:rPr lang="fr-FR" dirty="0"/>
              <a:t>, </a:t>
            </a:r>
            <a:r>
              <a:rPr lang="fr-FR" dirty="0">
                <a:hlinkClick r:id="rId3"/>
              </a:rPr>
              <a:t>santé</a:t>
            </a:r>
            <a:r>
              <a:rPr lang="fr-FR" dirty="0"/>
              <a:t>, </a:t>
            </a:r>
            <a:r>
              <a:rPr lang="fr-FR" dirty="0">
                <a:hlinkClick r:id="rId4"/>
              </a:rPr>
              <a:t>industries extractives </a:t>
            </a:r>
            <a:r>
              <a:rPr lang="fr-FR" dirty="0"/>
              <a:t>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Cartographie</a:t>
            </a:r>
            <a:r>
              <a:rPr lang="fr-FR" dirty="0"/>
              <a:t>: routes, travaux, équipements,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Optimisation des ressources humaines et/ou financières</a:t>
            </a:r>
            <a:r>
              <a:rPr lang="fr-FR" dirty="0"/>
              <a:t>: Contrôle, investissement, etc..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Mesure d’impact</a:t>
            </a:r>
            <a:r>
              <a:rPr lang="fr-FR" dirty="0"/>
              <a:t>: expérimentation, Suivi &amp; évaluation etc…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657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52930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Open Data: l’engagement citoyen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0" y="1418041"/>
            <a:ext cx="6679580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approche des services publics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Implication des citoyens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Priorisation des actions en fonction des besoins et de la demande du public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L’Open Data permet la participation du public à l’opérationnalisation des services publics et la baisse des coûts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" name="Image 4" descr="Une image contenant objet&#10;&#10;Description générée automatiquement">
            <a:extLst>
              <a:ext uri="{FF2B5EF4-FFF2-40B4-BE49-F238E27FC236}">
                <a16:creationId xmlns:a16="http://schemas.microsoft.com/office/drawing/2014/main" id="{4BB4BEA8-E68F-45F0-9AE7-608DE7B5D8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2664" y="3812530"/>
            <a:ext cx="2203771" cy="21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76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798126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Amélioration des services publics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48478" y="1056878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Le Royaume-Uni a publié la localisation de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300 000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stations de bus au début des années 2010. La communauté a corrigé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18 000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d’entre elles (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~6%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Priorisation des réparations des routes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86C44-BFB9-4AA2-A113-35C3CDBE5D04}"/>
              </a:ext>
            </a:extLst>
          </p:cNvPr>
          <p:cNvSpPr/>
          <p:nvPr/>
        </p:nvSpPr>
        <p:spPr>
          <a:xfrm>
            <a:off x="6084885" y="6180946"/>
            <a:ext cx="3044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https://www.fixmystreet.com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88F5EF-6BF0-42A7-B649-DF216FF24C8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6945" y="2837713"/>
            <a:ext cx="4040975" cy="360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75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Les bénéfices et défis de l’open data</a:t>
            </a:r>
          </a:p>
          <a:p>
            <a:pPr lvl="1"/>
            <a:r>
              <a:rPr lang="fr-FR" sz="2100" dirty="0"/>
              <a:t>Quels bénéfices internes et quels défis voyez vous pour votre structure ? </a:t>
            </a:r>
            <a:endParaRPr lang="fr-FR" sz="1900" dirty="0"/>
          </a:p>
          <a:p>
            <a:pPr lvl="1"/>
            <a:r>
              <a:rPr lang="fr-FR" sz="2100" dirty="0"/>
              <a:t>Quels bénéfices et quels défis/risques/pièges voyez pour la mise en place d’approches incluant l’engagement citoyen dans votre structure?</a:t>
            </a:r>
          </a:p>
          <a:p>
            <a:pPr lvl="1"/>
            <a:r>
              <a:rPr lang="fr-FR" sz="2100" dirty="0"/>
              <a:t>Quels bénéfices externes (services, transparence, image) et quels défis/risques/pièges voyez vous pour votre structure ?</a:t>
            </a:r>
          </a:p>
          <a:p>
            <a:pPr marL="0" indent="0">
              <a:buNone/>
            </a:pPr>
            <a:endParaRPr lang="fr-FR" sz="2100" dirty="0"/>
          </a:p>
          <a:p>
            <a:pPr lvl="0"/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5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Open Data au Maroc</a:t>
            </a:r>
          </a:p>
        </p:txBody>
      </p:sp>
    </p:spTree>
    <p:extLst>
      <p:ext uri="{BB962C8B-B14F-4D97-AF65-F5344CB8AC3E}">
        <p14:creationId xmlns:p14="http://schemas.microsoft.com/office/powerpoint/2010/main" val="24390121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583ED-7106-41BC-8750-C5E4008A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L’Open Data au Maroc</a:t>
            </a:r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2A1A28DF-896A-46AF-A459-525D4E6154C9}"/>
              </a:ext>
            </a:extLst>
          </p:cNvPr>
          <p:cNvSpPr>
            <a:spLocks/>
          </p:cNvSpPr>
          <p:nvPr/>
        </p:nvSpPr>
        <p:spPr bwMode="auto">
          <a:xfrm>
            <a:off x="248478" y="1163782"/>
            <a:ext cx="8647044" cy="187729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/>
              <a:t>Pionnier dans le lancement d’un portail Open Data en 2011 </a:t>
            </a: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comité Open Data dirigé par l’ADD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portail national Open Data géré par l’ADD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portails dans certains ministères (BC,HCP)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série de législations régissant déjà la publication de données gouvernementale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impact économique et social faible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état des lieux et une stratégie développée en 2020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A9B931-396C-4E44-874E-6EC628776B87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5065" y="4765963"/>
            <a:ext cx="1118717" cy="1475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1908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Leadership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2401" y="2114467"/>
            <a:ext cx="3650061" cy="213802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5500" dirty="0"/>
              <a:t>Un leader, ADD, et un engagement du gouvernement (PGO)</a:t>
            </a:r>
          </a:p>
          <a:p>
            <a:r>
              <a:rPr lang="fr-FR" sz="5500" dirty="0"/>
              <a:t>Des compétences complémentaires et un intérêt: HCP, MEF-DRA, Archives du Maroc, CNDP/CDAI, ANRT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940332" y="2185151"/>
            <a:ext cx="3467491" cy="426080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700" dirty="0"/>
              <a:t>Manque de Leadership sur l’OD comparé au gouvernement ouvert, la simplification des procédures, les services au citoyen (ex. les données au centre de la gouvernance, le développement de l’économie numérique)</a:t>
            </a:r>
          </a:p>
          <a:p>
            <a:r>
              <a:rPr lang="fr-FR" sz="1700" dirty="0"/>
              <a:t>Faible compréhension et rôle de l’Open Data</a:t>
            </a:r>
          </a:p>
          <a:p>
            <a:r>
              <a:rPr lang="fr-FR" sz="1600" dirty="0"/>
              <a:t>Problématique relatives à la prise de décision pour la publication</a:t>
            </a:r>
            <a:endParaRPr lang="fr-FR" sz="1700" dirty="0"/>
          </a:p>
          <a:p>
            <a:r>
              <a:rPr lang="fr-FR" sz="1700" dirty="0"/>
              <a:t>Mise en place d’une approche centralisée  pour data.gov.ma qui apporte peu de résultats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21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Cadre réglementaire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2070461"/>
            <a:ext cx="3467491" cy="4236071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5500" dirty="0"/>
              <a:t>Un arsenal législatif adapté et performant autour de la loi d’accès à l’information et loi de la protection des données personnelles.</a:t>
            </a:r>
          </a:p>
          <a:p>
            <a:r>
              <a:rPr lang="fr-FR" sz="5500" dirty="0"/>
              <a:t>Un plan de nouvelles lois en cours pour combler les lacunes (ex. loi relative à l’administration électronique, protection des données personnelles, loi statistique)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940332" y="2201333"/>
            <a:ext cx="4436024" cy="441395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Manque de cadre juridique pour l’open data et la réutilisation des données</a:t>
            </a:r>
          </a:p>
          <a:p>
            <a:r>
              <a:rPr lang="fr-FR" sz="1800" dirty="0"/>
              <a:t>Hétérogénéité des licences de réutilisation</a:t>
            </a:r>
          </a:p>
          <a:p>
            <a:r>
              <a:rPr lang="fr-FR" sz="1800" dirty="0"/>
              <a:t>Absence d’une législation sur la classification des données</a:t>
            </a:r>
          </a:p>
          <a:p>
            <a:r>
              <a:rPr lang="fr-FR" sz="1800" dirty="0"/>
              <a:t>Faible compréhension de la loi sur la protection des données personnelles</a:t>
            </a:r>
          </a:p>
          <a:p>
            <a:r>
              <a:rPr lang="fr-FR" sz="1800" dirty="0"/>
              <a:t>Des éléments de la loi d’accès qui sont problématiques pour l’Open Data ou qui nécessitent des clarifications</a:t>
            </a:r>
          </a:p>
          <a:p>
            <a:pPr lvl="1"/>
            <a:r>
              <a:rPr lang="fr-FR" sz="1800" dirty="0"/>
              <a:t>Article 2 (contenu relatif aux missions de service public), Article 7 (exceptions), Article 6 (réutilisation), Article 5 (gratuité)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01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Structure institutionnelle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1970202"/>
            <a:ext cx="3467491" cy="4637988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3600" dirty="0"/>
              <a:t>Fonctionnement naturel en mode transversal avec des comités de pilotage inter-ministères (ex. le comité ODRA) et des thématiques en réseau (Chargés d’accès à l’information, de communication, réseau informel de l’ADD...)</a:t>
            </a:r>
          </a:p>
          <a:p>
            <a:r>
              <a:rPr lang="fr-FR" sz="3600" dirty="0"/>
              <a:t>Des administrations qui pensent à mettre en place des Structures/unités dédiées à la Données (Banque Centrale, DEF, Poste,…)</a:t>
            </a:r>
          </a:p>
          <a:p>
            <a:r>
              <a:rPr lang="fr-FR" sz="3600" dirty="0"/>
              <a:t>Des outils incitatifs: FOMAP, FSU, e-mtiaz </a:t>
            </a:r>
          </a:p>
          <a:p>
            <a:r>
              <a:rPr lang="fr-FR" sz="3600" dirty="0"/>
              <a:t>Des solutions potentielles de support technique: soft-center, digital factory, futur défis nationaux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1484" y="2114467"/>
            <a:ext cx="3467491" cy="168926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Positionnement de l’Open Data?</a:t>
            </a:r>
          </a:p>
          <a:p>
            <a:r>
              <a:rPr lang="fr-FR" sz="2000" dirty="0"/>
              <a:t>Absence de responsable OD ou de AGD (Administrateur Général de Données) au sein des structures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87776"/>
            <a:ext cx="838736" cy="93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00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Données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0394" y="1899088"/>
            <a:ext cx="3467491" cy="4578696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4000" dirty="0"/>
              <a:t>Des ministères qui publient énormément de données</a:t>
            </a:r>
          </a:p>
          <a:p>
            <a:r>
              <a:rPr lang="fr-FR" sz="4000" dirty="0"/>
              <a:t>De nombreux observatoires existants ou prévus</a:t>
            </a:r>
          </a:p>
          <a:p>
            <a:r>
              <a:rPr lang="fr-FR" sz="4000" dirty="0"/>
              <a:t>Des mines de données disponibles apparemment facilement accessibles via les observatoires existants (ex. ONDH), la BDS, les systèmes d’information en ligne (ex. la carte sanitaire, SI MASSAR,…), API ouverte BC</a:t>
            </a:r>
          </a:p>
          <a:p>
            <a:r>
              <a:rPr lang="fr-FR" sz="4000" dirty="0"/>
              <a:t>Quasiment aucune vente de données</a:t>
            </a:r>
          </a:p>
          <a:p>
            <a:pPr marL="0" indent="0">
              <a:buNone/>
            </a:pPr>
            <a:r>
              <a:rPr lang="fr-FR" sz="3600" dirty="0"/>
              <a:t>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7885" y="2114467"/>
            <a:ext cx="5152419" cy="4578696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dirty="0"/>
              <a:t>Un portail ancien et quasi vide et non mis à jour</a:t>
            </a:r>
          </a:p>
          <a:p>
            <a:r>
              <a:rPr lang="fr-FR" sz="4000" dirty="0"/>
              <a:t>Manque de standards techniques </a:t>
            </a:r>
          </a:p>
          <a:p>
            <a:r>
              <a:rPr lang="fr-FR" sz="4000" dirty="0"/>
              <a:t>Manque de sensibilisation à l’open data: différence entre informations, données, statistiques, données brutes. Différence entre portail Web et portail de données. Formats de données ouverts. Jeux de données.</a:t>
            </a:r>
          </a:p>
          <a:p>
            <a:r>
              <a:rPr lang="fr-FR" sz="4000" dirty="0"/>
              <a:t>Quasi-absence d’inventaire de données</a:t>
            </a:r>
          </a:p>
          <a:p>
            <a:r>
              <a:rPr lang="fr-FR" sz="4000" dirty="0"/>
              <a:t>Faible découvrabilité des données</a:t>
            </a:r>
          </a:p>
          <a:p>
            <a:r>
              <a:rPr lang="fr-FR" sz="4000" dirty="0"/>
              <a:t>Problème de référentiels (absent ou non partagé), de désagrégations qui impactent la réutilisabilité</a:t>
            </a:r>
          </a:p>
          <a:p>
            <a:r>
              <a:rPr lang="fr-FR" sz="4000" dirty="0"/>
              <a:t>Perception des risques et des opportunités</a:t>
            </a:r>
          </a:p>
          <a:p>
            <a:pPr lvl="1"/>
            <a:r>
              <a:rPr lang="fr-FR" sz="4000" dirty="0"/>
              <a:t>Risque individuel</a:t>
            </a:r>
          </a:p>
          <a:p>
            <a:r>
              <a:rPr lang="fr-FR" sz="4000" dirty="0"/>
              <a:t>Procédures administrative lourdes pour l’ échange de données inter-administrations</a:t>
            </a:r>
          </a:p>
          <a:p>
            <a:r>
              <a:rPr lang="fr-FR" sz="4000" dirty="0"/>
              <a:t>Des idées de valorisation directe des données</a:t>
            </a:r>
          </a:p>
          <a:p>
            <a:r>
              <a:rPr lang="fr-FR" sz="4000" dirty="0"/>
              <a:t>Des achats de données inter-administration: Météo, OMPIC, Cadastre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4000" dirty="0"/>
              <a:t>Anecdote sur les marchés publiques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661" y="1078212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92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Demande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2070461"/>
            <a:ext cx="3467491" cy="4407322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4000" dirty="0"/>
              <a:t>Une société civile active et poussant pour la publication au niveau national et local, et développant des plateformes réutilisant les données</a:t>
            </a:r>
          </a:p>
          <a:p>
            <a:r>
              <a:rPr lang="fr-FR" sz="4000" dirty="0"/>
              <a:t>Quelques acteurs portés sur les données: TAFRA, F. Mascir, ICT4Dev, OSM.ma</a:t>
            </a:r>
          </a:p>
          <a:p>
            <a:r>
              <a:rPr lang="fr-FR" sz="4000" dirty="0"/>
              <a:t>Un secteur des TIC et de l’innovation actif avec l’organisation de quantité de hackathons sur tous les sujets (agriculture, démocratie, etc.)</a:t>
            </a:r>
          </a:p>
          <a:p>
            <a:r>
              <a:rPr lang="fr-FR" sz="4000" dirty="0"/>
              <a:t>Des outils de requêtes en place: chikaya.ma, future plateforme pour le droit d’accès </a:t>
            </a:r>
          </a:p>
          <a:p>
            <a:r>
              <a:rPr lang="fr-FR" sz="4000" dirty="0"/>
              <a:t>Des professionnels de bonne qualité technique</a:t>
            </a:r>
          </a:p>
          <a:p>
            <a:pPr marL="0" indent="0">
              <a:buNone/>
            </a:pPr>
            <a:r>
              <a:rPr lang="fr-FR" sz="3600" dirty="0"/>
              <a:t>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7886" y="2241714"/>
            <a:ext cx="3842093" cy="371602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Manque d’interaction et de coordinations entre les acteurs non-gouvernementaux et les ministères</a:t>
            </a:r>
          </a:p>
          <a:p>
            <a:r>
              <a:rPr lang="fr-FR" sz="2100" dirty="0"/>
              <a:t>Quelques faiblesses dans le support à l’innovation en cours  de résolution: statut des startups (étudiants, enseignants),incitation fiscale,…</a:t>
            </a:r>
          </a:p>
          <a:p>
            <a:r>
              <a:rPr lang="fr-FR" sz="2100" dirty="0"/>
              <a:t>Pas de cursus open data dans les établissements TIC, ENSA ou autres</a:t>
            </a:r>
          </a:p>
          <a:p>
            <a:r>
              <a:rPr lang="fr-FR" sz="2100" dirty="0"/>
              <a:t>Pas de canal facile pour le dialogue avec le gouvernement</a:t>
            </a:r>
          </a:p>
          <a:p>
            <a:r>
              <a:rPr lang="fr-FR" sz="2100" dirty="0"/>
              <a:t>Faible visibilité des données disponibles</a:t>
            </a:r>
          </a:p>
          <a:p>
            <a:endParaRPr lang="fr-FR" sz="2100" dirty="0"/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54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5832763" cy="812800"/>
          </a:xfrm>
        </p:spPr>
        <p:txBody>
          <a:bodyPr/>
          <a:lstStyle/>
          <a:p>
            <a:r>
              <a:rPr lang="fr-FR" sz="2800" dirty="0"/>
              <a:t>Proposition d’actions à court terme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2401" y="1212980"/>
            <a:ext cx="6155093" cy="50571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87602C2-42FF-458C-A902-C07883F3FA14}"/>
              </a:ext>
            </a:extLst>
          </p:cNvPr>
          <p:cNvSpPr txBox="1">
            <a:spLocks/>
          </p:cNvSpPr>
          <p:nvPr/>
        </p:nvSpPr>
        <p:spPr>
          <a:xfrm>
            <a:off x="72044" y="1127478"/>
            <a:ext cx="5713614" cy="505719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Annonce officielle de lancement de l’initiative</a:t>
            </a:r>
          </a:p>
          <a:p>
            <a:r>
              <a:rPr lang="fr-FR" dirty="0"/>
              <a:t>Mise en place de la gouvernance</a:t>
            </a:r>
          </a:p>
          <a:p>
            <a:r>
              <a:rPr lang="fr-FR" dirty="0"/>
              <a:t>Conception et Mise en place du plan de suivi et évaluation</a:t>
            </a:r>
          </a:p>
          <a:p>
            <a:r>
              <a:rPr lang="fr-FR" dirty="0"/>
              <a:t>Sélection des ministères pilotes</a:t>
            </a:r>
          </a:p>
          <a:p>
            <a:r>
              <a:rPr lang="fr-FR" dirty="0"/>
              <a:t>Mise en place de l’appui technique aux administrations pilotes </a:t>
            </a:r>
          </a:p>
          <a:p>
            <a:r>
              <a:rPr lang="fr-FR" dirty="0"/>
              <a:t>Formation des points focaux </a:t>
            </a:r>
          </a:p>
          <a:p>
            <a:r>
              <a:rPr lang="fr-FR" dirty="0"/>
              <a:t>Lancement des chantiers</a:t>
            </a:r>
          </a:p>
          <a:p>
            <a:pPr lvl="1"/>
            <a:r>
              <a:rPr lang="fr-FR" dirty="0"/>
              <a:t>Inventaire</a:t>
            </a:r>
          </a:p>
          <a:p>
            <a:pPr lvl="1"/>
            <a:r>
              <a:rPr lang="fr-FR" dirty="0"/>
              <a:t>Référentiels</a:t>
            </a:r>
          </a:p>
          <a:p>
            <a:pPr lvl="1"/>
            <a:r>
              <a:rPr lang="fr-FR" dirty="0"/>
              <a:t>Plateforme technique et standard</a:t>
            </a:r>
          </a:p>
          <a:p>
            <a:pPr lvl="1"/>
            <a:r>
              <a:rPr lang="fr-FR" dirty="0"/>
              <a:t>Métadonnées</a:t>
            </a:r>
          </a:p>
          <a:p>
            <a:pPr lvl="1"/>
            <a:r>
              <a:rPr lang="fr-FR" dirty="0"/>
              <a:t>Licences</a:t>
            </a:r>
          </a:p>
          <a:p>
            <a:r>
              <a:rPr lang="fr-FR" dirty="0"/>
              <a:t>Lancement du développement de la législation Open Data</a:t>
            </a:r>
          </a:p>
          <a:p>
            <a:r>
              <a:rPr lang="fr-FR" dirty="0"/>
              <a:t>Lancement du développement d’une législation sur la classification des données</a:t>
            </a:r>
          </a:p>
          <a:p>
            <a:r>
              <a:rPr lang="fr-FR" dirty="0"/>
              <a:t>Développement des cas d’usages internes et externes</a:t>
            </a:r>
          </a:p>
          <a:p>
            <a:r>
              <a:rPr lang="fr-FR" dirty="0"/>
              <a:t>Identification d’un budget de lancement des actions</a:t>
            </a:r>
          </a:p>
          <a:p>
            <a:pPr lvl="1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50C357F-5635-4E75-9E26-C239485774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5163" y="2194560"/>
            <a:ext cx="2877044" cy="19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27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0"/>
            <a:ext cx="5918662" cy="812800"/>
          </a:xfrm>
        </p:spPr>
        <p:txBody>
          <a:bodyPr/>
          <a:lstStyle/>
          <a:p>
            <a:r>
              <a:rPr lang="fr-FR" sz="2400" dirty="0"/>
              <a:t>Feuille de route: 1</a:t>
            </a:r>
            <a:r>
              <a:rPr lang="fr-FR" sz="2400" baseline="30000" dirty="0"/>
              <a:t>ère</a:t>
            </a:r>
            <a:r>
              <a:rPr lang="fr-FR" sz="2400" dirty="0"/>
              <a:t> étape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284930" y="1201775"/>
            <a:ext cx="6787117" cy="410451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Sensibilisation des hauts responsables</a:t>
            </a:r>
          </a:p>
          <a:p>
            <a:r>
              <a:rPr lang="fr-FR" dirty="0"/>
              <a:t> Développement de manuels de procédure</a:t>
            </a:r>
          </a:p>
          <a:p>
            <a:pPr lvl="1"/>
            <a:r>
              <a:rPr lang="fr-FR" dirty="0"/>
              <a:t>Pour les Responsables Open Data</a:t>
            </a:r>
          </a:p>
          <a:p>
            <a:pPr lvl="1"/>
            <a:r>
              <a:rPr lang="fr-FR" dirty="0"/>
              <a:t>Pour les Gestionnaires de données</a:t>
            </a:r>
          </a:p>
          <a:p>
            <a:r>
              <a:rPr lang="fr-FR" dirty="0"/>
              <a:t>Sensibilisation des ROD et GdD</a:t>
            </a:r>
          </a:p>
          <a:p>
            <a:r>
              <a:rPr lang="fr-FR" dirty="0"/>
              <a:t>Travaux préliminaires sur les référentiels de données</a:t>
            </a:r>
          </a:p>
          <a:p>
            <a:pPr marL="514350" indent="-514350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BFAE9E1-8B41-427E-881F-BC8AC16AC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0833" y="4824420"/>
            <a:ext cx="2618237" cy="16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425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Open Data  </a:t>
            </a:r>
          </a:p>
          <a:p>
            <a:pPr algn="ctr"/>
            <a:r>
              <a:rPr lang="fr-FR" sz="3600" b="1" dirty="0"/>
              <a:t>Mythes</a:t>
            </a:r>
            <a:r>
              <a:rPr lang="en-GB" sz="3600" b="1" dirty="0"/>
              <a:t> et </a:t>
            </a:r>
            <a:r>
              <a:rPr lang="fr-FR" sz="3600" b="1" dirty="0"/>
              <a:t>Risques</a:t>
            </a:r>
          </a:p>
        </p:txBody>
      </p:sp>
    </p:spTree>
    <p:extLst>
      <p:ext uri="{BB962C8B-B14F-4D97-AF65-F5344CB8AC3E}">
        <p14:creationId xmlns:p14="http://schemas.microsoft.com/office/powerpoint/2010/main" val="1994920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Open Data: mythes and risques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dirty="0"/>
              <a:t> </a:t>
            </a:r>
          </a:p>
          <a:p>
            <a:r>
              <a:rPr lang="fr-FR" dirty="0"/>
              <a:t>Risques &amp; danger d’ouvrir ses données</a:t>
            </a:r>
          </a:p>
          <a:p>
            <a:r>
              <a:rPr lang="fr-FR" sz="2900" dirty="0"/>
              <a:t>Motivation &amp; Justification pour ne pas ouvrir ses données</a:t>
            </a:r>
          </a:p>
          <a:p>
            <a:endParaRPr lang="fr-FR" sz="2900" dirty="0"/>
          </a:p>
          <a:p>
            <a:pPr marL="0" indent="0">
              <a:buNone/>
            </a:pPr>
            <a:br>
              <a:rPr lang="fr-FR" sz="2900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86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1: quelles données publier?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/>
              <a:t>Mythe 1</a:t>
            </a:r>
            <a:r>
              <a:rPr lang="fr-FR" dirty="0"/>
              <a:t>: Tout publier vs rien publier</a:t>
            </a:r>
          </a:p>
          <a:p>
            <a:pPr marL="0" indent="0">
              <a:buNone/>
            </a:pPr>
            <a:r>
              <a:rPr lang="fr-FR" b="1" u="sng" dirty="0"/>
              <a:t>Réalité</a:t>
            </a:r>
            <a:r>
              <a:rPr lang="fr-FR" dirty="0"/>
              <a:t> Le spectre des données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br>
              <a:rPr lang="fr-FR" sz="2900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B7ECC364-6449-4280-816A-C1C5AAC1C0AC}"/>
              </a:ext>
            </a:extLst>
          </p:cNvPr>
          <p:cNvGrpSpPr/>
          <p:nvPr/>
        </p:nvGrpSpPr>
        <p:grpSpPr>
          <a:xfrm>
            <a:off x="339406" y="2902226"/>
            <a:ext cx="7739594" cy="2152865"/>
            <a:chOff x="871735" y="2582825"/>
            <a:chExt cx="7739594" cy="2152865"/>
          </a:xfrm>
        </p:grpSpPr>
        <p:grpSp>
          <p:nvGrpSpPr>
            <p:cNvPr id="7" name="Shape 137">
              <a:extLst>
                <a:ext uri="{FF2B5EF4-FFF2-40B4-BE49-F238E27FC236}">
                  <a16:creationId xmlns:a16="http://schemas.microsoft.com/office/drawing/2014/main" id="{306BD2A1-F350-484B-B04C-E0A9E165C325}"/>
                </a:ext>
              </a:extLst>
            </p:cNvPr>
            <p:cNvGrpSpPr/>
            <p:nvPr/>
          </p:nvGrpSpPr>
          <p:grpSpPr>
            <a:xfrm>
              <a:off x="871735" y="2921678"/>
              <a:ext cx="7363508" cy="1367279"/>
              <a:chOff x="2133930" y="3964583"/>
              <a:chExt cx="19820405" cy="5793552"/>
            </a:xfrm>
          </p:grpSpPr>
          <p:sp>
            <p:nvSpPr>
              <p:cNvPr id="16" name="Shape 138">
                <a:extLst>
                  <a:ext uri="{FF2B5EF4-FFF2-40B4-BE49-F238E27FC236}">
                    <a16:creationId xmlns:a16="http://schemas.microsoft.com/office/drawing/2014/main" id="{306D1A78-F922-4A2F-AD3D-8A53AC0AD154}"/>
                  </a:ext>
                </a:extLst>
              </p:cNvPr>
              <p:cNvSpPr/>
              <p:nvPr/>
            </p:nvSpPr>
            <p:spPr>
              <a:xfrm rot="10800000">
                <a:off x="2133930" y="8387022"/>
                <a:ext cx="3199229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2566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Shape 139">
                <a:extLst>
                  <a:ext uri="{FF2B5EF4-FFF2-40B4-BE49-F238E27FC236}">
                    <a16:creationId xmlns:a16="http://schemas.microsoft.com/office/drawing/2014/main" id="{EBDA7F1D-BE0A-4298-AEF3-1149544259FF}"/>
                  </a:ext>
                </a:extLst>
              </p:cNvPr>
              <p:cNvSpPr/>
              <p:nvPr/>
            </p:nvSpPr>
            <p:spPr>
              <a:xfrm rot="10800000">
                <a:off x="3505039" y="8387022"/>
                <a:ext cx="6707610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3329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Shape 140">
                <a:extLst>
                  <a:ext uri="{FF2B5EF4-FFF2-40B4-BE49-F238E27FC236}">
                    <a16:creationId xmlns:a16="http://schemas.microsoft.com/office/drawing/2014/main" id="{BB46A0F5-D290-4F5E-B06B-4E2CE854409A}"/>
                  </a:ext>
                </a:extLst>
              </p:cNvPr>
              <p:cNvSpPr/>
              <p:nvPr/>
            </p:nvSpPr>
            <p:spPr>
              <a:xfrm rot="10800000">
                <a:off x="7164648" y="8387022"/>
                <a:ext cx="6401807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2566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Shape 141">
                <a:extLst>
                  <a:ext uri="{FF2B5EF4-FFF2-40B4-BE49-F238E27FC236}">
                    <a16:creationId xmlns:a16="http://schemas.microsoft.com/office/drawing/2014/main" id="{ED68506E-A71A-4DD2-84F2-E00AD82DA926}"/>
                  </a:ext>
                </a:extLst>
              </p:cNvPr>
              <p:cNvSpPr/>
              <p:nvPr/>
            </p:nvSpPr>
            <p:spPr>
              <a:xfrm rot="10800000">
                <a:off x="10669597" y="8387136"/>
                <a:ext cx="9755699" cy="1370999"/>
              </a:xfrm>
              <a:prstGeom prst="triangle">
                <a:avLst>
                  <a:gd name="adj" fmla="val 50000"/>
                </a:avLst>
              </a:pr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Shape 142">
                <a:extLst>
                  <a:ext uri="{FF2B5EF4-FFF2-40B4-BE49-F238E27FC236}">
                    <a16:creationId xmlns:a16="http://schemas.microsoft.com/office/drawing/2014/main" id="{B218348D-2B05-439F-B92A-4EB668EB7EF9}"/>
                  </a:ext>
                </a:extLst>
              </p:cNvPr>
              <p:cNvSpPr/>
              <p:nvPr/>
            </p:nvSpPr>
            <p:spPr>
              <a:xfrm rot="10800000">
                <a:off x="19511243" y="8387022"/>
                <a:ext cx="2436371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5857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" name="Shape 143">
                <a:extLst>
                  <a:ext uri="{FF2B5EF4-FFF2-40B4-BE49-F238E27FC236}">
                    <a16:creationId xmlns:a16="http://schemas.microsoft.com/office/drawing/2014/main" id="{6354DDA3-7299-4CD0-AA40-3A7F282867F4}"/>
                  </a:ext>
                </a:extLst>
              </p:cNvPr>
              <p:cNvPicPr preferRelativeResize="0"/>
              <p:nvPr/>
            </p:nvPicPr>
            <p:blipFill rotWithShape="1">
              <a:blip r:embed="rId3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133935" y="3964583"/>
                <a:ext cx="19820400" cy="44393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Shape 133">
              <a:extLst>
                <a:ext uri="{FF2B5EF4-FFF2-40B4-BE49-F238E27FC236}">
                  <a16:creationId xmlns:a16="http://schemas.microsoft.com/office/drawing/2014/main" id="{483A9A68-B1DD-41C7-A61C-E35449C524B1}"/>
                </a:ext>
              </a:extLst>
            </p:cNvPr>
            <p:cNvSpPr/>
            <p:nvPr/>
          </p:nvSpPr>
          <p:spPr>
            <a:xfrm>
              <a:off x="903858" y="2582825"/>
              <a:ext cx="2058003" cy="31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Données Fermées</a:t>
              </a:r>
            </a:p>
          </p:txBody>
        </p:sp>
        <p:sp>
          <p:nvSpPr>
            <p:cNvPr id="9" name="Shape 133">
              <a:extLst>
                <a:ext uri="{FF2B5EF4-FFF2-40B4-BE49-F238E27FC236}">
                  <a16:creationId xmlns:a16="http://schemas.microsoft.com/office/drawing/2014/main" id="{C7A30443-A721-46CC-936C-527B0B640F2F}"/>
                </a:ext>
              </a:extLst>
            </p:cNvPr>
            <p:cNvSpPr/>
            <p:nvPr/>
          </p:nvSpPr>
          <p:spPr>
            <a:xfrm>
              <a:off x="3531697" y="2596103"/>
              <a:ext cx="2197070" cy="29902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Données Partagées</a:t>
              </a:r>
            </a:p>
          </p:txBody>
        </p:sp>
        <p:sp>
          <p:nvSpPr>
            <p:cNvPr id="10" name="Shape 133">
              <a:extLst>
                <a:ext uri="{FF2B5EF4-FFF2-40B4-BE49-F238E27FC236}">
                  <a16:creationId xmlns:a16="http://schemas.microsoft.com/office/drawing/2014/main" id="{DF153FA6-64AA-4CD1-BB90-58C54F5EA570}"/>
                </a:ext>
              </a:extLst>
            </p:cNvPr>
            <p:cNvSpPr/>
            <p:nvPr/>
          </p:nvSpPr>
          <p:spPr>
            <a:xfrm>
              <a:off x="6298603" y="2603422"/>
              <a:ext cx="2058003" cy="32358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Données Ouvertes</a:t>
              </a:r>
            </a:p>
          </p:txBody>
        </p:sp>
        <p:sp>
          <p:nvSpPr>
            <p:cNvPr id="11" name="Shape 129">
              <a:extLst>
                <a:ext uri="{FF2B5EF4-FFF2-40B4-BE49-F238E27FC236}">
                  <a16:creationId xmlns:a16="http://schemas.microsoft.com/office/drawing/2014/main" id="{48B06ED6-783B-4487-BCD6-30518E9E7450}"/>
                </a:ext>
              </a:extLst>
            </p:cNvPr>
            <p:cNvSpPr/>
            <p:nvPr/>
          </p:nvSpPr>
          <p:spPr>
            <a:xfrm>
              <a:off x="3560294" y="4154869"/>
              <a:ext cx="1327467" cy="31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Informations personnelles</a:t>
              </a:r>
            </a:p>
          </p:txBody>
        </p:sp>
        <p:sp>
          <p:nvSpPr>
            <p:cNvPr id="12" name="Shape 130">
              <a:extLst>
                <a:ext uri="{FF2B5EF4-FFF2-40B4-BE49-F238E27FC236}">
                  <a16:creationId xmlns:a16="http://schemas.microsoft.com/office/drawing/2014/main" id="{51FABE04-A67C-408A-A150-529620C3BA35}"/>
                </a:ext>
              </a:extLst>
            </p:cNvPr>
            <p:cNvSpPr/>
            <p:nvPr/>
          </p:nvSpPr>
          <p:spPr>
            <a:xfrm>
              <a:off x="2084318" y="4127165"/>
              <a:ext cx="1305315" cy="60852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Information commerciale sensible, brevet, …</a:t>
              </a:r>
            </a:p>
          </p:txBody>
        </p:sp>
        <p:sp>
          <p:nvSpPr>
            <p:cNvPr id="13" name="Shape 131">
              <a:extLst>
                <a:ext uri="{FF2B5EF4-FFF2-40B4-BE49-F238E27FC236}">
                  <a16:creationId xmlns:a16="http://schemas.microsoft.com/office/drawing/2014/main" id="{43F86D25-7E42-4C31-8A9D-82057287893A}"/>
                </a:ext>
              </a:extLst>
            </p:cNvPr>
            <p:cNvSpPr/>
            <p:nvPr/>
          </p:nvSpPr>
          <p:spPr>
            <a:xfrm>
              <a:off x="5328305" y="4127165"/>
              <a:ext cx="1441433" cy="51821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Données de santé agrégées</a:t>
              </a:r>
            </a:p>
          </p:txBody>
        </p:sp>
        <p:sp>
          <p:nvSpPr>
            <p:cNvPr id="14" name="Shape 132">
              <a:extLst>
                <a:ext uri="{FF2B5EF4-FFF2-40B4-BE49-F238E27FC236}">
                  <a16:creationId xmlns:a16="http://schemas.microsoft.com/office/drawing/2014/main" id="{7745D143-D232-4736-9BC6-E8A3569D7B34}"/>
                </a:ext>
              </a:extLst>
            </p:cNvPr>
            <p:cNvSpPr/>
            <p:nvPr/>
          </p:nvSpPr>
          <p:spPr>
            <a:xfrm>
              <a:off x="7062564" y="4149226"/>
              <a:ext cx="1548765" cy="31794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Horaire de bus</a:t>
              </a:r>
            </a:p>
          </p:txBody>
        </p:sp>
        <p:sp>
          <p:nvSpPr>
            <p:cNvPr id="15" name="Shape 133">
              <a:extLst>
                <a:ext uri="{FF2B5EF4-FFF2-40B4-BE49-F238E27FC236}">
                  <a16:creationId xmlns:a16="http://schemas.microsoft.com/office/drawing/2014/main" id="{7EE28C7F-4288-42F4-B631-0329AD007708}"/>
                </a:ext>
              </a:extLst>
            </p:cNvPr>
            <p:cNvSpPr/>
            <p:nvPr/>
          </p:nvSpPr>
          <p:spPr>
            <a:xfrm>
              <a:off x="984647" y="4145172"/>
              <a:ext cx="841903" cy="59051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Sécurité Nationale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54354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2: La qualité des données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b="1" dirty="0"/>
              <a:t>Mythe 2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Les données sont fausses ou de mauvaise qualité. Les utilisateurs seront mécontents et je vais donner une mauvaise image de l’administration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2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La qualité est un processus itératif qui bénéficie de la publication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Si les données sont de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faible qualité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, la communauté contribuera à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l’amélioration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des données si elles sont utiles, permettant de créer un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cercle vertueux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.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Exemple: Le Royaume-Uni a publié la localisation de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300 000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stations de bus au début des années 2010. La communauté a corrigé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18 000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d’entre elles (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~6%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78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3: Légalité de la publication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b="1" dirty="0"/>
              <a:t>Mythe 3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Je n’ai pas le droit de publier mes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2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plusieurs législations imposent la publication de données et punissent la non-publication de la plupart des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09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4: Mauvaise utilisation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4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Quelqu’un pourrait tirer des conclusions hâtives, sans considérer une perspective globale</a:t>
            </a:r>
          </a:p>
          <a:p>
            <a:pPr marL="0" indent="0">
              <a:buNone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Mythe 4bis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des réutilisateurs mal intentionnés pourraient modifier les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rumeurs et les interprétations sur la base d’informations partielles alimentent la suspicion, les analyses sur la base des faits réels sont indiscutables scientifiquement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source officielle est connue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Plusieurs dispositions légales punissent l’utilisation frauduleuse de données et la diffamation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78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5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3400" b="1" dirty="0"/>
              <a:t>Mythe 5 </a:t>
            </a:r>
            <a:r>
              <a:rPr lang="fr-FR" dirty="0"/>
              <a:t>: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Les données valent de l’or, et la gratuité annihile les revenus potentiels</a:t>
            </a:r>
          </a:p>
          <a:p>
            <a:pPr marL="0" indent="0">
              <a:buNone/>
              <a:defRPr/>
            </a:pPr>
            <a:r>
              <a:rPr lang="fr-FR" sz="3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n’est pas intrinsèque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dépend de leur usage et de leur utilisation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est directement liée au partage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gratuité concerne les données brutes. Des revenus sont possibles concernant des services sur l’analyse de données, ou pour couvrir les  coûts de publication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données valent de l’or si elles sont partagées et utilisées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données ouvertes offrent des opportunités de revenus sur des services à plus forte valeur ajoutée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178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5bis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339406" y="1374159"/>
            <a:ext cx="7128532" cy="548384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3400" b="1" dirty="0"/>
              <a:t>Mythe 5bis </a:t>
            </a:r>
            <a:r>
              <a:rPr lang="fr-FR" dirty="0"/>
              <a:t>: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Tout le monde bénéficie de la publication sauf moi/ma structure/le gouvernement. Est-ce que je ne vais pas perdre mon emploi/mon importance si j’ouvre mes données?</a:t>
            </a:r>
          </a:p>
          <a:p>
            <a:pPr marL="0" indent="0">
              <a:buNone/>
              <a:defRPr/>
            </a:pPr>
            <a:r>
              <a:rPr lang="fr-FR" sz="3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 pays dans son ensemble bénéficie des impacts sociaux et économiques; nouveaux services, création d’emploi, création de richesse, …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structures publiques ont un intérêt direct:</a:t>
            </a:r>
          </a:p>
          <a:p>
            <a:pPr lvl="1"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Une nouvelle approche de la résolution de problème, de la mesure d’impact des politiques publiques, des investissements</a:t>
            </a:r>
          </a:p>
          <a:p>
            <a:pPr lvl="1"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Une rationalisation de la collecte et la validation de données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dépend de leur usage, plus la valeur augmente plus le responsable de ces données à de la valeur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573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3" y="9939"/>
            <a:ext cx="6363733" cy="812800"/>
          </a:xfrm>
        </p:spPr>
        <p:txBody>
          <a:bodyPr/>
          <a:lstStyle/>
          <a:p>
            <a:r>
              <a:rPr lang="fr-FR" dirty="0"/>
              <a:t>Mythe 5ter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5ter </a:t>
            </a:r>
            <a:r>
              <a:rPr lang="fr-FR" dirty="0"/>
              <a:t>: </a:t>
            </a:r>
            <a:r>
              <a:rPr lang="fr-FR" sz="2000" dirty="0"/>
              <a:t>D’autres (startups, etc.) vont tirer des bénéfices commerciaux de mes données</a:t>
            </a: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 gouvernement n’a pas pour mandat d’expérimenter avec les données. Les données ouvertes permettent à d’autres d’innover!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structures publiques sont de très mauvais entrepreneurs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 but de l’état est de favoriser le développement économique et l’entreprenariat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75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6 : effort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6 </a:t>
            </a:r>
            <a:r>
              <a:rPr lang="fr-FR" dirty="0"/>
              <a:t>: </a:t>
            </a:r>
            <a:r>
              <a:rPr lang="fr-FR" sz="2000" dirty="0">
                <a:latin typeface="Trebuchet MS" pitchFamily="34" charset="0"/>
              </a:rPr>
              <a:t>L’ouverture des données, c’est beaucoup de travail</a:t>
            </a:r>
          </a:p>
          <a:p>
            <a:pPr marL="0" indent="0">
              <a:buNone/>
              <a:defRPr/>
            </a:pPr>
            <a:r>
              <a:rPr lang="fr-FR" sz="2400" b="1" dirty="0"/>
              <a:t>Mythe 6 bis</a:t>
            </a:r>
            <a:r>
              <a:rPr lang="fr-FR" sz="2000" dirty="0"/>
              <a:t>: </a:t>
            </a:r>
            <a:r>
              <a:rPr lang="fr-FR" sz="2000" dirty="0">
                <a:latin typeface="Trebuchet MS" pitchFamily="34" charset="0"/>
              </a:rPr>
              <a:t>L’ouverture des données, ça coûte cher</a:t>
            </a:r>
          </a:p>
          <a:p>
            <a:pPr marL="0" indent="0">
              <a:buNone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L’ouverture des données ne présente pas de coût supplémentaire s’il s’agit du résultat de la mise en place de processus de gestion de données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transformation en données ouvertes peut être automatisée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gestion des demandes d’information est facilitée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Passé les investissements initiaux, et l’automatisation des publications, les coûts spécifiques sont faibles (PFOD, gestion des demandes, inventaires)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impacts financiers sont très largement supérieurs aux coûts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566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Le </a:t>
            </a:r>
            <a:r>
              <a:rPr lang="fr-FR" sz="3600" b="1" dirty="0"/>
              <a:t>Responsable</a:t>
            </a:r>
            <a:r>
              <a:rPr lang="en-GB" sz="3600" b="1" dirty="0"/>
              <a:t> Open Data</a:t>
            </a:r>
          </a:p>
        </p:txBody>
      </p:sp>
    </p:spTree>
    <p:extLst>
      <p:ext uri="{BB962C8B-B14F-4D97-AF65-F5344CB8AC3E}">
        <p14:creationId xmlns:p14="http://schemas.microsoft.com/office/powerpoint/2010/main" val="3822232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68985-9F11-4AD0-9FEB-AD0CBC83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pic>
        <p:nvPicPr>
          <p:cNvPr id="4" name="Image 3" descr="Une image contenant capture d’écran, carte de visite&#10;&#10;Description générée automatiquement">
            <a:extLst>
              <a:ext uri="{FF2B5EF4-FFF2-40B4-BE49-F238E27FC236}">
                <a16:creationId xmlns:a16="http://schemas.microsoft.com/office/drawing/2014/main" id="{242FB397-87C2-4B72-94A9-489C6EDC75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620" y="1501902"/>
            <a:ext cx="8366760" cy="38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035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FB8D4C54-1DD1-41DA-94C6-6B535D603C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2627" y="2170965"/>
            <a:ext cx="2634114" cy="15356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Facteurs de succès au sein d’une structure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129209" y="1312189"/>
            <a:ext cx="6223465" cy="493940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leadership fort pour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Fixer la vision, les priorités et les objectifs pour l’ensemble des personnels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Préparer les mentalités au changement et à l’implémentation de nouvelles approches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Définir avec l’aide du point focal Open Data la feuille de route et le budget correspondant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Suivre les résultats de la feuille de route et adapter les actions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point focal qui exécute la feuille de route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0838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Les acteurs de l’Open Data</a:t>
            </a:r>
            <a:endParaRPr lang="en-GB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08AC90-0AB8-4D55-ADE3-CE2A2D87A6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109" y="1212272"/>
            <a:ext cx="7813964" cy="5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601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Rôle du ROD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07297" y="1548342"/>
            <a:ext cx="6515176" cy="465849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900" dirty="0"/>
              <a:t>Promouvoir l’Open Data au sein de l’organisme et promouvoir les recommandations du COD ;</a:t>
            </a:r>
          </a:p>
          <a:p>
            <a:pPr lvl="0"/>
            <a:r>
              <a:rPr lang="fr-FR" sz="2900" dirty="0"/>
              <a:t>Définir le plan d’action annuel d’activité Open Data de l’organisme et mettre en œuvre les activités associées ; </a:t>
            </a:r>
          </a:p>
          <a:p>
            <a:pPr lvl="0"/>
            <a:r>
              <a:rPr lang="fr-FR" sz="2900" dirty="0"/>
              <a:t>Coordonner la publication des données sous format ouvert et sur le portail sélectionné par l’organisme (portail national ou portail sectoriel ou local) ; </a:t>
            </a:r>
          </a:p>
          <a:p>
            <a:pPr lvl="0"/>
            <a:r>
              <a:rPr lang="fr-FR" sz="2900" dirty="0"/>
              <a:t>Appuyer le chargé d’accès à l’information (CAI) pour le sensibiliser à l’Open Data, et coordonner la publication proactive d’information initié par le CAI sous format Open Data;</a:t>
            </a:r>
          </a:p>
          <a:p>
            <a:pPr lvl="0"/>
            <a:r>
              <a:rPr lang="fr-FR" sz="2900" dirty="0"/>
              <a:t>Coordonner le développement et la maintenance de l’inventaire de données de l’organisme;</a:t>
            </a:r>
          </a:p>
          <a:p>
            <a:pPr lvl="0"/>
            <a:r>
              <a:rPr lang="fr-FR" sz="2900" dirty="0"/>
              <a:t>Mettre en place et maintenir le plan de suivi et évaluation Open Data de l’organisme;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2AA4C9D5-A885-45DA-912D-2AF8924BBA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1239" y="3429000"/>
            <a:ext cx="1827127" cy="18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688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 ROD et l’ADD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99268"/>
            <a:ext cx="6257361" cy="553503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L’ADD organise l’initiative dans son ensemble</a:t>
            </a:r>
          </a:p>
          <a:p>
            <a:pPr lvl="0"/>
            <a:r>
              <a:rPr lang="fr-FR" sz="2800" dirty="0"/>
              <a:t>L’ADD coordonne les PFOD</a:t>
            </a:r>
          </a:p>
          <a:p>
            <a:pPr lvl="0"/>
            <a:r>
              <a:rPr lang="fr-FR" sz="2800" dirty="0"/>
              <a:t>L’ADD assiste les ROD dans la résolution des défis</a:t>
            </a:r>
          </a:p>
          <a:p>
            <a:pPr lvl="1"/>
            <a:r>
              <a:rPr lang="fr-FR" sz="2100" dirty="0"/>
              <a:t>Problèmes techniques</a:t>
            </a:r>
          </a:p>
          <a:p>
            <a:pPr lvl="1"/>
            <a:r>
              <a:rPr lang="fr-FR" sz="2100" dirty="0"/>
              <a:t>Formations</a:t>
            </a:r>
          </a:p>
          <a:p>
            <a:pPr lvl="1"/>
            <a:r>
              <a:rPr lang="fr-FR" sz="2100" dirty="0"/>
              <a:t>…</a:t>
            </a:r>
          </a:p>
          <a:p>
            <a:pPr lvl="0"/>
            <a:r>
              <a:rPr lang="fr-FR" sz="2800" dirty="0"/>
              <a:t>L’ADD aide à l’implémentation des activités </a:t>
            </a:r>
          </a:p>
          <a:p>
            <a:pPr lvl="0"/>
            <a:r>
              <a:rPr lang="fr-FR" sz="2800" dirty="0"/>
              <a:t>L’ADD suit les indicateurs du plan de S&amp;E</a:t>
            </a:r>
          </a:p>
          <a:p>
            <a:pPr lvl="0"/>
            <a:r>
              <a:rPr lang="fr-FR" sz="2800" dirty="0"/>
              <a:t>L’ADD gère le portail national</a:t>
            </a:r>
          </a:p>
          <a:p>
            <a:pPr lvl="0"/>
            <a:r>
              <a:rPr lang="fr-FR" sz="2800" dirty="0"/>
              <a:t>L’ADD gère le COD qui définit le cadre de l’implémentation au sein des structures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2A4B5A-CD24-479F-A65D-83E0F69BD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85" y="3119093"/>
            <a:ext cx="1625741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35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 ROD et le CAI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01690"/>
            <a:ext cx="7074779" cy="55350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Le CAI est en charge de l’application de la loi d’accès à l’information: qu’est-ce qui peut/doit être publié?</a:t>
            </a:r>
          </a:p>
          <a:p>
            <a:pPr lvl="0"/>
            <a:r>
              <a:rPr lang="fr-FR" sz="2800" dirty="0"/>
              <a:t>Le ROD est en charge de s’assurer que ce qui peut être publié le soit sous un format ouvert et exploitable</a:t>
            </a:r>
          </a:p>
          <a:p>
            <a:pPr lvl="0"/>
            <a:r>
              <a:rPr lang="fr-FR" sz="2800" dirty="0"/>
              <a:t>Taches communes</a:t>
            </a:r>
          </a:p>
          <a:p>
            <a:pPr lvl="1"/>
            <a:r>
              <a:rPr lang="fr-FR" sz="2400" dirty="0"/>
              <a:t> L’inventaire de données</a:t>
            </a:r>
          </a:p>
          <a:p>
            <a:r>
              <a:rPr lang="fr-FR" sz="2800" dirty="0"/>
              <a:t>Opportunité pour le CAI</a:t>
            </a:r>
          </a:p>
          <a:p>
            <a:pPr lvl="1"/>
            <a:r>
              <a:rPr lang="fr-FR" sz="2100" dirty="0"/>
              <a:t>Augmentation de la publication proactive et donc diminution des requêtes</a:t>
            </a:r>
          </a:p>
          <a:p>
            <a:pPr lvl="1"/>
            <a:r>
              <a:rPr lang="fr-FR" sz="2100" dirty="0"/>
              <a:t>Publication des réponses aux requêtes et réutilisations  </a:t>
            </a:r>
          </a:p>
          <a:p>
            <a:r>
              <a:rPr lang="fr-FR" sz="2800" dirty="0"/>
              <a:t>Rôle du ROD: </a:t>
            </a:r>
          </a:p>
          <a:p>
            <a:pPr lvl="1"/>
            <a:r>
              <a:rPr lang="fr-FR" sz="2100" dirty="0"/>
              <a:t>Sensibiliser le CAI sur l’Open Data</a:t>
            </a:r>
          </a:p>
          <a:p>
            <a:pPr lvl="1"/>
            <a:r>
              <a:rPr lang="fr-FR" sz="2100" dirty="0"/>
              <a:t>Assister le CAI pour la publication sous forme Open Data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16DFE1-3032-482B-A0F4-5E8AB97128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930" y="2792742"/>
            <a:ext cx="1477050" cy="195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305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gestionnaires de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11629"/>
            <a:ext cx="6257361" cy="55350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Promouvoir l’Open Data et la politique de gestion de données</a:t>
            </a:r>
          </a:p>
          <a:p>
            <a:pPr lvl="1"/>
            <a:r>
              <a:rPr lang="fr-FR" sz="2100" dirty="0"/>
              <a:t>Sensibilisation</a:t>
            </a:r>
          </a:p>
          <a:p>
            <a:pPr lvl="1"/>
            <a:r>
              <a:rPr lang="fr-FR" sz="2100" dirty="0"/>
              <a:t>Formation</a:t>
            </a:r>
          </a:p>
          <a:p>
            <a:pPr lvl="1"/>
            <a:r>
              <a:rPr lang="fr-FR" sz="2100" dirty="0"/>
              <a:t>Développement de cas d’usage</a:t>
            </a:r>
          </a:p>
          <a:p>
            <a:pPr lvl="1"/>
            <a:r>
              <a:rPr lang="fr-FR" sz="2100" dirty="0"/>
              <a:t>Implication dans les initiatives de réutilisation</a:t>
            </a:r>
          </a:p>
          <a:p>
            <a:r>
              <a:rPr lang="fr-FR" sz="2800" dirty="0"/>
              <a:t>Organiser le partage d’expérience</a:t>
            </a:r>
          </a:p>
          <a:p>
            <a:r>
              <a:rPr lang="fr-FR" sz="2800" dirty="0"/>
              <a:t>Vérifier la qualité des publications</a:t>
            </a:r>
          </a:p>
          <a:p>
            <a:r>
              <a:rPr lang="fr-FR" sz="2800" dirty="0"/>
              <a:t>Suivi des commentaires</a:t>
            </a:r>
          </a:p>
          <a:p>
            <a:pPr lvl="0"/>
            <a:r>
              <a:rPr lang="fr-FR" sz="2800" dirty="0"/>
              <a:t>Développement de l’inventaire</a:t>
            </a:r>
          </a:p>
          <a:p>
            <a:pPr lvl="0"/>
            <a:r>
              <a:rPr lang="fr-FR" sz="2800" dirty="0"/>
              <a:t>Aider a la réutilisation des données des autres structures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43B94E-73F1-4DFD-8ADD-43CB00DD36B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369" y="2170861"/>
            <a:ext cx="1212600" cy="16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656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 service informatique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Développement de l’inventaire</a:t>
            </a:r>
          </a:p>
          <a:p>
            <a:pPr lvl="0"/>
            <a:r>
              <a:rPr lang="fr-FR" sz="2800" dirty="0"/>
              <a:t>Choix du portail</a:t>
            </a:r>
          </a:p>
          <a:p>
            <a:pPr lvl="0"/>
            <a:r>
              <a:rPr lang="fr-FR" sz="2800" dirty="0"/>
              <a:t>Mise en place de mécanismes de publication automatique</a:t>
            </a:r>
          </a:p>
          <a:p>
            <a:pPr lvl="0"/>
            <a:r>
              <a:rPr lang="fr-FR" sz="2800" dirty="0"/>
              <a:t>Mise en place de processus automatiques pour </a:t>
            </a:r>
          </a:p>
          <a:p>
            <a:pPr lvl="1"/>
            <a:r>
              <a:rPr lang="fr-FR" sz="2100" dirty="0"/>
              <a:t>Le transcodage de format</a:t>
            </a:r>
          </a:p>
          <a:p>
            <a:pPr lvl="1"/>
            <a:r>
              <a:rPr lang="fr-FR" sz="2100" dirty="0"/>
              <a:t>L’utilisation de référentiels et nomenclature</a:t>
            </a:r>
          </a:p>
          <a:p>
            <a:pPr lvl="1"/>
            <a:r>
              <a:rPr lang="fr-FR" sz="2100" dirty="0"/>
              <a:t>…</a:t>
            </a:r>
          </a:p>
          <a:p>
            <a:r>
              <a:rPr lang="fr-FR" sz="2800" dirty="0"/>
              <a:t>Collecte d’informations pour le plan de suivi et évaluation 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5AE95D-AB9D-47C1-9C28-E6E73966F0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24" y="2403200"/>
            <a:ext cx="1767300" cy="171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159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21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réutilisateurs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CAEA8A-87ED-46FC-82BD-23D9A117E2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5009583"/>
            <a:ext cx="1057800" cy="1455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DFFD8D-1AA1-4229-AEF9-D6AB12E9951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2685073"/>
            <a:ext cx="915900" cy="11704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47E2588-3823-4C38-B137-CDB7608C6C3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9697" y="3944328"/>
            <a:ext cx="1025550" cy="9764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368ECF-01D9-40A6-91CF-5AAC355202F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1395230"/>
            <a:ext cx="857850" cy="1112267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D1175125-092F-4274-A58F-3B505F0AC14A}"/>
              </a:ext>
            </a:extLst>
          </p:cNvPr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5596" y="2216426"/>
            <a:ext cx="4699891" cy="253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eft Brace 8">
            <a:extLst>
              <a:ext uri="{FF2B5EF4-FFF2-40B4-BE49-F238E27FC236}">
                <a16:creationId xmlns:a16="http://schemas.microsoft.com/office/drawing/2014/main" id="{DC8852D7-A1C6-4E78-848F-EDFD2B4E2E8D}"/>
              </a:ext>
            </a:extLst>
          </p:cNvPr>
          <p:cNvSpPr/>
          <p:nvPr/>
        </p:nvSpPr>
        <p:spPr>
          <a:xfrm rot="16200000">
            <a:off x="2009550" y="3760376"/>
            <a:ext cx="276253" cy="2280145"/>
          </a:xfrm>
          <a:prstGeom prst="leftBrace">
            <a:avLst>
              <a:gd name="adj1" fmla="val 8593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2" name="Left Brace 9">
            <a:extLst>
              <a:ext uri="{FF2B5EF4-FFF2-40B4-BE49-F238E27FC236}">
                <a16:creationId xmlns:a16="http://schemas.microsoft.com/office/drawing/2014/main" id="{F150C66F-3C59-43C0-8601-66184CC52A29}"/>
              </a:ext>
            </a:extLst>
          </p:cNvPr>
          <p:cNvSpPr/>
          <p:nvPr/>
        </p:nvSpPr>
        <p:spPr>
          <a:xfrm rot="16200000">
            <a:off x="4287487" y="3770415"/>
            <a:ext cx="276253" cy="2280145"/>
          </a:xfrm>
          <a:prstGeom prst="leftBrace">
            <a:avLst>
              <a:gd name="adj1" fmla="val 8593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48D9F3-F11E-40C2-938C-ABECA4F689A6}"/>
              </a:ext>
            </a:extLst>
          </p:cNvPr>
          <p:cNvSpPr/>
          <p:nvPr/>
        </p:nvSpPr>
        <p:spPr bwMode="ltGray">
          <a:xfrm>
            <a:off x="1007604" y="5190314"/>
            <a:ext cx="2280145" cy="22100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>
                <a:solidFill>
                  <a:sysClr val="windowText" lastClr="000000"/>
                </a:solidFill>
                <a:latin typeface="Hand Of Sean" pitchFamily="2" charset="-128"/>
                <a:ea typeface="Hand Of Sean" pitchFamily="2" charset="-128"/>
              </a:rPr>
              <a:t>Offre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7A5937-F988-4EAF-88D6-EA945076A93A}"/>
              </a:ext>
            </a:extLst>
          </p:cNvPr>
          <p:cNvSpPr/>
          <p:nvPr/>
        </p:nvSpPr>
        <p:spPr bwMode="ltGray">
          <a:xfrm>
            <a:off x="3245784" y="5190314"/>
            <a:ext cx="2280145" cy="22100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>
                <a:solidFill>
                  <a:sysClr val="windowText" lastClr="000000"/>
                </a:solidFill>
                <a:latin typeface="Hand Of Sean" pitchFamily="2" charset="-128"/>
                <a:ea typeface="Hand Of Sean" pitchFamily="2" charset="-128"/>
              </a:rPr>
              <a:t>Demande</a:t>
            </a:r>
          </a:p>
        </p:txBody>
      </p:sp>
    </p:spTree>
    <p:extLst>
      <p:ext uri="{BB962C8B-B14F-4D97-AF65-F5344CB8AC3E}">
        <p14:creationId xmlns:p14="http://schemas.microsoft.com/office/powerpoint/2010/main" val="25106333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réutilisateurs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Promotion de l’Open Data</a:t>
            </a:r>
          </a:p>
          <a:p>
            <a:pPr lvl="1"/>
            <a:r>
              <a:rPr lang="fr-FR" sz="2100" dirty="0"/>
              <a:t>Blog/Couverture média</a:t>
            </a:r>
          </a:p>
          <a:p>
            <a:pPr lvl="1"/>
            <a:r>
              <a:rPr lang="fr-FR" sz="2100" dirty="0"/>
              <a:t>Présentation/Conférences/Meetup</a:t>
            </a:r>
          </a:p>
          <a:p>
            <a:pPr lvl="1"/>
            <a:r>
              <a:rPr lang="fr-FR" sz="2100" dirty="0"/>
              <a:t>Réunion de sensibilisation</a:t>
            </a:r>
          </a:p>
          <a:p>
            <a:pPr lvl="0"/>
            <a:r>
              <a:rPr lang="fr-FR" sz="2800" dirty="0"/>
              <a:t>Mise en place de canaux d’interaction</a:t>
            </a:r>
          </a:p>
          <a:p>
            <a:pPr lvl="1"/>
            <a:r>
              <a:rPr lang="fr-FR" sz="2100" dirty="0"/>
              <a:t>Forum</a:t>
            </a:r>
          </a:p>
          <a:p>
            <a:pPr lvl="1"/>
            <a:r>
              <a:rPr lang="fr-FR" sz="2100" dirty="0"/>
              <a:t>Commentaires sur les jeux de données</a:t>
            </a:r>
          </a:p>
          <a:p>
            <a:pPr lvl="1"/>
            <a:r>
              <a:rPr lang="fr-FR" sz="2100" dirty="0"/>
              <a:t>Requête de jeux</a:t>
            </a:r>
          </a:p>
          <a:p>
            <a:pPr lvl="1"/>
            <a:r>
              <a:rPr lang="fr-FR" sz="2100" dirty="0"/>
              <a:t>Contribution à l’inventaire</a:t>
            </a:r>
          </a:p>
          <a:p>
            <a:pPr lvl="1"/>
            <a:r>
              <a:rPr lang="fr-FR" sz="2100" dirty="0"/>
              <a:t>Enquêtes</a:t>
            </a:r>
          </a:p>
          <a:p>
            <a:pPr lvl="1"/>
            <a:r>
              <a:rPr lang="fr-FR" sz="2100" dirty="0"/>
              <a:t>…</a:t>
            </a:r>
          </a:p>
          <a:p>
            <a:pPr lvl="0"/>
            <a:r>
              <a:rPr lang="fr-FR" sz="2800" dirty="0"/>
              <a:t>Organisation d’événements d’innovation (hackathon)</a:t>
            </a:r>
          </a:p>
          <a:p>
            <a:pPr lvl="0"/>
            <a:r>
              <a:rPr lang="fr-FR" sz="2800" dirty="0"/>
              <a:t> 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8683D8-8843-4D05-90C2-5688AB6F6F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4860496"/>
            <a:ext cx="1057800" cy="1455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13D3EE-2945-40DB-830D-F90D0479F7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2535986"/>
            <a:ext cx="915900" cy="1170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1EA0C85-840C-47AF-8723-026C2BD806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9331" y="3795241"/>
            <a:ext cx="1025550" cy="9764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7F826B-C28C-499F-AFF6-801391E1C1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1246143"/>
            <a:ext cx="857850" cy="111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212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L’approche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548006" cy="502142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Qui sont mes réutilisateurs?</a:t>
            </a:r>
          </a:p>
          <a:p>
            <a:pPr lvl="1"/>
            <a:r>
              <a:rPr lang="fr-FR" sz="2100" dirty="0"/>
              <a:t>Les acteurs</a:t>
            </a:r>
          </a:p>
          <a:p>
            <a:pPr lvl="2"/>
            <a:r>
              <a:rPr lang="fr-FR" sz="1900" dirty="0"/>
              <a:t>Identifier les leaders</a:t>
            </a:r>
          </a:p>
          <a:p>
            <a:pPr lvl="2"/>
            <a:r>
              <a:rPr lang="fr-FR" sz="1900" dirty="0"/>
              <a:t>Identifier les pionniers</a:t>
            </a:r>
          </a:p>
          <a:p>
            <a:pPr lvl="2"/>
            <a:r>
              <a:rPr lang="fr-FR" sz="1900" dirty="0"/>
              <a:t>Identifier les motivés (positifs) </a:t>
            </a:r>
          </a:p>
          <a:p>
            <a:pPr lvl="1"/>
            <a:r>
              <a:rPr lang="fr-FR" sz="2100" dirty="0"/>
              <a:t>Les missions et leurs centres d’intérêts</a:t>
            </a:r>
          </a:p>
          <a:p>
            <a:pPr lvl="1"/>
            <a:r>
              <a:rPr lang="fr-FR" sz="2100" dirty="0"/>
              <a:t>Leurs lieux d’échanges</a:t>
            </a:r>
          </a:p>
          <a:p>
            <a:pPr lvl="0"/>
            <a:r>
              <a:rPr lang="fr-FR" sz="2800" dirty="0"/>
              <a:t>Quels sont les éléments qui pourraient créer une dynamique?</a:t>
            </a:r>
          </a:p>
          <a:p>
            <a:pPr lvl="1"/>
            <a:r>
              <a:rPr lang="fr-FR" sz="2100" dirty="0"/>
              <a:t>Ouvertures de jeux spécifiques</a:t>
            </a:r>
          </a:p>
          <a:p>
            <a:pPr lvl="1"/>
            <a:r>
              <a:rPr lang="fr-FR" sz="2100" dirty="0"/>
              <a:t>Participations à leurs événements</a:t>
            </a:r>
          </a:p>
          <a:p>
            <a:pPr lvl="1"/>
            <a:r>
              <a:rPr lang="fr-FR" sz="2100" dirty="0"/>
              <a:t>Organisations d’événements</a:t>
            </a:r>
          </a:p>
          <a:p>
            <a:pPr lvl="1"/>
            <a:r>
              <a:rPr lang="fr-FR" sz="2100" dirty="0"/>
              <a:t>…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b="1" dirty="0"/>
              <a:t>Interagir, interagir, interagir, interagir!</a:t>
            </a:r>
          </a:p>
          <a:p>
            <a:pPr marL="0" lvl="0" indent="0">
              <a:buNone/>
            </a:pP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8683D8-8843-4D05-90C2-5688AB6F6F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4860496"/>
            <a:ext cx="1057800" cy="1455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13D3EE-2945-40DB-830D-F90D0479F7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2535986"/>
            <a:ext cx="915900" cy="1170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1EA0C85-840C-47AF-8723-026C2BD806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9331" y="3795241"/>
            <a:ext cx="1025550" cy="9764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7F826B-C28C-499F-AFF6-801391E1C1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1246143"/>
            <a:ext cx="857850" cy="111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423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Facteurs de succès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b="1" dirty="0"/>
              <a:t>Objectifs: impact! Impact! impact!</a:t>
            </a:r>
          </a:p>
          <a:p>
            <a:pPr lvl="1">
              <a:defRPr/>
            </a:pPr>
            <a:r>
              <a:rPr lang="fr-FR" dirty="0"/>
              <a:t>Impact externe de la publication et la réutilisation de jeux de données: Création de services, emplois, richesse</a:t>
            </a:r>
          </a:p>
          <a:p>
            <a:pPr lvl="1">
              <a:defRPr/>
            </a:pPr>
            <a:r>
              <a:rPr lang="fr-FR" dirty="0"/>
              <a:t>Impact interne: </a:t>
            </a:r>
          </a:p>
          <a:p>
            <a:pPr lvl="2">
              <a:defRPr/>
            </a:pPr>
            <a:r>
              <a:rPr lang="fr-FR" dirty="0"/>
              <a:t>Mise en place d’une politique de gestion de données</a:t>
            </a:r>
          </a:p>
          <a:p>
            <a:pPr lvl="2">
              <a:defRPr/>
            </a:pPr>
            <a:r>
              <a:rPr lang="fr-FR" dirty="0"/>
              <a:t>Rationalisation des stratégies, des investissements, des mesures d’impacts</a:t>
            </a:r>
          </a:p>
          <a:p>
            <a:pPr lvl="2">
              <a:defRPr/>
            </a:pPr>
            <a:r>
              <a:rPr lang="fr-FR" dirty="0"/>
              <a:t>Engagement citoyen </a:t>
            </a:r>
          </a:p>
          <a:p>
            <a:pPr>
              <a:defRPr/>
            </a:pPr>
            <a:r>
              <a:rPr lang="fr-FR" sz="2200" b="1" dirty="0">
                <a:latin typeface="Trebuchet MS" pitchFamily="34" charset="0"/>
                <a:cs typeface="ＭＳ Ｐゴシック" pitchFamily="34" charset="-128"/>
              </a:rPr>
              <a:t>Mythe 1: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le volume (nombre de jeux de données) est le plus important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L’important sont les jeux de données à forte valeur: utiles, demandés, de bonne qualité, sous des formats exploitables, maintenus, documentés et à jour</a:t>
            </a:r>
          </a:p>
          <a:p>
            <a:pPr>
              <a:defRPr/>
            </a:pPr>
            <a:r>
              <a:rPr lang="fr-FR" sz="2200" b="1" dirty="0">
                <a:latin typeface="Trebuchet MS" pitchFamily="34" charset="0"/>
                <a:cs typeface="ＭＳ Ｐゴシック" pitchFamily="34" charset="-128"/>
              </a:rPr>
              <a:t>Mythe 2: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une fois que tout sera publié, mon travail sera terminé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Le suivi est essentiel: commentaires, questions, mises à jour etc.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La promotion et la réutilisation amène l’impact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La gestion de données est dynamique au sein d’une structure</a:t>
            </a:r>
          </a:p>
          <a:p>
            <a:pPr lvl="1">
              <a:defRPr/>
            </a:pPr>
            <a:endParaRPr lang="fr-FR" sz="15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489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Quelles résistances au sein de vos structures? </a:t>
            </a:r>
          </a:p>
          <a:p>
            <a:r>
              <a:rPr lang="fr-FR" sz="2800" dirty="0"/>
              <a:t>Quels défis pour le ROD?</a:t>
            </a:r>
          </a:p>
          <a:p>
            <a:pPr lvl="1"/>
            <a:r>
              <a:rPr lang="fr-FR" sz="2100" dirty="0"/>
              <a:t>Pour créer une dynamique</a:t>
            </a:r>
          </a:p>
          <a:p>
            <a:pPr lvl="1"/>
            <a:r>
              <a:rPr lang="fr-FR" sz="2100" dirty="0"/>
              <a:t>Pour exercer sa mission</a:t>
            </a:r>
          </a:p>
          <a:p>
            <a:r>
              <a:rPr lang="fr-FR" sz="2800" dirty="0"/>
              <a:t>Quels outils ou approches peuvent aider le ROD?</a:t>
            </a:r>
          </a:p>
          <a:p>
            <a:pPr lvl="1"/>
            <a:r>
              <a:rPr lang="fr-FR" sz="2100" dirty="0"/>
              <a:t>Pour créer une dynamique</a:t>
            </a:r>
          </a:p>
          <a:p>
            <a:pPr lvl="1"/>
            <a:r>
              <a:rPr lang="fr-FR" sz="2100" dirty="0"/>
              <a:t>Pour exercer sa mission</a:t>
            </a:r>
          </a:p>
          <a:p>
            <a:r>
              <a:rPr lang="fr-FR" sz="2800" dirty="0"/>
              <a:t>Les approches pour la réutilisation</a:t>
            </a:r>
          </a:p>
          <a:p>
            <a:pPr lvl="1"/>
            <a:r>
              <a:rPr lang="fr-FR" sz="2100" dirty="0"/>
              <a:t>Comment créer des liens avec les réutilisateurs et les maintenir</a:t>
            </a:r>
          </a:p>
          <a:p>
            <a:pPr marL="0" indent="0">
              <a:buNone/>
            </a:pPr>
            <a:endParaRPr lang="fr-FR" sz="2100" dirty="0"/>
          </a:p>
          <a:p>
            <a:pPr lvl="0"/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254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Tâches du ROD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Plan annuel d’activité: Conception en coopération avec le responsable et suivi</a:t>
            </a:r>
          </a:p>
          <a:p>
            <a:pPr lvl="1"/>
            <a:r>
              <a:rPr lang="fr-FR" dirty="0"/>
              <a:t> Sensibilisation</a:t>
            </a:r>
          </a:p>
          <a:p>
            <a:pPr lvl="1"/>
            <a:r>
              <a:rPr lang="fr-FR" dirty="0"/>
              <a:t> Formation</a:t>
            </a:r>
          </a:p>
          <a:p>
            <a:pPr lvl="1"/>
            <a:r>
              <a:rPr lang="fr-FR" dirty="0"/>
              <a:t> Publication</a:t>
            </a:r>
          </a:p>
          <a:p>
            <a:pPr lvl="1"/>
            <a:r>
              <a:rPr lang="fr-FR" dirty="0"/>
              <a:t> Activité de réutilisation interne et externe</a:t>
            </a:r>
          </a:p>
          <a:p>
            <a:r>
              <a:rPr lang="fr-FR" dirty="0"/>
              <a:t>Inventaire de données</a:t>
            </a:r>
          </a:p>
          <a:p>
            <a:r>
              <a:rPr lang="fr-FR" dirty="0"/>
              <a:t>Plan de suivi et évaluation</a:t>
            </a:r>
          </a:p>
        </p:txBody>
      </p:sp>
      <p:pic>
        <p:nvPicPr>
          <p:cNvPr id="6" name="Image 5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2AA4C9D5-A885-45DA-912D-2AF8924BBA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8512" y="1854556"/>
            <a:ext cx="2528279" cy="250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44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L’approche</a:t>
            </a:r>
            <a:endParaRPr lang="en-GB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43DA3B-1E29-4FE6-9544-3B5AADA7D2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6649" y="1391999"/>
            <a:ext cx="6230701" cy="407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89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Le Plan </a:t>
            </a:r>
            <a:r>
              <a:rPr lang="fr-FR" sz="3600" b="1" dirty="0"/>
              <a:t>Annuel</a:t>
            </a:r>
            <a:r>
              <a:rPr lang="en-GB" sz="3600" b="1" dirty="0"/>
              <a:t> </a:t>
            </a:r>
            <a:r>
              <a:rPr lang="fr-FR" sz="3600" b="1" dirty="0"/>
              <a:t>d’Activité</a:t>
            </a:r>
          </a:p>
        </p:txBody>
      </p:sp>
    </p:spTree>
    <p:extLst>
      <p:ext uri="{BB962C8B-B14F-4D97-AF65-F5344CB8AC3E}">
        <p14:creationId xmlns:p14="http://schemas.microsoft.com/office/powerpoint/2010/main" val="28541325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Objectifs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45638" y="1324257"/>
            <a:ext cx="6787117" cy="401179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Identifier les priorités annuellement</a:t>
            </a:r>
          </a:p>
          <a:p>
            <a:r>
              <a:rPr lang="fr-FR" dirty="0"/>
              <a:t>Structurer et ordonnancer les activités</a:t>
            </a:r>
          </a:p>
          <a:p>
            <a:r>
              <a:rPr lang="fr-FR" dirty="0"/>
              <a:t>Créer une dynamique au sein des structures</a:t>
            </a:r>
          </a:p>
          <a:p>
            <a:r>
              <a:rPr lang="fr-FR" dirty="0"/>
              <a:t>Créer une dynamique avec les réutilisateurs</a:t>
            </a:r>
          </a:p>
          <a:p>
            <a:r>
              <a:rPr lang="fr-FR" dirty="0"/>
              <a:t>Définir les besoins financiers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Le Plan annuel d’activité est un processus plus qu’un objectif</a:t>
            </a:r>
          </a:p>
          <a:p>
            <a:pPr marL="514350" indent="-514350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BFAE9E1-8B41-427E-881F-BC8AC16AC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0590" y="2786899"/>
            <a:ext cx="2618237" cy="16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970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33" y="39757"/>
            <a:ext cx="5225143" cy="812800"/>
          </a:xfrm>
        </p:spPr>
        <p:txBody>
          <a:bodyPr/>
          <a:lstStyle/>
          <a:p>
            <a:r>
              <a:rPr lang="fr-FR" sz="2400" dirty="0"/>
              <a:t>Eléments du plan annuel d’activité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639448" y="1292914"/>
            <a:ext cx="6787117" cy="42721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b="1" dirty="0"/>
              <a:t>Objectifs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Sensibilisations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Formations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Inventaire de données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La publication de données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Le réutilisation</a:t>
            </a:r>
          </a:p>
          <a:p>
            <a:pPr marL="914400" lvl="1" indent="-514350"/>
            <a:r>
              <a:rPr lang="fr-FR" b="1" dirty="0"/>
              <a:t>Interne</a:t>
            </a:r>
          </a:p>
          <a:p>
            <a:pPr marL="914400" lvl="1" indent="-514350"/>
            <a:r>
              <a:rPr lang="fr-FR" b="1" dirty="0"/>
              <a:t>Externe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Les infrastructures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Le Budget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 descr="Une image contenant signe, objet&#10;&#10;Description générée automatiquement">
            <a:extLst>
              <a:ext uri="{FF2B5EF4-FFF2-40B4-BE49-F238E27FC236}">
                <a16:creationId xmlns:a16="http://schemas.microsoft.com/office/drawing/2014/main" id="{BBA7C2D3-9895-40BA-9D82-2A82B55EAE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8243" y="4257260"/>
            <a:ext cx="2057401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907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Promouvoir L’Open Data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1911" y="1750344"/>
            <a:ext cx="7024939" cy="360684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Sensibiliser l’ensemble du personnel sur les concepts de l’open data et les opportunités</a:t>
            </a:r>
          </a:p>
          <a:p>
            <a:pPr lvl="1"/>
            <a:r>
              <a:rPr lang="fr-FR" sz="1700" dirty="0"/>
              <a:t>Les aspects légaux</a:t>
            </a:r>
          </a:p>
          <a:p>
            <a:pPr lvl="1"/>
            <a:r>
              <a:rPr lang="fr-FR" sz="1700" dirty="0"/>
              <a:t>L’utilisation des approches open Data dans la résolution de problème</a:t>
            </a:r>
          </a:p>
          <a:p>
            <a:pPr lvl="1"/>
            <a:r>
              <a:rPr lang="fr-FR" sz="1700" dirty="0"/>
              <a:t>Les ressources </a:t>
            </a:r>
          </a:p>
          <a:p>
            <a:r>
              <a:rPr lang="fr-FR" sz="2400" dirty="0"/>
              <a:t>Identifier les points de blocage et les résistance et les remonter au COD</a:t>
            </a:r>
          </a:p>
          <a:p>
            <a:r>
              <a:rPr lang="fr-FR" sz="2400" dirty="0"/>
              <a:t>Quel instrument/véhicule pour la sensibilisation?</a:t>
            </a:r>
          </a:p>
          <a:p>
            <a:pPr lvl="1"/>
            <a:r>
              <a:rPr lang="fr-FR" sz="1700" dirty="0"/>
              <a:t>Des événements formels</a:t>
            </a:r>
          </a:p>
          <a:p>
            <a:pPr lvl="1"/>
            <a:r>
              <a:rPr lang="fr-FR" sz="1700" dirty="0"/>
              <a:t>Des événements informels: « brown bag meetings » etc.</a:t>
            </a:r>
          </a:p>
          <a:p>
            <a:pPr lvl="1"/>
            <a:r>
              <a:rPr lang="fr-FR" sz="1800" dirty="0"/>
              <a:t>Présenter des cas d’usages, exemples locaux, …</a:t>
            </a:r>
          </a:p>
          <a:p>
            <a:pPr lvl="1"/>
            <a:endParaRPr lang="fr-FR" sz="1700" dirty="0"/>
          </a:p>
          <a:p>
            <a:endParaRPr lang="fr-FR" sz="2400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31B638-6940-4C46-9B0E-29DE059FE76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8200" y="4710448"/>
            <a:ext cx="1513889" cy="151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103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Formations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362718"/>
            <a:ext cx="7024939" cy="432246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Formation non-technique</a:t>
            </a:r>
          </a:p>
          <a:p>
            <a:pPr lvl="1"/>
            <a:r>
              <a:rPr lang="fr-FR" sz="1700" dirty="0"/>
              <a:t>Les concepts de l’Open Data</a:t>
            </a:r>
          </a:p>
          <a:p>
            <a:pPr lvl="1"/>
            <a:r>
              <a:rPr lang="fr-FR" sz="1700" dirty="0"/>
              <a:t>Aspects légaux de l’Open Data</a:t>
            </a:r>
          </a:p>
          <a:p>
            <a:pPr lvl="1"/>
            <a:r>
              <a:rPr lang="fr-FR" sz="1700" dirty="0"/>
              <a:t>L’inventaire de données</a:t>
            </a:r>
          </a:p>
          <a:p>
            <a:pPr lvl="1"/>
            <a:r>
              <a:rPr lang="fr-FR" sz="1700" dirty="0"/>
              <a:t>Conduite du changement</a:t>
            </a:r>
          </a:p>
          <a:p>
            <a:pPr lvl="1"/>
            <a:r>
              <a:rPr lang="fr-FR" sz="1700" dirty="0"/>
              <a:t>Autre</a:t>
            </a:r>
          </a:p>
          <a:p>
            <a:pPr lvl="1"/>
            <a:endParaRPr lang="fr-FR" sz="1700" dirty="0"/>
          </a:p>
          <a:p>
            <a:r>
              <a:rPr lang="fr-FR" sz="2400" dirty="0"/>
              <a:t>Formation technique</a:t>
            </a:r>
          </a:p>
          <a:p>
            <a:pPr lvl="1"/>
            <a:r>
              <a:rPr lang="fr-FR" sz="1700" dirty="0"/>
              <a:t>Publication de données</a:t>
            </a:r>
          </a:p>
          <a:p>
            <a:pPr lvl="1"/>
            <a:r>
              <a:rPr lang="fr-FR" sz="1700" dirty="0"/>
              <a:t>Gestion de données</a:t>
            </a:r>
          </a:p>
          <a:p>
            <a:pPr lvl="1"/>
            <a:r>
              <a:rPr lang="fr-FR" sz="1700" dirty="0"/>
              <a:t>Gestion de portail</a:t>
            </a:r>
          </a:p>
          <a:p>
            <a:pPr lvl="1"/>
            <a:r>
              <a:rPr lang="fr-FR" sz="1700" dirty="0"/>
              <a:t>Autre</a:t>
            </a:r>
          </a:p>
          <a:p>
            <a:endParaRPr lang="fr-FR" sz="2400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807BBA-87E2-4D79-A36E-E1B5A218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168" y="4114800"/>
            <a:ext cx="2313953" cy="231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492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757"/>
            <a:ext cx="6045500" cy="812800"/>
          </a:xfrm>
        </p:spPr>
        <p:txBody>
          <a:bodyPr/>
          <a:lstStyle/>
          <a:p>
            <a:r>
              <a:rPr lang="fr-FR" sz="2400" dirty="0"/>
              <a:t>Qu’est-ce qu’un inventaire de données 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257361" cy="44548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Une liste exhaustive des données dans la structure</a:t>
            </a:r>
          </a:p>
          <a:p>
            <a:pPr lvl="1"/>
            <a:r>
              <a:rPr lang="fr-FR" sz="1400" dirty="0"/>
              <a:t>Public ou non</a:t>
            </a:r>
          </a:p>
          <a:p>
            <a:pPr lvl="1"/>
            <a:r>
              <a:rPr lang="fr-FR" sz="1400" dirty="0"/>
              <a:t>Qui pourront être publier ou pas dans le futur</a:t>
            </a:r>
          </a:p>
          <a:p>
            <a:pPr lvl="1"/>
            <a:r>
              <a:rPr lang="fr-FR" sz="1400" dirty="0"/>
              <a:t>Digital ou papier</a:t>
            </a:r>
          </a:p>
          <a:p>
            <a:r>
              <a:rPr lang="fr-FR" sz="2100" dirty="0"/>
              <a:t>Un outil pour la structure</a:t>
            </a:r>
          </a:p>
          <a:p>
            <a:pPr lvl="1"/>
            <a:r>
              <a:rPr lang="fr-FR" sz="1400" dirty="0"/>
              <a:t>D’exploitation des données</a:t>
            </a:r>
          </a:p>
          <a:p>
            <a:pPr lvl="1"/>
            <a:r>
              <a:rPr lang="fr-FR" sz="1400" dirty="0"/>
              <a:t>De détection de duplication d’effort</a:t>
            </a:r>
          </a:p>
          <a:p>
            <a:r>
              <a:rPr lang="fr-FR" sz="2100" dirty="0"/>
              <a:t>Un outil pour les autres structures</a:t>
            </a:r>
          </a:p>
          <a:p>
            <a:r>
              <a:rPr lang="fr-FR" sz="2100" dirty="0"/>
              <a:t>Un outil pour les réutilisateurs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 descr="Une image contenant carte de visite&#10;&#10;Description générée automatiquement">
            <a:extLst>
              <a:ext uri="{FF2B5EF4-FFF2-40B4-BE49-F238E27FC236}">
                <a16:creationId xmlns:a16="http://schemas.microsoft.com/office/drawing/2014/main" id="{DB992CE5-35D6-4BE3-9B08-879F160D4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37" y="2019300"/>
            <a:ext cx="29051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797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Pourquoi un inventaire?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393370" cy="518930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dirty="0"/>
              <a:t>Identifier le patrimoine de données existant;</a:t>
            </a:r>
          </a:p>
          <a:p>
            <a:pPr lvl="0"/>
            <a:r>
              <a:rPr lang="fr-FR" dirty="0"/>
              <a:t>Organiser et prioriser la publication des données </a:t>
            </a:r>
          </a:p>
          <a:p>
            <a:pPr lvl="0"/>
            <a:r>
              <a:rPr lang="fr-FR" dirty="0"/>
              <a:t>Constituer un catalogue de jeux de données pour les utilisateurs/réutilisateurs publics, privés ou citoyens de l’open data au Maroc ou à l’étranger</a:t>
            </a:r>
          </a:p>
          <a:p>
            <a:pPr lvl="0"/>
            <a:r>
              <a:rPr lang="fr-FR" dirty="0"/>
              <a:t>Identifier les redondances dans l’administration et aider à la constitution de référentiels nationaux ouverts.</a:t>
            </a:r>
          </a:p>
          <a:p>
            <a:pPr marL="0" lv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400" dirty="0"/>
              <a:t>L’inventaire est un processus itératif: chaque activité contribue au contenu (cas d’usage, etc.)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3300" dirty="0"/>
              <a:t>L’inventaire de données dépasse le cadre de l’open data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FFA0F7-ECBE-42A5-9D90-192F272185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4634" y="3021495"/>
            <a:ext cx="2082666" cy="270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556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Publication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28858" y="1183814"/>
            <a:ext cx="7024939" cy="489893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Quelle nouveau jeux de données vont être publiés?</a:t>
            </a:r>
          </a:p>
          <a:p>
            <a:pPr lvl="1"/>
            <a:r>
              <a:rPr lang="fr-FR" sz="1700" dirty="0"/>
              <a:t>Offre: l’inventaire de données</a:t>
            </a:r>
          </a:p>
          <a:p>
            <a:pPr lvl="1"/>
            <a:r>
              <a:rPr lang="fr-FR" sz="1700" dirty="0"/>
              <a:t>Demande:</a:t>
            </a:r>
          </a:p>
          <a:p>
            <a:pPr lvl="2"/>
            <a:r>
              <a:rPr lang="fr-FR" sz="1500" dirty="0"/>
              <a:t>Réutilisation interne</a:t>
            </a:r>
          </a:p>
          <a:p>
            <a:pPr lvl="2"/>
            <a:r>
              <a:rPr lang="fr-FR" sz="1500" dirty="0"/>
              <a:t>Réutilisation externe (gouvernementale ou non-gouvernementale)</a:t>
            </a:r>
          </a:p>
          <a:p>
            <a:pPr lvl="1"/>
            <a:r>
              <a:rPr lang="fr-FR" sz="1700" dirty="0"/>
              <a:t>Priorisation</a:t>
            </a:r>
          </a:p>
          <a:p>
            <a:pPr lvl="2"/>
            <a:r>
              <a:rPr lang="fr-FR" sz="1500" dirty="0"/>
              <a:t>La demande</a:t>
            </a:r>
          </a:p>
          <a:p>
            <a:pPr lvl="2"/>
            <a:r>
              <a:rPr lang="fr-FR" sz="1500" dirty="0"/>
              <a:t>La facilité de publication</a:t>
            </a:r>
          </a:p>
          <a:p>
            <a:pPr lvl="3"/>
            <a:r>
              <a:rPr lang="fr-FR" sz="1300" dirty="0"/>
              <a:t>Aspect technique: anonymisation, numérisation, etc.</a:t>
            </a:r>
          </a:p>
          <a:p>
            <a:pPr lvl="3"/>
            <a:r>
              <a:rPr lang="fr-FR" sz="1300" dirty="0"/>
              <a:t>Motivation des personnels en charge</a:t>
            </a:r>
          </a:p>
          <a:p>
            <a:pPr lvl="2"/>
            <a:r>
              <a:rPr lang="fr-FR" sz="1500" dirty="0"/>
              <a:t>La facilité d’automatisation de la mise à jour</a:t>
            </a:r>
          </a:p>
          <a:p>
            <a:r>
              <a:rPr lang="fr-FR" sz="2400" dirty="0"/>
              <a:t>Points importants</a:t>
            </a:r>
          </a:p>
          <a:p>
            <a:pPr lvl="1"/>
            <a:r>
              <a:rPr lang="fr-FR" sz="1700" dirty="0"/>
              <a:t>Les formats</a:t>
            </a:r>
          </a:p>
          <a:p>
            <a:pPr lvl="1"/>
            <a:r>
              <a:rPr lang="fr-FR" sz="1700" dirty="0"/>
              <a:t>Le niveau de désagrégation</a:t>
            </a:r>
          </a:p>
          <a:p>
            <a:pPr lvl="1"/>
            <a:r>
              <a:rPr lang="fr-FR" sz="1700" dirty="0"/>
              <a:t>Les séries temporelles</a:t>
            </a:r>
          </a:p>
          <a:p>
            <a:pPr lvl="1"/>
            <a:r>
              <a:rPr lang="fr-FR" sz="1700" dirty="0"/>
              <a:t>Le suivi et la mise à jour</a:t>
            </a:r>
          </a:p>
          <a:p>
            <a:r>
              <a:rPr lang="fr-FR" sz="2400" dirty="0"/>
              <a:t>Points peu importants</a:t>
            </a:r>
          </a:p>
          <a:p>
            <a:pPr lvl="1"/>
            <a:r>
              <a:rPr lang="fr-FR" sz="1700" dirty="0"/>
              <a:t>Le nombre de jeux de données</a:t>
            </a:r>
          </a:p>
          <a:p>
            <a:pPr lvl="3"/>
            <a:endParaRPr lang="fr-FR" sz="1300" dirty="0"/>
          </a:p>
          <a:p>
            <a:pPr lvl="2"/>
            <a:endParaRPr lang="fr-FR" sz="1500" dirty="0"/>
          </a:p>
          <a:p>
            <a:endParaRPr lang="fr-FR" sz="2400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 descr="Une image contenant pièce, scène, casino&#10;&#10;Description générée automatiquement">
            <a:extLst>
              <a:ext uri="{FF2B5EF4-FFF2-40B4-BE49-F238E27FC236}">
                <a16:creationId xmlns:a16="http://schemas.microsoft.com/office/drawing/2014/main" id="{639F9911-0535-4AD4-9F87-ADFEE03098E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800" y="3973845"/>
            <a:ext cx="2295072" cy="17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9634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Les cas d’usages</a:t>
            </a:r>
            <a:endParaRPr lang="en-GB" dirty="0"/>
          </a:p>
        </p:txBody>
      </p:sp>
      <p:pic>
        <p:nvPicPr>
          <p:cNvPr id="6" name="Image 5" descr="Une image contenant sport athlétique&#10;&#10;Description générée automatiquement">
            <a:extLst>
              <a:ext uri="{FF2B5EF4-FFF2-40B4-BE49-F238E27FC236}">
                <a16:creationId xmlns:a16="http://schemas.microsoft.com/office/drawing/2014/main" id="{2C1D67DE-829C-4FEA-9DC9-7EDC46CB13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6540" y="3729093"/>
            <a:ext cx="3407460" cy="144328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A2D1A2-3820-49B0-8B37-A85C0E44DE6E}"/>
              </a:ext>
            </a:extLst>
          </p:cNvPr>
          <p:cNvSpPr txBox="1">
            <a:spLocks/>
          </p:cNvSpPr>
          <p:nvPr/>
        </p:nvSpPr>
        <p:spPr>
          <a:xfrm>
            <a:off x="121150" y="1322962"/>
            <a:ext cx="6787117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dirty="0"/>
              <a:t>Montrer en quoi le croisement, l’analyse et la visualisation de données peuvent être un outil pour la structure: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dirty="0"/>
              <a:t>Dans la définition et l’évaluation des politiques publiques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dirty="0"/>
              <a:t>Dans l’élaboration des stratégies d’action et d’investissement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dirty="0"/>
              <a:t>Dans la détection de défis spécifiques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Montrer en quoi la publication de données peut supporter l’innovation au service de la société et des citoyens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98118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Exemples d’applications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007AE7-BCC8-4BC6-97AC-9C97FD793A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5450" y="2803357"/>
            <a:ext cx="2057400" cy="20574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178333" y="1064538"/>
            <a:ext cx="6787117" cy="55350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b="1" dirty="0"/>
              <a:t>Placements de services publiques </a:t>
            </a:r>
            <a:r>
              <a:rPr lang="fr-FR" dirty="0"/>
              <a:t>en fonction de données légales, géospatiales, sociales, …: écoles, hôpitaux, commissariats,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Tableaux de bord</a:t>
            </a:r>
            <a:r>
              <a:rPr lang="fr-FR" dirty="0"/>
              <a:t>: </a:t>
            </a:r>
            <a:r>
              <a:rPr lang="fr-FR" dirty="0">
                <a:hlinkClick r:id="rId4"/>
              </a:rPr>
              <a:t>Education</a:t>
            </a:r>
            <a:r>
              <a:rPr lang="fr-FR" dirty="0"/>
              <a:t>, </a:t>
            </a:r>
            <a:r>
              <a:rPr lang="fr-FR" dirty="0">
                <a:hlinkClick r:id="rId5"/>
              </a:rPr>
              <a:t>santé</a:t>
            </a:r>
            <a:r>
              <a:rPr lang="fr-FR" dirty="0"/>
              <a:t>, </a:t>
            </a:r>
            <a:r>
              <a:rPr lang="fr-FR" dirty="0">
                <a:hlinkClick r:id="rId6"/>
              </a:rPr>
              <a:t>industries extractives </a:t>
            </a:r>
            <a:r>
              <a:rPr lang="fr-FR" dirty="0"/>
              <a:t>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Détection de problèmes</a:t>
            </a:r>
            <a:r>
              <a:rPr lang="fr-FR" dirty="0"/>
              <a:t>: fuite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Optimisation des ressources humaines et/ou financières</a:t>
            </a:r>
            <a:r>
              <a:rPr lang="fr-FR" dirty="0"/>
              <a:t>: Contrôle, investissement, etc..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Mesure d’impact</a:t>
            </a:r>
            <a:r>
              <a:rPr lang="fr-FR" dirty="0"/>
              <a:t>: expérimentation, Suivi &amp; évaluation etc…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…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58486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41" y="9939"/>
            <a:ext cx="5600301" cy="812800"/>
          </a:xfrm>
        </p:spPr>
        <p:txBody>
          <a:bodyPr/>
          <a:lstStyle/>
          <a:p>
            <a:r>
              <a:rPr lang="fr-FR" sz="2400" dirty="0"/>
              <a:t>Processus d’implémentation d’un cas d’usage interne</a:t>
            </a:r>
            <a:endParaRPr lang="en-GB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52E22DB-E72D-43E4-800A-0CEFE13555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1849" y="1219199"/>
            <a:ext cx="5600301" cy="520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797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Définition du problème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178334" y="1736302"/>
            <a:ext cx="6414972" cy="432761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b="1" dirty="0"/>
              <a:t>Identifier des cas d’usage/Thèmes à traiter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Identifier les éléments constitutifs du cas d’usage (questions, contenu, etc.)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Identifier les données nécessaires et leur(s) source(s)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Etablir les prochaines étapes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76ADDB-7130-4C9C-BB1E-DADBD45BF1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0056" y="3206656"/>
            <a:ext cx="2645611" cy="263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199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Analyser les données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L’activité de groupe facilite l’innovation et l’analyse</a:t>
            </a:r>
            <a:endParaRPr lang="fr-FR" dirty="0"/>
          </a:p>
          <a:p>
            <a:r>
              <a:rPr lang="fr-FR" b="1" dirty="0"/>
              <a:t>L’utilisation de l’innovation externe permet d’identifier des approches innovantes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22994F-3CA4-43BC-A2BE-F7F9E004E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5494" y="4412974"/>
            <a:ext cx="2420172" cy="181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328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Cas d’usage externes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Génération spontané d’exemples</a:t>
            </a:r>
          </a:p>
          <a:p>
            <a:pPr lvl="1"/>
            <a:r>
              <a:rPr lang="fr-FR" dirty="0"/>
              <a:t>Disponibilité de jeux de données</a:t>
            </a:r>
          </a:p>
          <a:p>
            <a:pPr lvl="1"/>
            <a:r>
              <a:rPr lang="fr-FR" dirty="0"/>
              <a:t>Réponse aux demandes</a:t>
            </a:r>
          </a:p>
          <a:p>
            <a:pPr lvl="1"/>
            <a:r>
              <a:rPr lang="fr-FR" dirty="0"/>
              <a:t>Suivi</a:t>
            </a:r>
          </a:p>
          <a:p>
            <a:pPr lvl="1"/>
            <a:r>
              <a:rPr lang="fr-FR" dirty="0"/>
              <a:t>Lien avec la communauté</a:t>
            </a:r>
          </a:p>
          <a:p>
            <a:pPr lvl="1"/>
            <a:r>
              <a:rPr lang="fr-FR" dirty="0"/>
              <a:t>Promotion des cas d’usage (compétition, mise en ligne, etc.)</a:t>
            </a:r>
          </a:p>
          <a:p>
            <a:r>
              <a:rPr lang="fr-FR" dirty="0"/>
              <a:t>Développement spécifique: hackathon</a:t>
            </a:r>
          </a:p>
          <a:p>
            <a:pPr lvl="1"/>
            <a:r>
              <a:rPr lang="fr-FR" dirty="0"/>
              <a:t>Beaucoup de hackathons</a:t>
            </a:r>
          </a:p>
          <a:p>
            <a:pPr lvl="1"/>
            <a:r>
              <a:rPr lang="fr-FR" dirty="0"/>
              <a:t>Les motivations sont essentielles</a:t>
            </a:r>
          </a:p>
          <a:p>
            <a:pPr lvl="1"/>
            <a:r>
              <a:rPr lang="fr-FR" dirty="0"/>
              <a:t>Partenariat avec les acteurs clés de la société civile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22994F-3CA4-43BC-A2BE-F7F9E004E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2332" y="1497763"/>
            <a:ext cx="2087788" cy="156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49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Facteurs de succès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Leadership fort pour l’Open Data</a:t>
            </a:r>
          </a:p>
          <a:p>
            <a:r>
              <a:rPr lang="fr-FR" dirty="0"/>
              <a:t>Stratégie claire &amp; spécifique</a:t>
            </a:r>
          </a:p>
          <a:p>
            <a:r>
              <a:rPr lang="fr-FR" dirty="0"/>
              <a:t>Bénéfices claires</a:t>
            </a:r>
          </a:p>
          <a:p>
            <a:r>
              <a:rPr lang="fr-FR" dirty="0"/>
              <a:t>Implication de toutes les parties (interne et externe)</a:t>
            </a:r>
          </a:p>
          <a:p>
            <a:r>
              <a:rPr lang="fr-FR" dirty="0"/>
              <a:t>Acquisition des compétences</a:t>
            </a:r>
          </a:p>
          <a:p>
            <a:r>
              <a:rPr lang="fr-FR" dirty="0"/>
              <a:t>Une focalisation sur les besoins</a:t>
            </a:r>
          </a:p>
          <a:p>
            <a:r>
              <a:rPr lang="fr-FR" dirty="0"/>
              <a:t>Des objectifs ambitieux mais atteignables</a:t>
            </a:r>
          </a:p>
          <a:p>
            <a:pPr lvl="1"/>
            <a:r>
              <a:rPr lang="fr-FR" dirty="0"/>
              <a:t>Focalisation sur les département avec des personnels motivés (« early-movers ») et les bénéfices à court terme (« quick wins », « low-hanging fruits »)</a:t>
            </a:r>
          </a:p>
          <a:p>
            <a:endParaRPr lang="fr-FR" dirty="0"/>
          </a:p>
        </p:txBody>
      </p:sp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F3164C98-558F-41AA-A6B1-C07DDD7D85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893" y="1497763"/>
            <a:ext cx="1603246" cy="16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223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Un plan d’activité particulier: le lancement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Lancement interne officiel</a:t>
            </a:r>
          </a:p>
          <a:p>
            <a:pPr lvl="1"/>
            <a:r>
              <a:rPr lang="fr-FR" dirty="0"/>
              <a:t>Engagement des responsables</a:t>
            </a:r>
          </a:p>
          <a:p>
            <a:pPr lvl="2"/>
            <a:r>
              <a:rPr lang="fr-FR" dirty="0"/>
              <a:t>Définition des objectifs et de la vision</a:t>
            </a:r>
          </a:p>
          <a:p>
            <a:pPr lvl="2"/>
            <a:r>
              <a:rPr lang="fr-FR" dirty="0"/>
              <a:t>Clarification des bénéfices</a:t>
            </a:r>
          </a:p>
          <a:p>
            <a:pPr lvl="1"/>
            <a:r>
              <a:rPr lang="fr-FR" dirty="0"/>
              <a:t>Introduction des personnels et leurs taches</a:t>
            </a:r>
          </a:p>
          <a:p>
            <a:pPr lvl="1"/>
            <a:r>
              <a:rPr lang="fr-FR" dirty="0"/>
              <a:t>Introduction des processus et des objectifs</a:t>
            </a:r>
          </a:p>
          <a:p>
            <a:pPr lvl="1"/>
            <a:r>
              <a:rPr lang="fr-FR" dirty="0"/>
              <a:t>Mise en place des outils appropriés: note de services, etc.</a:t>
            </a:r>
          </a:p>
          <a:p>
            <a:r>
              <a:rPr lang="fr-FR" dirty="0"/>
              <a:t>Lancement externe officiel: </a:t>
            </a:r>
          </a:p>
          <a:p>
            <a:pPr lvl="1"/>
            <a:r>
              <a:rPr lang="fr-FR" dirty="0"/>
              <a:t>Blog/Couverture Media </a:t>
            </a:r>
          </a:p>
          <a:p>
            <a:pPr lvl="1"/>
            <a:r>
              <a:rPr lang="fr-FR" dirty="0"/>
              <a:t>Réunions avec les acteurs non-gouvernementaux du secteurs</a:t>
            </a:r>
          </a:p>
          <a:p>
            <a:pPr lvl="1"/>
            <a:r>
              <a:rPr lang="fr-FR" dirty="0"/>
              <a:t>Mise en place des outils d’interaction (forum, adresse mail, …)</a:t>
            </a:r>
          </a:p>
          <a:p>
            <a:pPr lvl="1"/>
            <a:r>
              <a:rPr lang="fr-FR" dirty="0"/>
              <a:t>Présentation des objectifs</a:t>
            </a:r>
          </a:p>
        </p:txBody>
      </p:sp>
      <p:pic>
        <p:nvPicPr>
          <p:cNvPr id="4" name="Image 3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97444DE9-DCC0-421E-B574-5DF8CADB9E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226" y="1530626"/>
            <a:ext cx="2693504" cy="179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07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00" y="0"/>
            <a:ext cx="5207237" cy="812800"/>
          </a:xfrm>
        </p:spPr>
        <p:txBody>
          <a:bodyPr/>
          <a:lstStyle/>
          <a:p>
            <a:r>
              <a:rPr lang="fr-FR" sz="2400" dirty="0"/>
              <a:t>Rôle du plan de suivi et évaluation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257361" cy="445489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Pour le COD et l’ADD: </a:t>
            </a:r>
          </a:p>
          <a:p>
            <a:pPr lvl="1"/>
            <a:r>
              <a:rPr lang="fr-FR" sz="1400" dirty="0"/>
              <a:t>Un outil pour suivre le développement de l’initiative Open Data</a:t>
            </a:r>
          </a:p>
          <a:p>
            <a:pPr lvl="1"/>
            <a:r>
              <a:rPr lang="fr-FR" sz="1400" dirty="0"/>
              <a:t>Un outil pour identifier les points de blocage globaux</a:t>
            </a:r>
          </a:p>
          <a:p>
            <a:pPr lvl="1"/>
            <a:r>
              <a:rPr lang="fr-FR" sz="1400" dirty="0"/>
              <a:t>Un outil pour identifier les structures en difficulté</a:t>
            </a:r>
          </a:p>
          <a:p>
            <a:r>
              <a:rPr lang="fr-FR" sz="2100" dirty="0"/>
              <a:t>Pour la structure/le ROD</a:t>
            </a:r>
          </a:p>
          <a:p>
            <a:pPr lvl="1"/>
            <a:r>
              <a:rPr lang="fr-FR" sz="1400" dirty="0"/>
              <a:t>Un outil de suivi des activités et de leurs impacts (tableau de bord)</a:t>
            </a:r>
          </a:p>
          <a:p>
            <a:pPr lvl="1"/>
            <a:r>
              <a:rPr lang="fr-FR" sz="1400" dirty="0"/>
              <a:t>Un outil pour le plaidoyer et l’implication des responsables</a:t>
            </a:r>
          </a:p>
          <a:p>
            <a:pPr lvl="1"/>
            <a:r>
              <a:rPr lang="fr-FR" sz="1400" dirty="0"/>
              <a:t>Un outil pour l’accès à des financements</a:t>
            </a:r>
          </a:p>
          <a:p>
            <a:pPr lvl="1"/>
            <a:r>
              <a:rPr lang="fr-FR" sz="1400" dirty="0"/>
              <a:t>Un outil de comparaisons avec les autres structures</a:t>
            </a:r>
          </a:p>
          <a:p>
            <a:pPr lvl="0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BA04A4-5AC1-4F3C-A666-0F1E84328B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4993" y="4401540"/>
            <a:ext cx="3492307" cy="100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402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00" y="0"/>
            <a:ext cx="5608178" cy="812800"/>
          </a:xfrm>
        </p:spPr>
        <p:txBody>
          <a:bodyPr/>
          <a:lstStyle/>
          <a:p>
            <a:r>
              <a:rPr lang="fr-FR" sz="2400" dirty="0"/>
              <a:t>Gestion du plan de suivi et évaluation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257361" cy="53655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Des indicateurs automatiques collectés sur le portail de données</a:t>
            </a:r>
            <a:endParaRPr lang="fr-FR" sz="1400" dirty="0"/>
          </a:p>
          <a:p>
            <a:r>
              <a:rPr lang="fr-FR" sz="2100" dirty="0"/>
              <a:t>Des indicateurs cumulatif à renseigner après chaque activité</a:t>
            </a:r>
          </a:p>
          <a:p>
            <a:r>
              <a:rPr lang="fr-FR" sz="2100" dirty="0"/>
              <a:t>Quelques indicateurs binaires/ponctuels</a:t>
            </a:r>
          </a:p>
          <a:p>
            <a:r>
              <a:rPr lang="fr-FR" sz="2100" dirty="0"/>
              <a:t>Des indicateurs à remplir en fin de période</a:t>
            </a:r>
          </a:p>
          <a:p>
            <a:r>
              <a:rPr lang="fr-FR" sz="2100" dirty="0"/>
              <a:t>Des sections:</a:t>
            </a:r>
          </a:p>
          <a:p>
            <a:pPr lvl="1"/>
            <a:r>
              <a:rPr lang="fr-FR" dirty="0"/>
              <a:t>Gouvernance </a:t>
            </a:r>
          </a:p>
          <a:p>
            <a:pPr lvl="1"/>
            <a:r>
              <a:rPr lang="fr-FR" dirty="0"/>
              <a:t>Qualité des jeux de données publiées </a:t>
            </a:r>
          </a:p>
          <a:p>
            <a:pPr lvl="1"/>
            <a:r>
              <a:rPr lang="fr-FR" dirty="0"/>
              <a:t>Publication</a:t>
            </a:r>
          </a:p>
          <a:p>
            <a:pPr lvl="1"/>
            <a:r>
              <a:rPr lang="fr-FR" dirty="0"/>
              <a:t>Réutilisation</a:t>
            </a:r>
          </a:p>
          <a:p>
            <a:pPr lvl="1"/>
            <a:r>
              <a:rPr lang="fr-FR" dirty="0"/>
              <a:t>Portail de données</a:t>
            </a:r>
          </a:p>
          <a:p>
            <a:pPr lvl="1"/>
            <a:endParaRPr lang="fr-FR" sz="1400" dirty="0"/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7A5F0F-FEC2-4B0C-AD66-16209C8445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4993" y="4878618"/>
            <a:ext cx="3492307" cy="100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74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063247"/>
            <a:ext cx="6257361" cy="551743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Quels processus pour développer le plan annuel d’activités?</a:t>
            </a:r>
          </a:p>
          <a:p>
            <a:pPr lvl="1"/>
            <a:r>
              <a:rPr lang="fr-FR" sz="1400" dirty="0"/>
              <a:t>Qui impliquer?</a:t>
            </a:r>
          </a:p>
          <a:p>
            <a:pPr lvl="1"/>
            <a:r>
              <a:rPr lang="fr-FR" sz="1400" dirty="0"/>
              <a:t>Quel format?</a:t>
            </a:r>
          </a:p>
          <a:p>
            <a:pPr lvl="1"/>
            <a:r>
              <a:rPr lang="fr-FR" sz="1400" dirty="0"/>
              <a:t>Quel calendrier?</a:t>
            </a:r>
          </a:p>
          <a:p>
            <a:r>
              <a:rPr lang="fr-FR" sz="2100" dirty="0"/>
              <a:t>Quels défis ?</a:t>
            </a:r>
          </a:p>
          <a:p>
            <a:pPr lvl="1"/>
            <a:r>
              <a:rPr lang="fr-FR" sz="1400" dirty="0"/>
              <a:t>Pour le ROD</a:t>
            </a:r>
          </a:p>
          <a:p>
            <a:pPr lvl="1"/>
            <a:r>
              <a:rPr lang="fr-FR" sz="1400" dirty="0"/>
              <a:t>Pour le lancement officiel</a:t>
            </a:r>
          </a:p>
          <a:p>
            <a:pPr lvl="1"/>
            <a:r>
              <a:rPr lang="fr-FR" sz="1400" dirty="0"/>
              <a:t>Pour construire un consensus sur le contenu du plan</a:t>
            </a:r>
          </a:p>
          <a:p>
            <a:pPr lvl="1"/>
            <a:r>
              <a:rPr lang="fr-FR" sz="1400" dirty="0"/>
              <a:t>Pour la mise en œuvre</a:t>
            </a:r>
          </a:p>
          <a:p>
            <a:pPr lvl="1"/>
            <a:r>
              <a:rPr lang="fr-FR" sz="1400" dirty="0"/>
              <a:t>Pour les activités spécifiques</a:t>
            </a:r>
          </a:p>
          <a:p>
            <a:pPr lvl="2"/>
            <a:r>
              <a:rPr lang="fr-FR" sz="1200" dirty="0"/>
              <a:t>Sensibilisation</a:t>
            </a:r>
          </a:p>
          <a:p>
            <a:pPr lvl="2"/>
            <a:r>
              <a:rPr lang="fr-FR" sz="1200" dirty="0"/>
              <a:t>Formation</a:t>
            </a:r>
          </a:p>
          <a:p>
            <a:pPr lvl="2"/>
            <a:r>
              <a:rPr lang="fr-FR" sz="1200" dirty="0"/>
              <a:t>Développement de cas d’usage</a:t>
            </a:r>
          </a:p>
          <a:p>
            <a:pPr lvl="2"/>
            <a:r>
              <a:rPr lang="fr-FR" sz="1200" dirty="0"/>
              <a:t>Réutilisation et interaction avec les réutilisateurs externe</a:t>
            </a:r>
          </a:p>
          <a:p>
            <a:r>
              <a:rPr lang="fr-FR" sz="2100" dirty="0"/>
              <a:t>Quelles approches pour les résoudre</a:t>
            </a:r>
          </a:p>
          <a:p>
            <a:pPr lvl="1"/>
            <a:r>
              <a:rPr lang="fr-FR" sz="1400" dirty="0"/>
              <a:t>Manuel pour les ROD</a:t>
            </a:r>
          </a:p>
          <a:p>
            <a:pPr lvl="1"/>
            <a:r>
              <a:rPr lang="fr-FR" sz="1400" dirty="0"/>
              <a:t>Travail collaboratif et échange</a:t>
            </a:r>
          </a:p>
          <a:p>
            <a:pPr lvl="1"/>
            <a:r>
              <a:rPr lang="fr-FR" sz="1400" dirty="0"/>
              <a:t>Compétition</a:t>
            </a:r>
          </a:p>
          <a:p>
            <a:pPr lvl="1"/>
            <a:r>
              <a:rPr lang="fr-FR" sz="1400" dirty="0"/>
              <a:t>…</a:t>
            </a:r>
          </a:p>
          <a:p>
            <a:pPr lvl="0"/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255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759756" y="1684595"/>
            <a:ext cx="7624488" cy="377409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Publication de </a:t>
            </a:r>
            <a:r>
              <a:rPr lang="fr-FR" sz="3600" b="1" dirty="0"/>
              <a:t>données</a:t>
            </a:r>
            <a:r>
              <a:rPr lang="en-GB" sz="3600" b="1" dirty="0"/>
              <a:t> ouvertes</a:t>
            </a:r>
          </a:p>
        </p:txBody>
      </p:sp>
    </p:spTree>
    <p:extLst>
      <p:ext uri="{BB962C8B-B14F-4D97-AF65-F5344CB8AC3E}">
        <p14:creationId xmlns:p14="http://schemas.microsoft.com/office/powerpoint/2010/main" val="2818172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Rôle du gestionnaire de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646031" y="1468827"/>
            <a:ext cx="6257361" cy="441935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Préparer et publier les données sur le portail national Open Data</a:t>
            </a:r>
          </a:p>
          <a:p>
            <a:pPr lvl="1"/>
            <a:r>
              <a:rPr lang="fr-FR" sz="1800" dirty="0"/>
              <a:t>Dimension technique</a:t>
            </a:r>
          </a:p>
          <a:p>
            <a:pPr lvl="1"/>
            <a:r>
              <a:rPr lang="fr-FR" sz="1800" dirty="0"/>
              <a:t>Dimension administrative:</a:t>
            </a:r>
          </a:p>
          <a:p>
            <a:pPr lvl="2"/>
            <a:r>
              <a:rPr lang="fr-FR" sz="2000" dirty="0"/>
              <a:t>Niveau d’accès: Inventaire</a:t>
            </a:r>
          </a:p>
          <a:p>
            <a:pPr lvl="2"/>
            <a:r>
              <a:rPr lang="fr-FR" sz="2000" dirty="0"/>
              <a:t>Licences de réutilisation</a:t>
            </a:r>
          </a:p>
          <a:p>
            <a:pPr lvl="0"/>
            <a:r>
              <a:rPr lang="fr-FR" sz="2800" dirty="0"/>
              <a:t>Analyser, croiser, visualiser et exploiter les données pour faciliter la prise de décision ou mesurer l’impact des politiques publiques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43B94E-73F1-4DFD-8ADD-43CB00DD36B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369" y="2170861"/>
            <a:ext cx="1212600" cy="16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919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Publication de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1" y="1136817"/>
            <a:ext cx="6985099" cy="50151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Objectif:</a:t>
            </a:r>
          </a:p>
          <a:p>
            <a:pPr lvl="1"/>
            <a:r>
              <a:rPr lang="fr-FR" sz="2800" dirty="0"/>
              <a:t>Enrichir et mettre jour l’offre de données ouvertes du gouvernement</a:t>
            </a:r>
          </a:p>
          <a:p>
            <a:pPr lvl="1"/>
            <a:r>
              <a:rPr lang="fr-FR" sz="2800" dirty="0"/>
              <a:t>Faciliter la réutilisation des données</a:t>
            </a:r>
          </a:p>
          <a:p>
            <a:pPr lvl="1"/>
            <a:r>
              <a:rPr lang="fr-FR" sz="2800" dirty="0"/>
              <a:t>Respecter et implémenter la loi</a:t>
            </a:r>
          </a:p>
          <a:p>
            <a:pPr lvl="2"/>
            <a:r>
              <a:rPr lang="fr-FR" sz="2800" dirty="0"/>
              <a:t>Accès à l’information (Loi 31-13)</a:t>
            </a:r>
          </a:p>
          <a:p>
            <a:pPr lvl="2"/>
            <a:r>
              <a:rPr lang="fr-FR" sz="2800" dirty="0"/>
              <a:t>Protection des données personnelles (Loi 09-08)</a:t>
            </a:r>
            <a:endParaRPr lang="fr-FR" sz="1900" dirty="0"/>
          </a:p>
          <a:p>
            <a:pPr lvl="0"/>
            <a:r>
              <a:rPr lang="fr-FR" sz="2800" dirty="0"/>
              <a:t>Etapes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2800" dirty="0"/>
              <a:t>Préparation des données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2800" dirty="0"/>
              <a:t>Vérification des données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2800" dirty="0"/>
              <a:t>Anonymisation des données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2800" dirty="0"/>
              <a:t>Publication sur le portail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026" name="Picture 2" descr="Data Publisher for Earth &amp; Environmental Science">
            <a:extLst>
              <a:ext uri="{FF2B5EF4-FFF2-40B4-BE49-F238E27FC236}">
                <a16:creationId xmlns:a16="http://schemas.microsoft.com/office/drawing/2014/main" id="{90A01F60-2464-483A-85F1-C0FEC01B9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135703"/>
            <a:ext cx="2219672" cy="158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225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Préparation des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1" y="1136817"/>
            <a:ext cx="6985099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Objectif:</a:t>
            </a:r>
          </a:p>
          <a:p>
            <a:pPr lvl="1"/>
            <a:r>
              <a:rPr lang="fr-FR" sz="2800" dirty="0"/>
              <a:t>Données structurées</a:t>
            </a:r>
          </a:p>
          <a:p>
            <a:pPr lvl="1"/>
            <a:r>
              <a:rPr lang="fr-FR" sz="2800" dirty="0"/>
              <a:t>Données exploitables informatiquement</a:t>
            </a:r>
          </a:p>
          <a:p>
            <a:pPr lvl="1"/>
            <a:r>
              <a:rPr lang="fr-FR" sz="2800" dirty="0"/>
              <a:t>Données documentées</a:t>
            </a:r>
          </a:p>
          <a:p>
            <a:pPr lvl="1"/>
            <a:r>
              <a:rPr lang="fr-FR" sz="2800" dirty="0"/>
              <a:t>Données sous format ouvert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2050" name="Picture 2" descr="Comparing Mapping and Wrangling Data Flows in Azure Data Factory | Cathrine  Wilhelmsen">
            <a:extLst>
              <a:ext uri="{FF2B5EF4-FFF2-40B4-BE49-F238E27FC236}">
                <a16:creationId xmlns:a16="http://schemas.microsoft.com/office/drawing/2014/main" id="{D085132A-B27B-4FB8-A919-06740E6E0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9646" y="4377128"/>
            <a:ext cx="3777888" cy="188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6509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3" y="0"/>
            <a:ext cx="6042991" cy="812800"/>
          </a:xfrm>
        </p:spPr>
        <p:txBody>
          <a:bodyPr/>
          <a:lstStyle/>
          <a:p>
            <a:r>
              <a:rPr lang="fr-FR" sz="2400" dirty="0"/>
              <a:t>Données désordonnées vs structurées</a:t>
            </a:r>
            <a:endParaRPr lang="en-GB" dirty="0"/>
          </a:p>
        </p:txBody>
      </p:sp>
      <p:pic>
        <p:nvPicPr>
          <p:cNvPr id="6" name="Image 5" descr="Données larges">
            <a:extLst>
              <a:ext uri="{FF2B5EF4-FFF2-40B4-BE49-F238E27FC236}">
                <a16:creationId xmlns:a16="http://schemas.microsoft.com/office/drawing/2014/main" id="{36C9D86B-5649-43F9-85A6-0A5CF6154BC1}"/>
              </a:ext>
            </a:extLst>
          </p:cNvPr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67461" y="5155911"/>
            <a:ext cx="5115735" cy="12739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 descr="Une image contenant table&#10;&#10;Description générée automatiquement">
            <a:extLst>
              <a:ext uri="{FF2B5EF4-FFF2-40B4-BE49-F238E27FC236}">
                <a16:creationId xmlns:a16="http://schemas.microsoft.com/office/drawing/2014/main" id="{D5CBC23F-14C9-4ABB-8B7C-BA830139FD8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078"/>
          <a:stretch/>
        </p:blipFill>
        <p:spPr>
          <a:xfrm>
            <a:off x="-948050" y="1007670"/>
            <a:ext cx="7373379" cy="407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867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Données larges vs longues</a:t>
            </a:r>
            <a:endParaRPr lang="en-GB" dirty="0"/>
          </a:p>
        </p:txBody>
      </p:sp>
      <p:pic>
        <p:nvPicPr>
          <p:cNvPr id="5" name="Image 4" descr="Données larges">
            <a:extLst>
              <a:ext uri="{FF2B5EF4-FFF2-40B4-BE49-F238E27FC236}">
                <a16:creationId xmlns:a16="http://schemas.microsoft.com/office/drawing/2014/main" id="{BAB95165-8938-4BDB-943A-1FF2BB042865}"/>
              </a:ext>
            </a:extLst>
          </p:cNvPr>
          <p:cNvPicPr/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5636" y="1231137"/>
            <a:ext cx="6938197" cy="25558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87E45DD-F6D0-4A1A-84A6-F2F7A5A5D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496" y="4205366"/>
            <a:ext cx="5825166" cy="200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283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Documentation des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1" y="1136817"/>
            <a:ext cx="7224941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Métadonnées descriptives: information sur le contenu d’un jeu de données:</a:t>
            </a:r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lvl="0"/>
            <a:r>
              <a:rPr lang="fr-FR" sz="2800" dirty="0"/>
              <a:t>Métadonnées structurelles: structure du jeu de données</a:t>
            </a:r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Picture 2" descr="Metadata - Free files and folders icons">
            <a:extLst>
              <a:ext uri="{FF2B5EF4-FFF2-40B4-BE49-F238E27FC236}">
                <a16:creationId xmlns:a16="http://schemas.microsoft.com/office/drawing/2014/main" id="{430FFFD1-20B7-41C2-BD6A-0F4418B50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3573" y="3429000"/>
            <a:ext cx="1637442" cy="163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925D684-0CC8-4758-9A05-3F63C147AE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23" y="2140941"/>
            <a:ext cx="6386723" cy="333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152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7" y="0"/>
            <a:ext cx="5415538" cy="812800"/>
          </a:xfrm>
        </p:spPr>
        <p:txBody>
          <a:bodyPr/>
          <a:lstStyle/>
          <a:p>
            <a:r>
              <a:rPr lang="fr-FR" sz="2400" dirty="0"/>
              <a:t>Métadonnées structurelles: le schéma de validation des données</a:t>
            </a:r>
            <a:endParaRPr lang="en-GB" dirty="0"/>
          </a:p>
        </p:txBody>
      </p:sp>
      <p:pic>
        <p:nvPicPr>
          <p:cNvPr id="5" name="Image 4" descr="Métadonnées structurelles sur l'hospitalisation">
            <a:extLst>
              <a:ext uri="{FF2B5EF4-FFF2-40B4-BE49-F238E27FC236}">
                <a16:creationId xmlns:a16="http://schemas.microsoft.com/office/drawing/2014/main" id="{EC150B52-92BB-490C-9557-8906EF61CB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5636" y="1435704"/>
            <a:ext cx="8040133" cy="4215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7256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Format Ouvert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1" y="1136817"/>
            <a:ext cx="7224941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Format de données tabulaires ouvert: CSV</a:t>
            </a:r>
          </a:p>
          <a:p>
            <a:pPr lvl="0"/>
            <a:r>
              <a:rPr lang="fr-FR" sz="2800" dirty="0"/>
              <a:t>Structure: </a:t>
            </a:r>
          </a:p>
          <a:p>
            <a:pPr lvl="1"/>
            <a:r>
              <a:rPr lang="fr-FR" sz="2100" dirty="0"/>
              <a:t>Première ligne: les entêtes de colonne</a:t>
            </a:r>
          </a:p>
          <a:p>
            <a:pPr lvl="1"/>
            <a:r>
              <a:rPr lang="fr-FR" sz="2100" dirty="0"/>
              <a:t>Toutes les autres lignes: les données</a:t>
            </a:r>
          </a:p>
          <a:p>
            <a:pPr lvl="1"/>
            <a:r>
              <a:rPr lang="fr-FR" sz="2100" dirty="0"/>
              <a:t>Les données séparées par « , » ou « ; »</a:t>
            </a:r>
          </a:p>
          <a:p>
            <a:pPr lvl="1"/>
            <a:r>
              <a:rPr lang="fr-FR" sz="2100" dirty="0"/>
              <a:t>Feuille unique</a:t>
            </a:r>
          </a:p>
          <a:p>
            <a:pPr marL="457200" lvl="1" indent="0">
              <a:buNone/>
            </a:pPr>
            <a:endParaRPr lang="fr-FR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Générez le CSV à partir d’un tableur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Télécharger le CSV avec les autres ressources (description, schéma)</a:t>
            </a:r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031812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3200" dirty="0"/>
              <a:t>Les écueils à éviter</a:t>
            </a:r>
            <a:endParaRPr lang="en-GB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0" y="1842900"/>
            <a:ext cx="7224941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Les nombres décimaux: « , » vs « . »</a:t>
            </a:r>
          </a:p>
          <a:p>
            <a:pPr lvl="0"/>
            <a:r>
              <a:rPr lang="fr-FR" sz="2800" dirty="0"/>
              <a:t>Les séparateurs de millier</a:t>
            </a:r>
          </a:p>
          <a:p>
            <a:pPr lvl="0"/>
            <a:r>
              <a:rPr lang="fr-FR" sz="2800" dirty="0"/>
              <a:t>Les valeurs absentes</a:t>
            </a:r>
          </a:p>
          <a:p>
            <a:pPr lvl="0"/>
            <a:r>
              <a:rPr lang="fr-FR" sz="2800" dirty="0"/>
              <a:t>Les dates: YYYY/MM/DD vs JJ/MM/AAAA</a:t>
            </a:r>
          </a:p>
          <a:p>
            <a:pPr lvl="0"/>
            <a:r>
              <a:rPr lang="fr-FR" sz="2800" dirty="0"/>
              <a:t>…</a:t>
            </a:r>
          </a:p>
          <a:p>
            <a:pPr marL="457200" lvl="1" indent="0">
              <a:buNone/>
            </a:pPr>
            <a:endParaRPr lang="fr-FR" sz="21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marL="0" lvl="0" indent="0">
              <a:buNone/>
            </a:pPr>
            <a:endParaRPr lang="fr-FR" sz="2800" dirty="0"/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098" name="Picture 2" descr="Icon Warning Red - Danger Icon - Free Transparent PNG Clipart Images  Download">
            <a:extLst>
              <a:ext uri="{FF2B5EF4-FFF2-40B4-BE49-F238E27FC236}">
                <a16:creationId xmlns:a16="http://schemas.microsoft.com/office/drawing/2014/main" id="{4526455E-EEFC-408F-883F-CF55FB505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88885" y="4223245"/>
            <a:ext cx="2132313" cy="192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491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Validation des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2" y="1136817"/>
            <a:ext cx="6514044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Objectif: Publier des données de qualité </a:t>
            </a:r>
          </a:p>
          <a:p>
            <a:pPr lvl="0"/>
            <a:r>
              <a:rPr lang="fr-FR" sz="2800" dirty="0"/>
              <a:t>Processus:</a:t>
            </a:r>
          </a:p>
          <a:p>
            <a:pPr lvl="1"/>
            <a:r>
              <a:rPr lang="fr-FR" sz="2100" dirty="0"/>
              <a:t>Définir les contenus et les formats de chaque colonne: le schéma de données</a:t>
            </a:r>
          </a:p>
          <a:p>
            <a:pPr lvl="1"/>
            <a:r>
              <a:rPr lang="fr-FR" sz="2100" dirty="0"/>
              <a:t>Vérifier que toutes les lignes répondent au format imposé (validation formelle)</a:t>
            </a:r>
          </a:p>
          <a:p>
            <a:pPr lvl="1"/>
            <a:endParaRPr lang="fr-FR" sz="2100" dirty="0"/>
          </a:p>
          <a:p>
            <a:pPr marL="0" indent="0">
              <a:buNone/>
            </a:pPr>
            <a:r>
              <a:rPr lang="fr-FR" sz="2800" dirty="0">
                <a:solidFill>
                  <a:srgbClr val="FF0000"/>
                </a:solidFill>
              </a:rPr>
              <a:t>Attention la validation formelle n’est qu’un élément de la qualité des données</a:t>
            </a:r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074" name="Picture 2" descr="Pin on Database Validation and Verification">
            <a:extLst>
              <a:ext uri="{FF2B5EF4-FFF2-40B4-BE49-F238E27FC236}">
                <a16:creationId xmlns:a16="http://schemas.microsoft.com/office/drawing/2014/main" id="{0129E384-858F-40C8-9BE9-63700C3AE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799534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7428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Validation des données: outils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15636" y="1466600"/>
            <a:ext cx="6514044" cy="434958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Objectif: appliquer le schéma de données sur des données </a:t>
            </a:r>
          </a:p>
          <a:p>
            <a:pPr lvl="0"/>
            <a:r>
              <a:rPr lang="fr-FR" sz="2800" dirty="0"/>
              <a:t>Outils:</a:t>
            </a:r>
          </a:p>
          <a:p>
            <a:pPr lvl="1"/>
            <a:r>
              <a:rPr lang="fr-FR" sz="2100" dirty="0"/>
              <a:t>Excel</a:t>
            </a:r>
          </a:p>
          <a:p>
            <a:pPr lvl="1"/>
            <a:r>
              <a:rPr lang="fr-FR" sz="2100" dirty="0"/>
              <a:t>Des outils web comme Goodtables: </a:t>
            </a:r>
            <a:r>
              <a:rPr lang="fr-FR" sz="2100" dirty="0">
                <a:hlinkClick r:id="rId3"/>
              </a:rPr>
              <a:t>http://try.goodtables.io/</a:t>
            </a:r>
            <a:r>
              <a:rPr lang="fr-FR" sz="2100" dirty="0"/>
              <a:t> </a:t>
            </a:r>
          </a:p>
          <a:p>
            <a:pPr lvl="1"/>
            <a:r>
              <a:rPr lang="fr-FR" sz="2100" dirty="0"/>
              <a:t>Des programmes informatiques en python/R/…</a:t>
            </a:r>
          </a:p>
          <a:p>
            <a:pPr lvl="1"/>
            <a:endParaRPr lang="fr-FR" sz="2100" dirty="0"/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074" name="Picture 2" descr="Pin on Database Validation and Verification">
            <a:extLst>
              <a:ext uri="{FF2B5EF4-FFF2-40B4-BE49-F238E27FC236}">
                <a16:creationId xmlns:a16="http://schemas.microsoft.com/office/drawing/2014/main" id="{0129E384-858F-40C8-9BE9-63700C3AE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799534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7434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Anonymisation des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330102" y="1136817"/>
            <a:ext cx="6514044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Objectif: répondre aux obligations de la Loi 09-08 </a:t>
            </a:r>
          </a:p>
          <a:p>
            <a:pPr lvl="0"/>
            <a:r>
              <a:rPr lang="fr-FR" sz="2800" dirty="0"/>
              <a:t>Processus:</a:t>
            </a:r>
          </a:p>
          <a:p>
            <a:pPr lvl="1"/>
            <a:r>
              <a:rPr lang="fr-FR" sz="2100" dirty="0"/>
              <a:t>Les techniques de rédaction</a:t>
            </a:r>
          </a:p>
          <a:p>
            <a:pPr lvl="1"/>
            <a:r>
              <a:rPr lang="fr-FR" sz="2100" dirty="0"/>
              <a:t>Les techniques d’agrégation</a:t>
            </a:r>
          </a:p>
          <a:p>
            <a:pPr lvl="1"/>
            <a:endParaRPr lang="fr-FR" sz="2100" dirty="0"/>
          </a:p>
          <a:p>
            <a:pPr marL="0" indent="0">
              <a:buNone/>
            </a:pPr>
            <a:r>
              <a:rPr lang="fr-FR" sz="2800" dirty="0">
                <a:solidFill>
                  <a:srgbClr val="FF0000"/>
                </a:solidFill>
              </a:rPr>
              <a:t>Attention la validation formelle n’est qu’un élément de la qualité des données</a:t>
            </a:r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026" name="Picture 2" descr="Data Anonymization Tools and Techniques | SolarWinds MSP">
            <a:extLst>
              <a:ext uri="{FF2B5EF4-FFF2-40B4-BE49-F238E27FC236}">
                <a16:creationId xmlns:a16="http://schemas.microsoft.com/office/drawing/2014/main" id="{7430AFD4-29E0-4DC6-B0E1-5DF8BEBE6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945646"/>
            <a:ext cx="2439649" cy="120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2325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Les techniques de rédaction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164407" y="1842900"/>
            <a:ext cx="6514044" cy="259418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Suppression d’attributs</a:t>
            </a:r>
          </a:p>
          <a:p>
            <a:pPr lvl="0"/>
            <a:r>
              <a:rPr lang="fr-FR" sz="2800" dirty="0"/>
              <a:t>Pseudonymisation</a:t>
            </a:r>
          </a:p>
          <a:p>
            <a:pPr lvl="0"/>
            <a:r>
              <a:rPr lang="fr-FR" sz="2800" dirty="0"/>
              <a:t>Généralisation</a:t>
            </a:r>
          </a:p>
          <a:p>
            <a:pPr lvl="0"/>
            <a:r>
              <a:rPr lang="fr-FR" sz="2800" dirty="0"/>
              <a:t>Brassage</a:t>
            </a:r>
            <a:endParaRPr lang="fr-FR" sz="2100" dirty="0"/>
          </a:p>
          <a:p>
            <a:pPr lvl="1"/>
            <a:endParaRPr lang="fr-FR" sz="2100" dirty="0"/>
          </a:p>
          <a:p>
            <a:pPr lvl="1"/>
            <a:endParaRPr lang="fr-FR" sz="21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026" name="Picture 2" descr="Data Anonymization Tools and Techniques | SolarWinds MSP">
            <a:extLst>
              <a:ext uri="{FF2B5EF4-FFF2-40B4-BE49-F238E27FC236}">
                <a16:creationId xmlns:a16="http://schemas.microsoft.com/office/drawing/2014/main" id="{7430AFD4-29E0-4DC6-B0E1-5DF8BEBE6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945646"/>
            <a:ext cx="2439649" cy="120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50349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0"/>
            <a:ext cx="6042991" cy="812800"/>
          </a:xfrm>
        </p:spPr>
        <p:txBody>
          <a:bodyPr/>
          <a:lstStyle/>
          <a:p>
            <a:r>
              <a:rPr lang="fr-FR" sz="2400" dirty="0"/>
              <a:t>Les techniques d’agrégation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15636" y="1136817"/>
            <a:ext cx="6514044" cy="501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15000"/>
              </a:lnSpc>
            </a:pP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comptage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lvl="0" algn="just">
              <a:lnSpc>
                <a:spcPct val="115000"/>
              </a:lnSpc>
            </a:pP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totaux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lvl="0" algn="just">
              <a:lnSpc>
                <a:spcPct val="115000"/>
              </a:lnSpc>
            </a:pP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moyennes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distributions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 par exemple les quantiles.</a:t>
            </a:r>
          </a:p>
          <a:p>
            <a:pPr lvl="1"/>
            <a:endParaRPr lang="fr-FR" sz="2100" dirty="0"/>
          </a:p>
          <a:p>
            <a:pPr marL="57150" indent="0">
              <a:buNone/>
            </a:pPr>
            <a:r>
              <a:rPr lang="fr-FR" sz="2400" dirty="0">
                <a:solidFill>
                  <a:srgbClr val="FF0000"/>
                </a:solidFill>
              </a:rPr>
              <a:t>Ces techniques dépendent des données et sont difficiles à mettre en œuvre</a:t>
            </a:r>
          </a:p>
        </p:txBody>
      </p:sp>
      <p:pic>
        <p:nvPicPr>
          <p:cNvPr id="1026" name="Picture 2" descr="Data Anonymization Tools and Techniques | SolarWinds MSP">
            <a:extLst>
              <a:ext uri="{FF2B5EF4-FFF2-40B4-BE49-F238E27FC236}">
                <a16:creationId xmlns:a16="http://schemas.microsoft.com/office/drawing/2014/main" id="{7430AFD4-29E0-4DC6-B0E1-5DF8BEBE6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8627" y="4945646"/>
            <a:ext cx="2439649" cy="120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6209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257361" cy="51542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Quels défis pour publier des données ?</a:t>
            </a:r>
          </a:p>
          <a:p>
            <a:pPr lvl="1"/>
            <a:r>
              <a:rPr lang="fr-FR" dirty="0"/>
              <a:t>Compétence</a:t>
            </a:r>
          </a:p>
          <a:p>
            <a:pPr lvl="1"/>
            <a:r>
              <a:rPr lang="fr-FR" dirty="0"/>
              <a:t>Charge de travail</a:t>
            </a:r>
          </a:p>
          <a:p>
            <a:pPr lvl="1"/>
            <a:r>
              <a:rPr lang="fr-FR" dirty="0"/>
              <a:t>Risques</a:t>
            </a:r>
          </a:p>
          <a:p>
            <a:pPr lvl="1"/>
            <a:r>
              <a:rPr lang="fr-FR" dirty="0"/>
              <a:t>Barrières administratives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sz="2100" dirty="0"/>
              <a:t>Quelles approches pour résoudre les défis ?</a:t>
            </a:r>
          </a:p>
          <a:p>
            <a:pPr lvl="1"/>
            <a:r>
              <a:rPr lang="fr-FR" dirty="0"/>
              <a:t>Manuel de publication</a:t>
            </a:r>
          </a:p>
          <a:p>
            <a:pPr lvl="1"/>
            <a:r>
              <a:rPr lang="fr-FR" dirty="0"/>
              <a:t>Formations</a:t>
            </a:r>
          </a:p>
          <a:p>
            <a:pPr lvl="1"/>
            <a:r>
              <a:rPr lang="fr-FR" dirty="0"/>
              <a:t>Compétitions</a:t>
            </a:r>
          </a:p>
          <a:p>
            <a:pPr lvl="1"/>
            <a:r>
              <a:rPr lang="fr-FR" dirty="0"/>
              <a:t>Travail en groupes</a:t>
            </a:r>
          </a:p>
          <a:p>
            <a:pPr lvl="1"/>
            <a:r>
              <a:rPr lang="fr-FR" dirty="0"/>
              <a:t>Interaction avec les réutilisateurs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sz="1400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03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3386" y="1767341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16756</TotalTime>
  <Words>5553</Words>
  <Application>Microsoft Office PowerPoint</Application>
  <PresentationFormat>Affichage à l'écran (4:3)</PresentationFormat>
  <Paragraphs>907</Paragraphs>
  <Slides>110</Slides>
  <Notes>54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110</vt:i4>
      </vt:variant>
    </vt:vector>
  </HeadingPairs>
  <TitlesOfParts>
    <vt:vector size="120" baseType="lpstr">
      <vt:lpstr>Arial</vt:lpstr>
      <vt:lpstr>Calibri</vt:lpstr>
      <vt:lpstr>Courier New</vt:lpstr>
      <vt:lpstr>Hand Of Sean</vt:lpstr>
      <vt:lpstr>Helvetica Neue</vt:lpstr>
      <vt:lpstr>PT Sans</vt:lpstr>
      <vt:lpstr>PT Serif</vt:lpstr>
      <vt:lpstr>Trebuchet MS</vt:lpstr>
      <vt:lpstr>Wingdings</vt:lpstr>
      <vt:lpstr>Thème Office</vt:lpstr>
      <vt:lpstr>Mise en place opérationnelle de l’Open Data</vt:lpstr>
      <vt:lpstr>Objectifs de la session</vt:lpstr>
      <vt:lpstr>Présentation PowerPoint</vt:lpstr>
      <vt:lpstr>Open Data: Concept</vt:lpstr>
      <vt:lpstr>Open Data: Un Mouvement mondial</vt:lpstr>
      <vt:lpstr>Open Data: Les pays leader ODB 2017</vt:lpstr>
      <vt:lpstr>Les composantes d’une initiative d’ouverture des données</vt:lpstr>
      <vt:lpstr>Objectif</vt:lpstr>
      <vt:lpstr>Définition d’une donnée ouverte</vt:lpstr>
      <vt:lpstr>Données Ouvertes d’un point de vue technique</vt:lpstr>
      <vt:lpstr>Données Ouvertes d’un point de vue légal</vt:lpstr>
      <vt:lpstr>Données gouvernementales</vt:lpstr>
      <vt:lpstr>Quelles données ?</vt:lpstr>
      <vt:lpstr>Open Data et La protection des données personnelles</vt:lpstr>
      <vt:lpstr>Facteurs clés de succès</vt:lpstr>
      <vt:lpstr>Les opportunités</vt:lpstr>
      <vt:lpstr>Présentation PowerPoint</vt:lpstr>
      <vt:lpstr>Applications Open Data</vt:lpstr>
      <vt:lpstr>Epidémie de choléra Londres – 1854</vt:lpstr>
      <vt:lpstr>Epidémie de choléra Londres – 1854</vt:lpstr>
      <vt:lpstr>Exemples de service</vt:lpstr>
      <vt:lpstr>Open Data dans l’éducation</vt:lpstr>
      <vt:lpstr>Présentation PowerPoint</vt:lpstr>
      <vt:lpstr>Présentation PowerPoint</vt:lpstr>
      <vt:lpstr>Open Data et consommation</vt:lpstr>
      <vt:lpstr>Open Data &amp; Transparence</vt:lpstr>
      <vt:lpstr>Open Data &amp; Transparence</vt:lpstr>
      <vt:lpstr>Journalisme basé sur les données</vt:lpstr>
      <vt:lpstr>Journalisme basé sur les données</vt:lpstr>
      <vt:lpstr>Exemples d’impact économique</vt:lpstr>
      <vt:lpstr>Innovation &amp; Open data</vt:lpstr>
      <vt:lpstr>Bénéfices pour les structures publiques?</vt:lpstr>
      <vt:lpstr>Open Data: la 3ème révolution digitale</vt:lpstr>
      <vt:lpstr>Open Data et Gestion de données</vt:lpstr>
      <vt:lpstr>Présentation PowerPoint</vt:lpstr>
      <vt:lpstr>Open Data dans les services publics</vt:lpstr>
      <vt:lpstr>Open Data: l’engagement citoyen</vt:lpstr>
      <vt:lpstr>Amélioration des services publics</vt:lpstr>
      <vt:lpstr>Discussion</vt:lpstr>
      <vt:lpstr>Présentation PowerPoint</vt:lpstr>
      <vt:lpstr>L’Open Data au Maroc</vt:lpstr>
      <vt:lpstr>Etat des lieux : Leadership</vt:lpstr>
      <vt:lpstr>Etat des lieux : Cadre réglementaire</vt:lpstr>
      <vt:lpstr>Etat des lieux : Structure institutionnelle</vt:lpstr>
      <vt:lpstr>Etat des lieux : Données</vt:lpstr>
      <vt:lpstr>Etat des lieux : Demande</vt:lpstr>
      <vt:lpstr>Proposition d’actions à court terme</vt:lpstr>
      <vt:lpstr>Feuille de route: 1ère étape</vt:lpstr>
      <vt:lpstr>Présentation PowerPoint</vt:lpstr>
      <vt:lpstr>Open Data: mythes and risques</vt:lpstr>
      <vt:lpstr>Mythe 1: quelles données publier?</vt:lpstr>
      <vt:lpstr>Mythe 2: La qualité des données</vt:lpstr>
      <vt:lpstr>Mythe 3: Légalité de la publication</vt:lpstr>
      <vt:lpstr>Mythe 4: Mauvaise utilisation</vt:lpstr>
      <vt:lpstr>Mythe 5 : Bénéfices</vt:lpstr>
      <vt:lpstr>Mythe 5bis : Bénéfices</vt:lpstr>
      <vt:lpstr>Mythe 5ter : Bénéfices</vt:lpstr>
      <vt:lpstr>Mythe 6 : effort</vt:lpstr>
      <vt:lpstr>Présentation PowerPoint</vt:lpstr>
      <vt:lpstr>Objectifs</vt:lpstr>
      <vt:lpstr>Facteurs de succès au sein d’une structure</vt:lpstr>
      <vt:lpstr>Les acteurs de l’Open Data</vt:lpstr>
      <vt:lpstr>Rôle du ROD</vt:lpstr>
      <vt:lpstr>Le ROD et l’ADD</vt:lpstr>
      <vt:lpstr>Le ROD et le CAI</vt:lpstr>
      <vt:lpstr>Le ROD et les gestionnaires de données</vt:lpstr>
      <vt:lpstr>Le ROD et le service informatique</vt:lpstr>
      <vt:lpstr>Le ROD et les réutilisateurs</vt:lpstr>
      <vt:lpstr>Le ROD et les réutilisateurs</vt:lpstr>
      <vt:lpstr>L’approche</vt:lpstr>
      <vt:lpstr>Facteurs de succès</vt:lpstr>
      <vt:lpstr>Discussion</vt:lpstr>
      <vt:lpstr>Tâches du ROD</vt:lpstr>
      <vt:lpstr>L’approche</vt:lpstr>
      <vt:lpstr>Présentation PowerPoint</vt:lpstr>
      <vt:lpstr>Objectifs</vt:lpstr>
      <vt:lpstr>Eléments du plan annuel d’activité</vt:lpstr>
      <vt:lpstr>Promouvoir L’Open Data</vt:lpstr>
      <vt:lpstr>Formations</vt:lpstr>
      <vt:lpstr>Qu’est-ce qu’un inventaire de données ?</vt:lpstr>
      <vt:lpstr>Pourquoi un inventaire?</vt:lpstr>
      <vt:lpstr>Publication</vt:lpstr>
      <vt:lpstr>Les cas d’usages</vt:lpstr>
      <vt:lpstr>Exemples d’applications</vt:lpstr>
      <vt:lpstr>Processus d’implémentation d’un cas d’usage interne</vt:lpstr>
      <vt:lpstr>Définition du problème</vt:lpstr>
      <vt:lpstr>Analyser les données</vt:lpstr>
      <vt:lpstr>Cas d’usage externes</vt:lpstr>
      <vt:lpstr>Facteurs de succès</vt:lpstr>
      <vt:lpstr>Un plan d’activité particulier: le lancement</vt:lpstr>
      <vt:lpstr>Rôle du plan de suivi et évaluation</vt:lpstr>
      <vt:lpstr>Gestion du plan de suivi et évaluation</vt:lpstr>
      <vt:lpstr>Discussion</vt:lpstr>
      <vt:lpstr>Présentation PowerPoint</vt:lpstr>
      <vt:lpstr>Rôle du gestionnaire de données</vt:lpstr>
      <vt:lpstr>Publication de données</vt:lpstr>
      <vt:lpstr>Préparation des données</vt:lpstr>
      <vt:lpstr>Données désordonnées vs structurées</vt:lpstr>
      <vt:lpstr>Données larges vs longues</vt:lpstr>
      <vt:lpstr>Documentation des données</vt:lpstr>
      <vt:lpstr>Métadonnées structurelles: le schéma de validation des données</vt:lpstr>
      <vt:lpstr>Format Ouvert</vt:lpstr>
      <vt:lpstr>Les écueils à éviter</vt:lpstr>
      <vt:lpstr>Validation des données</vt:lpstr>
      <vt:lpstr>Validation des données: outils</vt:lpstr>
      <vt:lpstr>Anonymisation des données</vt:lpstr>
      <vt:lpstr>Les techniques de rédaction</vt:lpstr>
      <vt:lpstr>Les techniques d’agrégation</vt:lpstr>
      <vt:lpstr>Discussion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1105</cp:revision>
  <cp:lastPrinted>2016-06-03T13:40:18Z</cp:lastPrinted>
  <dcterms:created xsi:type="dcterms:W3CDTF">2009-10-15T09:24:18Z</dcterms:created>
  <dcterms:modified xsi:type="dcterms:W3CDTF">2020-11-20T09:39:53Z</dcterms:modified>
</cp:coreProperties>
</file>