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290" r:id="rId3"/>
    <p:sldId id="276" r:id="rId4"/>
    <p:sldId id="445" r:id="rId5"/>
    <p:sldId id="449" r:id="rId6"/>
    <p:sldId id="442" r:id="rId7"/>
    <p:sldId id="450" r:id="rId8"/>
    <p:sldId id="451" r:id="rId9"/>
    <p:sldId id="453" r:id="rId10"/>
    <p:sldId id="479" r:id="rId11"/>
    <p:sldId id="454" r:id="rId12"/>
    <p:sldId id="493" r:id="rId13"/>
    <p:sldId id="455" r:id="rId14"/>
    <p:sldId id="477" r:id="rId15"/>
    <p:sldId id="480" r:id="rId16"/>
    <p:sldId id="478" r:id="rId17"/>
    <p:sldId id="481" r:id="rId18"/>
    <p:sldId id="482" r:id="rId19"/>
    <p:sldId id="483" r:id="rId20"/>
    <p:sldId id="484" r:id="rId21"/>
    <p:sldId id="485" r:id="rId22"/>
    <p:sldId id="486" r:id="rId23"/>
    <p:sldId id="487" r:id="rId24"/>
    <p:sldId id="488" r:id="rId25"/>
    <p:sldId id="489" r:id="rId26"/>
    <p:sldId id="490" r:id="rId27"/>
    <p:sldId id="491" r:id="rId28"/>
    <p:sldId id="492" r:id="rId29"/>
    <p:sldId id="456" r:id="rId30"/>
    <p:sldId id="390" r:id="rId31"/>
    <p:sldId id="360" r:id="rId32"/>
  </p:sldIdLst>
  <p:sldSz cx="9144000" cy="6858000" type="screen4x3"/>
  <p:notesSz cx="7099300" cy="10234613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browse showScrollbar="0"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AA6EC"/>
    <a:srgbClr val="50D450"/>
    <a:srgbClr val="29A428"/>
    <a:srgbClr val="1F547E"/>
    <a:srgbClr val="1F497D"/>
    <a:srgbClr val="005D92"/>
    <a:srgbClr val="B7A797"/>
    <a:srgbClr val="B1BCA4"/>
    <a:srgbClr val="000000"/>
    <a:srgbClr val="FFC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25B3CA-8E94-40D5-8BC7-3B01176F8A3F}" v="41" dt="2020-11-13T07:07:13.6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917" autoAdjust="0"/>
  </p:normalViewPr>
  <p:slideViewPr>
    <p:cSldViewPr snapToGrid="0">
      <p:cViewPr varScale="1">
        <p:scale>
          <a:sx n="59" d="100"/>
          <a:sy n="59" d="100"/>
        </p:scale>
        <p:origin x="15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884" y="-10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ane Boyera" userId="dd34077c48bd863d" providerId="LiveId" clId="{7625B3CA-8E94-40D5-8BC7-3B01176F8A3F}"/>
    <pc:docChg chg="undo custSel addSld delSld modSld modMainMaster">
      <pc:chgData name="Stephane Boyera" userId="dd34077c48bd863d" providerId="LiveId" clId="{7625B3CA-8E94-40D5-8BC7-3B01176F8A3F}" dt="2020-11-13T07:07:13.628" v="3136" actId="167"/>
      <pc:docMkLst>
        <pc:docMk/>
      </pc:docMkLst>
      <pc:sldChg chg="delSp modSp mod">
        <pc:chgData name="Stephane Boyera" userId="dd34077c48bd863d" providerId="LiveId" clId="{7625B3CA-8E94-40D5-8BC7-3B01176F8A3F}" dt="2020-11-12T16:35:48.702" v="62" actId="478"/>
        <pc:sldMkLst>
          <pc:docMk/>
          <pc:sldMk cId="447261978" sldId="256"/>
        </pc:sldMkLst>
        <pc:spChg chg="mod">
          <ac:chgData name="Stephane Boyera" userId="dd34077c48bd863d" providerId="LiveId" clId="{7625B3CA-8E94-40D5-8BC7-3B01176F8A3F}" dt="2020-11-12T16:35:44.704" v="60" actId="1076"/>
          <ac:spMkLst>
            <pc:docMk/>
            <pc:sldMk cId="447261978" sldId="256"/>
            <ac:spMk id="2" creationId="{00000000-0000-0000-0000-000000000000}"/>
          </ac:spMkLst>
        </pc:spChg>
        <pc:picChg chg="del">
          <ac:chgData name="Stephane Boyera" userId="dd34077c48bd863d" providerId="LiveId" clId="{7625B3CA-8E94-40D5-8BC7-3B01176F8A3F}" dt="2020-11-12T16:35:48.702" v="62" actId="478"/>
          <ac:picMkLst>
            <pc:docMk/>
            <pc:sldMk cId="447261978" sldId="256"/>
            <ac:picMk id="6" creationId="{823355D4-211A-4E5B-B2E6-CEBE30DB6174}"/>
          </ac:picMkLst>
        </pc:picChg>
        <pc:picChg chg="del">
          <ac:chgData name="Stephane Boyera" userId="dd34077c48bd863d" providerId="LiveId" clId="{7625B3CA-8E94-40D5-8BC7-3B01176F8A3F}" dt="2020-11-12T16:35:47.846" v="61" actId="478"/>
          <ac:picMkLst>
            <pc:docMk/>
            <pc:sldMk cId="447261978" sldId="256"/>
            <ac:picMk id="1026" creationId="{6BB5FD7A-4EFB-40A1-9314-28DFAC5CD19B}"/>
          </ac:picMkLst>
        </pc:picChg>
      </pc:sldChg>
      <pc:sldChg chg="modSp mod">
        <pc:chgData name="Stephane Boyera" userId="dd34077c48bd863d" providerId="LiveId" clId="{7625B3CA-8E94-40D5-8BC7-3B01176F8A3F}" dt="2020-11-12T16:36:31.117" v="66" actId="20577"/>
        <pc:sldMkLst>
          <pc:docMk/>
          <pc:sldMk cId="1173124010" sldId="290"/>
        </pc:sldMkLst>
        <pc:spChg chg="mod">
          <ac:chgData name="Stephane Boyera" userId="dd34077c48bd863d" providerId="LiveId" clId="{7625B3CA-8E94-40D5-8BC7-3B01176F8A3F}" dt="2020-11-12T16:36:31.117" v="66" actId="20577"/>
          <ac:spMkLst>
            <pc:docMk/>
            <pc:sldMk cId="1173124010" sldId="290"/>
            <ac:spMk id="8" creationId="{CB0A0CA2-7717-4EDA-9136-F6A3BDAAA953}"/>
          </ac:spMkLst>
        </pc:spChg>
      </pc:sldChg>
      <pc:sldChg chg="modSp mod">
        <pc:chgData name="Stephane Boyera" userId="dd34077c48bd863d" providerId="LiveId" clId="{7625B3CA-8E94-40D5-8BC7-3B01176F8A3F}" dt="2020-11-12T16:44:11" v="351" actId="20577"/>
        <pc:sldMkLst>
          <pc:docMk/>
          <pc:sldMk cId="2099106981" sldId="451"/>
        </pc:sldMkLst>
        <pc:spChg chg="mod">
          <ac:chgData name="Stephane Boyera" userId="dd34077c48bd863d" providerId="LiveId" clId="{7625B3CA-8E94-40D5-8BC7-3B01176F8A3F}" dt="2020-11-12T16:44:11" v="351" actId="20577"/>
          <ac:spMkLst>
            <pc:docMk/>
            <pc:sldMk cId="2099106981" sldId="451"/>
            <ac:spMk id="4" creationId="{00000000-0000-0000-0000-000000000000}"/>
          </ac:spMkLst>
        </pc:spChg>
      </pc:sldChg>
      <pc:sldChg chg="del">
        <pc:chgData name="Stephane Boyera" userId="dd34077c48bd863d" providerId="LiveId" clId="{7625B3CA-8E94-40D5-8BC7-3B01176F8A3F}" dt="2020-11-12T16:43:18.840" v="346" actId="47"/>
        <pc:sldMkLst>
          <pc:docMk/>
          <pc:sldMk cId="3437019429" sldId="452"/>
        </pc:sldMkLst>
      </pc:sldChg>
      <pc:sldChg chg="addSp delSp modSp mod">
        <pc:chgData name="Stephane Boyera" userId="dd34077c48bd863d" providerId="LiveId" clId="{7625B3CA-8E94-40D5-8BC7-3B01176F8A3F}" dt="2020-11-12T16:49:51.302" v="792" actId="1076"/>
        <pc:sldMkLst>
          <pc:docMk/>
          <pc:sldMk cId="2438011497" sldId="453"/>
        </pc:sldMkLst>
        <pc:spChg chg="mod">
          <ac:chgData name="Stephane Boyera" userId="dd34077c48bd863d" providerId="LiveId" clId="{7625B3CA-8E94-40D5-8BC7-3B01176F8A3F}" dt="2020-11-12T16:44:26.493" v="367" actId="20577"/>
          <ac:spMkLst>
            <pc:docMk/>
            <pc:sldMk cId="2438011497" sldId="453"/>
            <ac:spMk id="2" creationId="{00000000-0000-0000-0000-000000000000}"/>
          </ac:spMkLst>
        </pc:spChg>
        <pc:spChg chg="mod">
          <ac:chgData name="Stephane Boyera" userId="dd34077c48bd863d" providerId="LiveId" clId="{7625B3CA-8E94-40D5-8BC7-3B01176F8A3F}" dt="2020-11-12T16:49:51.302" v="792" actId="1076"/>
          <ac:spMkLst>
            <pc:docMk/>
            <pc:sldMk cId="2438011497" sldId="453"/>
            <ac:spMk id="9" creationId="{25226FD8-4DA8-44B7-A43E-9195FF8F0C81}"/>
          </ac:spMkLst>
        </pc:spChg>
        <pc:picChg chg="add mod">
          <ac:chgData name="Stephane Boyera" userId="dd34077c48bd863d" providerId="LiveId" clId="{7625B3CA-8E94-40D5-8BC7-3B01176F8A3F}" dt="2020-11-12T16:47:36.813" v="681" actId="167"/>
          <ac:picMkLst>
            <pc:docMk/>
            <pc:sldMk cId="2438011497" sldId="453"/>
            <ac:picMk id="1026" creationId="{A47643CB-8806-4854-81F3-1E5D88B02A04}"/>
          </ac:picMkLst>
        </pc:picChg>
        <pc:picChg chg="del">
          <ac:chgData name="Stephane Boyera" userId="dd34077c48bd863d" providerId="LiveId" clId="{7625B3CA-8E94-40D5-8BC7-3B01176F8A3F}" dt="2020-11-12T16:40:52.770" v="67" actId="478"/>
          <ac:picMkLst>
            <pc:docMk/>
            <pc:sldMk cId="2438011497" sldId="453"/>
            <ac:picMk id="3074" creationId="{8CEB88F0-01FE-4FF2-8DA4-652C3730DC60}"/>
          </ac:picMkLst>
        </pc:picChg>
        <pc:picChg chg="del">
          <ac:chgData name="Stephane Boyera" userId="dd34077c48bd863d" providerId="LiveId" clId="{7625B3CA-8E94-40D5-8BC7-3B01176F8A3F}" dt="2020-11-12T16:40:53.744" v="68" actId="478"/>
          <ac:picMkLst>
            <pc:docMk/>
            <pc:sldMk cId="2438011497" sldId="453"/>
            <ac:picMk id="3076" creationId="{7592DB8E-AAD5-4742-AC76-BE11235CF1CD}"/>
          </ac:picMkLst>
        </pc:picChg>
      </pc:sldChg>
      <pc:sldChg chg="addSp delSp modSp mod">
        <pc:chgData name="Stephane Boyera" userId="dd34077c48bd863d" providerId="LiveId" clId="{7625B3CA-8E94-40D5-8BC7-3B01176F8A3F}" dt="2020-11-13T07:07:13.628" v="3136" actId="167"/>
        <pc:sldMkLst>
          <pc:docMk/>
          <pc:sldMk cId="344323000" sldId="454"/>
        </pc:sldMkLst>
        <pc:spChg chg="mod">
          <ac:chgData name="Stephane Boyera" userId="dd34077c48bd863d" providerId="LiveId" clId="{7625B3CA-8E94-40D5-8BC7-3B01176F8A3F}" dt="2020-11-12T16:48:48" v="737" actId="1037"/>
          <ac:spMkLst>
            <pc:docMk/>
            <pc:sldMk cId="344323000" sldId="454"/>
            <ac:spMk id="2" creationId="{00000000-0000-0000-0000-000000000000}"/>
          </ac:spMkLst>
        </pc:spChg>
        <pc:spChg chg="mod">
          <ac:chgData name="Stephane Boyera" userId="dd34077c48bd863d" providerId="LiveId" clId="{7625B3CA-8E94-40D5-8BC7-3B01176F8A3F}" dt="2020-11-13T07:07:13.628" v="3136" actId="167"/>
          <ac:spMkLst>
            <pc:docMk/>
            <pc:sldMk cId="344323000" sldId="454"/>
            <ac:spMk id="4" creationId="{00000000-0000-0000-0000-000000000000}"/>
          </ac:spMkLst>
        </pc:spChg>
        <pc:picChg chg="add mod">
          <ac:chgData name="Stephane Boyera" userId="dd34077c48bd863d" providerId="LiveId" clId="{7625B3CA-8E94-40D5-8BC7-3B01176F8A3F}" dt="2020-11-12T17:03:42.130" v="1970" actId="14100"/>
          <ac:picMkLst>
            <pc:docMk/>
            <pc:sldMk cId="344323000" sldId="454"/>
            <ac:picMk id="2050" creationId="{6E100343-B6D4-4D50-A236-EC43004119BC}"/>
          </ac:picMkLst>
        </pc:picChg>
        <pc:picChg chg="del">
          <ac:chgData name="Stephane Boyera" userId="dd34077c48bd863d" providerId="LiveId" clId="{7625B3CA-8E94-40D5-8BC7-3B01176F8A3F}" dt="2020-11-12T16:48:50.275" v="738" actId="478"/>
          <ac:picMkLst>
            <pc:docMk/>
            <pc:sldMk cId="344323000" sldId="454"/>
            <ac:picMk id="3074" creationId="{8CEB88F0-01FE-4FF2-8DA4-652C3730DC60}"/>
          </ac:picMkLst>
        </pc:picChg>
        <pc:picChg chg="del">
          <ac:chgData name="Stephane Boyera" userId="dd34077c48bd863d" providerId="LiveId" clId="{7625B3CA-8E94-40D5-8BC7-3B01176F8A3F}" dt="2020-11-12T16:48:52.705" v="739" actId="478"/>
          <ac:picMkLst>
            <pc:docMk/>
            <pc:sldMk cId="344323000" sldId="454"/>
            <ac:picMk id="4098" creationId="{1F3007E3-65E0-4409-B696-371711CE0934}"/>
          </ac:picMkLst>
        </pc:picChg>
      </pc:sldChg>
      <pc:sldChg chg="addSp delSp modSp mod">
        <pc:chgData name="Stephane Boyera" userId="dd34077c48bd863d" providerId="LiveId" clId="{7625B3CA-8E94-40D5-8BC7-3B01176F8A3F}" dt="2020-11-12T17:02:14.354" v="1908" actId="14100"/>
        <pc:sldMkLst>
          <pc:docMk/>
          <pc:sldMk cId="546836381" sldId="455"/>
        </pc:sldMkLst>
        <pc:spChg chg="mod">
          <ac:chgData name="Stephane Boyera" userId="dd34077c48bd863d" providerId="LiveId" clId="{7625B3CA-8E94-40D5-8BC7-3B01176F8A3F}" dt="2020-11-12T16:54:16.070" v="1047" actId="1076"/>
          <ac:spMkLst>
            <pc:docMk/>
            <pc:sldMk cId="546836381" sldId="455"/>
            <ac:spMk id="2" creationId="{00000000-0000-0000-0000-000000000000}"/>
          </ac:spMkLst>
        </pc:spChg>
        <pc:spChg chg="mod">
          <ac:chgData name="Stephane Boyera" userId="dd34077c48bd863d" providerId="LiveId" clId="{7625B3CA-8E94-40D5-8BC7-3B01176F8A3F}" dt="2020-11-12T16:54:41.922" v="1049" actId="20577"/>
          <ac:spMkLst>
            <pc:docMk/>
            <pc:sldMk cId="546836381" sldId="455"/>
            <ac:spMk id="4" creationId="{00000000-0000-0000-0000-000000000000}"/>
          </ac:spMkLst>
        </pc:spChg>
        <pc:graphicFrameChg chg="add mod modGraphic">
          <ac:chgData name="Stephane Boyera" userId="dd34077c48bd863d" providerId="LiveId" clId="{7625B3CA-8E94-40D5-8BC7-3B01176F8A3F}" dt="2020-11-12T17:02:14.354" v="1908" actId="14100"/>
          <ac:graphicFrameMkLst>
            <pc:docMk/>
            <pc:sldMk cId="546836381" sldId="455"/>
            <ac:graphicFrameMk id="3" creationId="{7EAB79FE-AFC7-4D43-973D-9B223D3349A4}"/>
          </ac:graphicFrameMkLst>
        </pc:graphicFrameChg>
        <pc:picChg chg="del">
          <ac:chgData name="Stephane Boyera" userId="dd34077c48bd863d" providerId="LiveId" clId="{7625B3CA-8E94-40D5-8BC7-3B01176F8A3F}" dt="2020-11-12T16:54:17.753" v="1048" actId="478"/>
          <ac:picMkLst>
            <pc:docMk/>
            <pc:sldMk cId="546836381" sldId="455"/>
            <ac:picMk id="5122" creationId="{6F97B0A7-C7DF-4290-B2AC-9E18AA3E6FC7}"/>
          </ac:picMkLst>
        </pc:picChg>
      </pc:sldChg>
      <pc:sldChg chg="delSp modSp mod">
        <pc:chgData name="Stephane Boyera" userId="dd34077c48bd863d" providerId="LiveId" clId="{7625B3CA-8E94-40D5-8BC7-3B01176F8A3F}" dt="2020-11-12T17:05:50.520" v="2006" actId="20577"/>
        <pc:sldMkLst>
          <pc:docMk/>
          <pc:sldMk cId="35082208" sldId="456"/>
        </pc:sldMkLst>
        <pc:spChg chg="mod">
          <ac:chgData name="Stephane Boyera" userId="dd34077c48bd863d" providerId="LiveId" clId="{7625B3CA-8E94-40D5-8BC7-3B01176F8A3F}" dt="2020-11-12T17:05:13.553" v="1998" actId="20577"/>
          <ac:spMkLst>
            <pc:docMk/>
            <pc:sldMk cId="35082208" sldId="456"/>
            <ac:spMk id="2" creationId="{00000000-0000-0000-0000-000000000000}"/>
          </ac:spMkLst>
        </pc:spChg>
        <pc:spChg chg="mod">
          <ac:chgData name="Stephane Boyera" userId="dd34077c48bd863d" providerId="LiveId" clId="{7625B3CA-8E94-40D5-8BC7-3B01176F8A3F}" dt="2020-11-12T17:05:50.520" v="2006" actId="20577"/>
          <ac:spMkLst>
            <pc:docMk/>
            <pc:sldMk cId="35082208" sldId="456"/>
            <ac:spMk id="4" creationId="{00000000-0000-0000-0000-000000000000}"/>
          </ac:spMkLst>
        </pc:spChg>
        <pc:picChg chg="del">
          <ac:chgData name="Stephane Boyera" userId="dd34077c48bd863d" providerId="LiveId" clId="{7625B3CA-8E94-40D5-8BC7-3B01176F8A3F}" dt="2020-11-12T17:05:34.613" v="1999" actId="478"/>
          <ac:picMkLst>
            <pc:docMk/>
            <pc:sldMk cId="35082208" sldId="456"/>
            <ac:picMk id="6150" creationId="{42F056F4-586C-4EB6-9B13-36B7509293CE}"/>
          </ac:picMkLst>
        </pc:picChg>
      </pc:sldChg>
      <pc:sldChg chg="modSp add mod">
        <pc:chgData name="Stephane Boyera" userId="dd34077c48bd863d" providerId="LiveId" clId="{7625B3CA-8E94-40D5-8BC7-3B01176F8A3F}" dt="2020-11-12T16:56:04.338" v="1072" actId="20577"/>
        <pc:sldMkLst>
          <pc:docMk/>
          <pc:sldMk cId="423027543" sldId="477"/>
        </pc:sldMkLst>
        <pc:spChg chg="mod">
          <ac:chgData name="Stephane Boyera" userId="dd34077c48bd863d" providerId="LiveId" clId="{7625B3CA-8E94-40D5-8BC7-3B01176F8A3F}" dt="2020-11-12T16:56:04.338" v="1072" actId="20577"/>
          <ac:spMkLst>
            <pc:docMk/>
            <pc:sldMk cId="423027543" sldId="477"/>
            <ac:spMk id="2" creationId="{00000000-0000-0000-0000-000000000000}"/>
          </ac:spMkLst>
        </pc:spChg>
      </pc:sldChg>
      <pc:sldChg chg="modSp add mod">
        <pc:chgData name="Stephane Boyera" userId="dd34077c48bd863d" providerId="LiveId" clId="{7625B3CA-8E94-40D5-8BC7-3B01176F8A3F}" dt="2020-11-13T07:05:08.835" v="2989" actId="20577"/>
        <pc:sldMkLst>
          <pc:docMk/>
          <pc:sldMk cId="3937256053" sldId="478"/>
        </pc:sldMkLst>
        <pc:spChg chg="mod">
          <ac:chgData name="Stephane Boyera" userId="dd34077c48bd863d" providerId="LiveId" clId="{7625B3CA-8E94-40D5-8BC7-3B01176F8A3F}" dt="2020-11-13T06:37:26.104" v="2024" actId="20577"/>
          <ac:spMkLst>
            <pc:docMk/>
            <pc:sldMk cId="3937256053" sldId="478"/>
            <ac:spMk id="2" creationId="{00000000-0000-0000-0000-000000000000}"/>
          </ac:spMkLst>
        </pc:spChg>
        <pc:graphicFrameChg chg="mod modGraphic">
          <ac:chgData name="Stephane Boyera" userId="dd34077c48bd863d" providerId="LiveId" clId="{7625B3CA-8E94-40D5-8BC7-3B01176F8A3F}" dt="2020-11-13T07:05:08.835" v="2989" actId="20577"/>
          <ac:graphicFrameMkLst>
            <pc:docMk/>
            <pc:sldMk cId="3937256053" sldId="478"/>
            <ac:graphicFrameMk id="3" creationId="{7EAB79FE-AFC7-4D43-973D-9B223D3349A4}"/>
          </ac:graphicFrameMkLst>
        </pc:graphicFrameChg>
      </pc:sldChg>
      <pc:sldMasterChg chg="modSldLayout">
        <pc:chgData name="Stephane Boyera" userId="dd34077c48bd863d" providerId="LiveId" clId="{7625B3CA-8E94-40D5-8BC7-3B01176F8A3F}" dt="2020-11-12T16:36:00.922" v="63" actId="478"/>
        <pc:sldMasterMkLst>
          <pc:docMk/>
          <pc:sldMasterMk cId="0" sldId="2147483648"/>
        </pc:sldMasterMkLst>
        <pc:sldLayoutChg chg="delSp mod">
          <pc:chgData name="Stephane Boyera" userId="dd34077c48bd863d" providerId="LiveId" clId="{7625B3CA-8E94-40D5-8BC7-3B01176F8A3F}" dt="2020-11-12T16:36:00.922" v="63" actId="478"/>
          <pc:sldLayoutMkLst>
            <pc:docMk/>
            <pc:sldMasterMk cId="0" sldId="2147483648"/>
            <pc:sldLayoutMk cId="2589949047" sldId="2147485044"/>
          </pc:sldLayoutMkLst>
          <pc:picChg chg="del">
            <ac:chgData name="Stephane Boyera" userId="dd34077c48bd863d" providerId="LiveId" clId="{7625B3CA-8E94-40D5-8BC7-3B01176F8A3F}" dt="2020-11-12T16:36:00.922" v="63" actId="478"/>
            <ac:picMkLst>
              <pc:docMk/>
              <pc:sldMasterMk cId="0" sldId="2147483648"/>
              <pc:sldLayoutMk cId="2589949047" sldId="2147485044"/>
              <ac:picMk id="8" creationId="{675ED871-B57E-4789-85E4-8A98B3C5F3D3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D06CBAB-0BA1-42AF-8B31-9DAE95BE60F2}" type="datetime1">
              <a:rPr lang="fr-FR"/>
              <a:pPr>
                <a:defRPr/>
              </a:pPr>
              <a:t>26/11/2020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20D7951-8316-4B8D-BB05-64474AD63AFB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827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AB03E9-6C6A-42A9-8A84-DB564324CB0B}" type="datetime1">
              <a:rPr lang="fr-FR"/>
              <a:pPr>
                <a:defRPr/>
              </a:pPr>
              <a:t>26/11/2020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7" tIns="49524" rIns="99047" bIns="49524" rtlCol="0" anchor="ctr"/>
          <a:lstStyle/>
          <a:p>
            <a:pPr lv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294" y="4860581"/>
            <a:ext cx="5680712" cy="4607299"/>
          </a:xfrm>
          <a:prstGeom prst="rect">
            <a:avLst/>
          </a:prstGeom>
        </p:spPr>
        <p:txBody>
          <a:bodyPr vert="horz" lIns="99047" tIns="49524" rIns="99047" bIns="49524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4E1596-A129-4638-9F8E-3949BA5E7CE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99286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First profiling experience in 2010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About a dozen design/implementation/deployments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Senegal (FO - 80k profiles)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The Gambia (NGO/FO - 6k profiles)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Fiji (Government - 35k profiles)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Comoros (Government/Coop. – 2k profiles)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Mali (NGO - 12k profiles)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Kenya (NGO)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Liberia (NGO)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India (NGO)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Advisor on a few projects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National Farmer Digital Profiling (MoA - Rwanda)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FEPAB (CTA/Afdi – Burkina Faso)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A few publications on the topic (CTA working paper)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665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30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6392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project_cdi_desktop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ZoneTexte 7"/>
          <p:cNvSpPr txBox="1">
            <a:spLocks noChangeArrowheads="1"/>
          </p:cNvSpPr>
          <p:nvPr userDrawn="1"/>
        </p:nvSpPr>
        <p:spPr bwMode="auto">
          <a:xfrm>
            <a:off x="481013" y="1479550"/>
            <a:ext cx="4114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</a:rPr>
              <a:t>Where ICT meets Social &amp; Economic Development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3079750"/>
            <a:ext cx="9144000" cy="149225"/>
          </a:xfrm>
          <a:prstGeom prst="rect">
            <a:avLst/>
          </a:prstGeom>
          <a:solidFill>
            <a:schemeClr val="accent1"/>
          </a:solidFill>
          <a:ln>
            <a:solidFill>
              <a:srgbClr val="29A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5" name="Titre 4"/>
          <p:cNvSpPr>
            <a:spLocks noGrp="1"/>
          </p:cNvSpPr>
          <p:nvPr>
            <p:ph type="title"/>
          </p:nvPr>
        </p:nvSpPr>
        <p:spPr>
          <a:xfrm>
            <a:off x="504825" y="3608623"/>
            <a:ext cx="8229600" cy="1181101"/>
          </a:xfrm>
          <a:prstGeom prst="rect">
            <a:avLst/>
          </a:prstGeom>
        </p:spPr>
        <p:txBody>
          <a:bodyPr vert="horz"/>
          <a:lstStyle>
            <a:lvl1pPr algn="l">
              <a:defRPr sz="3600" b="1" baseline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5127625"/>
            <a:ext cx="8305800" cy="1306513"/>
          </a:xfrm>
        </p:spPr>
        <p:txBody>
          <a:bodyPr/>
          <a:lstStyle>
            <a:lvl1pPr marL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pic>
        <p:nvPicPr>
          <p:cNvPr id="1027" name="Picture 3" descr="C:\Users\boyera\Desktop\WF\Work\visio icon\sbc4d2 - Copi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171" y="234950"/>
            <a:ext cx="1117600" cy="124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5474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0" y="6561328"/>
            <a:ext cx="9144000" cy="327573"/>
          </a:xfrm>
          <a:prstGeom prst="rect">
            <a:avLst/>
          </a:prstGeom>
          <a:solidFill>
            <a:srgbClr val="A4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chemeClr val="bg1"/>
                </a:solidFill>
              </a:rPr>
              <a:t>SB</a:t>
            </a:r>
            <a:r>
              <a:rPr lang="en-US" sz="1100" baseline="0" dirty="0">
                <a:solidFill>
                  <a:schemeClr val="bg1"/>
                </a:solidFill>
              </a:rPr>
              <a:t>C4D – http://wwww.sbc4d.com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8128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6" name="Titre 9"/>
          <p:cNvSpPr>
            <a:spLocks noGrp="1"/>
          </p:cNvSpPr>
          <p:nvPr userDrawn="1">
            <p:ph type="title"/>
          </p:nvPr>
        </p:nvSpPr>
        <p:spPr>
          <a:xfrm>
            <a:off x="448128" y="0"/>
            <a:ext cx="4777015" cy="812800"/>
          </a:xfrm>
          <a:prstGeom prst="rect">
            <a:avLst/>
          </a:prstGeom>
        </p:spPr>
        <p:txBody>
          <a:bodyPr vert="horz" anchor="ctr"/>
          <a:lstStyle>
            <a:lvl1pPr algn="l">
              <a:defRPr sz="2600" b="1">
                <a:solidFill>
                  <a:schemeClr val="tx1"/>
                </a:solidFill>
                <a:latin typeface="+mn-lt"/>
                <a:cs typeface="Calibri (Titres)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pic>
        <p:nvPicPr>
          <p:cNvPr id="2050" name="Picture 2" descr="C:\Users\boyera\Desktop\WF\Work\visio icon\sbc4d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554" y="58803"/>
            <a:ext cx="508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numéro de diapositive 5"/>
          <p:cNvSpPr txBox="1">
            <a:spLocks/>
          </p:cNvSpPr>
          <p:nvPr userDrawn="1"/>
        </p:nvSpPr>
        <p:spPr>
          <a:xfrm>
            <a:off x="8386454" y="6555864"/>
            <a:ext cx="730250" cy="30896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bg1"/>
                </a:solidFill>
                <a:latin typeface="+mj-lt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fld id="{FF42B312-9817-492A-A2CE-1B0E09E6F02D}" type="slidenum">
              <a:rPr lang="en-US" smtClean="0"/>
              <a:pPr>
                <a:defRPr/>
              </a:pPr>
              <a:t>‹N°›</a:t>
            </a:fld>
            <a:endParaRPr lang="en-US" dirty="0"/>
          </a:p>
        </p:txBody>
      </p:sp>
      <p:pic>
        <p:nvPicPr>
          <p:cNvPr id="7" name="Shape 9">
            <a:extLst>
              <a:ext uri="{FF2B5EF4-FFF2-40B4-BE49-F238E27FC236}">
                <a16:creationId xmlns:a16="http://schemas.microsoft.com/office/drawing/2014/main" id="{56582277-02FF-4233-AC19-920B827C03C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24648" r="50281" b="49974"/>
          <a:stretch/>
        </p:blipFill>
        <p:spPr>
          <a:xfrm>
            <a:off x="178073" y="6597704"/>
            <a:ext cx="627436" cy="2385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994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F8CAA-C111-4E87-A7DA-24CC277DC31B}" type="datetimeFigureOut">
              <a:rPr lang="en-US"/>
              <a:pPr>
                <a:defRPr/>
              </a:pPr>
              <a:t>11/26/2020</a:t>
            </a:fld>
            <a:endParaRPr lang="en-GB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40E70-A7E7-45C7-B419-A5744BEC002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6422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here to modify texte styles of the mask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fr-FR"/>
              <a:t>T</a:t>
            </a:r>
            <a:r>
              <a:rPr lang="en-US"/>
              <a:t>hird level</a:t>
            </a:r>
          </a:p>
          <a:p>
            <a:pPr lvl="3"/>
            <a:r>
              <a:rPr lang="fr-FR"/>
              <a:t>F</a:t>
            </a:r>
            <a:r>
              <a:rPr lang="en-US"/>
              <a:t>orth level</a:t>
            </a:r>
          </a:p>
          <a:p>
            <a:pPr lvl="4"/>
            <a:r>
              <a:rPr lang="fr-FR"/>
              <a:t>F</a:t>
            </a:r>
            <a:r>
              <a:rPr lang="en-US"/>
              <a:t>ifth level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393825" y="6645275"/>
            <a:ext cx="6051550" cy="212725"/>
          </a:xfrm>
          <a:prstGeom prst="rect">
            <a:avLst/>
          </a:prstGeom>
        </p:spPr>
        <p:txBody>
          <a:bodyPr/>
          <a:lstStyle>
            <a:lvl1pPr algn="ctr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/>
              <a:t>Copyright © 2011. World Wide Web Foundation.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43" r:id="rId1"/>
    <p:sldLayoutId id="2147485044" r:id="rId2"/>
    <p:sldLayoutId id="2147485045" r:id="rId3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sz="27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2000" kern="1200">
          <a:solidFill>
            <a:schemeClr val="tx1"/>
          </a:solidFill>
          <a:latin typeface="+mn-lt"/>
          <a:ea typeface="ＭＳ Ｐゴシック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kern="1200">
          <a:solidFill>
            <a:schemeClr val="tx1"/>
          </a:solidFill>
          <a:latin typeface="+mn-lt"/>
          <a:ea typeface="ＭＳ Ｐゴシック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ＭＳ Ｐゴシック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ＭＳ Ｐゴシック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ta.int/en/digitalisation/article/farmer-profiling-making-data-work-for-smallholder-farmers-sid08ef124c5-a521-4128-b7dd-db108d22325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hyperlink" Target="https://www.cta.int/en/digitalisation/all/article/agricultural-data-systems-to-transform-smallholder-farming-sid0ec4b7362-20bc-476f-b0ad-3fe3d5a4aa24" TargetMode="External"/><Relationship Id="rId4" Type="http://schemas.openxmlformats.org/officeDocument/2006/relationships/hyperlink" Target="https://www.usaid.gov/digitalag/documents/data-driven-agriculture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3805295"/>
            <a:ext cx="9016678" cy="1181101"/>
          </a:xfrm>
        </p:spPr>
        <p:txBody>
          <a:bodyPr/>
          <a:lstStyle/>
          <a:p>
            <a:pPr algn="ctr"/>
            <a:r>
              <a:rPr lang="en-US" dirty="0"/>
              <a:t>A Generic template for Farmer profiling 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478809" y="4868317"/>
            <a:ext cx="8305800" cy="1306513"/>
          </a:xfrm>
        </p:spPr>
        <p:txBody>
          <a:bodyPr/>
          <a:lstStyle/>
          <a:p>
            <a:r>
              <a:rPr lang="en-US" sz="1600" b="1" dirty="0">
                <a:latin typeface="Trebuchet MS" pitchFamily="34" charset="0"/>
              </a:rPr>
              <a:t>Stéphane Boyera</a:t>
            </a:r>
          </a:p>
          <a:p>
            <a:r>
              <a:rPr lang="fr-FR" sz="1600" b="1" dirty="0">
                <a:latin typeface="Trebuchet MS" pitchFamily="34" charset="0"/>
              </a:rPr>
              <a:t>CEO</a:t>
            </a:r>
            <a:endParaRPr lang="en-US" sz="1600" b="1" dirty="0">
              <a:latin typeface="Trebuchet MS" pitchFamily="34" charset="0"/>
            </a:endParaRPr>
          </a:p>
          <a:p>
            <a:r>
              <a:rPr lang="fr-FR" sz="1600" b="1" dirty="0">
                <a:latin typeface="Trebuchet MS" pitchFamily="34" charset="0"/>
              </a:rPr>
              <a:t>stephane@sbc4d.com</a:t>
            </a:r>
            <a:endParaRPr lang="en-US" sz="1600" b="1" dirty="0">
              <a:latin typeface="Trebuchet MS" pitchFamily="34" charset="0"/>
            </a:endParaRPr>
          </a:p>
          <a:p>
            <a:r>
              <a:rPr lang="en-US" sz="1600" b="1" dirty="0">
                <a:latin typeface="Trebuchet MS" pitchFamily="34" charset="0"/>
              </a:rPr>
              <a:t>SBC4D – http://www.sbc4d.com</a:t>
            </a:r>
          </a:p>
          <a:p>
            <a:endParaRPr lang="en-US" sz="1200" b="1" dirty="0">
              <a:latin typeface="Trebuchet MS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7261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Overview</a:t>
            </a:r>
            <a:endParaRPr lang="en-US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519AF5B-1243-4865-B079-B5605EE1F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762" y="4350327"/>
            <a:ext cx="3082939" cy="1890869"/>
          </a:xfrm>
          <a:prstGeom prst="rect">
            <a:avLst/>
          </a:prstGeom>
        </p:spPr>
      </p:pic>
      <p:sp>
        <p:nvSpPr>
          <p:cNvPr id="8" name="Espace réservé du contenu 1">
            <a:extLst>
              <a:ext uri="{FF2B5EF4-FFF2-40B4-BE49-F238E27FC236}">
                <a16:creationId xmlns:a16="http://schemas.microsoft.com/office/drawing/2014/main" id="{CB0A0CA2-7717-4EDA-9136-F6A3BDAAA953}"/>
              </a:ext>
            </a:extLst>
          </p:cNvPr>
          <p:cNvSpPr>
            <a:spLocks/>
          </p:cNvSpPr>
          <p:nvPr/>
        </p:nvSpPr>
        <p:spPr bwMode="auto">
          <a:xfrm>
            <a:off x="448128" y="1972125"/>
            <a:ext cx="7959074" cy="225108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Introduction to Farmer profiling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Standardizing a farmer profile template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Discussion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400" b="1" dirty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400" b="1" dirty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000" b="1" dirty="0">
              <a:latin typeface="Trebuchet MS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124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/>
              <a:t>SBC4D: Where ICT meets Social &amp; Economic Development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34495" y="1078407"/>
            <a:ext cx="7303800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Consulting Company specialized in ICTD since 2009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Mobile &amp; Web services: Strategy, design, implementation, deployment. Specific expertise on multi-channel applications, and ICT for illiterate underprivileged communities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Open Data &amp; Open Linked Data: Strategy &amp; Implementation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Sector Expertise: primarily Agriculture, but also Governance, Media, Health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ICT4Ag: farmer profiling, AMIS, business matching, insurance, communication (IVR, CC, etc.)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Major clients: Governments, Development agencies (USAID, MCC,…), UN (ITC, UNDP, FAO, IFAD, etc.), WB, EU (CTA,…) private foundations &amp; NGO (Care, BMGF, …), private sector (Orange, MTV, Al Jazeera, …)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Geography:</a:t>
            </a:r>
            <a:r>
              <a:rPr lang="en-US" b="1" dirty="0">
                <a:latin typeface="Trebuchet MS" pitchFamily="34" charset="0"/>
                <a:cs typeface="Arial" pitchFamily="34" charset="0"/>
              </a:rPr>
              <a:t> 70% of activities in Sub-Saharan Africa,  Operation in South Asia (India, Vietnam, Bhutan, Indonesia), Pacific Islands (Fiji), Latin America (Chile, Colombia)</a:t>
            </a:r>
          </a:p>
        </p:txBody>
      </p:sp>
      <p:pic>
        <p:nvPicPr>
          <p:cNvPr id="1027" name="Picture 3" descr="D:\Apache2.2\htdocs\shuga\css\sbc4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226" y="2951017"/>
            <a:ext cx="1697644" cy="1596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0034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Principles of Farmer Profiling</a:t>
            </a:r>
            <a:endParaRPr lang="en-US" dirty="0"/>
          </a:p>
        </p:txBody>
      </p:sp>
      <p:pic>
        <p:nvPicPr>
          <p:cNvPr id="4" name="Image 3" descr="Une image contenant carte, texte&#10;&#10;Description générée automatiquement">
            <a:extLst>
              <a:ext uri="{FF2B5EF4-FFF2-40B4-BE49-F238E27FC236}">
                <a16:creationId xmlns:a16="http://schemas.microsoft.com/office/drawing/2014/main" id="{D1DEA354-3C8F-47F7-9FA9-7112996C0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69" y="1036124"/>
            <a:ext cx="8356922" cy="525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251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Principles of Farmer Profiling (2)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E442E82-4AF5-4E92-BEC9-EDB7D9D7BBC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22" y="1472339"/>
            <a:ext cx="7702658" cy="47424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7568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Services leveraging farmer profiles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B7F790C-6A75-4762-9F96-6C79720EA1F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37" y="1115877"/>
            <a:ext cx="8911525" cy="53779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21081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Farmer profiling expected impact</a:t>
            </a:r>
            <a:endParaRPr lang="en-US" dirty="0"/>
          </a:p>
        </p:txBody>
      </p:sp>
      <p:pic>
        <p:nvPicPr>
          <p:cNvPr id="1026" name="Picture 2" descr="Image result for impact icon">
            <a:extLst>
              <a:ext uri="{FF2B5EF4-FFF2-40B4-BE49-F238E27FC236}">
                <a16:creationId xmlns:a16="http://schemas.microsoft.com/office/drawing/2014/main" id="{46F4D647-FDD3-4E3D-AE10-ED7857DACA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21" t="25959" r="25882" b="20455"/>
          <a:stretch/>
        </p:blipFill>
        <p:spPr bwMode="auto">
          <a:xfrm>
            <a:off x="7199453" y="4376517"/>
            <a:ext cx="1689903" cy="2033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398660" y="1386445"/>
            <a:ext cx="7645744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Better policy based on real data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More advocacy power for Farmer Organizations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Greater access to financial services by smallholder farmers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Easier access to extension and trade services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Greater yields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Greater income</a:t>
            </a:r>
          </a:p>
        </p:txBody>
      </p:sp>
    </p:spTree>
    <p:extLst>
      <p:ext uri="{BB962C8B-B14F-4D97-AF65-F5344CB8AC3E}">
        <p14:creationId xmlns:p14="http://schemas.microsoft.com/office/powerpoint/2010/main" val="495456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Building blocks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537557" y="1687387"/>
            <a:ext cx="6994619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b="1" dirty="0">
                <a:latin typeface="Trebuchet MS" pitchFamily="34" charset="0"/>
                <a:cs typeface="ＭＳ Ｐゴシック" pitchFamily="34" charset="-128"/>
              </a:rPr>
              <a:t>Profile content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Data collection and update model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Technical platform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Business model</a:t>
            </a:r>
          </a:p>
        </p:txBody>
      </p:sp>
      <p:pic>
        <p:nvPicPr>
          <p:cNvPr id="2050" name="Picture 2" descr="Image result for icon building block">
            <a:extLst>
              <a:ext uri="{FF2B5EF4-FFF2-40B4-BE49-F238E27FC236}">
                <a16:creationId xmlns:a16="http://schemas.microsoft.com/office/drawing/2014/main" id="{D927E575-E245-4F82-BB95-B02D26980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722" y="4225861"/>
            <a:ext cx="1708689" cy="1708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9106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TANDARDIZATION AND CERTIFICATION – univisionconsulting.com">
            <a:extLst>
              <a:ext uri="{FF2B5EF4-FFF2-40B4-BE49-F238E27FC236}">
                <a16:creationId xmlns:a16="http://schemas.microsoft.com/office/drawing/2014/main" id="{A47643CB-8806-4854-81F3-1E5D88B02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2585" y="4736204"/>
            <a:ext cx="1823085" cy="1823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77966" y="15240"/>
            <a:ext cx="7303800" cy="812800"/>
          </a:xfrm>
        </p:spPr>
        <p:txBody>
          <a:bodyPr/>
          <a:lstStyle/>
          <a:p>
            <a:r>
              <a:rPr lang="en-US" dirty="0"/>
              <a:t>Standardizing profile content ?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25566" y="1108653"/>
            <a:ext cx="6994619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</p:txBody>
      </p:sp>
      <p:sp>
        <p:nvSpPr>
          <p:cNvPr id="9" name="Espace réservé du contenu 1">
            <a:extLst>
              <a:ext uri="{FF2B5EF4-FFF2-40B4-BE49-F238E27FC236}">
                <a16:creationId xmlns:a16="http://schemas.microsoft.com/office/drawing/2014/main" id="{25226FD8-4DA8-44B7-A43E-9195FF8F0C81}"/>
              </a:ext>
            </a:extLst>
          </p:cNvPr>
          <p:cNvSpPr>
            <a:spLocks/>
          </p:cNvSpPr>
          <p:nvPr/>
        </p:nvSpPr>
        <p:spPr bwMode="auto">
          <a:xfrm>
            <a:off x="277966" y="878839"/>
            <a:ext cx="6994619" cy="481970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Data aggregation is difficult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Numerous initiatives taking place at local (cooperatives, FOs,…),subnational, national and regional level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Lots of platforms and profiles but difficulties for aggregation</a:t>
            </a:r>
          </a:p>
          <a:p>
            <a:pPr marL="1371600" lvl="2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Different fields that prevent data aggregation and mash-up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Starting from scratch is difficult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Hard to design a profile from scratch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Very different information depending on services and value chain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A set of common information from identity, to farm description…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1400" dirty="0">
              <a:latin typeface="Trebuchet MS" pitchFamily="34" charset="0"/>
              <a:cs typeface="ＭＳ Ｐゴシック" pitchFamily="34" charset="-128"/>
            </a:endParaRP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Can we collectively agree on a standard for common fields?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2400" dirty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8011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126" y="0"/>
            <a:ext cx="7626362" cy="812800"/>
          </a:xfrm>
        </p:spPr>
        <p:txBody>
          <a:bodyPr/>
          <a:lstStyle/>
          <a:p>
            <a:r>
              <a:rPr lang="fr-FR" sz="3600" dirty="0"/>
              <a:t>Discussion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86822" y="1162904"/>
            <a:ext cx="6854354" cy="409489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the adoption of a generic template for profiles an appropriate approach compared to other elements (software platform, data collection, business model...)?</a:t>
            </a:r>
            <a:endParaRPr lang="fr-F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 which level should the standardization happen? Should that be replaced/completed by value-chain specific standardized template?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should be the level of interoperability? Data level? Platform/SI level?</a:t>
            </a:r>
            <a:endParaRPr lang="fr-F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 2" descr="Une image contenant graphiques vectoriels&#10;&#10;Description générée automatiquement">
            <a:extLst>
              <a:ext uri="{FF2B5EF4-FFF2-40B4-BE49-F238E27FC236}">
                <a16:creationId xmlns:a16="http://schemas.microsoft.com/office/drawing/2014/main" id="{8135A6DB-BDCB-401B-A9E2-DE8089AED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176" y="3003182"/>
            <a:ext cx="2102824" cy="2071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851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65248" y="941013"/>
            <a:ext cx="8474892" cy="283123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Requirements: useful for services, can be captured, common across all countries, crops, agriculture activities and value chains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Modular: Not all initiatives/services need all information 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Standardization of Data Attributes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Collection method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Validation process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Dynamic/Static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Date of update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History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Sensitiveness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Personal data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Legal risk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Source: field initiatives &amp; research studies</a:t>
            </a:r>
          </a:p>
          <a:p>
            <a:pPr marL="1371600" lvl="2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2400" dirty="0">
              <a:latin typeface="Trebuchet MS" pitchFamily="34" charset="0"/>
              <a:cs typeface="ＭＳ Ｐゴシック" pitchFamily="34" charset="-128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65248" y="0"/>
            <a:ext cx="7303800" cy="812800"/>
          </a:xfrm>
        </p:spPr>
        <p:txBody>
          <a:bodyPr/>
          <a:lstStyle/>
          <a:p>
            <a:r>
              <a:rPr lang="en-US" sz="3200" dirty="0"/>
              <a:t>Characteristics of a generic template</a:t>
            </a:r>
            <a:endParaRPr lang="en-US" dirty="0"/>
          </a:p>
        </p:txBody>
      </p:sp>
      <p:pic>
        <p:nvPicPr>
          <p:cNvPr id="2050" name="Picture 2" descr="Document, Template Icon #1147139 - PNG Images - PNGio">
            <a:extLst>
              <a:ext uri="{FF2B5EF4-FFF2-40B4-BE49-F238E27FC236}">
                <a16:creationId xmlns:a16="http://schemas.microsoft.com/office/drawing/2014/main" id="{6E100343-B6D4-4D50-A236-EC4300411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0373" y="4800600"/>
            <a:ext cx="1489767" cy="1489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323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0" y="1633344"/>
            <a:ext cx="8474892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Information that allows a classification of farmers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Information that support analytics and data use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Information that support services provision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Information that increase confidence in the profile data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Information that enable quality check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65248" y="0"/>
            <a:ext cx="7303800" cy="812800"/>
          </a:xfrm>
        </p:spPr>
        <p:txBody>
          <a:bodyPr/>
          <a:lstStyle/>
          <a:p>
            <a:r>
              <a:rPr lang="en-US" sz="3200" dirty="0"/>
              <a:t>Key Fields and metadata</a:t>
            </a:r>
            <a:endParaRPr lang="en-US" dirty="0"/>
          </a:p>
        </p:txBody>
      </p:sp>
      <p:pic>
        <p:nvPicPr>
          <p:cNvPr id="2050" name="Picture 2" descr="Document, Template Icon #1147139 - PNG Images - PNGio">
            <a:extLst>
              <a:ext uri="{FF2B5EF4-FFF2-40B4-BE49-F238E27FC236}">
                <a16:creationId xmlns:a16="http://schemas.microsoft.com/office/drawing/2014/main" id="{6E100343-B6D4-4D50-A236-EC4300411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0373" y="4800600"/>
            <a:ext cx="1489767" cy="1489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6859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280" y="0"/>
            <a:ext cx="7751928" cy="812800"/>
          </a:xfrm>
        </p:spPr>
        <p:txBody>
          <a:bodyPr/>
          <a:lstStyle/>
          <a:p>
            <a:r>
              <a:rPr lang="fr-FR" dirty="0"/>
              <a:t>Profile </a:t>
            </a:r>
            <a:r>
              <a:rPr lang="en-US" dirty="0"/>
              <a:t>Categories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25567" y="1108653"/>
            <a:ext cx="6587750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2400" dirty="0">
              <a:latin typeface="Trebuchet MS" pitchFamily="34" charset="0"/>
              <a:cs typeface="ＭＳ Ｐゴシック" pitchFamily="34" charset="-128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7EAB79FE-AFC7-4D43-973D-9B223D3349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09894"/>
              </p:ext>
            </p:extLst>
          </p:nvPr>
        </p:nvGraphicFramePr>
        <p:xfrm>
          <a:off x="125567" y="1108652"/>
          <a:ext cx="8892865" cy="52921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12214">
                  <a:extLst>
                    <a:ext uri="{9D8B030D-6E8A-4147-A177-3AD203B41FA5}">
                      <a16:colId xmlns:a16="http://schemas.microsoft.com/office/drawing/2014/main" val="662131359"/>
                    </a:ext>
                  </a:extLst>
                </a:gridCol>
                <a:gridCol w="6380651">
                  <a:extLst>
                    <a:ext uri="{9D8B030D-6E8A-4147-A177-3AD203B41FA5}">
                      <a16:colId xmlns:a16="http://schemas.microsoft.com/office/drawing/2014/main" val="1241693748"/>
                    </a:ext>
                  </a:extLst>
                </a:gridCol>
              </a:tblGrid>
              <a:tr h="30450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Category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Content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9280134"/>
                  </a:ext>
                </a:extLst>
              </a:tr>
              <a:tr h="3045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Personal Information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Identity information including education level, income group,…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2759446"/>
                  </a:ext>
                </a:extLst>
              </a:tr>
              <a:tr h="6213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Communication Information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Information about how to communicate with the person (technologies, device, language…)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063132"/>
                  </a:ext>
                </a:extLst>
              </a:tr>
              <a:tr h="3027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Location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Location of the person (address official, local, GPS)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29847406"/>
                  </a:ext>
                </a:extLst>
              </a:tr>
              <a:tr h="3814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Financial instruments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Financial instruments used by the person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1718686"/>
                  </a:ext>
                </a:extLst>
              </a:tr>
              <a:tr h="3027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Credit information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credits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9614502"/>
                  </a:ext>
                </a:extLst>
              </a:tr>
              <a:tr h="3027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Insurance information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insurance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1738492"/>
                  </a:ext>
                </a:extLst>
              </a:tr>
              <a:tr h="3027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Farm details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Farm information: tools, manpower, registration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290909"/>
                  </a:ext>
                </a:extLst>
              </a:tr>
              <a:tr h="6213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Qualification and certification data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Information about qualification and certification (organic, export, etc.)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6874465"/>
                  </a:ext>
                </a:extLst>
              </a:tr>
              <a:tr h="3027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Field information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Information about field (size, position, crop…)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5866672"/>
                  </a:ext>
                </a:extLst>
              </a:tr>
              <a:tr h="6213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Production information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Yields, planting information,…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328209"/>
                  </a:ext>
                </a:extLst>
              </a:tr>
              <a:tr h="3027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Business information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Market linkages, trade agreements…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9589649"/>
                  </a:ext>
                </a:extLst>
              </a:tr>
              <a:tr h="6213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Legal information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Mandatory information imposed by Personal data protection legislation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7459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836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280" y="0"/>
            <a:ext cx="7751928" cy="812800"/>
          </a:xfrm>
        </p:spPr>
        <p:txBody>
          <a:bodyPr/>
          <a:lstStyle/>
          <a:p>
            <a:r>
              <a:rPr lang="en-US" dirty="0"/>
              <a:t>Categories</a:t>
            </a:r>
            <a:r>
              <a:rPr lang="fr-FR" dirty="0"/>
              <a:t> &amp; Services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25567" y="1108653"/>
            <a:ext cx="6587750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2400" dirty="0">
              <a:latin typeface="Trebuchet MS" pitchFamily="34" charset="0"/>
              <a:cs typeface="ＭＳ Ｐゴシック" pitchFamily="34" charset="-128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7EAB79FE-AFC7-4D43-973D-9B223D3349A4}"/>
              </a:ext>
            </a:extLst>
          </p:cNvPr>
          <p:cNvGraphicFramePr>
            <a:graphicFrameLocks noGrp="1"/>
          </p:cNvGraphicFramePr>
          <p:nvPr/>
        </p:nvGraphicFramePr>
        <p:xfrm>
          <a:off x="125567" y="1108652"/>
          <a:ext cx="8892865" cy="50922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12214">
                  <a:extLst>
                    <a:ext uri="{9D8B030D-6E8A-4147-A177-3AD203B41FA5}">
                      <a16:colId xmlns:a16="http://schemas.microsoft.com/office/drawing/2014/main" val="662131359"/>
                    </a:ext>
                  </a:extLst>
                </a:gridCol>
                <a:gridCol w="6380651">
                  <a:extLst>
                    <a:ext uri="{9D8B030D-6E8A-4147-A177-3AD203B41FA5}">
                      <a16:colId xmlns:a16="http://schemas.microsoft.com/office/drawing/2014/main" val="1241693748"/>
                    </a:ext>
                  </a:extLst>
                </a:gridCol>
              </a:tblGrid>
              <a:tr h="27809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Category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Type of services exploiting the information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9280134"/>
                  </a:ext>
                </a:extLst>
              </a:tr>
              <a:tr h="27809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Personal Information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All – Personal information appears in all profiling platform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2759446"/>
                  </a:ext>
                </a:extLst>
              </a:tr>
              <a:tr h="5708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Communication Information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All types of services that require direct interaction with the producer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063132"/>
                  </a:ext>
                </a:extLst>
              </a:tr>
              <a:tr h="27809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Location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All – Location information appears in all profiling platform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29847406"/>
                  </a:ext>
                </a:extLst>
              </a:tr>
              <a:tr h="3513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Financial instruments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Services that involves financial transactions: subsidy, trade, access to credit…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1718686"/>
                  </a:ext>
                </a:extLst>
              </a:tr>
              <a:tr h="27809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Credit information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Access to credit, subsidy scheme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9614502"/>
                  </a:ext>
                </a:extLst>
              </a:tr>
              <a:tr h="27809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Insurance information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Access to credit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1738492"/>
                  </a:ext>
                </a:extLst>
              </a:tr>
              <a:tr h="27809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Farm details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Production services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290909"/>
                  </a:ext>
                </a:extLst>
              </a:tr>
              <a:tr h="3483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Qualification and certification data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Production services, trade services, access to credit, subsidy scheme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6874465"/>
                  </a:ext>
                </a:extLst>
              </a:tr>
              <a:tr h="27809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Field information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Production services, financial services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5866672"/>
                  </a:ext>
                </a:extLst>
              </a:tr>
              <a:tr h="5708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Production information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Trade services, financial services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328209"/>
                  </a:ext>
                </a:extLst>
              </a:tr>
              <a:tr h="27809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Business information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Trade services, financial services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9589649"/>
                  </a:ext>
                </a:extLst>
              </a:tr>
              <a:tr h="5708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Legal information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Mandatory in countries where a personal data protection legislation exists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7459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027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126" y="0"/>
            <a:ext cx="7626362" cy="812800"/>
          </a:xfrm>
        </p:spPr>
        <p:txBody>
          <a:bodyPr/>
          <a:lstStyle/>
          <a:p>
            <a:r>
              <a:rPr lang="fr-FR" sz="3600" dirty="0"/>
              <a:t>Discussion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78262" y="2336385"/>
            <a:ext cx="6381618" cy="289093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proposed template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both data and data attributes the right level ?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Comments on the proposed modular approach and the list of categories ?</a:t>
            </a:r>
            <a:endParaRPr lang="fr-F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 2" descr="Une image contenant graphiques vectoriels&#10;&#10;Description générée automatiquement">
            <a:extLst>
              <a:ext uri="{FF2B5EF4-FFF2-40B4-BE49-F238E27FC236}">
                <a16:creationId xmlns:a16="http://schemas.microsoft.com/office/drawing/2014/main" id="{8135A6DB-BDCB-401B-A9E2-DE8089AED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176" y="3003182"/>
            <a:ext cx="2102824" cy="2071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708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4800" y="96930"/>
            <a:ext cx="7751928" cy="548640"/>
          </a:xfrm>
        </p:spPr>
        <p:txBody>
          <a:bodyPr/>
          <a:lstStyle/>
          <a:p>
            <a:r>
              <a:rPr lang="fr-FR" dirty="0"/>
              <a:t>Profile Information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25567" y="1108653"/>
            <a:ext cx="6587750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2400" dirty="0">
              <a:latin typeface="Trebuchet MS" pitchFamily="34" charset="0"/>
              <a:cs typeface="ＭＳ Ｐゴシック" pitchFamily="34" charset="-128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7EAB79FE-AFC7-4D43-973D-9B223D3349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331440"/>
              </p:ext>
            </p:extLst>
          </p:nvPr>
        </p:nvGraphicFramePr>
        <p:xfrm>
          <a:off x="3647" y="1097280"/>
          <a:ext cx="9125113" cy="53980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88873">
                  <a:extLst>
                    <a:ext uri="{9D8B030D-6E8A-4147-A177-3AD203B41FA5}">
                      <a16:colId xmlns:a16="http://schemas.microsoft.com/office/drawing/2014/main" val="662131359"/>
                    </a:ext>
                  </a:extLst>
                </a:gridCol>
                <a:gridCol w="6736240">
                  <a:extLst>
                    <a:ext uri="{9D8B030D-6E8A-4147-A177-3AD203B41FA5}">
                      <a16:colId xmlns:a16="http://schemas.microsoft.com/office/drawing/2014/main" val="1241693748"/>
                    </a:ext>
                  </a:extLst>
                </a:gridCol>
              </a:tblGrid>
              <a:tr h="28407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Category</a:t>
                      </a:r>
                      <a:endParaRPr lang="en-US" sz="18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Fields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9280134"/>
                  </a:ext>
                </a:extLst>
              </a:tr>
              <a:tr h="5813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Personal Information</a:t>
                      </a:r>
                      <a:endParaRPr lang="en-US" sz="18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Name, first name, ID, gender, birthdate, marital status, income, education, household size, main income source, other income sources, activity start date, disabilities, health info., health insurance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2759446"/>
                  </a:ext>
                </a:extLst>
              </a:tr>
              <a:tr h="60105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Communication Information</a:t>
                      </a:r>
                      <a:endParaRPr lang="en-US" sz="18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Phone, phone type, email, social network, data plan, languages, pref. comm. channel, pref. Radio/TV &amp; watching time, phone literacy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063132"/>
                  </a:ext>
                </a:extLst>
              </a:tr>
              <a:tr h="2840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Location</a:t>
                      </a:r>
                      <a:endParaRPr lang="en-US" sz="18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Country, Administrative address, village, local address, GPS coord.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29847406"/>
                  </a:ext>
                </a:extLst>
              </a:tr>
              <a:tr h="3493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Financial instr.</a:t>
                      </a:r>
                      <a:endParaRPr lang="en-US" sz="18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Bank accounts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1718686"/>
                  </a:ext>
                </a:extLst>
              </a:tr>
              <a:tr h="5813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Credit information</a:t>
                      </a:r>
                      <a:endParaRPr lang="en-US" sz="18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Credit records, credit events, farm business plan, SACCOS/ROSCAs membership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9614502"/>
                  </a:ext>
                </a:extLst>
              </a:tr>
              <a:tr h="346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Insurance info.</a:t>
                      </a:r>
                      <a:endParaRPr lang="en-US" sz="18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Insurance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1738492"/>
                  </a:ext>
                </a:extLst>
              </a:tr>
              <a:tr h="2840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Farm details</a:t>
                      </a:r>
                      <a:endParaRPr lang="en-US" sz="18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ID, Manpower, tools, warehouse, storage, livestock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290909"/>
                  </a:ext>
                </a:extLst>
              </a:tr>
              <a:tr h="3424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noProof="0" dirty="0" err="1">
                          <a:effectLst/>
                        </a:rPr>
                        <a:t>Qualif</a:t>
                      </a:r>
                      <a:r>
                        <a:rPr lang="en-US" sz="1800" noProof="0" dirty="0">
                          <a:effectLst/>
                        </a:rPr>
                        <a:t>. &amp; certif. data</a:t>
                      </a:r>
                      <a:endParaRPr lang="en-US" sz="18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certifications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6874465"/>
                  </a:ext>
                </a:extLst>
              </a:tr>
              <a:tr h="2840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Field information</a:t>
                      </a:r>
                      <a:endParaRPr lang="en-US" sz="18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Location, size, map, soil, own. &amp; title, areas under cultivation, irrigation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5866672"/>
                  </a:ext>
                </a:extLst>
              </a:tr>
              <a:tr h="5813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Production information</a:t>
                      </a:r>
                      <a:endParaRPr lang="en-US" sz="18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Planting information, production activities, harvest &amp; post-harvest information, weather, yields,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328209"/>
                  </a:ext>
                </a:extLst>
              </a:tr>
              <a:tr h="3080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Business information</a:t>
                      </a:r>
                      <a:endParaRPr lang="en-US" sz="18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Coop., agribusiness linkages, markets, processors, transport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9589649"/>
                  </a:ext>
                </a:extLst>
              </a:tr>
              <a:tr h="2840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Legal information</a:t>
                      </a:r>
                      <a:endParaRPr lang="en-US" sz="18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Explicit agreement, data sharing agreements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7459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256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126" y="0"/>
            <a:ext cx="7626362" cy="812800"/>
          </a:xfrm>
        </p:spPr>
        <p:txBody>
          <a:bodyPr/>
          <a:lstStyle/>
          <a:p>
            <a:r>
              <a:rPr lang="en-US" sz="3600" dirty="0"/>
              <a:t>Personal Information</a:t>
            </a:r>
            <a:endParaRPr lang="en-US" dirty="0"/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8E27DE5D-1EC3-4045-8150-CC0648CEB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284424"/>
              </p:ext>
            </p:extLst>
          </p:nvPr>
        </p:nvGraphicFramePr>
        <p:xfrm>
          <a:off x="260903" y="1066800"/>
          <a:ext cx="8622194" cy="52531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00513">
                  <a:extLst>
                    <a:ext uri="{9D8B030D-6E8A-4147-A177-3AD203B41FA5}">
                      <a16:colId xmlns:a16="http://schemas.microsoft.com/office/drawing/2014/main" val="224784082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34811393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459900136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441305266"/>
                    </a:ext>
                  </a:extLst>
                </a:gridCol>
                <a:gridCol w="2103121">
                  <a:extLst>
                    <a:ext uri="{9D8B030D-6E8A-4147-A177-3AD203B41FA5}">
                      <a16:colId xmlns:a16="http://schemas.microsoft.com/office/drawing/2014/main" val="3653955423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Field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Dynamic/ 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Validation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History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Sensitivity/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Personal info.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4190884"/>
                  </a:ext>
                </a:extLst>
              </a:tr>
              <a:tr h="2545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Name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1742158"/>
                  </a:ext>
                </a:extLst>
              </a:tr>
              <a:tr h="2545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First name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2776884"/>
                  </a:ext>
                </a:extLst>
              </a:tr>
              <a:tr h="2545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Marital status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2641575"/>
                  </a:ext>
                </a:extLst>
              </a:tr>
              <a:tr h="2545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ID Number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1691173"/>
                  </a:ext>
                </a:extLst>
              </a:tr>
              <a:tr h="2545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Gender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489456"/>
                  </a:ext>
                </a:extLst>
              </a:tr>
              <a:tr h="2545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Date of birth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16840796"/>
                  </a:ext>
                </a:extLst>
              </a:tr>
              <a:tr h="2545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Income Group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1/0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5149288"/>
                  </a:ext>
                </a:extLst>
              </a:tr>
              <a:tr h="2951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Main income source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41758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Other income sources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1429854"/>
                  </a:ext>
                </a:extLst>
              </a:tr>
              <a:tr h="2545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Education Level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1/0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5426055"/>
                  </a:ext>
                </a:extLst>
              </a:tr>
              <a:tr h="2545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Household size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6074357"/>
                  </a:ext>
                </a:extLst>
              </a:tr>
              <a:tr h="2834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Agriculture activity start year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0636994"/>
                  </a:ext>
                </a:extLst>
              </a:tr>
              <a:tr h="2545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Disabilities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1/0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6337120"/>
                  </a:ext>
                </a:extLst>
              </a:tr>
              <a:tr h="2195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Health information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1/1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172399"/>
                  </a:ext>
                </a:extLst>
              </a:tr>
              <a:tr h="2545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Health insurance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1/0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0867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9056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126" y="0"/>
            <a:ext cx="7626362" cy="812800"/>
          </a:xfrm>
        </p:spPr>
        <p:txBody>
          <a:bodyPr/>
          <a:lstStyle/>
          <a:p>
            <a:r>
              <a:rPr lang="en-US" sz="3600" dirty="0"/>
              <a:t>Communication Information</a:t>
            </a:r>
            <a:endParaRPr lang="en-US" dirty="0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4E6475FC-8C10-474E-BE21-7BA6AA8E3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127477"/>
              </p:ext>
            </p:extLst>
          </p:nvPr>
        </p:nvGraphicFramePr>
        <p:xfrm>
          <a:off x="359421" y="1108234"/>
          <a:ext cx="7893051" cy="51215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78747">
                  <a:extLst>
                    <a:ext uri="{9D8B030D-6E8A-4147-A177-3AD203B41FA5}">
                      <a16:colId xmlns:a16="http://schemas.microsoft.com/office/drawing/2014/main" val="235064520"/>
                    </a:ext>
                  </a:extLst>
                </a:gridCol>
                <a:gridCol w="1404846">
                  <a:extLst>
                    <a:ext uri="{9D8B030D-6E8A-4147-A177-3AD203B41FA5}">
                      <a16:colId xmlns:a16="http://schemas.microsoft.com/office/drawing/2014/main" val="2452439669"/>
                    </a:ext>
                  </a:extLst>
                </a:gridCol>
                <a:gridCol w="1436601">
                  <a:extLst>
                    <a:ext uri="{9D8B030D-6E8A-4147-A177-3AD203B41FA5}">
                      <a16:colId xmlns:a16="http://schemas.microsoft.com/office/drawing/2014/main" val="2034768781"/>
                    </a:ext>
                  </a:extLst>
                </a:gridCol>
                <a:gridCol w="1110159">
                  <a:extLst>
                    <a:ext uri="{9D8B030D-6E8A-4147-A177-3AD203B41FA5}">
                      <a16:colId xmlns:a16="http://schemas.microsoft.com/office/drawing/2014/main" val="2669155122"/>
                    </a:ext>
                  </a:extLst>
                </a:gridCol>
                <a:gridCol w="1662698">
                  <a:extLst>
                    <a:ext uri="{9D8B030D-6E8A-4147-A177-3AD203B41FA5}">
                      <a16:colId xmlns:a16="http://schemas.microsoft.com/office/drawing/2014/main" val="718924802"/>
                    </a:ext>
                  </a:extLst>
                </a:gridCol>
              </a:tblGrid>
              <a:tr h="8125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Field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Dynamic/ 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Need for validation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History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Sensitivity/ Personal information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812547"/>
                  </a:ext>
                </a:extLst>
              </a:tr>
              <a:tr h="2616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Phone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Dynamic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6772480"/>
                  </a:ext>
                </a:extLst>
              </a:tr>
              <a:tr h="2616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Phone type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17655161"/>
                  </a:ext>
                </a:extLst>
              </a:tr>
              <a:tr h="2616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Email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4167237"/>
                  </a:ext>
                </a:extLst>
              </a:tr>
              <a:tr h="2616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Social Network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7361918"/>
                  </a:ext>
                </a:extLst>
              </a:tr>
              <a:tr h="2616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Data plan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36632843"/>
                  </a:ext>
                </a:extLst>
              </a:tr>
              <a:tr h="2616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Languages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1582404"/>
                  </a:ext>
                </a:extLst>
              </a:tr>
              <a:tr h="8125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Preferred communication channel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09225849"/>
                  </a:ext>
                </a:extLst>
              </a:tr>
              <a:tr h="5370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Preferred Radio/TV Channel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01677971"/>
                  </a:ext>
                </a:extLst>
              </a:tr>
              <a:tr h="5370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Listening/Watching time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9601074"/>
                  </a:ext>
                </a:extLst>
              </a:tr>
              <a:tr h="2616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Mobile Phone Literacy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0/0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6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97807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126" y="0"/>
            <a:ext cx="7626362" cy="812800"/>
          </a:xfrm>
        </p:spPr>
        <p:txBody>
          <a:bodyPr/>
          <a:lstStyle/>
          <a:p>
            <a:r>
              <a:rPr lang="en-US" sz="3600" dirty="0"/>
              <a:t>Location</a:t>
            </a:r>
            <a:endParaRPr lang="en-US" dirty="0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21484C80-9C0C-4622-9820-F3B10EF63B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226369"/>
              </p:ext>
            </p:extLst>
          </p:nvPr>
        </p:nvGraphicFramePr>
        <p:xfrm>
          <a:off x="396239" y="1325880"/>
          <a:ext cx="8351521" cy="50291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6576">
                  <a:extLst>
                    <a:ext uri="{9D8B030D-6E8A-4147-A177-3AD203B41FA5}">
                      <a16:colId xmlns:a16="http://schemas.microsoft.com/office/drawing/2014/main" val="1138720025"/>
                    </a:ext>
                  </a:extLst>
                </a:gridCol>
                <a:gridCol w="1585169">
                  <a:extLst>
                    <a:ext uri="{9D8B030D-6E8A-4147-A177-3AD203B41FA5}">
                      <a16:colId xmlns:a16="http://schemas.microsoft.com/office/drawing/2014/main" val="3284000795"/>
                    </a:ext>
                  </a:extLst>
                </a:gridCol>
                <a:gridCol w="1621001">
                  <a:extLst>
                    <a:ext uri="{9D8B030D-6E8A-4147-A177-3AD203B41FA5}">
                      <a16:colId xmlns:a16="http://schemas.microsoft.com/office/drawing/2014/main" val="2000468922"/>
                    </a:ext>
                  </a:extLst>
                </a:gridCol>
                <a:gridCol w="1252657">
                  <a:extLst>
                    <a:ext uri="{9D8B030D-6E8A-4147-A177-3AD203B41FA5}">
                      <a16:colId xmlns:a16="http://schemas.microsoft.com/office/drawing/2014/main" val="1576809313"/>
                    </a:ext>
                  </a:extLst>
                </a:gridCol>
                <a:gridCol w="1876118">
                  <a:extLst>
                    <a:ext uri="{9D8B030D-6E8A-4147-A177-3AD203B41FA5}">
                      <a16:colId xmlns:a16="http://schemas.microsoft.com/office/drawing/2014/main" val="1678562702"/>
                    </a:ext>
                  </a:extLst>
                </a:gridCol>
              </a:tblGrid>
              <a:tr h="12399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Field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Dynamic/ Static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Need for validation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History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Sensitivity/ Personal information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9246632"/>
                  </a:ext>
                </a:extLst>
              </a:tr>
              <a:tr h="4113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Country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Static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0/0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8896171"/>
                  </a:ext>
                </a:extLst>
              </a:tr>
              <a:tr h="8444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Administrative location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Static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0/1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0/0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5696826"/>
                  </a:ext>
                </a:extLst>
              </a:tr>
              <a:tr h="4113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Village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Static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0/0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0324404"/>
                  </a:ext>
                </a:extLst>
              </a:tr>
              <a:tr h="8444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Neighborhood location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Static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0/1 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0/0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0641822"/>
                  </a:ext>
                </a:extLst>
              </a:tr>
              <a:tr h="127757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GPS coordinates of the farm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static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0/1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0/1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6139461"/>
                  </a:ext>
                </a:extLst>
              </a:tr>
            </a:tbl>
          </a:graphicData>
        </a:graphic>
      </p:graphicFrame>
      <p:sp>
        <p:nvSpPr>
          <p:cNvPr id="9" name="Rectangle 4">
            <a:extLst>
              <a:ext uri="{FF2B5EF4-FFF2-40B4-BE49-F238E27FC236}">
                <a16:creationId xmlns:a16="http://schemas.microsoft.com/office/drawing/2014/main" id="{33A2119F-3301-4B9E-AD7C-171BCE7A1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2563" y="269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06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126" y="0"/>
            <a:ext cx="7626362" cy="812800"/>
          </a:xfrm>
        </p:spPr>
        <p:txBody>
          <a:bodyPr/>
          <a:lstStyle/>
          <a:p>
            <a:r>
              <a:rPr lang="en-US" sz="3600" dirty="0"/>
              <a:t>Financial Instrument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3A2119F-3301-4B9E-AD7C-171BCE7A1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2563" y="269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33B0677B-FBD7-465A-B700-369E6DEB5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673622"/>
              </p:ext>
            </p:extLst>
          </p:nvPr>
        </p:nvGraphicFramePr>
        <p:xfrm>
          <a:off x="321863" y="1983198"/>
          <a:ext cx="8500273" cy="24211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33515">
                  <a:extLst>
                    <a:ext uri="{9D8B030D-6E8A-4147-A177-3AD203B41FA5}">
                      <a16:colId xmlns:a16="http://schemas.microsoft.com/office/drawing/2014/main" val="1359250811"/>
                    </a:ext>
                  </a:extLst>
                </a:gridCol>
                <a:gridCol w="1696067">
                  <a:extLst>
                    <a:ext uri="{9D8B030D-6E8A-4147-A177-3AD203B41FA5}">
                      <a16:colId xmlns:a16="http://schemas.microsoft.com/office/drawing/2014/main" val="1343678083"/>
                    </a:ext>
                  </a:extLst>
                </a:gridCol>
                <a:gridCol w="1734406">
                  <a:extLst>
                    <a:ext uri="{9D8B030D-6E8A-4147-A177-3AD203B41FA5}">
                      <a16:colId xmlns:a16="http://schemas.microsoft.com/office/drawing/2014/main" val="2372828994"/>
                    </a:ext>
                  </a:extLst>
                </a:gridCol>
                <a:gridCol w="1340292">
                  <a:extLst>
                    <a:ext uri="{9D8B030D-6E8A-4147-A177-3AD203B41FA5}">
                      <a16:colId xmlns:a16="http://schemas.microsoft.com/office/drawing/2014/main" val="520933646"/>
                    </a:ext>
                  </a:extLst>
                </a:gridCol>
                <a:gridCol w="2195993">
                  <a:extLst>
                    <a:ext uri="{9D8B030D-6E8A-4147-A177-3AD203B41FA5}">
                      <a16:colId xmlns:a16="http://schemas.microsoft.com/office/drawing/2014/main" val="269685250"/>
                    </a:ext>
                  </a:extLst>
                </a:gridCol>
              </a:tblGrid>
              <a:tr h="10574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Field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Dynamic/ 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Need for validation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History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Sensitivity/ Personal information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5008489"/>
                  </a:ext>
                </a:extLst>
              </a:tr>
              <a:tr h="136367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Bank Accounts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0/0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5444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7689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126" y="0"/>
            <a:ext cx="7626362" cy="812800"/>
          </a:xfrm>
        </p:spPr>
        <p:txBody>
          <a:bodyPr/>
          <a:lstStyle/>
          <a:p>
            <a:r>
              <a:rPr lang="en-US" sz="3600" dirty="0"/>
              <a:t>Credit Information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3A2119F-3301-4B9E-AD7C-171BCE7A1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2563" y="269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F8DAFA79-073F-4632-BF7A-8EC6DC6B7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036332"/>
              </p:ext>
            </p:extLst>
          </p:nvPr>
        </p:nvGraphicFramePr>
        <p:xfrm>
          <a:off x="358140" y="1584967"/>
          <a:ext cx="8427720" cy="41505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34063">
                  <a:extLst>
                    <a:ext uri="{9D8B030D-6E8A-4147-A177-3AD203B41FA5}">
                      <a16:colId xmlns:a16="http://schemas.microsoft.com/office/drawing/2014/main" val="1905788481"/>
                    </a:ext>
                  </a:extLst>
                </a:gridCol>
                <a:gridCol w="1524793">
                  <a:extLst>
                    <a:ext uri="{9D8B030D-6E8A-4147-A177-3AD203B41FA5}">
                      <a16:colId xmlns:a16="http://schemas.microsoft.com/office/drawing/2014/main" val="296385531"/>
                    </a:ext>
                  </a:extLst>
                </a:gridCol>
                <a:gridCol w="1559260">
                  <a:extLst>
                    <a:ext uri="{9D8B030D-6E8A-4147-A177-3AD203B41FA5}">
                      <a16:colId xmlns:a16="http://schemas.microsoft.com/office/drawing/2014/main" val="3349211537"/>
                    </a:ext>
                  </a:extLst>
                </a:gridCol>
                <a:gridCol w="1204944">
                  <a:extLst>
                    <a:ext uri="{9D8B030D-6E8A-4147-A177-3AD203B41FA5}">
                      <a16:colId xmlns:a16="http://schemas.microsoft.com/office/drawing/2014/main" val="1633576355"/>
                    </a:ext>
                  </a:extLst>
                </a:gridCol>
                <a:gridCol w="1804660">
                  <a:extLst>
                    <a:ext uri="{9D8B030D-6E8A-4147-A177-3AD203B41FA5}">
                      <a16:colId xmlns:a16="http://schemas.microsoft.com/office/drawing/2014/main" val="3201359693"/>
                    </a:ext>
                  </a:extLst>
                </a:gridCol>
              </a:tblGrid>
              <a:tr h="12191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Field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Dynamic/ 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Need for validation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History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Sensitivity/ Personal information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6337717"/>
                  </a:ext>
                </a:extLst>
              </a:tr>
              <a:tr h="3819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Credit Records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Dynamic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1/1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4721840"/>
                  </a:ext>
                </a:extLst>
              </a:tr>
              <a:tr h="3819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Credit Events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1/1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5022525"/>
                  </a:ext>
                </a:extLst>
              </a:tr>
              <a:tr h="8626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Farm Business plan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23092534"/>
                  </a:ext>
                </a:extLst>
              </a:tr>
              <a:tr h="13049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SACCOs/ROSCAs membership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0/0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7948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1702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126" y="0"/>
            <a:ext cx="7626362" cy="812800"/>
          </a:xfrm>
        </p:spPr>
        <p:txBody>
          <a:bodyPr/>
          <a:lstStyle/>
          <a:p>
            <a:r>
              <a:rPr lang="en-US" sz="3600" dirty="0"/>
              <a:t>Insurance Information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3A2119F-3301-4B9E-AD7C-171BCE7A1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2563" y="269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29B7EB28-4C37-4144-81E7-56A886503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253808"/>
              </p:ext>
            </p:extLst>
          </p:nvPr>
        </p:nvGraphicFramePr>
        <p:xfrm>
          <a:off x="914400" y="1464945"/>
          <a:ext cx="7452359" cy="22352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56604">
                  <a:extLst>
                    <a:ext uri="{9D8B030D-6E8A-4147-A177-3AD203B41FA5}">
                      <a16:colId xmlns:a16="http://schemas.microsoft.com/office/drawing/2014/main" val="1557267342"/>
                    </a:ext>
                  </a:extLst>
                </a:gridCol>
                <a:gridCol w="1480417">
                  <a:extLst>
                    <a:ext uri="{9D8B030D-6E8A-4147-A177-3AD203B41FA5}">
                      <a16:colId xmlns:a16="http://schemas.microsoft.com/office/drawing/2014/main" val="3989322415"/>
                    </a:ext>
                  </a:extLst>
                </a:gridCol>
                <a:gridCol w="1496293">
                  <a:extLst>
                    <a:ext uri="{9D8B030D-6E8A-4147-A177-3AD203B41FA5}">
                      <a16:colId xmlns:a16="http://schemas.microsoft.com/office/drawing/2014/main" val="2813892285"/>
                    </a:ext>
                  </a:extLst>
                </a:gridCol>
                <a:gridCol w="1156286">
                  <a:extLst>
                    <a:ext uri="{9D8B030D-6E8A-4147-A177-3AD203B41FA5}">
                      <a16:colId xmlns:a16="http://schemas.microsoft.com/office/drawing/2014/main" val="572607943"/>
                    </a:ext>
                  </a:extLst>
                </a:gridCol>
                <a:gridCol w="1862759">
                  <a:extLst>
                    <a:ext uri="{9D8B030D-6E8A-4147-A177-3AD203B41FA5}">
                      <a16:colId xmlns:a16="http://schemas.microsoft.com/office/drawing/2014/main" val="2602743660"/>
                    </a:ext>
                  </a:extLst>
                </a:gridCol>
              </a:tblGrid>
              <a:tr h="10344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Field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Dynamic/ 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Need for validation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History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Sensitivity/ Personal information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1068979"/>
                  </a:ext>
                </a:extLst>
              </a:tr>
              <a:tr h="12008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Insurance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Dynamic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1/0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357367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EA9A5863-B0F9-47A3-8556-B5EF6E4CD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888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356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126" y="0"/>
            <a:ext cx="7626362" cy="812800"/>
          </a:xfrm>
        </p:spPr>
        <p:txBody>
          <a:bodyPr/>
          <a:lstStyle/>
          <a:p>
            <a:r>
              <a:rPr lang="en-US" sz="3600" dirty="0"/>
              <a:t>Farm Details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3A2119F-3301-4B9E-AD7C-171BCE7A1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2563" y="269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A9BC885B-E513-4D1B-B356-47B5240F6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26887"/>
              </p:ext>
            </p:extLst>
          </p:nvPr>
        </p:nvGraphicFramePr>
        <p:xfrm>
          <a:off x="415126" y="1097300"/>
          <a:ext cx="7924799" cy="51356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91019">
                  <a:extLst>
                    <a:ext uri="{9D8B030D-6E8A-4147-A177-3AD203B41FA5}">
                      <a16:colId xmlns:a16="http://schemas.microsoft.com/office/drawing/2014/main" val="2588767014"/>
                    </a:ext>
                  </a:extLst>
                </a:gridCol>
                <a:gridCol w="1559855">
                  <a:extLst>
                    <a:ext uri="{9D8B030D-6E8A-4147-A177-3AD203B41FA5}">
                      <a16:colId xmlns:a16="http://schemas.microsoft.com/office/drawing/2014/main" val="2633144487"/>
                    </a:ext>
                  </a:extLst>
                </a:gridCol>
                <a:gridCol w="1595115">
                  <a:extLst>
                    <a:ext uri="{9D8B030D-6E8A-4147-A177-3AD203B41FA5}">
                      <a16:colId xmlns:a16="http://schemas.microsoft.com/office/drawing/2014/main" val="927336533"/>
                    </a:ext>
                  </a:extLst>
                </a:gridCol>
                <a:gridCol w="1232652">
                  <a:extLst>
                    <a:ext uri="{9D8B030D-6E8A-4147-A177-3AD203B41FA5}">
                      <a16:colId xmlns:a16="http://schemas.microsoft.com/office/drawing/2014/main" val="1419856847"/>
                    </a:ext>
                  </a:extLst>
                </a:gridCol>
                <a:gridCol w="1846158">
                  <a:extLst>
                    <a:ext uri="{9D8B030D-6E8A-4147-A177-3AD203B41FA5}">
                      <a16:colId xmlns:a16="http://schemas.microsoft.com/office/drawing/2014/main" val="1625996162"/>
                    </a:ext>
                  </a:extLst>
                </a:gridCol>
              </a:tblGrid>
              <a:tr h="9448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Field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Dynamic/ 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Need for validation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History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Sensitivity/ Personal information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1584528"/>
                  </a:ext>
                </a:extLst>
              </a:tr>
              <a:tr h="10491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Farm Registration Number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4510197"/>
                  </a:ext>
                </a:extLst>
              </a:tr>
              <a:tr h="5179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Manpower on farm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0839623"/>
                  </a:ext>
                </a:extLst>
              </a:tr>
              <a:tr h="1245320">
                <a:tc>
                  <a:txBody>
                    <a:bodyPr/>
                    <a:lstStyle/>
                    <a:p>
                      <a:pPr fontAlgn="base"/>
                      <a:r>
                        <a:rPr lang="en-US" sz="1800">
                          <a:effectLst/>
                        </a:rPr>
                        <a:t>Warehouse Information</a:t>
                      </a:r>
                      <a:endParaRPr lang="fr-FR" sz="18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4869146"/>
                  </a:ext>
                </a:extLst>
              </a:tr>
              <a:tr h="496514">
                <a:tc>
                  <a:txBody>
                    <a:bodyPr/>
                    <a:lstStyle/>
                    <a:p>
                      <a:pPr fontAlgn="base"/>
                      <a:r>
                        <a:rPr lang="en-US" sz="1800">
                          <a:effectLst/>
                        </a:rPr>
                        <a:t>Equipment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77598263"/>
                  </a:ext>
                </a:extLst>
              </a:tr>
              <a:tr h="496514">
                <a:tc>
                  <a:txBody>
                    <a:bodyPr/>
                    <a:lstStyle/>
                    <a:p>
                      <a:pPr fontAlgn="base"/>
                      <a:r>
                        <a:rPr lang="en-US" sz="1800">
                          <a:effectLst/>
                        </a:rPr>
                        <a:t>Storage </a:t>
                      </a:r>
                      <a:endParaRPr lang="fr-FR" sz="1800">
                        <a:effectLst/>
                      </a:endParaRPr>
                    </a:p>
                    <a:p>
                      <a:pPr fontAlgn="base"/>
                      <a:r>
                        <a:rPr lang="en-US" sz="1800">
                          <a:effectLst/>
                        </a:rPr>
                        <a:t> 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3925122"/>
                  </a:ext>
                </a:extLst>
              </a:tr>
              <a:tr h="252292">
                <a:tc>
                  <a:txBody>
                    <a:bodyPr/>
                    <a:lstStyle/>
                    <a:p>
                      <a:pPr fontAlgn="base"/>
                      <a:r>
                        <a:rPr lang="en-US" sz="1800">
                          <a:effectLst/>
                        </a:rPr>
                        <a:t>Livestock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Dynamic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0/0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55040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35116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126" y="0"/>
            <a:ext cx="7626362" cy="812800"/>
          </a:xfrm>
        </p:spPr>
        <p:txBody>
          <a:bodyPr/>
          <a:lstStyle/>
          <a:p>
            <a:r>
              <a:rPr lang="en-US" sz="3600" dirty="0"/>
              <a:t>Qualification &amp; Certification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3A2119F-3301-4B9E-AD7C-171BCE7A1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2563" y="269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C45AE883-2BC9-4167-9E3F-09D73C6E7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014925"/>
              </p:ext>
            </p:extLst>
          </p:nvPr>
        </p:nvGraphicFramePr>
        <p:xfrm>
          <a:off x="609600" y="2183100"/>
          <a:ext cx="6995159" cy="1982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83232">
                  <a:extLst>
                    <a:ext uri="{9D8B030D-6E8A-4147-A177-3AD203B41FA5}">
                      <a16:colId xmlns:a16="http://schemas.microsoft.com/office/drawing/2014/main" val="3765921202"/>
                    </a:ext>
                  </a:extLst>
                </a:gridCol>
                <a:gridCol w="1353902">
                  <a:extLst>
                    <a:ext uri="{9D8B030D-6E8A-4147-A177-3AD203B41FA5}">
                      <a16:colId xmlns:a16="http://schemas.microsoft.com/office/drawing/2014/main" val="1939036169"/>
                    </a:ext>
                  </a:extLst>
                </a:gridCol>
                <a:gridCol w="1384560">
                  <a:extLst>
                    <a:ext uri="{9D8B030D-6E8A-4147-A177-3AD203B41FA5}">
                      <a16:colId xmlns:a16="http://schemas.microsoft.com/office/drawing/2014/main" val="3728051257"/>
                    </a:ext>
                  </a:extLst>
                </a:gridCol>
                <a:gridCol w="1070612">
                  <a:extLst>
                    <a:ext uri="{9D8B030D-6E8A-4147-A177-3AD203B41FA5}">
                      <a16:colId xmlns:a16="http://schemas.microsoft.com/office/drawing/2014/main" val="1748350307"/>
                    </a:ext>
                  </a:extLst>
                </a:gridCol>
                <a:gridCol w="1602853">
                  <a:extLst>
                    <a:ext uri="{9D8B030D-6E8A-4147-A177-3AD203B41FA5}">
                      <a16:colId xmlns:a16="http://schemas.microsoft.com/office/drawing/2014/main" val="3907299558"/>
                    </a:ext>
                  </a:extLst>
                </a:gridCol>
              </a:tblGrid>
              <a:tr h="122536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Field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Dynamic/ 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Need for validation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History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Sensitivity/ Personal information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823174"/>
                  </a:ext>
                </a:extLst>
              </a:tr>
              <a:tr h="7571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Certifications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0/0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2219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4956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126" y="0"/>
            <a:ext cx="7626362" cy="812800"/>
          </a:xfrm>
        </p:spPr>
        <p:txBody>
          <a:bodyPr/>
          <a:lstStyle/>
          <a:p>
            <a:r>
              <a:rPr lang="en-US" sz="3600" dirty="0"/>
              <a:t>Field Information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3A2119F-3301-4B9E-AD7C-171BCE7A1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2563" y="269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2D907439-3271-4D03-AEB3-432D02693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905692"/>
              </p:ext>
            </p:extLst>
          </p:nvPr>
        </p:nvGraphicFramePr>
        <p:xfrm>
          <a:off x="207563" y="1066803"/>
          <a:ext cx="8728874" cy="51075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67114">
                  <a:extLst>
                    <a:ext uri="{9D8B030D-6E8A-4147-A177-3AD203B41FA5}">
                      <a16:colId xmlns:a16="http://schemas.microsoft.com/office/drawing/2014/main" val="3596841372"/>
                    </a:ext>
                  </a:extLst>
                </a:gridCol>
                <a:gridCol w="1194307">
                  <a:extLst>
                    <a:ext uri="{9D8B030D-6E8A-4147-A177-3AD203B41FA5}">
                      <a16:colId xmlns:a16="http://schemas.microsoft.com/office/drawing/2014/main" val="2011680045"/>
                    </a:ext>
                  </a:extLst>
                </a:gridCol>
                <a:gridCol w="1446093">
                  <a:extLst>
                    <a:ext uri="{9D8B030D-6E8A-4147-A177-3AD203B41FA5}">
                      <a16:colId xmlns:a16="http://schemas.microsoft.com/office/drawing/2014/main" val="3484107398"/>
                    </a:ext>
                  </a:extLst>
                </a:gridCol>
                <a:gridCol w="1574527">
                  <a:extLst>
                    <a:ext uri="{9D8B030D-6E8A-4147-A177-3AD203B41FA5}">
                      <a16:colId xmlns:a16="http://schemas.microsoft.com/office/drawing/2014/main" val="459113267"/>
                    </a:ext>
                  </a:extLst>
                </a:gridCol>
                <a:gridCol w="2246833">
                  <a:extLst>
                    <a:ext uri="{9D8B030D-6E8A-4147-A177-3AD203B41FA5}">
                      <a16:colId xmlns:a16="http://schemas.microsoft.com/office/drawing/2014/main" val="808850662"/>
                    </a:ext>
                  </a:extLst>
                </a:gridCol>
              </a:tblGrid>
              <a:tr h="100768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Field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Dynamic/ 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Need for validation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History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Sensitivity/ Personal information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9279393"/>
                  </a:ext>
                </a:extLst>
              </a:tr>
              <a:tr h="3608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Field Location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0644898"/>
                  </a:ext>
                </a:extLst>
              </a:tr>
              <a:tr h="3608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Field size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7400575"/>
                  </a:ext>
                </a:extLst>
              </a:tr>
              <a:tr h="54585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Field geo-fencing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62688010"/>
                  </a:ext>
                </a:extLst>
              </a:tr>
              <a:tr h="1757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Soil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5707299"/>
                  </a:ext>
                </a:extLst>
              </a:tr>
              <a:tr h="54585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Field Ownership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9415020"/>
                  </a:ext>
                </a:extLst>
              </a:tr>
              <a:tr h="3608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Land title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97942403"/>
                  </a:ext>
                </a:extLst>
              </a:tr>
              <a:tr h="7309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Areas under cultivation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Dynamic/static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728499"/>
                  </a:ext>
                </a:extLst>
              </a:tr>
              <a:tr h="9159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Type of watering/ irrigation sources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0/0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9752146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562D25E7-A9ED-4B56-93F0-C74C66198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2041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2219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126" y="0"/>
            <a:ext cx="7626362" cy="812800"/>
          </a:xfrm>
        </p:spPr>
        <p:txBody>
          <a:bodyPr/>
          <a:lstStyle/>
          <a:p>
            <a:r>
              <a:rPr lang="en-US" sz="3600" dirty="0"/>
              <a:t>Production Information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3A2119F-3301-4B9E-AD7C-171BCE7A1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2563" y="269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682B35E7-D5C2-4086-B37C-B711950ED0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981833"/>
              </p:ext>
            </p:extLst>
          </p:nvPr>
        </p:nvGraphicFramePr>
        <p:xfrm>
          <a:off x="758819" y="1478296"/>
          <a:ext cx="7626362" cy="47841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10206">
                  <a:extLst>
                    <a:ext uri="{9D8B030D-6E8A-4147-A177-3AD203B41FA5}">
                      <a16:colId xmlns:a16="http://schemas.microsoft.com/office/drawing/2014/main" val="3972344538"/>
                    </a:ext>
                  </a:extLst>
                </a:gridCol>
                <a:gridCol w="1505400">
                  <a:extLst>
                    <a:ext uri="{9D8B030D-6E8A-4147-A177-3AD203B41FA5}">
                      <a16:colId xmlns:a16="http://schemas.microsoft.com/office/drawing/2014/main" val="260475836"/>
                    </a:ext>
                  </a:extLst>
                </a:gridCol>
                <a:gridCol w="1539428">
                  <a:extLst>
                    <a:ext uri="{9D8B030D-6E8A-4147-A177-3AD203B41FA5}">
                      <a16:colId xmlns:a16="http://schemas.microsoft.com/office/drawing/2014/main" val="2174474660"/>
                    </a:ext>
                  </a:extLst>
                </a:gridCol>
                <a:gridCol w="1189620">
                  <a:extLst>
                    <a:ext uri="{9D8B030D-6E8A-4147-A177-3AD203B41FA5}">
                      <a16:colId xmlns:a16="http://schemas.microsoft.com/office/drawing/2014/main" val="1448438253"/>
                    </a:ext>
                  </a:extLst>
                </a:gridCol>
                <a:gridCol w="1781708">
                  <a:extLst>
                    <a:ext uri="{9D8B030D-6E8A-4147-A177-3AD203B41FA5}">
                      <a16:colId xmlns:a16="http://schemas.microsoft.com/office/drawing/2014/main" val="3186843737"/>
                    </a:ext>
                  </a:extLst>
                </a:gridCol>
              </a:tblGrid>
              <a:tr h="11418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Field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Dynamic/ 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Need for validation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History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Sensitivity/ Personal information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85492879"/>
                  </a:ext>
                </a:extLst>
              </a:tr>
              <a:tr h="7751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Planting information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Dynamic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5516538"/>
                  </a:ext>
                </a:extLst>
              </a:tr>
              <a:tr h="7751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Production activities 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Dynamic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3972401"/>
                  </a:ext>
                </a:extLst>
              </a:tr>
              <a:tr h="10379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Harvest and Post-harvest activities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Dynamic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9866918"/>
                  </a:ext>
                </a:extLst>
              </a:tr>
              <a:tr h="7751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Weather information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Dynamic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6413230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Yields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Dynamic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0/0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7137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2990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126" y="0"/>
            <a:ext cx="7626362" cy="812800"/>
          </a:xfrm>
        </p:spPr>
        <p:txBody>
          <a:bodyPr/>
          <a:lstStyle/>
          <a:p>
            <a:r>
              <a:rPr lang="en-US" sz="3600" dirty="0"/>
              <a:t>Business Information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3A2119F-3301-4B9E-AD7C-171BCE7A1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2563" y="269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E7452967-1EB5-4159-809A-C66CC6198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70540"/>
              </p:ext>
            </p:extLst>
          </p:nvPr>
        </p:nvGraphicFramePr>
        <p:xfrm>
          <a:off x="116123" y="1249685"/>
          <a:ext cx="8911754" cy="48906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63455">
                  <a:extLst>
                    <a:ext uri="{9D8B030D-6E8A-4147-A177-3AD203B41FA5}">
                      <a16:colId xmlns:a16="http://schemas.microsoft.com/office/drawing/2014/main" val="3597603223"/>
                    </a:ext>
                  </a:extLst>
                </a:gridCol>
                <a:gridCol w="1504899">
                  <a:extLst>
                    <a:ext uri="{9D8B030D-6E8A-4147-A177-3AD203B41FA5}">
                      <a16:colId xmlns:a16="http://schemas.microsoft.com/office/drawing/2014/main" val="4004346091"/>
                    </a:ext>
                  </a:extLst>
                </a:gridCol>
                <a:gridCol w="1277399">
                  <a:extLst>
                    <a:ext uri="{9D8B030D-6E8A-4147-A177-3AD203B41FA5}">
                      <a16:colId xmlns:a16="http://schemas.microsoft.com/office/drawing/2014/main" val="1750299368"/>
                    </a:ext>
                  </a:extLst>
                </a:gridCol>
                <a:gridCol w="1245482">
                  <a:extLst>
                    <a:ext uri="{9D8B030D-6E8A-4147-A177-3AD203B41FA5}">
                      <a16:colId xmlns:a16="http://schemas.microsoft.com/office/drawing/2014/main" val="3673364669"/>
                    </a:ext>
                  </a:extLst>
                </a:gridCol>
                <a:gridCol w="1820519">
                  <a:extLst>
                    <a:ext uri="{9D8B030D-6E8A-4147-A177-3AD203B41FA5}">
                      <a16:colId xmlns:a16="http://schemas.microsoft.com/office/drawing/2014/main" val="3852867221"/>
                    </a:ext>
                  </a:extLst>
                </a:gridCol>
              </a:tblGrid>
              <a:tr h="11887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Field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Dynamic/ 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Need for validation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History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Sensitivity/ Personal information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3882799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Cooperatives/ production cluster/ Innovation Platform (IP) membership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3463815"/>
                  </a:ext>
                </a:extLst>
              </a:tr>
              <a:tr h="33833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Markets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0135873"/>
                  </a:ext>
                </a:extLst>
              </a:tr>
              <a:tr h="6944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Agribusinesses Linkages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1/0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2300465"/>
                  </a:ext>
                </a:extLst>
              </a:tr>
              <a:tr h="6944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Processor linkages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1/0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6246164"/>
                  </a:ext>
                </a:extLst>
              </a:tr>
              <a:tr h="6944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Transport Linkages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1/0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6792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76988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126" y="0"/>
            <a:ext cx="7626362" cy="812800"/>
          </a:xfrm>
        </p:spPr>
        <p:txBody>
          <a:bodyPr/>
          <a:lstStyle/>
          <a:p>
            <a:r>
              <a:rPr lang="en-US" sz="3600" dirty="0"/>
              <a:t>Legal Information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3A2119F-3301-4B9E-AD7C-171BCE7A1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2563" y="269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974447EB-0E0F-4789-9BEB-C8DEC5CAD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779245"/>
              </p:ext>
            </p:extLst>
          </p:nvPr>
        </p:nvGraphicFramePr>
        <p:xfrm>
          <a:off x="145756" y="1287250"/>
          <a:ext cx="8656320" cy="49001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73680">
                  <a:extLst>
                    <a:ext uri="{9D8B030D-6E8A-4147-A177-3AD203B41FA5}">
                      <a16:colId xmlns:a16="http://schemas.microsoft.com/office/drawing/2014/main" val="1760873458"/>
                    </a:ext>
                  </a:extLst>
                </a:gridCol>
                <a:gridCol w="1134248">
                  <a:extLst>
                    <a:ext uri="{9D8B030D-6E8A-4147-A177-3AD203B41FA5}">
                      <a16:colId xmlns:a16="http://schemas.microsoft.com/office/drawing/2014/main" val="115896294"/>
                    </a:ext>
                  </a:extLst>
                </a:gridCol>
                <a:gridCol w="1620577">
                  <a:extLst>
                    <a:ext uri="{9D8B030D-6E8A-4147-A177-3AD203B41FA5}">
                      <a16:colId xmlns:a16="http://schemas.microsoft.com/office/drawing/2014/main" val="2554814110"/>
                    </a:ext>
                  </a:extLst>
                </a:gridCol>
                <a:gridCol w="1254070">
                  <a:extLst>
                    <a:ext uri="{9D8B030D-6E8A-4147-A177-3AD203B41FA5}">
                      <a16:colId xmlns:a16="http://schemas.microsoft.com/office/drawing/2014/main" val="301988386"/>
                    </a:ext>
                  </a:extLst>
                </a:gridCol>
                <a:gridCol w="1873745">
                  <a:extLst>
                    <a:ext uri="{9D8B030D-6E8A-4147-A177-3AD203B41FA5}">
                      <a16:colId xmlns:a16="http://schemas.microsoft.com/office/drawing/2014/main" val="4004767644"/>
                    </a:ext>
                  </a:extLst>
                </a:gridCol>
              </a:tblGrid>
              <a:tr h="13117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Field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Dynamic/Static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Need for validation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History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Sensitivity/ Personal information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2281250"/>
                  </a:ext>
                </a:extLst>
              </a:tr>
              <a:tr h="19588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Explicit agreement for personal data capture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NA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0/0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4798877"/>
                  </a:ext>
                </a:extLst>
              </a:tr>
              <a:tr h="16296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Authorized sharing agreement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NA</a:t>
                      </a:r>
                      <a:r>
                        <a:rPr lang="en-US" sz="1800" baseline="30000">
                          <a:effectLst/>
                        </a:rPr>
                        <a:t>11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0/0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3105150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6D114088-FA19-4D55-A6E7-4592A040C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901267" y="2209531"/>
            <a:ext cx="147503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5031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126" y="0"/>
            <a:ext cx="7626362" cy="812800"/>
          </a:xfrm>
        </p:spPr>
        <p:txBody>
          <a:bodyPr/>
          <a:lstStyle/>
          <a:p>
            <a:r>
              <a:rPr lang="fr-FR" sz="3600" dirty="0"/>
              <a:t>Discussion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78262" y="1362903"/>
            <a:ext cx="6625458" cy="45197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Comments on the proposed fields ? Does it support all value-chain actors needs?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template capture farmer information, should we extend the profile to also characterize other actors such as agribusinesses, processors, etc.?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the proposed template support appropriately gender-disaggregated statistics and policies?</a:t>
            </a:r>
            <a:endParaRPr lang="fr-F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fr-F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 2" descr="Une image contenant graphiques vectoriels&#10;&#10;Description générée automatiquement">
            <a:extLst>
              <a:ext uri="{FF2B5EF4-FFF2-40B4-BE49-F238E27FC236}">
                <a16:creationId xmlns:a16="http://schemas.microsoft.com/office/drawing/2014/main" id="{8135A6DB-BDCB-401B-A9E2-DE8089AED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176" y="3003182"/>
            <a:ext cx="2102824" cy="2071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22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Références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448128" y="1179552"/>
            <a:ext cx="6656654" cy="45481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fr-FR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1140CD-1FA2-4AF1-BA05-4C0B875E29DA}"/>
              </a:ext>
            </a:extLst>
          </p:cNvPr>
          <p:cNvSpPr txBox="1">
            <a:spLocks/>
          </p:cNvSpPr>
          <p:nvPr/>
        </p:nvSpPr>
        <p:spPr>
          <a:xfrm>
            <a:off x="208618" y="1179552"/>
            <a:ext cx="6691121" cy="55350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fr-FR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9CC8D15-6176-470F-9917-36C5F6DAA496}"/>
              </a:ext>
            </a:extLst>
          </p:cNvPr>
          <p:cNvSpPr txBox="1">
            <a:spLocks/>
          </p:cNvSpPr>
          <p:nvPr/>
        </p:nvSpPr>
        <p:spPr>
          <a:xfrm>
            <a:off x="361018" y="1331952"/>
            <a:ext cx="6691121" cy="55350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CTA Working Paper “Farmer profiling: Making data work for smallholder farmers”: </a:t>
            </a:r>
            <a:r>
              <a:rPr lang="en-US" sz="1900" dirty="0">
                <a:hlinkClick r:id="rId3"/>
              </a:rPr>
              <a:t>https://www.cta.int/en/digitalisation/article/farmer-profiling-making-data-work-for-smallholder-farmers-sid08ef124c5-a521-4128-b7dd-db108d223250</a:t>
            </a:r>
            <a:r>
              <a:rPr lang="en-US" sz="1900" dirty="0"/>
              <a:t> </a:t>
            </a:r>
          </a:p>
          <a:p>
            <a:r>
              <a:rPr lang="en-US" sz="2000" dirty="0"/>
              <a:t>DIGITAL FARMER PROFILES: Reimagining Smallholder Agriculture. Landscaping Study, USAID, Grameen Foundation: </a:t>
            </a:r>
            <a:r>
              <a:rPr lang="en-US" sz="2000" dirty="0">
                <a:hlinkClick r:id="rId4"/>
              </a:rPr>
              <a:t>https://www.usaid.gov/digitalag/documents/data-driven-agriculture</a:t>
            </a:r>
            <a:endParaRPr lang="en-US" sz="2000" dirty="0"/>
          </a:p>
          <a:p>
            <a:r>
              <a:rPr lang="en-US" sz="2000" dirty="0"/>
              <a:t>CTA Experiences : </a:t>
            </a:r>
            <a:r>
              <a:rPr lang="en-US" sz="2000" dirty="0">
                <a:hlinkClick r:id="rId5"/>
              </a:rPr>
              <a:t>https://www.cta.int/en/digitalisation/all/article/agricultural-data-systems-to-transform-smallholder-farming-sid0ec4b7362-20bc-476f-b0ad-3fe3d5a4aa24</a:t>
            </a:r>
            <a:r>
              <a:rPr lang="en-US" sz="2000" dirty="0"/>
              <a:t> 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FF48C42-1A2F-42B3-8FFE-063A777644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8407" y="4316145"/>
            <a:ext cx="23145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1780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© 2011. World Wide Web Foundation. All rights reserved</a:t>
            </a:r>
          </a:p>
        </p:txBody>
      </p:sp>
      <p:pic>
        <p:nvPicPr>
          <p:cNvPr id="7" name="Picture 2" descr="C:\Users\boyera\Desktop\icon-thank-you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179" y="1583564"/>
            <a:ext cx="4907641" cy="3690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23766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web foundation 1">
      <a:dk1>
        <a:srgbClr val="535555"/>
      </a:dk1>
      <a:lt1>
        <a:srgbClr val="FFFFFF"/>
      </a:lt1>
      <a:dk2>
        <a:srgbClr val="747678"/>
      </a:dk2>
      <a:lt2>
        <a:srgbClr val="E5E6E5"/>
      </a:lt2>
      <a:accent1>
        <a:srgbClr val="A4C400"/>
      </a:accent1>
      <a:accent2>
        <a:srgbClr val="C50A1D"/>
      </a:accent2>
      <a:accent3>
        <a:srgbClr val="B5418B"/>
      </a:accent3>
      <a:accent4>
        <a:srgbClr val="38B5B8"/>
      </a:accent4>
      <a:accent5>
        <a:srgbClr val="F29400"/>
      </a:accent5>
      <a:accent6>
        <a:srgbClr val="E1DC00"/>
      </a:accent6>
      <a:hlink>
        <a:srgbClr val="363636"/>
      </a:hlink>
      <a:folHlink>
        <a:srgbClr val="B8A796"/>
      </a:folHlink>
    </a:clrScheme>
    <a:fontScheme name="Révolution">
      <a:majorFont>
        <a:latin typeface="Trebuchet MS"/>
        <a:ea typeface=""/>
        <a:cs typeface=""/>
        <a:font script="Jpan" typeface="ＭＳ ゴシック"/>
      </a:majorFont>
      <a:minorFont>
        <a:latin typeface="Trebuchet MS"/>
        <a:ea typeface=""/>
        <a:cs typeface=""/>
        <a:font script="Jpan" typeface="ＭＳ ゴシック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reflection blurRad="6350" stA="52000" endA="300" endPos="35000" dir="5400000" sy="-100000" algn="bl" rotWithShape="0"/>
        </a:effectLst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61950</TotalTime>
  <Words>1840</Words>
  <Application>Microsoft Office PowerPoint</Application>
  <PresentationFormat>Affichage à l'écran (4:3)</PresentationFormat>
  <Paragraphs>580</Paragraphs>
  <Slides>31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Courier New</vt:lpstr>
      <vt:lpstr>Trebuchet MS</vt:lpstr>
      <vt:lpstr>Wingdings</vt:lpstr>
      <vt:lpstr>Thème Office</vt:lpstr>
      <vt:lpstr>A Generic template for Farmer profiling </vt:lpstr>
      <vt:lpstr>Overview</vt:lpstr>
      <vt:lpstr>SBC4D: Where ICT meets Social &amp; Economic Development</vt:lpstr>
      <vt:lpstr>Principles of Farmer Profiling</vt:lpstr>
      <vt:lpstr>Principles of Farmer Profiling (2)</vt:lpstr>
      <vt:lpstr>Services leveraging farmer profiles</vt:lpstr>
      <vt:lpstr>Farmer profiling expected impact</vt:lpstr>
      <vt:lpstr>Building blocks</vt:lpstr>
      <vt:lpstr>Standardizing profile content ?</vt:lpstr>
      <vt:lpstr>Discussion</vt:lpstr>
      <vt:lpstr>Characteristics of a generic template</vt:lpstr>
      <vt:lpstr>Key Fields and metadata</vt:lpstr>
      <vt:lpstr>Profile Categories</vt:lpstr>
      <vt:lpstr>Categories &amp; Services</vt:lpstr>
      <vt:lpstr>Discussion</vt:lpstr>
      <vt:lpstr>Profile Information</vt:lpstr>
      <vt:lpstr>Personal Information</vt:lpstr>
      <vt:lpstr>Communication Information</vt:lpstr>
      <vt:lpstr>Location</vt:lpstr>
      <vt:lpstr>Financial Instrument</vt:lpstr>
      <vt:lpstr>Credit Information</vt:lpstr>
      <vt:lpstr>Insurance Information</vt:lpstr>
      <vt:lpstr>Farm Details</vt:lpstr>
      <vt:lpstr>Qualification &amp; Certification</vt:lpstr>
      <vt:lpstr>Field Information</vt:lpstr>
      <vt:lpstr>Production Information</vt:lpstr>
      <vt:lpstr>Business Information</vt:lpstr>
      <vt:lpstr>Legal Information</vt:lpstr>
      <vt:lpstr>Discussion</vt:lpstr>
      <vt:lpstr>Références</vt:lpstr>
      <vt:lpstr>Présentation PowerPoint</vt:lpstr>
    </vt:vector>
  </TitlesOfParts>
  <Company>WITHYOU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Fabrice de Comarmond</dc:creator>
  <cp:lastModifiedBy>Stephane Boyera</cp:lastModifiedBy>
  <cp:revision>844</cp:revision>
  <cp:lastPrinted>2011-11-29T16:00:44Z</cp:lastPrinted>
  <dcterms:created xsi:type="dcterms:W3CDTF">2009-10-15T09:24:18Z</dcterms:created>
  <dcterms:modified xsi:type="dcterms:W3CDTF">2020-11-26T13:35:34Z</dcterms:modified>
</cp:coreProperties>
</file>