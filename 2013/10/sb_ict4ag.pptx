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76" r:id="rId4"/>
    <p:sldId id="280" r:id="rId5"/>
    <p:sldId id="258" r:id="rId6"/>
    <p:sldId id="278" r:id="rId7"/>
    <p:sldId id="279" r:id="rId8"/>
    <p:sldId id="277" r:id="rId9"/>
    <p:sldId id="260" r:id="rId10"/>
    <p:sldId id="282" r:id="rId11"/>
    <p:sldId id="259" r:id="rId12"/>
    <p:sldId id="263" r:id="rId13"/>
    <p:sldId id="261" r:id="rId14"/>
    <p:sldId id="286" r:id="rId15"/>
    <p:sldId id="287" r:id="rId16"/>
    <p:sldId id="288" r:id="rId17"/>
    <p:sldId id="284" r:id="rId18"/>
    <p:sldId id="285" r:id="rId19"/>
    <p:sldId id="270" r:id="rId20"/>
    <p:sldId id="272" r:id="rId21"/>
    <p:sldId id="273" r:id="rId22"/>
    <p:sldId id="274" r:id="rId23"/>
  </p:sldIdLst>
  <p:sldSz cx="9144000" cy="6858000" type="screen4x3"/>
  <p:notesSz cx="7099300" cy="102346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0D450"/>
    <a:srgbClr val="29A428"/>
    <a:srgbClr val="1F547E"/>
    <a:srgbClr val="1F497D"/>
    <a:srgbClr val="005D92"/>
    <a:srgbClr val="B7A797"/>
    <a:srgbClr val="B1BCA4"/>
    <a:srgbClr val="000000"/>
    <a:srgbClr val="7AA6EC"/>
    <a:srgbClr val="FF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6" autoAdjust="0"/>
    <p:restoredTop sz="97771" autoAdjust="0"/>
  </p:normalViewPr>
  <p:slideViewPr>
    <p:cSldViewPr snapToGrid="0">
      <p:cViewPr>
        <p:scale>
          <a:sx n="70" d="100"/>
          <a:sy n="70" d="100"/>
        </p:scale>
        <p:origin x="-1842" y="-6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08/10/2013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08/10/2013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7" tIns="49524" rIns="99047" bIns="49524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294" y="4860581"/>
            <a:ext cx="5680712" cy="4607299"/>
          </a:xfrm>
          <a:prstGeom prst="rect">
            <a:avLst/>
          </a:prstGeom>
        </p:spPr>
        <p:txBody>
          <a:bodyPr vert="horz" lIns="99047" tIns="49524" rIns="99047" bIns="49524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21</a:t>
            </a:fld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481013" y="1479550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71" y="234950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44075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 smtClean="0">
                <a:solidFill>
                  <a:schemeClr val="bg1"/>
                </a:solidFill>
              </a:rPr>
              <a:t>Copyright © 2013. SB</a:t>
            </a:r>
            <a:r>
              <a:rPr lang="en-US" sz="1100" baseline="0" dirty="0" smtClean="0">
                <a:solidFill>
                  <a:schemeClr val="bg1"/>
                </a:solidFill>
              </a:rPr>
              <a:t>C4D – http://wwww.sbc4d.com</a:t>
            </a:r>
            <a:r>
              <a:rPr lang="en-US" sz="1100" dirty="0" smtClean="0">
                <a:solidFill>
                  <a:schemeClr val="bg1"/>
                </a:solidFill>
              </a:rPr>
              <a:t>. All rights reserved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434" y="54449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F8CAA-C111-4E87-A7DA-24CC277DC31B}" type="datetimeFigureOut">
              <a:rPr lang="en-US"/>
              <a:pPr>
                <a:defRPr/>
              </a:pPr>
              <a:t>10/8/2013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40E70-A7E7-45C7-B419-A5744BEC002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26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here to modify texte styles of the mask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fr-FR" smtClean="0"/>
              <a:t>T</a:t>
            </a:r>
            <a:r>
              <a:rPr lang="en-US" smtClean="0"/>
              <a:t>hird level</a:t>
            </a:r>
          </a:p>
          <a:p>
            <a:pPr lvl="3"/>
            <a:r>
              <a:rPr lang="fr-FR" smtClean="0"/>
              <a:t>F</a:t>
            </a:r>
            <a:r>
              <a:rPr lang="en-US" smtClean="0"/>
              <a:t>orth level</a:t>
            </a:r>
          </a:p>
          <a:p>
            <a:pPr lvl="4"/>
            <a:r>
              <a:rPr lang="fr-FR" smtClean="0"/>
              <a:t>F</a:t>
            </a:r>
            <a:r>
              <a:rPr lang="en-US" smtClean="0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  <p:sldLayoutId id="2147485045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hyperlink" Target="http://www.google.nl/imgres?imgurl=http://www.carbones.eu/img/logo-eu.jpg&amp;imgrefurl=http://www.carbones.eu/&amp;usg=__k-Ksqf5IGDs-YgKR4P-gbZy1KTM=&amp;h=567&amp;w=859&amp;sz=262&amp;hl=nl&amp;start=6&amp;sig2=jQA9Jc3etRq_HcU5JsC27g&amp;zoom=1&amp;um=1&amp;itbs=1&amp;tbnid=0WNlKbN0webH2M:&amp;tbnh=96&amp;tbnw=145&amp;prev=/images?q=eu+fp7+logo&amp;um=1&amp;hl=nl&amp;sa=N&amp;rls=com.microsoft:nl:IE-SearchBox&amp;rlz=1I7GGLR_nl&amp;tbs=isch:1&amp;ei=zxNTTafeHo2XOtjN9K8H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9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gif"/><Relationship Id="rId5" Type="http://schemas.openxmlformats.org/officeDocument/2006/relationships/image" Target="../media/image27.jpeg"/><Relationship Id="rId4" Type="http://schemas.openxmlformats.org/officeDocument/2006/relationships/image" Target="../media/image26.gi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3.org/TR/2009/NOTE-mw4d-roadmap-20091208/" TargetMode="External"/><Relationship Id="rId3" Type="http://schemas.openxmlformats.org/officeDocument/2006/relationships/hyperlink" Target="http://www.sbc4d.com/product-services/demo/" TargetMode="External"/><Relationship Id="rId7" Type="http://schemas.openxmlformats.org/officeDocument/2006/relationships/hyperlink" Target="http://stephb.org/2013/03/demystifying-voice-technologies-for-development/" TargetMode="External"/><Relationship Id="rId2" Type="http://schemas.openxmlformats.org/officeDocument/2006/relationships/hyperlink" Target="http://www.sbc4d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tephb.org/2012/12/mobile-ict-small-scale-farmers/" TargetMode="External"/><Relationship Id="rId5" Type="http://schemas.openxmlformats.org/officeDocument/2006/relationships/hyperlink" Target="http://www.w4ra.org/" TargetMode="External"/><Relationship Id="rId4" Type="http://schemas.openxmlformats.org/officeDocument/2006/relationships/hyperlink" Target="http://www.mvoices.eu/" TargetMode="External"/><Relationship Id="rId9" Type="http://schemas.openxmlformats.org/officeDocument/2006/relationships/hyperlink" Target="mailto:stephane@sbc4d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</a:t>
            </a:r>
            <a:r>
              <a:rPr lang="en-US" dirty="0"/>
              <a:t>matching service for small-holder illiterate </a:t>
            </a:r>
            <a:r>
              <a:rPr lang="en-US" dirty="0" smtClean="0"/>
              <a:t>farmers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78809" y="4868317"/>
            <a:ext cx="8305800" cy="1306513"/>
          </a:xfrm>
        </p:spPr>
        <p:txBody>
          <a:bodyPr/>
          <a:lstStyle/>
          <a:p>
            <a:r>
              <a:rPr lang="en-US" sz="1600" b="1" dirty="0" err="1">
                <a:latin typeface="Trebuchet MS" pitchFamily="34" charset="0"/>
              </a:rPr>
              <a:t>Stéphane</a:t>
            </a:r>
            <a:r>
              <a:rPr lang="en-US" sz="1600" b="1" dirty="0">
                <a:latin typeface="Trebuchet MS" pitchFamily="34" charset="0"/>
              </a:rPr>
              <a:t> </a:t>
            </a:r>
            <a:r>
              <a:rPr lang="en-US" sz="1600" b="1" dirty="0" err="1">
                <a:latin typeface="Trebuchet MS" pitchFamily="34" charset="0"/>
              </a:rPr>
              <a:t>Boyera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CEO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stephane@sbc4d.com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600" b="1" dirty="0" smtClean="0">
                <a:latin typeface="Trebuchet MS" pitchFamily="34" charset="0"/>
              </a:rPr>
              <a:t>SBC4D – http://www.sbc4d.com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400" b="1" dirty="0">
                <a:latin typeface="Trebuchet MS" pitchFamily="34" charset="0"/>
              </a:rPr>
              <a:t>4</a:t>
            </a:r>
            <a:r>
              <a:rPr lang="en-US" sz="1400" b="1" dirty="0" smtClean="0">
                <a:latin typeface="Trebuchet MS" pitchFamily="34" charset="0"/>
              </a:rPr>
              <a:t> November </a:t>
            </a:r>
            <a:r>
              <a:rPr lang="en-US" sz="1400" b="1" dirty="0">
                <a:latin typeface="Trebuchet MS" pitchFamily="34" charset="0"/>
              </a:rPr>
              <a:t>2013</a:t>
            </a:r>
          </a:p>
          <a:p>
            <a:r>
              <a:rPr lang="en-US" sz="1400" b="1" dirty="0"/>
              <a:t>http</a:t>
            </a:r>
            <a:r>
              <a:rPr lang="en-US" sz="1400" b="1" dirty="0" smtClean="0"/>
              <a:t>://demo.sbc4d.com/public/2013/10/sb_ict4ag.pptx</a:t>
            </a:r>
            <a:endParaRPr lang="en-US" sz="1200" b="1" dirty="0">
              <a:latin typeface="Trebuchet MS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477673" y="1270925"/>
            <a:ext cx="5745707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Introduction	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Context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300" b="1" dirty="0" smtClean="0">
                <a:latin typeface="Trebuchet MS" pitchFamily="34" charset="0"/>
                <a:cs typeface="Arial" pitchFamily="34" charset="0"/>
              </a:rPr>
              <a:t>Objectives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300" b="1" dirty="0" smtClean="0">
                <a:latin typeface="Trebuchet MS" pitchFamily="34" charset="0"/>
                <a:cs typeface="Arial" pitchFamily="34" charset="0"/>
              </a:rPr>
              <a:t>Platform Design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Arial" pitchFamily="34" charset="0"/>
              </a:rPr>
              <a:t> Demonstration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Arial" pitchFamily="34" charset="0"/>
              </a:rPr>
              <a:t> Business Model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300" b="1" dirty="0" smtClean="0">
                <a:latin typeface="Trebuchet MS" pitchFamily="34" charset="0"/>
                <a:cs typeface="Arial" pitchFamily="34" charset="0"/>
              </a:rPr>
              <a:t>Deployment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Arial" pitchFamily="34" charset="0"/>
              </a:rPr>
              <a:t> Conclusion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300" b="1" dirty="0" smtClean="0">
                <a:latin typeface="Trebuchet MS" pitchFamily="34" charset="0"/>
                <a:cs typeface="Arial" pitchFamily="34" charset="0"/>
              </a:rPr>
              <a:t>References</a:t>
            </a:r>
            <a:endParaRPr lang="en-US" sz="2400" b="1" dirty="0" smtClean="0">
              <a:latin typeface="Trebuchet MS" pitchFamily="34" charset="0"/>
              <a:cs typeface="Arial" pitchFamily="34" charset="0"/>
            </a:endParaRPr>
          </a:p>
          <a:p>
            <a:pPr marL="742950" lvl="1" indent="-285750" eaLnBrk="0" hangingPunct="0">
              <a:spcBef>
                <a:spcPct val="20000"/>
              </a:spcBef>
              <a:buFont typeface="Courier New" pitchFamily="49" charset="0"/>
              <a:buNone/>
              <a:defRPr/>
            </a:pPr>
            <a:endParaRPr lang="en-US" b="1" dirty="0">
              <a:latin typeface="Trebuchet MS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48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0" y="1270924"/>
            <a:ext cx="6687403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SBC4D an IT company specialized in mobile &amp; web services for Social &amp; economic development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Expertise: Agriculture, Education, Governance, Media, Health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Work &amp; platform built on top of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000" b="1" dirty="0" smtClean="0">
                <a:latin typeface="Trebuchet MS" pitchFamily="34" charset="0"/>
                <a:cs typeface="Arial" pitchFamily="34" charset="0"/>
              </a:rPr>
              <a:t>Web Alliance for </a:t>
            </a:r>
            <a:r>
              <a:rPr lang="en-US" sz="2000" b="1" dirty="0" err="1" smtClean="0">
                <a:latin typeface="Trebuchet MS" pitchFamily="34" charset="0"/>
                <a:cs typeface="Arial" pitchFamily="34" charset="0"/>
              </a:rPr>
              <a:t>Regreening</a:t>
            </a:r>
            <a:r>
              <a:rPr lang="en-US" sz="2000" b="1" dirty="0" smtClean="0">
                <a:latin typeface="Trebuchet MS" pitchFamily="34" charset="0"/>
                <a:cs typeface="Arial" pitchFamily="34" charset="0"/>
              </a:rPr>
              <a:t> in Africa (W4RA )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VU University (NL), Sahel Eco (Mali) </a:t>
            </a:r>
            <a:endParaRPr lang="en-US" sz="2000" b="1" dirty="0" smtClean="0">
              <a:latin typeface="Trebuchet MS" pitchFamily="34" charset="0"/>
              <a:cs typeface="Arial" pitchFamily="34" charset="0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000" b="1" dirty="0" smtClean="0">
                <a:latin typeface="Trebuchet MS" pitchFamily="34" charset="0"/>
                <a:cs typeface="Arial" pitchFamily="34" charset="0"/>
              </a:rPr>
              <a:t>VOICES: EU-Funded FP7 project in Mali &amp; Senegal</a:t>
            </a:r>
            <a:endParaRPr lang="en-US" sz="2300" b="1" dirty="0" smtClean="0">
              <a:latin typeface="Trebuchet MS" pitchFamily="34" charset="0"/>
              <a:cs typeface="Arial" pitchFamily="34" charset="0"/>
            </a:endParaRP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000" b="1" dirty="0" smtClean="0">
                <a:latin typeface="Trebuchet MS" pitchFamily="34" charset="0"/>
                <a:cs typeface="Arial" pitchFamily="34" charset="0"/>
              </a:rPr>
              <a:t>12 partners </a:t>
            </a:r>
            <a:r>
              <a:rPr lang="en-US" sz="2000" b="1" dirty="0" err="1" smtClean="0">
                <a:latin typeface="Trebuchet MS" pitchFamily="34" charset="0"/>
                <a:cs typeface="Arial" pitchFamily="34" charset="0"/>
              </a:rPr>
              <a:t>EU+Africa</a:t>
            </a:r>
            <a:r>
              <a:rPr lang="en-US" sz="2000" b="1" dirty="0" smtClean="0">
                <a:latin typeface="Trebuchet MS" pitchFamily="34" charset="0"/>
                <a:cs typeface="Arial" pitchFamily="34" charset="0"/>
              </a:rPr>
              <a:t>: </a:t>
            </a:r>
            <a:endParaRPr lang="en-US" b="1" dirty="0" smtClean="0">
              <a:latin typeface="Trebuchet MS" pitchFamily="34" charset="0"/>
              <a:cs typeface="Arial" pitchFamily="34" charset="0"/>
            </a:endParaRP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Orange, Portugal Telecom</a:t>
            </a: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VU, TNO, CRS4, CSIR, NWU, ESMT</a:t>
            </a: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Web Foundation, W3C, Sahel Eco, </a:t>
            </a:r>
            <a:r>
              <a:rPr lang="en-US" b="1" dirty="0" err="1" smtClean="0">
                <a:latin typeface="Trebuchet MS" pitchFamily="34" charset="0"/>
                <a:cs typeface="Arial" pitchFamily="34" charset="0"/>
              </a:rPr>
              <a:t>Fondation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err="1" smtClean="0">
                <a:latin typeface="Trebuchet MS" pitchFamily="34" charset="0"/>
                <a:cs typeface="Arial" pitchFamily="34" charset="0"/>
              </a:rPr>
              <a:t>Mérieux</a:t>
            </a:r>
            <a:endParaRPr lang="en-US" b="1" dirty="0">
              <a:latin typeface="Trebuchet MS" pitchFamily="34" charset="0"/>
              <a:cs typeface="Arial" pitchFamily="34" charset="0"/>
            </a:endParaRPr>
          </a:p>
        </p:txBody>
      </p:sp>
      <p:pic>
        <p:nvPicPr>
          <p:cNvPr id="1026" name="Picture 2" descr="C:\Users\boyera\Desktop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748" y="2920319"/>
            <a:ext cx="2188548" cy="1019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89" t="23271" r="9740" b="55354"/>
          <a:stretch>
            <a:fillRect/>
          </a:stretch>
        </p:blipFill>
        <p:spPr bwMode="auto">
          <a:xfrm>
            <a:off x="6220500" y="4164249"/>
            <a:ext cx="1958888" cy="101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 descr="ANd9GcQEM2uTfDe9B8Q9X-XYCooVRTI3AVQc0nzqMfDQKZH3J8L5SmBj6WwyAIVr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925" y="5209149"/>
            <a:ext cx="678457" cy="448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 descr="FP7 log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682" y="5209149"/>
            <a:ext cx="583817" cy="47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D:\Apache2.2\htdocs\shuga\css\sbc4d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154" y="1270923"/>
            <a:ext cx="1388142" cy="130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03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2011. World Wide Web Foundation. All rights reserved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201003" y="1596788"/>
            <a:ext cx="6701051" cy="3493827"/>
          </a:xfrm>
          <a:prstGeom prst="roundRect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38232" y="2958980"/>
            <a:ext cx="45174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Context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24502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Agri</a:t>
            </a:r>
            <a:r>
              <a:rPr lang="en-US" dirty="0" smtClean="0"/>
              <a:t> Stakeholders: Actors</a:t>
            </a:r>
            <a:endParaRPr lang="en-US" dirty="0"/>
          </a:p>
        </p:txBody>
      </p:sp>
      <p:pic>
        <p:nvPicPr>
          <p:cNvPr id="2054" name="Picture 6" descr="D:\Apache2.2\htdocs\sbc4d\public\2013\10\agri_stakehold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281" y="1767924"/>
            <a:ext cx="5868538" cy="429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contenu 1"/>
          <p:cNvSpPr>
            <a:spLocks/>
          </p:cNvSpPr>
          <p:nvPr/>
        </p:nvSpPr>
        <p:spPr bwMode="auto">
          <a:xfrm>
            <a:off x="130078" y="1189036"/>
            <a:ext cx="4605696" cy="49736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Public actors (Ministry, etc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.)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Farmers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Buyers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Traders/Exporters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NGOs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Cooperatives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Extension agents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964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Agri</a:t>
            </a:r>
            <a:r>
              <a:rPr lang="en-US" dirty="0" smtClean="0"/>
              <a:t> Stakeholders: Profiles</a:t>
            </a:r>
            <a:endParaRPr lang="en-US" dirty="0"/>
          </a:p>
        </p:txBody>
      </p:sp>
      <p:pic>
        <p:nvPicPr>
          <p:cNvPr id="3074" name="Picture 2" descr="D:\Apache2.2\htdocs\sbc4d\public\2013\10\pyrami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802" y="1514721"/>
            <a:ext cx="5659129" cy="478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109182" y="1095361"/>
            <a:ext cx="5609229" cy="49736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N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eeds for Information exchanges are high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ICT has a huge role to play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Very different profiles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Language &amp; literacy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Access to ICT equipment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Exposure to technology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Disposable income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1032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2011. World Wide Web Foundation. All rights reserved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201003" y="1596788"/>
            <a:ext cx="6701051" cy="3493827"/>
          </a:xfrm>
          <a:prstGeom prst="roundRect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92823" y="2958980"/>
            <a:ext cx="45174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Platform Design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24502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0" y="1204366"/>
            <a:ext cx="6466000" cy="402272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Provide the best accessible interface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To each group individually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not the lowest common denominator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Without intermediaries due to: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Costs challenge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Motivation challenge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Rely on what is existing in the field already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For sustainability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For scalability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9" name="Picture 2" descr="C:\Users\boyera\Desktop\IMG_62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167" y="1189036"/>
            <a:ext cx="2859338" cy="21443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00" y="3821409"/>
            <a:ext cx="1817450" cy="24242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798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Platform Design</a:t>
            </a:r>
            <a:endParaRPr lang="en-US" dirty="0"/>
          </a:p>
        </p:txBody>
      </p:sp>
      <p:pic>
        <p:nvPicPr>
          <p:cNvPr id="5122" name="Picture 2" descr="D:\Apache2.2\htdocs\sbc4d\public\2013\10\desig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301" y="1699712"/>
            <a:ext cx="5227153" cy="473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-1" y="1012456"/>
            <a:ext cx="4858603" cy="256409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 multi-channel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approach to fit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M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ultiple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contexts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V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arieties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of actors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639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Core </a:t>
            </a:r>
            <a:r>
              <a:rPr lang="en-US" dirty="0" smtClean="0"/>
              <a:t>Challenges &amp; Innovation 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0" y="1204366"/>
            <a:ext cx="5946180" cy="402272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Illiteracy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Technology Solution: IVR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Audio Interface Design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Make the simplest possible interface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Enrich interactions with metadata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Community Radio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Generation of broadcast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Transfer of broadcasts to radio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Web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IVR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10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00" y="3821409"/>
            <a:ext cx="1817450" cy="24242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888" y="4149661"/>
            <a:ext cx="2474447" cy="193359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D:\perso\nb_photos\burkina_201002\kaya-dori-kongoussi\IMG_6632.jp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46180" y="1092660"/>
            <a:ext cx="3016155" cy="226198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766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M</a:t>
            </a:r>
            <a:r>
              <a:rPr lang="en-US" dirty="0" smtClean="0"/>
              <a:t>odular Approach</a:t>
            </a:r>
            <a:endParaRPr lang="en-US" dirty="0"/>
          </a:p>
        </p:txBody>
      </p:sp>
      <p:pic>
        <p:nvPicPr>
          <p:cNvPr id="6146" name="Picture 2" descr="D:\Apache2.2\htdocs\sbc4d\public\2013\10\servic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685" y="1124645"/>
            <a:ext cx="5349923" cy="528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54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2011. World Wide Web Foundation. All rights reserved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201003" y="1596788"/>
            <a:ext cx="6701051" cy="3493827"/>
          </a:xfrm>
          <a:prstGeom prst="roundRect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92823" y="2958980"/>
            <a:ext cx="45174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DEMO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03708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130077" y="1189036"/>
            <a:ext cx="6289675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Soko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Hewani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in Kenya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Business Matching service 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IVR + Web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Mobile Money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Etc.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Radio Marché in Mali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10" name="Picture 2" descr="C:\Users\boyera\Desktop\radiomarch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323" y="4077292"/>
            <a:ext cx="2085378" cy="208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D:\Apache2.2\htdocs\kace\css\kac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032" y="1416619"/>
            <a:ext cx="1920448" cy="73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D:\Apache2.2\htdocs\kace\css\itc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032" y="2392382"/>
            <a:ext cx="1993473" cy="831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89" t="23271" r="9740" b="55354"/>
          <a:stretch>
            <a:fillRect/>
          </a:stretch>
        </p:blipFill>
        <p:spPr bwMode="auto">
          <a:xfrm>
            <a:off x="5395404" y="4177896"/>
            <a:ext cx="2616728" cy="135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383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Demonstration: </a:t>
            </a:r>
            <a:r>
              <a:rPr lang="en-US" dirty="0" err="1" smtClean="0"/>
              <a:t>Soko</a:t>
            </a:r>
            <a:r>
              <a:rPr lang="en-US" dirty="0" smtClean="0"/>
              <a:t> </a:t>
            </a:r>
            <a:r>
              <a:rPr lang="en-US" dirty="0" err="1" smtClean="0"/>
              <a:t>Hewani</a:t>
            </a:r>
            <a:endParaRPr lang="en-US" dirty="0"/>
          </a:p>
        </p:txBody>
      </p:sp>
      <p:pic>
        <p:nvPicPr>
          <p:cNvPr id="7170" name="Picture 2" descr="D:\Apache2.2\htdocs\kace\css\kac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584" y="5680650"/>
            <a:ext cx="1920448" cy="73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D:\Apache2.2\htdocs\kace\css\itc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154" y="5588569"/>
            <a:ext cx="1993473" cy="831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:\Apache2.2\htdocs\shuga\general_app_flo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69" y="1157311"/>
            <a:ext cx="7059613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22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Demonstration: </a:t>
            </a:r>
            <a:r>
              <a:rPr lang="en-US" dirty="0" err="1" smtClean="0"/>
              <a:t>Soko</a:t>
            </a:r>
            <a:r>
              <a:rPr lang="en-US" dirty="0" smtClean="0"/>
              <a:t> </a:t>
            </a:r>
            <a:r>
              <a:rPr lang="en-US" dirty="0" err="1" smtClean="0"/>
              <a:t>Hewani</a:t>
            </a:r>
            <a:endParaRPr lang="en-US" dirty="0"/>
          </a:p>
        </p:txBody>
      </p:sp>
      <p:pic>
        <p:nvPicPr>
          <p:cNvPr id="7170" name="Picture 2" descr="D:\Apache2.2\htdocs\kace\css\kac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584" y="5680650"/>
            <a:ext cx="1920448" cy="73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D:\Apache2.2\htdocs\kace\css\itc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154" y="5588569"/>
            <a:ext cx="1993473" cy="831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:\Apache2.2\htdocs\shuga\voice_app_flo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77" y="1454150"/>
            <a:ext cx="8831262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345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Demonstration: </a:t>
            </a:r>
            <a:r>
              <a:rPr lang="en-US" dirty="0" err="1" smtClean="0"/>
              <a:t>Soko</a:t>
            </a:r>
            <a:r>
              <a:rPr lang="en-US" dirty="0" smtClean="0"/>
              <a:t> </a:t>
            </a:r>
            <a:r>
              <a:rPr lang="en-US" dirty="0" err="1" smtClean="0"/>
              <a:t>Hewani</a:t>
            </a:r>
            <a:endParaRPr lang="en-US" dirty="0"/>
          </a:p>
        </p:txBody>
      </p:sp>
      <p:pic>
        <p:nvPicPr>
          <p:cNvPr id="3074" name="Picture 2" descr="D:\Apache2.2\htdocs\kace\public\en\call_flow_first_free_usergui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21" y="1120774"/>
            <a:ext cx="7850827" cy="5302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07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5816194" cy="812800"/>
          </a:xfrm>
        </p:spPr>
        <p:txBody>
          <a:bodyPr/>
          <a:lstStyle/>
          <a:p>
            <a:r>
              <a:rPr lang="en-US" dirty="0" smtClean="0"/>
              <a:t>Business Models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0" y="1067887"/>
            <a:ext cx="7212419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Challenge: Collection money/payments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Solutions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Premium rate numbers: not working</a:t>
            </a: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Hard to discuss and setup with operators</a:t>
            </a: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Expensive for users</a:t>
            </a: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Low revenue for service providers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Subscription Model: more sustainable</a:t>
            </a: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Cash</a:t>
            </a: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Mobile Money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sp>
        <p:nvSpPr>
          <p:cNvPr id="7" name="Arrondir un rectangle à un seul coin 15"/>
          <p:cNvSpPr/>
          <p:nvPr/>
        </p:nvSpPr>
        <p:spPr>
          <a:xfrm rot="188771" flipH="1">
            <a:off x="6147112" y="4100960"/>
            <a:ext cx="2788872" cy="2205208"/>
          </a:xfrm>
          <a:prstGeom prst="round1Rect">
            <a:avLst/>
          </a:prstGeom>
          <a:blipFill rotWithShape="1">
            <a:blip r:embed="rId2" cstate="print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91110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-142878" y="945058"/>
            <a:ext cx="7212419" cy="49736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Objective: 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Scalability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Separating application development from hosting/deployment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Challenge: local IVR solution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Solutions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Development using standards (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VoiceXML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)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Basic:  &lt;50-100 users: cheap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simbank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Medium: &lt;5000-10000 users: Private hosting with E1 line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Professional grade: Operator hosted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Web Alliance for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Regreening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in Africa (W4RA)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Tools for small-holder farmers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Tools for community radio stations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VOICES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EU-Funded research project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Voice technology toolbox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5816194" cy="812800"/>
          </a:xfrm>
        </p:spPr>
        <p:txBody>
          <a:bodyPr/>
          <a:lstStyle/>
          <a:p>
            <a:r>
              <a:rPr lang="en-US" dirty="0" smtClean="0"/>
              <a:t>Deployments</a:t>
            </a:r>
            <a:endParaRPr lang="en-US" dirty="0"/>
          </a:p>
        </p:txBody>
      </p:sp>
      <p:sp>
        <p:nvSpPr>
          <p:cNvPr id="8" name="Rectangle à coins arrondis 9"/>
          <p:cNvSpPr/>
          <p:nvPr/>
        </p:nvSpPr>
        <p:spPr>
          <a:xfrm>
            <a:off x="7069541" y="4195252"/>
            <a:ext cx="1973568" cy="2157418"/>
          </a:xfrm>
          <a:prstGeom prst="roundRect">
            <a:avLst/>
          </a:prstGeom>
          <a:blipFill rotWithShape="1">
            <a:blip r:embed="rId2" cstate="print"/>
            <a:stretch>
              <a:fillRect/>
            </a:stretch>
          </a:blipFill>
          <a:ln w="25400" cap="flat" cmpd="sng" algn="ctr">
            <a:solidFill>
              <a:srgbClr val="A3C3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stA="50000" endPos="25000" dist="127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236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077" y="0"/>
            <a:ext cx="7223029" cy="812800"/>
          </a:xfrm>
        </p:spPr>
        <p:txBody>
          <a:bodyPr/>
          <a:lstStyle/>
          <a:p>
            <a:r>
              <a:rPr lang="en-GB" sz="2800" dirty="0" smtClean="0"/>
              <a:t>Current deployments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0" y="1067857"/>
            <a:ext cx="6925785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Kenya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: Kenya Agricultural Commodities Exchange supported by ITC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Soko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Hewani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: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IVR+Web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business matching tool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Fiji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: Fiji Crop &amp; Livestock Council supported by ITC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Agritips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: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USSD+SMS+Web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extension service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Mali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: Sahel Eco supported by W4RA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Radio </a:t>
            </a: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M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arché: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IVR+Radio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Business matching tool 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Tabale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: IVR Meeting Organizer &amp; alert system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11" name="Picture 2" descr="C:\Users\boyera\Desktop\radiomarch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531" y="5332192"/>
            <a:ext cx="1196538" cy="1196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:\Users\boyera\Desktop\logo_taba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398" y="5493532"/>
            <a:ext cx="1027297" cy="103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C:\Users\boyera\Desktop\fiji-flag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419" y="2729910"/>
            <a:ext cx="1535179" cy="1043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C:\Users\boyera\Desktop\images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419" y="1173707"/>
            <a:ext cx="1535179" cy="1021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C:\Users\boyera\Desktop\mali-flag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418" y="4079634"/>
            <a:ext cx="1535179" cy="104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94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2011. World Wide Web Foundation. All rights reserved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201003" y="1596788"/>
            <a:ext cx="6701051" cy="3493827"/>
          </a:xfrm>
          <a:prstGeom prst="roundRect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38234" y="2710231"/>
            <a:ext cx="45174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Conclusion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27045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354842"/>
            <a:ext cx="5884886" cy="382138"/>
          </a:xfrm>
        </p:spPr>
        <p:txBody>
          <a:bodyPr/>
          <a:lstStyle/>
          <a:p>
            <a:pPr>
              <a:defRPr/>
            </a:pPr>
            <a:r>
              <a:rPr lang="fr-FR" dirty="0" smtClean="0"/>
              <a:t>Conclusion</a:t>
            </a: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/>
            </a:r>
            <a:br>
              <a:rPr lang="en-US" sz="2800" dirty="0">
                <a:latin typeface="Trebuchet MS" pitchFamily="34" charset="0"/>
                <a:cs typeface="ＭＳ Ｐゴシック" pitchFamily="34" charset="-128"/>
              </a:rPr>
            </a:br>
            <a:endParaRPr lang="en-US" dirty="0" smtClean="0"/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98315" y="1095185"/>
            <a:ext cx="8536251" cy="49736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Our platform is not a product but a toolbox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Needs deep local context analysis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Selection of services &amp; channels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Customization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Training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It can fit with a lot of contexts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Still recent, just out of the research phase, needs validation (sustainability)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Word of cautious: </a:t>
            </a:r>
            <a:r>
              <a:rPr lang="en-US" sz="2400" b="1" dirty="0" smtClean="0">
                <a:latin typeface="Trebuchet MS" pitchFamily="34" charset="0"/>
                <a:cs typeface="ＭＳ Ｐゴシック" pitchFamily="34" charset="-128"/>
              </a:rPr>
              <a:t>ICT is a just a tool not a solution</a:t>
            </a:r>
            <a:endParaRPr lang="en-US" sz="2300" b="1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Specific products &amp; value chains in specific geographies have specific challenges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Agriculture &amp; farmers knowledge are essential, not techies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Local IT capacities are critical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90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27653" name="TextBox 4"/>
          <p:cNvSpPr txBox="1">
            <a:spLocks noChangeArrowheads="1"/>
          </p:cNvSpPr>
          <p:nvPr/>
        </p:nvSpPr>
        <p:spPr bwMode="auto">
          <a:xfrm>
            <a:off x="620713" y="1577975"/>
            <a:ext cx="655320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2"/>
              </a:rPr>
              <a:t>http://www.sbc4d.com</a:t>
            </a:r>
            <a:endParaRPr lang="en-US" u="sng" dirty="0" smtClean="0"/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fr-FR" dirty="0">
                <a:hlinkClick r:id="rId3"/>
              </a:rPr>
              <a:t>http://www.sbc4d.com/product-services/demo/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4"/>
              </a:rPr>
              <a:t>http://www.mvoices.eu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5"/>
              </a:rPr>
              <a:t>http://www.w4ra.org/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fr-FR" dirty="0" err="1" smtClean="0">
                <a:hlinkClick r:id="rId6"/>
              </a:rPr>
              <a:t>My</a:t>
            </a:r>
            <a:r>
              <a:rPr lang="fr-FR" dirty="0" smtClean="0">
                <a:hlinkClick r:id="rId6"/>
              </a:rPr>
              <a:t> blog: http://www.stephb.org</a:t>
            </a:r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fr-FR" dirty="0" smtClean="0">
                <a:hlinkClick r:id="rId6"/>
              </a:rPr>
              <a:t>http</a:t>
            </a:r>
            <a:r>
              <a:rPr lang="fr-FR" dirty="0">
                <a:hlinkClick r:id="rId6"/>
              </a:rPr>
              <a:t>://stephb.org/2012/12/mobile-ict-small-scale-farmers</a:t>
            </a:r>
            <a:r>
              <a:rPr lang="fr-FR" dirty="0" smtClean="0">
                <a:hlinkClick r:id="rId6"/>
              </a:rPr>
              <a:t>/</a:t>
            </a:r>
            <a:endParaRPr lang="fr-FR" dirty="0" smtClean="0"/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fr-FR" dirty="0">
                <a:hlinkClick r:id="rId7"/>
              </a:rPr>
              <a:t>http://stephb.org/2013/03/demystifying-voice-technologies-for-development/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8"/>
              </a:rPr>
              <a:t>http://www.w3.org/TR/2009/NOTE-mw4d-roadmap-20091208/</a:t>
            </a:r>
            <a:endParaRPr lang="en-US" dirty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/>
              <a:t>Contact:</a:t>
            </a:r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err="1" smtClean="0"/>
              <a:t>Stephane</a:t>
            </a:r>
            <a:r>
              <a:rPr lang="en-US" u="sng" dirty="0" smtClean="0"/>
              <a:t> </a:t>
            </a:r>
            <a:r>
              <a:rPr lang="en-US" u="sng" dirty="0" err="1" smtClean="0"/>
              <a:t>Boyera</a:t>
            </a:r>
            <a:endParaRPr lang="en-US" u="sng" dirty="0" smtClean="0"/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9"/>
              </a:rPr>
              <a:t>stephane@sbc4d.com</a:t>
            </a:r>
            <a:endParaRPr lang="en-US" u="sng" dirty="0" smtClean="0"/>
          </a:p>
          <a:p>
            <a:pPr lvl="1"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/>
              <a:t>@stephb4d</a:t>
            </a:r>
          </a:p>
        </p:txBody>
      </p:sp>
    </p:spTree>
    <p:extLst>
      <p:ext uri="{BB962C8B-B14F-4D97-AF65-F5344CB8AC3E}">
        <p14:creationId xmlns:p14="http://schemas.microsoft.com/office/powerpoint/2010/main" val="389275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48912</TotalTime>
  <Words>715</Words>
  <Application>Microsoft Office PowerPoint</Application>
  <PresentationFormat>Affichage à l'écran (4:3)</PresentationFormat>
  <Paragraphs>157</Paragraphs>
  <Slides>22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Thème Office</vt:lpstr>
      <vt:lpstr>Business matching service for small-holder illiterate farmers</vt:lpstr>
      <vt:lpstr>Overview</vt:lpstr>
      <vt:lpstr>Introduction</vt:lpstr>
      <vt:lpstr>Présentation PowerPoint</vt:lpstr>
      <vt:lpstr>Agri Stakeholders: Actors</vt:lpstr>
      <vt:lpstr>Agri Stakeholders: Profiles</vt:lpstr>
      <vt:lpstr>Présentation PowerPoint</vt:lpstr>
      <vt:lpstr>Objectives </vt:lpstr>
      <vt:lpstr>Platform Design</vt:lpstr>
      <vt:lpstr>Core Challenges &amp; Innovation </vt:lpstr>
      <vt:lpstr>A Modular Approach</vt:lpstr>
      <vt:lpstr>Présentation PowerPoint</vt:lpstr>
      <vt:lpstr>Demonstration</vt:lpstr>
      <vt:lpstr>Demonstration: Soko Hewani</vt:lpstr>
      <vt:lpstr>Demonstration: Soko Hewani</vt:lpstr>
      <vt:lpstr>Demonstration: Soko Hewani</vt:lpstr>
      <vt:lpstr>Business Models</vt:lpstr>
      <vt:lpstr>Deployments</vt:lpstr>
      <vt:lpstr>Current deployments</vt:lpstr>
      <vt:lpstr>Présentation PowerPoint</vt:lpstr>
      <vt:lpstr>Conclusion </vt:lpstr>
      <vt:lpstr>References</vt:lpstr>
    </vt:vector>
  </TitlesOfParts>
  <Company>WITHYOU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boyera</cp:lastModifiedBy>
  <cp:revision>712</cp:revision>
  <cp:lastPrinted>2011-11-29T16:00:44Z</cp:lastPrinted>
  <dcterms:created xsi:type="dcterms:W3CDTF">2009-10-15T09:24:18Z</dcterms:created>
  <dcterms:modified xsi:type="dcterms:W3CDTF">2013-10-08T08:11:58Z</dcterms:modified>
</cp:coreProperties>
</file>