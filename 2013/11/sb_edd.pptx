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5046" r:id="rId2"/>
  </p:sldMasterIdLst>
  <p:notesMasterIdLst>
    <p:notesMasterId r:id="rId17"/>
  </p:notesMasterIdLst>
  <p:handoutMasterIdLst>
    <p:handoutMasterId r:id="rId18"/>
  </p:handoutMasterIdLst>
  <p:sldIdLst>
    <p:sldId id="301" r:id="rId3"/>
    <p:sldId id="256" r:id="rId4"/>
    <p:sldId id="289" r:id="rId5"/>
    <p:sldId id="291" r:id="rId6"/>
    <p:sldId id="292" r:id="rId7"/>
    <p:sldId id="295" r:id="rId8"/>
    <p:sldId id="294" r:id="rId9"/>
    <p:sldId id="296" r:id="rId10"/>
    <p:sldId id="297" r:id="rId11"/>
    <p:sldId id="298" r:id="rId12"/>
    <p:sldId id="299" r:id="rId13"/>
    <p:sldId id="280" r:id="rId14"/>
    <p:sldId id="300" r:id="rId15"/>
    <p:sldId id="274" r:id="rId16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0D450"/>
    <a:srgbClr val="29A428"/>
    <a:srgbClr val="1F547E"/>
    <a:srgbClr val="1F497D"/>
    <a:srgbClr val="005D92"/>
    <a:srgbClr val="B7A797"/>
    <a:srgbClr val="B1BCA4"/>
    <a:srgbClr val="000000"/>
    <a:srgbClr val="7AA6EC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73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20/11/2013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20/11/2013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AB6CF5-2C05-4678-85DE-4AC3C23D5C34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2013.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Image 7" descr="logo_EDD1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246" y="123696"/>
            <a:ext cx="2389188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11/20/2013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3005667"/>
            <a:ext cx="9144000" cy="3852333"/>
          </a:xfrm>
          <a:prstGeom prst="rect">
            <a:avLst/>
          </a:prstGeom>
          <a:solidFill>
            <a:srgbClr val="00A3B4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  <a:latin typeface="Calibri"/>
              <a:ea typeface="+mn-ea"/>
            </a:endParaRPr>
          </a:p>
        </p:txBody>
      </p:sp>
      <p:pic>
        <p:nvPicPr>
          <p:cNvPr id="5" name="Image 7" descr="logo_EDD1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25" y="328084"/>
            <a:ext cx="2389188" cy="641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58938" y="5254173"/>
            <a:ext cx="6799262" cy="125548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Museo 300"/>
                <a:cs typeface="Museo 30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Cliquez pour modifier le style des sous-titres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58938" y="3004459"/>
            <a:ext cx="6799262" cy="2249713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useo"/>
                <a:cs typeface="Museo"/>
              </a:defRPr>
            </a:lvl1pPr>
          </a:lstStyle>
          <a:p>
            <a:r>
              <a:rPr lang="fr-FR" dirty="0" smtClean="0"/>
              <a:t>Cliquez et modifiez le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114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49300"/>
          </a:xfrm>
        </p:spPr>
        <p:txBody>
          <a:bodyPr/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2E5573-7049-495A-9C7B-653F68F434D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2777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7D79120-0CBA-4892-BD91-62B3449C69F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3276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23AC99-56FD-4DB2-B257-A10EF4A3D5F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7739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257A8-C987-4CAA-9857-914C8DE65AE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0068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25ADD0-8A98-452E-BA2A-30C7B680D44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8989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52142A-21C3-4B5C-82E7-BA380E721C8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7787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5B951-8480-4EF3-ADD1-E6894E08D68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28352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35C0D-9679-41CE-AC15-6ACD4D6827B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0446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850D2-6F89-4F14-97A5-0F8FE8C9E66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1790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La session à ajouter en-pied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17D0A-7E80-4B4C-A47E-65677EC1AFF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2409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709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et modifiez le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348317"/>
            <a:ext cx="8229600" cy="458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254626" y="6242051"/>
            <a:ext cx="2913063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fr-FR" altLang="fr-FR" smtClean="0">
                <a:ea typeface="MS PGothic" pitchFamily="34" charset="-128"/>
              </a:rPr>
              <a:t>La session à ajouter en-pied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02626" y="6242051"/>
            <a:ext cx="449263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5752510-C268-44DF-942A-CFEE3AA9C97E}" type="slidenum">
              <a:rPr lang="fr-FR" altLang="fr-FR" smtClean="0">
                <a:ea typeface="MS PGothic" pitchFamily="34" charset="-128"/>
              </a:rPr>
              <a:pPr/>
              <a:t>‹N°›</a:t>
            </a:fld>
            <a:endParaRPr lang="fr-FR" altLang="fr-FR" smtClean="0">
              <a:ea typeface="MS PGothic" pitchFamily="34" charset="-128"/>
            </a:endParaRPr>
          </a:p>
        </p:txBody>
      </p:sp>
      <p:pic>
        <p:nvPicPr>
          <p:cNvPr id="1030" name="Image 7" descr="logo_EDD13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6244167"/>
            <a:ext cx="1643063" cy="44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Connecteur droit 9"/>
          <p:cNvCxnSpPr/>
          <p:nvPr userDrawn="1"/>
        </p:nvCxnSpPr>
        <p:spPr>
          <a:xfrm flipV="1">
            <a:off x="8302625" y="6242051"/>
            <a:ext cx="0" cy="366183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7" r:id="rId1"/>
    <p:sldLayoutId id="2147485048" r:id="rId2"/>
    <p:sldLayoutId id="2147485049" r:id="rId3"/>
    <p:sldLayoutId id="2147485050" r:id="rId4"/>
    <p:sldLayoutId id="2147485051" r:id="rId5"/>
    <p:sldLayoutId id="2147485052" r:id="rId6"/>
    <p:sldLayoutId id="2147485053" r:id="rId7"/>
    <p:sldLayoutId id="2147485054" r:id="rId8"/>
    <p:sldLayoutId id="2147485055" r:id="rId9"/>
    <p:sldLayoutId id="2147485056" r:id="rId10"/>
    <p:sldLayoutId id="2147485057" r:id="rId11"/>
  </p:sldLayoutIdLst>
  <p:hf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kern="1200">
          <a:solidFill>
            <a:srgbClr val="262626"/>
          </a:solidFill>
          <a:latin typeface="Museo 500"/>
          <a:ea typeface="MS PGothic" pitchFamily="34" charset="-128"/>
          <a:cs typeface="Museo 50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262626"/>
          </a:solidFill>
          <a:latin typeface="Museo 500" charset="0"/>
          <a:ea typeface="MS PGothic" pitchFamily="34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262626"/>
          </a:solidFill>
          <a:latin typeface="Museo 500" charset="0"/>
          <a:ea typeface="MS PGothic" pitchFamily="34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262626"/>
          </a:solidFill>
          <a:latin typeface="Museo 500" charset="0"/>
          <a:ea typeface="MS PGothic" pitchFamily="34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262626"/>
          </a:solidFill>
          <a:latin typeface="Museo 500" charset="0"/>
          <a:ea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200" kern="1200">
          <a:solidFill>
            <a:srgbClr val="404040"/>
          </a:solidFill>
          <a:latin typeface="Museo 500"/>
          <a:ea typeface="MS PGothic" pitchFamily="34" charset="-128"/>
          <a:cs typeface="Museo 50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404040"/>
          </a:solidFill>
          <a:latin typeface="Museo 500"/>
          <a:ea typeface="MS PGothic" pitchFamily="34" charset="-128"/>
          <a:cs typeface="Museo 50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ern="1200">
          <a:solidFill>
            <a:srgbClr val="404040"/>
          </a:solidFill>
          <a:latin typeface="Museo 500"/>
          <a:ea typeface="MS PGothic" pitchFamily="34" charset="-128"/>
          <a:cs typeface="Museo 50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00" kern="1200">
          <a:solidFill>
            <a:srgbClr val="404040"/>
          </a:solidFill>
          <a:latin typeface="Museo 500"/>
          <a:ea typeface="MS PGothic" pitchFamily="34" charset="-128"/>
          <a:cs typeface="Museo 50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rgbClr val="404040"/>
          </a:solidFill>
          <a:latin typeface="Museo 500"/>
          <a:ea typeface="MS PGothic" pitchFamily="34" charset="-128"/>
          <a:cs typeface="Museo 50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hyperlink" Target="http://www.google.nl/imgres?imgurl=http://www.carbones.eu/img/logo-eu.jpg&amp;imgrefurl=http://www.carbones.eu/&amp;usg=__k-Ksqf5IGDs-YgKR4P-gbZy1KTM=&amp;h=567&amp;w=859&amp;sz=262&amp;hl=nl&amp;start=6&amp;sig2=jQA9Jc3etRq_HcU5JsC27g&amp;zoom=1&amp;um=1&amp;itbs=1&amp;tbnid=0WNlKbN0webH2M:&amp;tbnh=96&amp;tbnw=145&amp;prev=/images?q=eu+fp7+logo&amp;um=1&amp;hl=nl&amp;sa=N&amp;rls=com.microsoft:nl:IE-SearchBox&amp;rlz=1I7GGLR_nl&amp;tbs=isch:1&amp;ei=zxNTTafeHo2XOtjN9K8H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jpe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bc4d.com/product-services/demo/" TargetMode="External"/><Relationship Id="rId2" Type="http://schemas.openxmlformats.org/officeDocument/2006/relationships/hyperlink" Target="http://www.sbc4d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tephane@sbc4d.com" TargetMode="External"/><Relationship Id="rId5" Type="http://schemas.openxmlformats.org/officeDocument/2006/relationships/hyperlink" Target="http://www.w4ra.org/" TargetMode="External"/><Relationship Id="rId4" Type="http://schemas.openxmlformats.org/officeDocument/2006/relationships/hyperlink" Target="http://www.mvoices.e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73316" y="3056466"/>
            <a:ext cx="6084887" cy="191346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600" dirty="0" smtClean="0">
                <a:solidFill>
                  <a:srgbClr val="FF0000"/>
                </a:solidFill>
                <a:ea typeface="ＭＳ Ｐゴシック" charset="0"/>
              </a:rPr>
              <a:t>Web of </a:t>
            </a:r>
            <a:r>
              <a:rPr lang="fr-FR" sz="3600" dirty="0" err="1" smtClean="0">
                <a:solidFill>
                  <a:srgbClr val="FF0000"/>
                </a:solidFill>
                <a:ea typeface="ＭＳ Ｐゴシック" charset="0"/>
              </a:rPr>
              <a:t>Voices</a:t>
            </a:r>
            <a:endParaRPr lang="fr-FR" sz="3600" dirty="0" smtClean="0">
              <a:solidFill>
                <a:srgbClr val="FF0000"/>
              </a:solidFill>
              <a:ea typeface="+mj-ea"/>
            </a:endParaRPr>
          </a:p>
        </p:txBody>
      </p:sp>
      <p:sp>
        <p:nvSpPr>
          <p:cNvPr id="15362" name="Sous-titre 2"/>
          <p:cNvSpPr>
            <a:spLocks noGrp="1"/>
          </p:cNvSpPr>
          <p:nvPr>
            <p:ph type="subTitle" idx="1"/>
          </p:nvPr>
        </p:nvSpPr>
        <p:spPr>
          <a:xfrm>
            <a:off x="2373316" y="4830236"/>
            <a:ext cx="5399087" cy="1680633"/>
          </a:xfrm>
        </p:spPr>
        <p:txBody>
          <a:bodyPr/>
          <a:lstStyle/>
          <a:p>
            <a:pPr eaLnBrk="1" hangingPunct="1"/>
            <a:r>
              <a:rPr lang="fr-FR" altLang="fr-FR" dirty="0" err="1" smtClean="0">
                <a:solidFill>
                  <a:srgbClr val="FF0000"/>
                </a:solidFill>
                <a:latin typeface="Museo 300" pitchFamily="-84" charset="0"/>
              </a:rPr>
              <a:t>Lab</a:t>
            </a:r>
            <a:r>
              <a:rPr lang="fr-FR" altLang="fr-FR" dirty="0" smtClean="0">
                <a:solidFill>
                  <a:srgbClr val="FF0000"/>
                </a:solidFill>
                <a:latin typeface="Museo 300" pitchFamily="-84" charset="0"/>
              </a:rPr>
              <a:t> 5 – ICT for Social &amp; </a:t>
            </a:r>
            <a:r>
              <a:rPr lang="fr-FR" altLang="fr-FR" dirty="0" err="1" smtClean="0">
                <a:solidFill>
                  <a:srgbClr val="FF0000"/>
                </a:solidFill>
                <a:latin typeface="Museo 300" pitchFamily="-84" charset="0"/>
              </a:rPr>
              <a:t>Economic</a:t>
            </a:r>
            <a:r>
              <a:rPr lang="fr-FR" altLang="fr-FR" dirty="0" smtClean="0">
                <a:solidFill>
                  <a:srgbClr val="FF0000"/>
                </a:solidFill>
                <a:latin typeface="Museo 300" pitchFamily="-84" charset="0"/>
              </a:rPr>
              <a:t> </a:t>
            </a:r>
            <a:r>
              <a:rPr lang="fr-FR" altLang="fr-FR" dirty="0" err="1" smtClean="0">
                <a:solidFill>
                  <a:srgbClr val="FF0000"/>
                </a:solidFill>
                <a:latin typeface="Museo 300" pitchFamily="-84" charset="0"/>
              </a:rPr>
              <a:t>Development</a:t>
            </a:r>
            <a:endParaRPr lang="fr-FR" altLang="fr-FR" dirty="0" smtClean="0">
              <a:solidFill>
                <a:srgbClr val="FF0000"/>
              </a:solidFill>
              <a:latin typeface="Museo 300" pitchFamily="-84" charset="0"/>
            </a:endParaRPr>
          </a:p>
        </p:txBody>
      </p:sp>
      <p:sp>
        <p:nvSpPr>
          <p:cNvPr id="15363" name="ZoneTexte 3"/>
          <p:cNvSpPr txBox="1">
            <a:spLocks noChangeArrowheads="1"/>
          </p:cNvSpPr>
          <p:nvPr/>
        </p:nvSpPr>
        <p:spPr bwMode="auto">
          <a:xfrm>
            <a:off x="565153" y="2040467"/>
            <a:ext cx="41878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fr-FR" altLang="fr-FR" sz="2800" dirty="0" smtClean="0">
                <a:solidFill>
                  <a:srgbClr val="FF0000"/>
                </a:solidFill>
                <a:latin typeface="Museo 500" pitchFamily="-84" charset="0"/>
              </a:rPr>
              <a:t>14:45-16:15</a:t>
            </a:r>
            <a:endParaRPr lang="fr-FR" altLang="fr-FR" sz="2800" dirty="0" smtClean="0">
              <a:solidFill>
                <a:srgbClr val="FF0000"/>
              </a:solidFill>
              <a:latin typeface="Museo 500" pitchFamily="-84" charset="0"/>
            </a:endParaRPr>
          </a:p>
        </p:txBody>
      </p:sp>
      <p:pic>
        <p:nvPicPr>
          <p:cNvPr id="15365" name="Image 4" descr="themes_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3" y="3310468"/>
            <a:ext cx="1833563" cy="248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C:\Users\boyera\Desktop\WF\Work\visio icon\sbc4d2 - Cop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490" y="1418167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7439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ICT &amp; Social &amp; Economic Development ?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 smtClean="0">
                <a:latin typeface="Trebuchet MS" pitchFamily="34" charset="0"/>
              </a:rPr>
              <a:t>26 November </a:t>
            </a:r>
            <a:r>
              <a:rPr lang="en-US" sz="1400" b="1" dirty="0">
                <a:latin typeface="Trebuchet MS" pitchFamily="34" charset="0"/>
              </a:rPr>
              <a:t>2013</a:t>
            </a:r>
          </a:p>
          <a:p>
            <a:r>
              <a:rPr lang="en-US" sz="1400" b="1" dirty="0"/>
              <a:t>http</a:t>
            </a:r>
            <a:r>
              <a:rPr lang="en-US" sz="1400" b="1" dirty="0" smtClean="0"/>
              <a:t>://demo.sbc4d.com/public/2013/10/sb_edd.pptx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  <p:pic>
        <p:nvPicPr>
          <p:cNvPr id="4" name="Image 7" descr="logo_EDD1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712" y="4899949"/>
            <a:ext cx="2389188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smtClean="0"/>
              <a:t>Overview</a:t>
            </a:r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3</a:t>
            </a:fld>
            <a:endParaRPr lang="en-US" sz="900" smtClean="0">
              <a:solidFill>
                <a:schemeClr val="bg1"/>
              </a:solidFill>
            </a:endParaRPr>
          </a:p>
        </p:txBody>
      </p:sp>
      <p:sp>
        <p:nvSpPr>
          <p:cNvPr id="19459" name="Espace réservé du contenu 1"/>
          <p:cNvSpPr>
            <a:spLocks/>
          </p:cNvSpPr>
          <p:nvPr/>
        </p:nvSpPr>
        <p:spPr bwMode="auto">
          <a:xfrm>
            <a:off x="771523" y="1530232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ICT for Development History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Mobile revolution &amp; Mobile Hype</a:t>
            </a:r>
            <a:endParaRPr lang="en-US" sz="23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ICTD Challenges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VOICES a successful approach</a:t>
            </a: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smtClean="0">
                <a:latin typeface="Trebuchet MS" pitchFamily="34" charset="0"/>
                <a:cs typeface="Arial" pitchFamily="34" charset="0"/>
              </a:rPr>
              <a:t> Conclusion</a:t>
            </a:r>
            <a:endParaRPr lang="en-US" sz="2300" b="1" dirty="0" smtClean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29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Why Technology or the Promises of ICTD</a:t>
            </a:r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4</a:t>
            </a:fld>
            <a:endParaRPr lang="en-US" sz="900" smtClean="0">
              <a:solidFill>
                <a:schemeClr val="bg1"/>
              </a:solidFill>
            </a:endParaRPr>
          </a:p>
        </p:txBody>
      </p:sp>
      <p:sp>
        <p:nvSpPr>
          <p:cNvPr id="19459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WSIS 2003/2005: Technology is a development tool: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Overcoming infrastructure challenges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Education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Healthcare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Livelihood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etc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Leveraging communication independently of physical/geographical barriers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Improving transparency, accountability, efficiency of governments</a:t>
            </a:r>
          </a:p>
        </p:txBody>
      </p:sp>
      <p:pic>
        <p:nvPicPr>
          <p:cNvPr id="10" name="Picture 10" descr="2 Mexico_ 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475" y="3205707"/>
            <a:ext cx="1717675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boyera\Desktop\didi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069833"/>
            <a:ext cx="24765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26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-1" y="0"/>
            <a:ext cx="6018664" cy="812800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Challenges: Infrastructure &amp; </a:t>
            </a:r>
            <a:r>
              <a:rPr lang="fr-FR" dirty="0" err="1" smtClean="0"/>
              <a:t>Devices</a:t>
            </a:r>
            <a:endParaRPr lang="en-US" dirty="0" smtClean="0"/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5</a:t>
            </a:fld>
            <a:endParaRPr lang="en-US" sz="900" smtClean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018" y="1198918"/>
            <a:ext cx="6680275" cy="5129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154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boyera\Desktop\Sans tit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213" y="4387756"/>
            <a:ext cx="4773606" cy="214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Mobile Revolution</a:t>
            </a:r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6</a:t>
            </a:fld>
            <a:endParaRPr lang="en-US" sz="900" smtClean="0">
              <a:solidFill>
                <a:schemeClr val="bg1"/>
              </a:solidFill>
            </a:endParaRP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55705" y="1303361"/>
            <a:ext cx="5642924" cy="5554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90% of the World population covered, 6 Billions subscribers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First time in history that a minimal ICT appliance is available at that scale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First time that a bi-directional interactive  communication device is available in the hands of the poorest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Symbol"/>
              <a:buChar char="Þ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Infrastructure gap is (almost) bridged</a:t>
            </a:r>
          </a:p>
        </p:txBody>
      </p:sp>
      <p:pic>
        <p:nvPicPr>
          <p:cNvPr id="8" name="Picture 3" descr="C:\Users\boyera\Desktop\P1010391-m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801" y="1139001"/>
            <a:ext cx="3376570" cy="25311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90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Mobile Hype</a:t>
            </a:r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7</a:t>
            </a:fld>
            <a:endParaRPr lang="en-US" sz="900" smtClean="0">
              <a:solidFill>
                <a:schemeClr val="bg1"/>
              </a:solidFill>
            </a:endParaRP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55705" y="1303361"/>
            <a:ext cx="5642924" cy="5554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Thousands of Initiatives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Education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Agriculture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Financial services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ICT &amp; mobile are the new magic wand for development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Usage &amp; Impact are unclear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Development Outcomes are low</a:t>
            </a:r>
          </a:p>
        </p:txBody>
      </p:sp>
      <p:pic>
        <p:nvPicPr>
          <p:cNvPr id="5" name="Picture 9" descr="Imagem 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127" y="1405719"/>
            <a:ext cx="3196914" cy="21317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852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fr-FR" dirty="0" err="1" smtClean="0"/>
              <a:t>Barriers</a:t>
            </a:r>
            <a:r>
              <a:rPr lang="fr-FR" dirty="0" smtClean="0"/>
              <a:t> &amp; Challenges</a:t>
            </a:r>
            <a:endParaRPr lang="en-US" dirty="0" smtClean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84" y="1637731"/>
            <a:ext cx="4420329" cy="4484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8</a:t>
            </a:fld>
            <a:endParaRPr lang="en-US" sz="900" smtClean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08" y="3886060"/>
            <a:ext cx="1910688" cy="2683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16427" y="1125833"/>
            <a:ext cx="6289675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High Level of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Illiteracy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Lack of ICT-Skills and exposure to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technology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Lots of dialects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Most phones are basic phones 	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Low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disposable income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333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9" t="23271" r="9740" b="55354"/>
          <a:stretch>
            <a:fillRect/>
          </a:stretch>
        </p:blipFill>
        <p:spPr bwMode="auto">
          <a:xfrm>
            <a:off x="5895599" y="3791792"/>
            <a:ext cx="2616728" cy="135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283902" y="191069"/>
            <a:ext cx="6613524" cy="382138"/>
          </a:xfrm>
        </p:spPr>
        <p:txBody>
          <a:bodyPr/>
          <a:lstStyle/>
          <a:p>
            <a:pPr>
              <a:defRPr/>
            </a:pPr>
            <a:r>
              <a:rPr lang="fr-FR" sz="2400" dirty="0" err="1" smtClean="0"/>
              <a:t>Strategy</a:t>
            </a:r>
            <a:r>
              <a:rPr lang="fr-FR" sz="2400" dirty="0" smtClean="0"/>
              <a:t>: </a:t>
            </a:r>
            <a:r>
              <a:rPr lang="fr-FR" sz="2400" dirty="0" err="1" smtClean="0"/>
              <a:t>Advancing</a:t>
            </a:r>
            <a:r>
              <a:rPr lang="fr-FR" sz="2400" dirty="0" smtClean="0"/>
              <a:t> EU </a:t>
            </a:r>
            <a:r>
              <a:rPr lang="fr-FR" sz="2400" dirty="0" err="1" smtClean="0"/>
              <a:t>research</a:t>
            </a:r>
            <a:r>
              <a:rPr lang="fr-FR" sz="2400" dirty="0" smtClean="0"/>
              <a:t> &amp; </a:t>
            </a:r>
            <a:r>
              <a:rPr lang="fr-FR" sz="2400" dirty="0" err="1" smtClean="0"/>
              <a:t>partnership</a:t>
            </a:r>
            <a:r>
              <a:rPr lang="fr-FR" sz="2400" dirty="0" smtClean="0"/>
              <a:t> in ICTD</a:t>
            </a:r>
            <a:endParaRPr lang="en-US" dirty="0" smtClean="0"/>
          </a:p>
        </p:txBody>
      </p:sp>
      <p:sp>
        <p:nvSpPr>
          <p:cNvPr id="6148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EC9625F2-F2F4-4463-9752-A9E80DBB90C1}" type="slidenum">
              <a:rPr lang="en-US" sz="900" smtClean="0">
                <a:solidFill>
                  <a:schemeClr val="bg1"/>
                </a:solidFill>
              </a:rPr>
              <a:pPr/>
              <a:t>9</a:t>
            </a:fld>
            <a:endParaRPr lang="en-US" sz="900" smtClean="0">
              <a:solidFill>
                <a:schemeClr val="bg1"/>
              </a:solidFill>
            </a:endParaRP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63772" y="1337274"/>
            <a:ext cx="6897426" cy="285257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 err="1" smtClean="0"/>
              <a:t>Developing</a:t>
            </a:r>
            <a:r>
              <a:rPr lang="fr-FR" sz="2000" dirty="0" smtClean="0"/>
              <a:t> new </a:t>
            </a:r>
            <a:r>
              <a:rPr lang="fr-FR" sz="2000" dirty="0" err="1" smtClean="0"/>
              <a:t>approaches</a:t>
            </a:r>
            <a:r>
              <a:rPr lang="fr-FR" sz="2000" dirty="0" smtClean="0"/>
              <a:t> to ICTD Challenges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smtClean="0"/>
              <a:t>Building multi-</a:t>
            </a:r>
            <a:r>
              <a:rPr lang="fr-FR" sz="2000" dirty="0" err="1" smtClean="0"/>
              <a:t>stakeholders</a:t>
            </a:r>
            <a:r>
              <a:rPr lang="fr-FR" sz="2000" dirty="0" smtClean="0"/>
              <a:t> </a:t>
            </a:r>
            <a:r>
              <a:rPr lang="fr-FR" sz="2000" dirty="0" err="1" smtClean="0"/>
              <a:t>partnership</a:t>
            </a:r>
            <a:endParaRPr lang="fr-FR" sz="2000" dirty="0" smtClean="0"/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err="1" smtClean="0"/>
              <a:t>Research</a:t>
            </a:r>
            <a:r>
              <a:rPr lang="fr-FR" sz="2000" dirty="0" smtClean="0"/>
              <a:t> team in EU and </a:t>
            </a:r>
            <a:r>
              <a:rPr lang="fr-FR" sz="2000" dirty="0" err="1" smtClean="0"/>
              <a:t>Africa</a:t>
            </a:r>
            <a:endParaRPr lang="fr-FR" sz="2000" dirty="0" smtClean="0"/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err="1" smtClean="0"/>
              <a:t>Development</a:t>
            </a:r>
            <a:r>
              <a:rPr lang="fr-FR" sz="2000" dirty="0" smtClean="0"/>
              <a:t> </a:t>
            </a:r>
            <a:r>
              <a:rPr lang="fr-FR" sz="2000" dirty="0" err="1" smtClean="0"/>
              <a:t>Organizations</a:t>
            </a:r>
            <a:endParaRPr lang="fr-FR" sz="2000" dirty="0" smtClean="0"/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smtClean="0"/>
              <a:t>Local &amp; International </a:t>
            </a:r>
            <a:r>
              <a:rPr lang="fr-FR" sz="2000" dirty="0" err="1" smtClean="0"/>
              <a:t>NGOs</a:t>
            </a:r>
            <a:endParaRPr lang="fr-FR" sz="2000" dirty="0" smtClean="0"/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err="1" smtClean="0"/>
              <a:t>Industrial</a:t>
            </a:r>
            <a:r>
              <a:rPr lang="fr-FR" sz="2000" dirty="0" smtClean="0"/>
              <a:t> </a:t>
            </a:r>
            <a:r>
              <a:rPr lang="fr-FR" sz="2000" dirty="0" err="1" smtClean="0"/>
              <a:t>partners</a:t>
            </a:r>
            <a:endParaRPr lang="fr-FR" sz="2000" dirty="0" smtClean="0"/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smtClean="0"/>
              <a:t>Building multi-expertise </a:t>
            </a:r>
            <a:r>
              <a:rPr lang="fr-FR" sz="2000" dirty="0" err="1" smtClean="0"/>
              <a:t>approach</a:t>
            </a:r>
            <a:endParaRPr lang="fr-FR" sz="2000" dirty="0" smtClean="0"/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smtClean="0"/>
              <a:t>ICT expertise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 smtClean="0"/>
              <a:t> Field expertise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smtClean="0"/>
              <a:t>Financial expertise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/>
              <a:t> </a:t>
            </a:r>
            <a:r>
              <a:rPr lang="fr-FR" sz="2000" dirty="0" err="1" smtClean="0"/>
              <a:t>Validating</a:t>
            </a:r>
            <a:r>
              <a:rPr lang="fr-FR" sz="2000" dirty="0" smtClean="0"/>
              <a:t> in the </a:t>
            </a:r>
            <a:r>
              <a:rPr lang="fr-FR" sz="2000" dirty="0" err="1" smtClean="0"/>
              <a:t>field</a:t>
            </a:r>
            <a:endParaRPr lang="nl-NL" sz="2000" dirty="0"/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7" descr="ANd9GcQEM2uTfDe9B8Q9X-XYCooVRTI3AVQc0nzqMfDQKZH3J8L5SmBj6WwyAIVr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870" y="2436929"/>
            <a:ext cx="678457" cy="44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FP7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198" y="2436929"/>
            <a:ext cx="583817" cy="47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10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5"/>
          <p:cNvSpPr txBox="1">
            <a:spLocks noGrp="1"/>
          </p:cNvSpPr>
          <p:nvPr/>
        </p:nvSpPr>
        <p:spPr bwMode="auto">
          <a:xfrm>
            <a:off x="8185150" y="6645275"/>
            <a:ext cx="7302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/>
            <a:fld id="{E983E247-BEE3-4E91-B343-FACED031CA11}" type="slidenum">
              <a:rPr lang="en-US" sz="900">
                <a:solidFill>
                  <a:schemeClr val="bg1"/>
                </a:solidFill>
              </a:rPr>
              <a:pPr algn="r" eaLnBrk="1" hangingPunct="1"/>
              <a:t>10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124" name="Titre 2"/>
          <p:cNvSpPr>
            <a:spLocks noGrp="1"/>
          </p:cNvSpPr>
          <p:nvPr>
            <p:ph type="title"/>
          </p:nvPr>
        </p:nvSpPr>
        <p:spPr bwMode="auto">
          <a:xfrm>
            <a:off x="447675" y="0"/>
            <a:ext cx="4776788" cy="812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fr-FR" dirty="0" smtClean="0">
                <a:ea typeface="Calibri (Titres)"/>
              </a:rPr>
              <a:t>VOICES </a:t>
            </a:r>
            <a:r>
              <a:rPr lang="fr-FR" dirty="0" err="1" smtClean="0">
                <a:ea typeface="Calibri (Titres)"/>
              </a:rPr>
              <a:t>Fact</a:t>
            </a:r>
            <a:r>
              <a:rPr lang="fr-FR" dirty="0" smtClean="0">
                <a:ea typeface="Calibri (Titres)"/>
              </a:rPr>
              <a:t> </a:t>
            </a:r>
            <a:r>
              <a:rPr lang="fr-FR" dirty="0" err="1" smtClean="0">
                <a:ea typeface="Calibri (Titres)"/>
              </a:rPr>
              <a:t>Sheet</a:t>
            </a:r>
            <a:endParaRPr lang="en-US" dirty="0" smtClean="0">
              <a:ea typeface="Calibri (Titres)"/>
            </a:endParaRPr>
          </a:p>
        </p:txBody>
      </p:sp>
      <p:sp>
        <p:nvSpPr>
          <p:cNvPr id="64526" name="Espace réservé du contenu 7"/>
          <p:cNvSpPr>
            <a:spLocks/>
          </p:cNvSpPr>
          <p:nvPr/>
        </p:nvSpPr>
        <p:spPr bwMode="auto">
          <a:xfrm>
            <a:off x="254000" y="1008063"/>
            <a:ext cx="8767763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en-US" sz="2000" dirty="0">
                <a:latin typeface="+mn-lt"/>
                <a:cs typeface="Arial" pitchFamily="34" charset="0"/>
              </a:rPr>
              <a:t> Project Name: </a:t>
            </a:r>
            <a:r>
              <a:rPr lang="fr-FR" sz="2000" dirty="0" err="1">
                <a:latin typeface="Trebuchet MS" pitchFamily="34" charset="0"/>
              </a:rPr>
              <a:t>VOIce-based</a:t>
            </a:r>
            <a:r>
              <a:rPr lang="fr-FR" sz="2000" dirty="0">
                <a:latin typeface="Trebuchet MS" pitchFamily="34" charset="0"/>
              </a:rPr>
              <a:t> </a:t>
            </a:r>
            <a:r>
              <a:rPr lang="fr-FR" sz="2000" dirty="0" err="1">
                <a:latin typeface="Trebuchet MS" pitchFamily="34" charset="0"/>
              </a:rPr>
              <a:t>Community-cEntric</a:t>
            </a:r>
            <a:r>
              <a:rPr lang="fr-FR" sz="2000" dirty="0">
                <a:latin typeface="Trebuchet MS" pitchFamily="34" charset="0"/>
              </a:rPr>
              <a:t> mobile Services for social </a:t>
            </a:r>
            <a:r>
              <a:rPr lang="fr-FR" sz="2000" dirty="0" err="1">
                <a:latin typeface="Trebuchet MS" pitchFamily="34" charset="0"/>
              </a:rPr>
              <a:t>development</a:t>
            </a:r>
            <a:r>
              <a:rPr lang="fr-FR" sz="2000" dirty="0">
                <a:latin typeface="Trebuchet MS" pitchFamily="34" charset="0"/>
              </a:rPr>
              <a:t>  (VOICES)</a:t>
            </a: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en-US" sz="2000" dirty="0" smtClean="0">
                <a:latin typeface="+mn-lt"/>
                <a:cs typeface="Arial" pitchFamily="34" charset="0"/>
              </a:rPr>
              <a:t> January 2011 – June 2013 </a:t>
            </a:r>
            <a:endParaRPr lang="en-US" sz="2000" dirty="0">
              <a:latin typeface="+mn-lt"/>
              <a:cs typeface="Arial" pitchFamily="34" charset="0"/>
            </a:endParaRP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en-US" sz="2000" dirty="0">
                <a:latin typeface="+mn-lt"/>
                <a:cs typeface="Arial" pitchFamily="34" charset="0"/>
              </a:rPr>
              <a:t> 30 Months</a:t>
            </a: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en-US" sz="2000" dirty="0">
                <a:latin typeface="+mn-lt"/>
                <a:cs typeface="Arial" pitchFamily="34" charset="0"/>
              </a:rPr>
              <a:t> 12 Partners from France, Switzerland, Italy, Netherland, Senegal, Mali, South Africa, Portugal</a:t>
            </a: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endParaRPr lang="fr-FR" sz="2000" dirty="0">
              <a:latin typeface="+mn-lt"/>
              <a:cs typeface="Arial" pitchFamily="34" charset="0"/>
            </a:endParaRP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defRPr/>
            </a:pPr>
            <a:endParaRPr lang="en-US" sz="2000" dirty="0">
              <a:latin typeface="+mn-lt"/>
              <a:cs typeface="Arial" pitchFamily="34" charset="0"/>
            </a:endParaRPr>
          </a:p>
          <a:p>
            <a:pPr eaLnBrk="0" hangingPunct="0">
              <a:spcBef>
                <a:spcPts val="360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fr-FR" sz="2000" dirty="0" smtClean="0">
                <a:latin typeface="+mn-lt"/>
                <a:cs typeface="Arial" pitchFamily="34" charset="0"/>
              </a:rPr>
              <a:t> Budget</a:t>
            </a:r>
            <a:r>
              <a:rPr lang="fr-FR" sz="2000" dirty="0">
                <a:latin typeface="+mn-lt"/>
                <a:cs typeface="Arial" pitchFamily="34" charset="0"/>
              </a:rPr>
              <a:t>: ~3M </a:t>
            </a:r>
            <a:r>
              <a:rPr lang="fr-FR" sz="2000" dirty="0" err="1">
                <a:latin typeface="+mn-lt"/>
                <a:cs typeface="Arial" pitchFamily="34" charset="0"/>
              </a:rPr>
              <a:t>Eur</a:t>
            </a:r>
            <a:r>
              <a:rPr lang="fr-FR" sz="2000" dirty="0">
                <a:latin typeface="+mn-lt"/>
                <a:cs typeface="Arial" pitchFamily="34" charset="0"/>
              </a:rPr>
              <a:t> </a:t>
            </a:r>
            <a:r>
              <a:rPr lang="fr-FR" sz="2000" dirty="0" err="1">
                <a:latin typeface="+mn-lt"/>
                <a:cs typeface="Arial" pitchFamily="34" charset="0"/>
              </a:rPr>
              <a:t>project</a:t>
            </a:r>
            <a:r>
              <a:rPr lang="fr-FR" sz="2000" dirty="0">
                <a:latin typeface="+mn-lt"/>
                <a:cs typeface="Arial" pitchFamily="34" charset="0"/>
              </a:rPr>
              <a:t> (~2M EC contribution)</a:t>
            </a: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fr-FR" sz="2000" dirty="0">
                <a:latin typeface="+mn-lt"/>
                <a:cs typeface="Arial" pitchFamily="34" charset="0"/>
              </a:rPr>
              <a:t> </a:t>
            </a:r>
            <a:r>
              <a:rPr lang="fr-FR" sz="2000" dirty="0" err="1">
                <a:latin typeface="+mn-lt"/>
                <a:cs typeface="Arial" pitchFamily="34" charset="0"/>
              </a:rPr>
              <a:t>Geographical</a:t>
            </a:r>
            <a:r>
              <a:rPr lang="fr-FR" sz="2000" dirty="0">
                <a:latin typeface="+mn-lt"/>
                <a:cs typeface="Arial" pitchFamily="34" charset="0"/>
              </a:rPr>
              <a:t> Area: </a:t>
            </a:r>
            <a:r>
              <a:rPr lang="fr-FR" sz="2000" dirty="0" err="1">
                <a:latin typeface="+mn-lt"/>
                <a:cs typeface="Arial" pitchFamily="34" charset="0"/>
              </a:rPr>
              <a:t>Senegal</a:t>
            </a:r>
            <a:r>
              <a:rPr lang="fr-FR" sz="2000" dirty="0">
                <a:latin typeface="+mn-lt"/>
                <a:cs typeface="Arial" pitchFamily="34" charset="0"/>
              </a:rPr>
              <a:t> and </a:t>
            </a:r>
            <a:r>
              <a:rPr lang="fr-FR" sz="2000" dirty="0" smtClean="0">
                <a:latin typeface="+mn-lt"/>
                <a:cs typeface="Arial" pitchFamily="34" charset="0"/>
              </a:rPr>
              <a:t>Mali</a:t>
            </a:r>
          </a:p>
          <a:p>
            <a:pPr eaLnBrk="0" hangingPunct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50000"/>
              <a:buFontTx/>
              <a:buChar char="o"/>
              <a:defRPr/>
            </a:pPr>
            <a:r>
              <a:rPr lang="fr-FR" sz="2000" dirty="0">
                <a:latin typeface="+mn-lt"/>
                <a:cs typeface="Arial" pitchFamily="34" charset="0"/>
              </a:rPr>
              <a:t> </a:t>
            </a:r>
            <a:r>
              <a:rPr lang="fr-FR" sz="2000" dirty="0" smtClean="0">
                <a:latin typeface="+mn-lt"/>
                <a:cs typeface="Arial" pitchFamily="34" charset="0"/>
              </a:rPr>
              <a:t>Domain: ICTD – </a:t>
            </a:r>
            <a:r>
              <a:rPr lang="fr-FR" sz="2000" dirty="0" err="1" smtClean="0">
                <a:latin typeface="+mn-lt"/>
                <a:cs typeface="Arial" pitchFamily="34" charset="0"/>
              </a:rPr>
              <a:t>Health</a:t>
            </a:r>
            <a:r>
              <a:rPr lang="fr-FR" sz="2000" dirty="0" smtClean="0">
                <a:latin typeface="+mn-lt"/>
                <a:cs typeface="Arial" pitchFamily="34" charset="0"/>
              </a:rPr>
              <a:t>/Agriculture/</a:t>
            </a:r>
            <a:r>
              <a:rPr lang="fr-FR" sz="2000" dirty="0" err="1" smtClean="0">
                <a:latin typeface="+mn-lt"/>
                <a:cs typeface="Arial" pitchFamily="34" charset="0"/>
              </a:rPr>
              <a:t>Entrepreneurship</a:t>
            </a:r>
            <a:endParaRPr lang="en-US" sz="2000" dirty="0">
              <a:latin typeface="+mn-lt"/>
              <a:cs typeface="Arial" pitchFamily="34" charset="0"/>
            </a:endParaRPr>
          </a:p>
        </p:txBody>
      </p:sp>
      <p:grpSp>
        <p:nvGrpSpPr>
          <p:cNvPr id="5125" name="Group 1"/>
          <p:cNvGrpSpPr>
            <a:grpSpLocks/>
          </p:cNvGrpSpPr>
          <p:nvPr/>
        </p:nvGrpSpPr>
        <p:grpSpPr bwMode="auto">
          <a:xfrm>
            <a:off x="609014" y="3568419"/>
            <a:ext cx="6543675" cy="1044575"/>
            <a:chOff x="310308" y="3466138"/>
            <a:chExt cx="6543475" cy="1044102"/>
          </a:xfrm>
        </p:grpSpPr>
        <p:pic>
          <p:nvPicPr>
            <p:cNvPr id="5127" name="Picture 4" descr="vu CIS logo 200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58" t="7896" r="-1071"/>
            <a:stretch>
              <a:fillRect/>
            </a:stretch>
          </p:blipFill>
          <p:spPr bwMode="auto">
            <a:xfrm>
              <a:off x="3347943" y="3466138"/>
              <a:ext cx="525462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8" name="Picture 6" descr="logo_w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2470" y="3546307"/>
              <a:ext cx="1409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9" name="Picture 7" descr="orang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1442" y="3546307"/>
              <a:ext cx="3429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0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51" t="47675" r="59047" b="46730"/>
            <a:stretch>
              <a:fillRect/>
            </a:stretch>
          </p:blipFill>
          <p:spPr bwMode="auto">
            <a:xfrm>
              <a:off x="5212556" y="4043716"/>
              <a:ext cx="79057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1" name="Picture 10" descr="crs4_s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7489" y="4087171"/>
              <a:ext cx="417513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2" name="Picture 11" descr="Logo University Norht West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676" b="34000"/>
            <a:stretch>
              <a:fillRect/>
            </a:stretch>
          </p:blipFill>
          <p:spPr bwMode="auto">
            <a:xfrm>
              <a:off x="5269458" y="3546307"/>
              <a:ext cx="158432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3" name="Picture 1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02" t="44923" r="59505" b="48085"/>
            <a:stretch>
              <a:fillRect/>
            </a:stretch>
          </p:blipFill>
          <p:spPr bwMode="auto">
            <a:xfrm>
              <a:off x="4191000" y="3493920"/>
              <a:ext cx="647700" cy="3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1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5" t="52417" r="57877" b="42992"/>
            <a:stretch>
              <a:fillRect/>
            </a:stretch>
          </p:blipFill>
          <p:spPr bwMode="auto">
            <a:xfrm>
              <a:off x="4046537" y="4076261"/>
              <a:ext cx="936625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5" name="Picture 14" descr="w3c_home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94" y="3571386"/>
              <a:ext cx="528637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6" name="Picture 15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58" t="44650" r="73442" b="45270"/>
            <a:stretch>
              <a:fillRect/>
            </a:stretch>
          </p:blipFill>
          <p:spPr bwMode="auto">
            <a:xfrm>
              <a:off x="1251695" y="4007003"/>
              <a:ext cx="503238" cy="503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7" name="Picture 16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85" t="47523" r="56468" b="46715"/>
            <a:stretch>
              <a:fillRect/>
            </a:stretch>
          </p:blipFill>
          <p:spPr bwMode="auto">
            <a:xfrm>
              <a:off x="2761442" y="4032819"/>
              <a:ext cx="1081087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8" name="Picture 19" descr="TNO_zwart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308" y="4093309"/>
              <a:ext cx="7921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412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1028700"/>
            <a:ext cx="882808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5338763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VOICES Structure &amp; Organization</a:t>
            </a:r>
          </a:p>
        </p:txBody>
      </p:sp>
      <p:sp>
        <p:nvSpPr>
          <p:cNvPr id="10244" name="Espace réservé du numéro de diapositive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85150" y="6629400"/>
            <a:ext cx="730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fld id="{1453FA19-B378-4DF7-8C6F-D8FE0A5B1F55}" type="slidenum">
              <a:rPr lang="en-US" sz="900" smtClean="0">
                <a:solidFill>
                  <a:schemeClr val="bg1"/>
                </a:solidFill>
              </a:rPr>
              <a:pPr/>
              <a:t>11</a:t>
            </a:fld>
            <a:endParaRPr lang="en-US" sz="900" smtClean="0">
              <a:solidFill>
                <a:schemeClr val="bg1"/>
              </a:solidFill>
            </a:endParaRPr>
          </a:p>
        </p:txBody>
      </p:sp>
      <p:pic>
        <p:nvPicPr>
          <p:cNvPr id="10246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1063625"/>
            <a:ext cx="725488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976313"/>
            <a:ext cx="958850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3573463"/>
            <a:ext cx="1006475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0" y="976313"/>
            <a:ext cx="107791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0" y="2665413"/>
            <a:ext cx="118586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236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958980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Video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4502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8185150" y="6604000"/>
            <a:ext cx="730250" cy="212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FEB09C5-71F9-4C46-A949-DB06D00C859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Espace réservé du contenu 1"/>
          <p:cNvSpPr>
            <a:spLocks/>
          </p:cNvSpPr>
          <p:nvPr/>
        </p:nvSpPr>
        <p:spPr bwMode="auto">
          <a:xfrm>
            <a:off x="246063" y="1230313"/>
            <a:ext cx="6072850" cy="4651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300" b="1" dirty="0">
                <a:latin typeface="Trebuchet MS" pitchFamily="34" charset="0"/>
              </a:rPr>
              <a:t> </a:t>
            </a:r>
            <a:r>
              <a:rPr lang="en-US" sz="2000" dirty="0" smtClean="0">
                <a:latin typeface="Trebuchet MS" pitchFamily="34" charset="0"/>
              </a:rPr>
              <a:t>ICTD &amp; Mobiles are not a Magic Wand but just a tool to solve some specific challenges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000" dirty="0">
                <a:latin typeface="Trebuchet MS" pitchFamily="34" charset="0"/>
              </a:rPr>
              <a:t> </a:t>
            </a:r>
            <a:r>
              <a:rPr lang="en-US" sz="2000" dirty="0" smtClean="0">
                <a:latin typeface="Trebuchet MS" pitchFamily="34" charset="0"/>
              </a:rPr>
              <a:t>An holistic approach is essential</a:t>
            </a:r>
            <a:endParaRPr lang="en-US" sz="2000" dirty="0">
              <a:latin typeface="Trebuchet MS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000" dirty="0" smtClean="0">
                <a:latin typeface="Trebuchet MS" pitchFamily="34" charset="0"/>
              </a:rPr>
              <a:t> A Multi-stakeholder approach is required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000" dirty="0">
                <a:latin typeface="Trebuchet MS" pitchFamily="34" charset="0"/>
              </a:rPr>
              <a:t> </a:t>
            </a:r>
            <a:r>
              <a:rPr lang="en-US" sz="2000" dirty="0" smtClean="0">
                <a:latin typeface="Trebuchet MS" pitchFamily="34" charset="0"/>
              </a:rPr>
              <a:t>Local capacity building is also critical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0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Trebuchet MS" pitchFamily="34" charset="0"/>
                <a:cs typeface="Arial" pitchFamily="34" charset="0"/>
              </a:rPr>
              <a:t>In ICT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</a:pPr>
            <a:r>
              <a:rPr lang="en-US" sz="20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Trebuchet MS" pitchFamily="34" charset="0"/>
                <a:cs typeface="Arial" pitchFamily="34" charset="0"/>
              </a:rPr>
              <a:t>In research capacities</a:t>
            </a:r>
          </a:p>
        </p:txBody>
      </p:sp>
    </p:spTree>
    <p:extLst>
      <p:ext uri="{BB962C8B-B14F-4D97-AF65-F5344CB8AC3E}">
        <p14:creationId xmlns:p14="http://schemas.microsoft.com/office/powerpoint/2010/main" val="285123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http://www.sbc4d.com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>
                <a:hlinkClick r:id="rId3"/>
              </a:rPr>
              <a:t>http://www.sbc4d.com/product-services/demo/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4"/>
              </a:rPr>
              <a:t>http://www.mvoices.eu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http://www.w4ra.org/</a:t>
            </a:r>
            <a:endParaRPr lang="en-US" dirty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Contact:</a:t>
            </a:r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err="1" smtClean="0"/>
              <a:t>Stephane</a:t>
            </a:r>
            <a:r>
              <a:rPr lang="en-US" u="sng" dirty="0" smtClean="0"/>
              <a:t> </a:t>
            </a:r>
            <a:r>
              <a:rPr lang="en-US" u="sng" dirty="0" err="1" smtClean="0"/>
              <a:t>Boyera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6"/>
              </a:rPr>
              <a:t>stephane@sbc4d.com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@stephb4d</a:t>
            </a:r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48961</TotalTime>
  <Words>456</Words>
  <Application>Microsoft Office PowerPoint</Application>
  <PresentationFormat>Affichage à l'écran (4:3)</PresentationFormat>
  <Paragraphs>106</Paragraphs>
  <Slides>14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Thème Office</vt:lpstr>
      <vt:lpstr>1_Thème Office</vt:lpstr>
      <vt:lpstr>Web of Voices</vt:lpstr>
      <vt:lpstr>ICT &amp; Social &amp; Economic Development ?</vt:lpstr>
      <vt:lpstr>Overview</vt:lpstr>
      <vt:lpstr>Why Technology or the Promises of ICTD</vt:lpstr>
      <vt:lpstr>Challenges: Infrastructure &amp; Devices</vt:lpstr>
      <vt:lpstr>Mobile Revolution</vt:lpstr>
      <vt:lpstr>Mobile Hype</vt:lpstr>
      <vt:lpstr>Barriers &amp; Challenges</vt:lpstr>
      <vt:lpstr>Strategy: Advancing EU research &amp; partnership in ICTD</vt:lpstr>
      <vt:lpstr>VOICES Fact Sheet</vt:lpstr>
      <vt:lpstr>VOICES Structure &amp; Organization</vt:lpstr>
      <vt:lpstr>Présentation PowerPoint</vt:lpstr>
      <vt:lpstr>Conclusion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720</cp:revision>
  <cp:lastPrinted>2011-11-29T16:00:44Z</cp:lastPrinted>
  <dcterms:created xsi:type="dcterms:W3CDTF">2009-10-15T09:24:18Z</dcterms:created>
  <dcterms:modified xsi:type="dcterms:W3CDTF">2013-11-20T19:00:58Z</dcterms:modified>
</cp:coreProperties>
</file>