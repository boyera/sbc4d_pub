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60" r:id="rId5"/>
    <p:sldId id="259" r:id="rId6"/>
    <p:sldId id="264" r:id="rId7"/>
    <p:sldId id="261" r:id="rId8"/>
    <p:sldId id="263" r:id="rId9"/>
    <p:sldId id="265" r:id="rId10"/>
    <p:sldId id="262" r:id="rId11"/>
    <p:sldId id="267" r:id="rId12"/>
    <p:sldId id="270" r:id="rId13"/>
    <p:sldId id="268" r:id="rId14"/>
    <p:sldId id="266" r:id="rId15"/>
    <p:sldId id="275" r:id="rId16"/>
    <p:sldId id="271" r:id="rId17"/>
    <p:sldId id="272" r:id="rId18"/>
    <p:sldId id="273" r:id="rId19"/>
    <p:sldId id="274" r:id="rId20"/>
  </p:sldIdLst>
  <p:sldSz cx="9144000" cy="6858000" type="screen4x3"/>
  <p:notesSz cx="7099300" cy="102346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0D450"/>
    <a:srgbClr val="29A428"/>
    <a:srgbClr val="1F547E"/>
    <a:srgbClr val="1F497D"/>
    <a:srgbClr val="005D92"/>
    <a:srgbClr val="B7A797"/>
    <a:srgbClr val="B1BCA4"/>
    <a:srgbClr val="000000"/>
    <a:srgbClr val="7AA6EC"/>
    <a:srgbClr val="FFC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6" autoAdjust="0"/>
    <p:restoredTop sz="97771" autoAdjust="0"/>
  </p:normalViewPr>
  <p:slideViewPr>
    <p:cSldViewPr snapToGrid="0">
      <p:cViewPr>
        <p:scale>
          <a:sx n="70" d="100"/>
          <a:sy n="70" d="100"/>
        </p:scale>
        <p:origin x="-1842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19/09/2013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984" y="0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19/09/2013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7" tIns="49524" rIns="99047" bIns="49524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294" y="4860581"/>
            <a:ext cx="5680712" cy="4607299"/>
          </a:xfrm>
          <a:prstGeom prst="rect">
            <a:avLst/>
          </a:prstGeom>
        </p:spPr>
        <p:txBody>
          <a:bodyPr vert="horz" lIns="99047" tIns="49524" rIns="99047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984" y="9721159"/>
            <a:ext cx="3075727" cy="511731"/>
          </a:xfrm>
          <a:prstGeom prst="rect">
            <a:avLst/>
          </a:prstGeom>
        </p:spPr>
        <p:txBody>
          <a:bodyPr vert="horz" lIns="99047" tIns="49524" rIns="99047" bIns="4952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18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5127625"/>
            <a:ext cx="8305800" cy="1306513"/>
          </a:xfrm>
        </p:spPr>
        <p:txBody>
          <a:bodyPr/>
          <a:lstStyle>
            <a:lvl1pPr marL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 smtClean="0"/>
              <a:t>Click to edit Master text styles</a:t>
            </a:r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 smtClean="0">
                <a:solidFill>
                  <a:schemeClr val="bg1"/>
                </a:solidFill>
              </a:rPr>
              <a:t>Copyright © 2013. SB</a:t>
            </a:r>
            <a:r>
              <a:rPr lang="en-US" sz="1100" baseline="0" dirty="0" smtClean="0">
                <a:solidFill>
                  <a:schemeClr val="bg1"/>
                </a:solidFill>
              </a:rPr>
              <a:t>C4D – http://wwww.sbc4d.com</a:t>
            </a:r>
            <a:r>
              <a:rPr lang="en-US" sz="1100" dirty="0" smtClean="0">
                <a:solidFill>
                  <a:schemeClr val="bg1"/>
                </a:solidFill>
              </a:rPr>
              <a:t>. All rights reserved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9/19/2013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here to modify texte styles of the mask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fr-FR" smtClean="0"/>
              <a:t>T</a:t>
            </a:r>
            <a:r>
              <a:rPr lang="en-US" smtClean="0"/>
              <a:t>hird level</a:t>
            </a:r>
          </a:p>
          <a:p>
            <a:pPr lvl="3"/>
            <a:r>
              <a:rPr lang="fr-FR" smtClean="0"/>
              <a:t>F</a:t>
            </a:r>
            <a:r>
              <a:rPr lang="en-US" smtClean="0"/>
              <a:t>orth level</a:t>
            </a:r>
          </a:p>
          <a:p>
            <a:pPr lvl="4"/>
            <a:r>
              <a:rPr lang="fr-FR" smtClean="0"/>
              <a:t>F</a:t>
            </a:r>
            <a:r>
              <a:rPr lang="en-US" smtClean="0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://www.google.nl/imgres?imgurl=http://www.carbones.eu/img/logo-eu.jpg&amp;imgrefurl=http://www.carbones.eu/&amp;usg=__k-Ksqf5IGDs-YgKR4P-gbZy1KTM=&amp;h=567&amp;w=859&amp;sz=262&amp;hl=nl&amp;start=6&amp;sig2=jQA9Jc3etRq_HcU5JsC27g&amp;zoom=1&amp;um=1&amp;itbs=1&amp;tbnid=0WNlKbN0webH2M:&amp;tbnh=96&amp;tbnw=145&amp;prev=/images?q=eu+fp7+logo&amp;um=1&amp;hl=nl&amp;sa=N&amp;rls=com.microsoft:nl:IE-SearchBox&amp;rlz=1I7GGLR_nl&amp;tbs=isch:1&amp;ei=zxNTTafeHo2XOtjN9K8H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voices.eu/" TargetMode="External"/><Relationship Id="rId2" Type="http://schemas.openxmlformats.org/officeDocument/2006/relationships/hyperlink" Target="http://www.webfoundati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.org/TR/2009/NOTE-mw4d-roadmap-20091208/" TargetMode="External"/><Relationship Id="rId4" Type="http://schemas.openxmlformats.org/officeDocument/2006/relationships/hyperlink" Target="http://www.w4r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Web for Social &amp; Economic Development?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78809" y="4868317"/>
            <a:ext cx="8305800" cy="1306513"/>
          </a:xfrm>
        </p:spPr>
        <p:txBody>
          <a:bodyPr/>
          <a:lstStyle/>
          <a:p>
            <a:r>
              <a:rPr lang="en-US" sz="1600" b="1" dirty="0" err="1">
                <a:latin typeface="Trebuchet MS" pitchFamily="34" charset="0"/>
              </a:rPr>
              <a:t>Stéphane</a:t>
            </a:r>
            <a:r>
              <a:rPr lang="en-US" sz="1600" b="1" dirty="0">
                <a:latin typeface="Trebuchet MS" pitchFamily="34" charset="0"/>
              </a:rPr>
              <a:t> </a:t>
            </a:r>
            <a:r>
              <a:rPr lang="en-US" sz="1600" b="1" dirty="0" err="1">
                <a:latin typeface="Trebuchet MS" pitchFamily="34" charset="0"/>
              </a:rPr>
              <a:t>Boyera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CEO</a:t>
            </a:r>
            <a:endParaRPr lang="en-US" sz="1600" b="1" dirty="0">
              <a:latin typeface="Trebuchet MS" pitchFamily="34" charset="0"/>
            </a:endParaRPr>
          </a:p>
          <a:p>
            <a:r>
              <a:rPr lang="fr-FR" sz="1600" b="1" dirty="0" smtClean="0">
                <a:latin typeface="Trebuchet MS" pitchFamily="34" charset="0"/>
              </a:rPr>
              <a:t>stephane@sbc4d.com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600" b="1" dirty="0" smtClean="0">
                <a:latin typeface="Trebuchet MS" pitchFamily="34" charset="0"/>
              </a:rPr>
              <a:t>SBC4D – http://www.sbc4d.com</a:t>
            </a:r>
            <a:endParaRPr lang="en-US" sz="1600" b="1" dirty="0">
              <a:latin typeface="Trebuchet MS" pitchFamily="34" charset="0"/>
            </a:endParaRPr>
          </a:p>
          <a:p>
            <a:r>
              <a:rPr lang="en-US" sz="1400" b="1" dirty="0" smtClean="0">
                <a:latin typeface="Trebuchet MS" pitchFamily="34" charset="0"/>
              </a:rPr>
              <a:t>19 September </a:t>
            </a:r>
            <a:r>
              <a:rPr lang="en-US" sz="1400" b="1" dirty="0">
                <a:latin typeface="Trebuchet MS" pitchFamily="34" charset="0"/>
              </a:rPr>
              <a:t>2013</a:t>
            </a:r>
          </a:p>
          <a:p>
            <a:r>
              <a:rPr lang="en-US" sz="1400" b="1" dirty="0"/>
              <a:t>http</a:t>
            </a:r>
            <a:r>
              <a:rPr lang="en-US" sz="1400" b="1" dirty="0" smtClean="0"/>
              <a:t>://demo.sbc4d.com/public/2013/09/sb_downscale13.pptx</a:t>
            </a:r>
            <a:endParaRPr lang="en-US" sz="1200" b="1" dirty="0">
              <a:latin typeface="Trebuchet MS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09183" y="1270925"/>
            <a:ext cx="8884692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Introduction	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Web for Developing countries &amp; underprivileged populations?</a:t>
            </a:r>
            <a:endParaRPr lang="en-US" sz="2300" b="1" dirty="0" smtClean="0">
              <a:latin typeface="Trebuchet MS" pitchFamily="34" charset="0"/>
              <a:cs typeface="Arial" pitchFamily="34" charset="0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New ways of accessing the Web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Importance of Open Linked Data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 Challenges &amp; Requirements of Open Linked Data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Trebuchet MS" pitchFamily="34" charset="0"/>
                <a:cs typeface="Arial" pitchFamily="34" charset="0"/>
              </a:rPr>
              <a:t>Conclusion &amp; References</a:t>
            </a:r>
            <a:endParaRPr lang="en-US" sz="2400" b="1" dirty="0" smtClean="0">
              <a:latin typeface="Trebuchet MS" pitchFamily="34" charset="0"/>
              <a:cs typeface="Arial" pitchFamily="34" charset="0"/>
            </a:endParaRPr>
          </a:p>
          <a:p>
            <a:pPr marL="742950" lvl="1" indent="-285750" eaLnBrk="0" hangingPunct="0">
              <a:spcBef>
                <a:spcPct val="20000"/>
              </a:spcBef>
              <a:buFont typeface="Courier New" pitchFamily="49" charset="0"/>
              <a:buNone/>
              <a:defRPr/>
            </a:pPr>
            <a:endParaRPr lang="en-US" b="1" dirty="0">
              <a:latin typeface="Trebuchet MS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8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promises of ICTD 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WSIS 2003/2005: Technology is a development tool: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Overcoming infrastructure challenges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Education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Healthcare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Livelihood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Leveraging communication independently of physical/geographical barriers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Improving transparency, accountability, efficiency of governments</a:t>
            </a:r>
          </a:p>
        </p:txBody>
      </p:sp>
      <p:pic>
        <p:nvPicPr>
          <p:cNvPr id="6" name="Picture 10" descr="2 Mexico_ 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475" y="3205707"/>
            <a:ext cx="1717675" cy="33210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C:\Users\boyera\Desktop\did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1069833"/>
            <a:ext cx="2476500" cy="17621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64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of Web access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5381" y="1258116"/>
            <a:ext cx="5364667" cy="25640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Lack of Infrastructure &amp; devices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High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Level of Illiteracy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Lack of ICT-Skills and exposure to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technology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	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Low disposable income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368" y="2183439"/>
            <a:ext cx="4268190" cy="327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D:\perso\nb_photos\burkina_201002\kaya-dori-kongoussi\IMG_6632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627" y="3822213"/>
            <a:ext cx="3366639" cy="25248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39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Access: Current State</a:t>
            </a:r>
            <a:endParaRPr lang="en-US" dirty="0"/>
          </a:p>
        </p:txBody>
      </p:sp>
      <p:pic>
        <p:nvPicPr>
          <p:cNvPr id="1027" name="Picture 3" descr="C:\Users\boyera\Desktop\africa2012p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44" y="935442"/>
            <a:ext cx="5614372" cy="254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boyera\Desktop\InternetPenetrationWorldMap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019" y="3480624"/>
            <a:ext cx="552450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54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Access: Current State</a:t>
            </a:r>
            <a:endParaRPr lang="en-US" dirty="0"/>
          </a:p>
        </p:txBody>
      </p:sp>
      <p:pic>
        <p:nvPicPr>
          <p:cNvPr id="3074" name="Picture 2" descr="C:\Users\boyera\Desktop\internet_penetration_rate_itu_per_countr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0" y="1044908"/>
            <a:ext cx="8732160" cy="541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6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Huge Information needs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Agriculture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Market Prices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Business opportunities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Support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Prevention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Access to healthcare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Detection of disease outbreak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Education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.</a:t>
            </a: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8" name="Picture 2" descr="C:\Users\boyera\Desktop\IMG_62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812" y="1189036"/>
            <a:ext cx="2859338" cy="21443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031" y="3821409"/>
            <a:ext cx="1817450" cy="24242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83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104451"/>
            <a:ext cx="45174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New ways of accessing the Web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3708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789" y="0"/>
            <a:ext cx="6786160" cy="812800"/>
          </a:xfrm>
        </p:spPr>
        <p:txBody>
          <a:bodyPr/>
          <a:lstStyle/>
          <a:p>
            <a:r>
              <a:rPr lang="en-US" dirty="0" smtClean="0"/>
              <a:t>Information Appliances: Radio</a:t>
            </a:r>
            <a:endParaRPr lang="en-US" dirty="0"/>
          </a:p>
        </p:txBody>
      </p:sp>
      <p:pic>
        <p:nvPicPr>
          <p:cNvPr id="7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13" y="997525"/>
            <a:ext cx="7052410" cy="3152136"/>
          </a:xfrm>
          <a:prstGeom prst="rect">
            <a:avLst/>
          </a:prstGeom>
        </p:spPr>
      </p:pic>
      <p:pic>
        <p:nvPicPr>
          <p:cNvPr id="8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99" y="4113715"/>
            <a:ext cx="5731510" cy="2414905"/>
          </a:xfrm>
          <a:prstGeom prst="rect">
            <a:avLst/>
          </a:prstGeom>
        </p:spPr>
      </p:pic>
      <p:pic>
        <p:nvPicPr>
          <p:cNvPr id="11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888" y="4149661"/>
            <a:ext cx="2474447" cy="193359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18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789" y="0"/>
            <a:ext cx="6786160" cy="812800"/>
          </a:xfrm>
        </p:spPr>
        <p:txBody>
          <a:bodyPr/>
          <a:lstStyle/>
          <a:p>
            <a:r>
              <a:rPr lang="en-US" dirty="0" smtClean="0"/>
              <a:t>Information Appliances: Mobile phones</a:t>
            </a:r>
            <a:endParaRPr lang="en-US" dirty="0"/>
          </a:p>
        </p:txBody>
      </p:sp>
      <p:pic>
        <p:nvPicPr>
          <p:cNvPr id="2050" name="Picture 2" descr="C:\Users\boyera\Desktop\Sans tit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89" y="1082722"/>
            <a:ext cx="6253325" cy="280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boyera\Desktop\mobile_phone_penetra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89" y="3652838"/>
            <a:ext cx="44672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875" y="1206062"/>
            <a:ext cx="1910688" cy="2683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2" name="Picture 4" descr="C:\Users\boyera\Desktop\WF\Work\sb_conseil_propal\FINAL_Kenya BoP study (web Jan 02_2013).bm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20" y="3803128"/>
            <a:ext cx="2092825" cy="2669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63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Web of Mobile, voice &amp; radio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72124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Lots of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SMS+Web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applications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Web Alliance for </a:t>
            </a:r>
            <a:r>
              <a:rPr lang="en-US" sz="2300" dirty="0" err="1" smtClean="0">
                <a:latin typeface="Trebuchet MS" pitchFamily="34" charset="0"/>
                <a:cs typeface="ＭＳ Ｐゴシック" pitchFamily="34" charset="-128"/>
              </a:rPr>
              <a:t>Regreening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in Africa (W4RA)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Tools for small-holder farmers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Tools for community radio stations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VOICES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EU-Funded research project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Voice technology toolbox</a:t>
            </a:r>
          </a:p>
        </p:txBody>
      </p:sp>
      <p:pic>
        <p:nvPicPr>
          <p:cNvPr id="4" name="Picture 2" descr="C:\Users\boyera\Desktop\Ghana_Votes_2012-04-20_13-55-40-143x1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723" y="1774658"/>
            <a:ext cx="1896593" cy="159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Radio ORTM Banka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197" y="4450494"/>
            <a:ext cx="2863424" cy="17555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7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077" y="0"/>
            <a:ext cx="7223029" cy="812800"/>
          </a:xfrm>
        </p:spPr>
        <p:txBody>
          <a:bodyPr/>
          <a:lstStyle/>
          <a:p>
            <a:r>
              <a:rPr lang="en-GB" sz="2800" dirty="0" err="1"/>
              <a:t>VOIce</a:t>
            </a:r>
            <a:r>
              <a:rPr lang="en-GB" sz="2800" dirty="0"/>
              <a:t>-based Community-</a:t>
            </a:r>
            <a:r>
              <a:rPr lang="en-GB" sz="2800" dirty="0" err="1"/>
              <a:t>cEntric</a:t>
            </a:r>
            <a:r>
              <a:rPr lang="en-GB" sz="2800" dirty="0"/>
              <a:t> mobile Services for social development 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7212419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EU-Funded research project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Focused on voice &amp; radio services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Themes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Agriculture in Mali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Health in Senegal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Result: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voice toolbox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A portfolio of business models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9" t="23271" r="9740" b="55354"/>
          <a:stretch>
            <a:fillRect/>
          </a:stretch>
        </p:blipFill>
        <p:spPr bwMode="auto">
          <a:xfrm>
            <a:off x="5752834" y="1189036"/>
            <a:ext cx="2616728" cy="135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ANd9GcQEM2uTfDe9B8Q9X-XYCooVRTI3AVQc0nzqMfDQKZH3J8L5SmBj6WwyAIVr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870" y="2721696"/>
            <a:ext cx="678457" cy="44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FP7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198" y="2672914"/>
            <a:ext cx="583817" cy="47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boyera\Desktop\radiomarch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637" y="3214479"/>
            <a:ext cx="2085378" cy="208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:\Users\boyera\Desktop\logo_tabal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4711700"/>
            <a:ext cx="1628656" cy="164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boyera\Desktop\logo-ForobaBlon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528" y="4868498"/>
            <a:ext cx="1600544" cy="160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9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2" y="2958980"/>
            <a:ext cx="5063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Open Linked Data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0532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Why Open Linked Data?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Lots of small NGOs working in silos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On specific products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With specific communities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Lots of knowledge is lost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due to lack of publication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Lots of phenomena are global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Food security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Climate Change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etc.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=&gt; </a:t>
            </a: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Knowledge &amp; data sharing is essential</a:t>
            </a:r>
          </a:p>
        </p:txBody>
      </p:sp>
      <p:sp>
        <p:nvSpPr>
          <p:cNvPr id="6" name="Rectangle à coins arrondis 9"/>
          <p:cNvSpPr/>
          <p:nvPr/>
        </p:nvSpPr>
        <p:spPr>
          <a:xfrm>
            <a:off x="6333669" y="2322312"/>
            <a:ext cx="1973568" cy="2157418"/>
          </a:xfrm>
          <a:prstGeom prst="roundRect">
            <a:avLst/>
          </a:prstGeom>
          <a:blipFill rotWithShape="1">
            <a:blip r:embed="rId2" cstate="print"/>
            <a:stretch>
              <a:fillRect/>
            </a:stretch>
          </a:blipFill>
          <a:ln w="25400" cap="flat" cmpd="sng" algn="ctr">
            <a:solidFill>
              <a:srgbClr val="A3C3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stA="50000" endPos="25000" dist="127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947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Generating new knowledge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22828" y="1190715"/>
            <a:ext cx="5813948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Knowledge Sharing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Mash-up of datasets from different sources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Linking NGOs’ data and Gov. Data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Evaluating impacts of events on global trends (e.g. impact of war on food security and prices)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Detecting new trends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(e.g. disease outbreak)</a:t>
            </a:r>
          </a:p>
        </p:txBody>
      </p:sp>
      <p:sp>
        <p:nvSpPr>
          <p:cNvPr id="7" name="Arrondir un rectangle à un seul coin 15"/>
          <p:cNvSpPr/>
          <p:nvPr/>
        </p:nvSpPr>
        <p:spPr>
          <a:xfrm rot="188771" flipH="1">
            <a:off x="5809795" y="3392626"/>
            <a:ext cx="3200400" cy="2438400"/>
          </a:xfrm>
          <a:prstGeom prst="round1Rect">
            <a:avLst/>
          </a:prstGeom>
          <a:blipFill rotWithShape="1">
            <a:blip r:embed="rId2" cstate="print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088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5816194" cy="812800"/>
          </a:xfrm>
        </p:spPr>
        <p:txBody>
          <a:bodyPr/>
          <a:lstStyle/>
          <a:p>
            <a:r>
              <a:rPr lang="en-US" dirty="0" smtClean="0"/>
              <a:t>Challenges of </a:t>
            </a:r>
            <a:r>
              <a:rPr lang="en-US" dirty="0" smtClean="0"/>
              <a:t>Linked Open Data</a:t>
            </a:r>
            <a:endParaRPr lang="en-US" dirty="0"/>
          </a:p>
        </p:txBody>
      </p:sp>
      <p:sp>
        <p:nvSpPr>
          <p:cNvPr id="5" name="Espace réservé du contenu 1"/>
          <p:cNvSpPr>
            <a:spLocks/>
          </p:cNvSpPr>
          <p:nvPr/>
        </p:nvSpPr>
        <p:spPr bwMode="auto">
          <a:xfrm>
            <a:off x="130077" y="1189036"/>
            <a:ext cx="6289675" cy="4973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Lack of efficient infrastructure for sharing datasets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Lack </a:t>
            </a:r>
            <a:r>
              <a:rPr lang="en-US" sz="2300" smtClean="0">
                <a:latin typeface="Trebuchet MS" pitchFamily="34" charset="0"/>
                <a:cs typeface="ＭＳ Ｐゴシック" pitchFamily="34" charset="-128"/>
              </a:rPr>
              <a:t>of LOD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concept in popular tools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Lack of data reuse, mash-up, etc.</a:t>
            </a:r>
            <a:endParaRPr lang="en-US" sz="2300" b="1" dirty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Training &amp; capacity building at developer level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188" y="3953050"/>
            <a:ext cx="2958491" cy="22096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5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© 2011. World Wide Web Foundation. All rights reserved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201003" y="1596788"/>
            <a:ext cx="6701051" cy="3493827"/>
          </a:xfrm>
          <a:prstGeom prst="roundRect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38234" y="2710231"/>
            <a:ext cx="45174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Conclusion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354842"/>
            <a:ext cx="5884886" cy="382138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Conclusion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/>
            </a:r>
            <a:br>
              <a:rPr lang="en-US" sz="2800" dirty="0">
                <a:latin typeface="Trebuchet MS" pitchFamily="34" charset="0"/>
                <a:cs typeface="ＭＳ Ｐゴシック" pitchFamily="34" charset="-128"/>
              </a:rPr>
            </a:br>
            <a:endParaRPr lang="en-US" dirty="0" smtClean="0"/>
          </a:p>
        </p:txBody>
      </p:sp>
      <p:sp>
        <p:nvSpPr>
          <p:cNvPr id="11" name="Espace réservé du contenu 1"/>
          <p:cNvSpPr>
            <a:spLocks/>
          </p:cNvSpPr>
          <p:nvPr/>
        </p:nvSpPr>
        <p:spPr bwMode="auto">
          <a:xfrm>
            <a:off x="198315" y="1095185"/>
            <a:ext cx="8536251" cy="49736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b="1" dirty="0" smtClean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 Web has a huge potential in Social &amp; Economic Development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Traditional Web access is very limited for people living at the base of the pyramid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 New opportunities for providing the benefit of the Web are now arising, based on Mobile, Voice or Radio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There is a growing number of services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Data and knowledge sharing is critical to measure global phenomena and generate new knowledge. </a:t>
            </a: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o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pen linked data is the model to go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en-US" sz="23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en-US" sz="2300" dirty="0" smtClean="0">
                <a:latin typeface="Trebuchet MS" pitchFamily="34" charset="0"/>
                <a:cs typeface="ＭＳ Ｐゴシック" pitchFamily="34" charset="-128"/>
              </a:rPr>
              <a:t>More work is needed to built open linked data paradigm in ongoing initiatives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en-US" sz="2300" dirty="0" smtClean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27653" name="TextBox 4"/>
          <p:cNvSpPr txBox="1">
            <a:spLocks noChangeArrowheads="1"/>
          </p:cNvSpPr>
          <p:nvPr/>
        </p:nvSpPr>
        <p:spPr bwMode="auto">
          <a:xfrm>
            <a:off x="620713" y="1577975"/>
            <a:ext cx="6553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2"/>
              </a:rPr>
              <a:t>http://</a:t>
            </a:r>
            <a:r>
              <a:rPr lang="en-US" u="sng" dirty="0" smtClean="0"/>
              <a:t>www.sbc4d.com</a:t>
            </a:r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3"/>
              </a:rPr>
              <a:t>http://www.mvoices.eu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4"/>
              </a:rPr>
              <a:t>http://www.w4ra.org/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>
                <a:hlinkClick r:id="rId5"/>
              </a:rPr>
              <a:t>http://www.w3.org/TR/2009/NOTE-mw4d-roadmap-20091208/</a:t>
            </a:r>
            <a:endParaRPr lang="en-US" u="sng" dirty="0" smtClean="0"/>
          </a:p>
          <a:p>
            <a:pPr eaLnBrk="1" hangingPunct="1">
              <a:buClr>
                <a:schemeClr val="accent1"/>
              </a:buClr>
              <a:buFont typeface="Arial" pitchFamily="34" charset="0"/>
              <a:buChar char="•"/>
            </a:pPr>
            <a:r>
              <a:rPr lang="en-US" u="sng" dirty="0" smtClean="0"/>
              <a:t>http://www.stephb.org</a:t>
            </a:r>
          </a:p>
          <a:p>
            <a:pPr marL="0" indent="0" eaLnBrk="1" hangingPunct="1"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5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47068</TotalTime>
  <Words>539</Words>
  <Application>Microsoft Office PowerPoint</Application>
  <PresentationFormat>Affichage à l'écran (4:3)</PresentationFormat>
  <Paragraphs>109</Paragraphs>
  <Slides>19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Thème Office</vt:lpstr>
      <vt:lpstr>Semantic Web for Social &amp; Economic Development?</vt:lpstr>
      <vt:lpstr>Overview</vt:lpstr>
      <vt:lpstr>The promises of ICTD </vt:lpstr>
      <vt:lpstr>Challenges of Web access</vt:lpstr>
      <vt:lpstr>Web Access: Current State</vt:lpstr>
      <vt:lpstr>Web Access: Current State</vt:lpstr>
      <vt:lpstr>Huge Information needs</vt:lpstr>
      <vt:lpstr>Présentation PowerPoint</vt:lpstr>
      <vt:lpstr>Information Appliances: Radio</vt:lpstr>
      <vt:lpstr>Information Appliances: Mobile phones</vt:lpstr>
      <vt:lpstr>Web of Mobile, voice &amp; radio</vt:lpstr>
      <vt:lpstr>VOIce-based Community-cEntric mobile Services for social development </vt:lpstr>
      <vt:lpstr>Présentation PowerPoint</vt:lpstr>
      <vt:lpstr>Why Open Linked Data?</vt:lpstr>
      <vt:lpstr>Generating new knowledge</vt:lpstr>
      <vt:lpstr>Challenges of Linked Open Data</vt:lpstr>
      <vt:lpstr>Présentation PowerPoint</vt:lpstr>
      <vt:lpstr>Conclusion </vt:lpstr>
      <vt:lpstr>References</vt:lpstr>
    </vt:vector>
  </TitlesOfParts>
  <Company>WITHYOU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boyera</cp:lastModifiedBy>
  <cp:revision>697</cp:revision>
  <cp:lastPrinted>2011-11-29T16:00:44Z</cp:lastPrinted>
  <dcterms:created xsi:type="dcterms:W3CDTF">2009-10-15T09:24:18Z</dcterms:created>
  <dcterms:modified xsi:type="dcterms:W3CDTF">2013-09-19T12:11:51Z</dcterms:modified>
</cp:coreProperties>
</file>