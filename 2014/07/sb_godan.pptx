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89" r:id="rId3"/>
    <p:sldId id="277" r:id="rId4"/>
    <p:sldId id="280" r:id="rId5"/>
    <p:sldId id="287" r:id="rId6"/>
    <p:sldId id="293" r:id="rId7"/>
    <p:sldId id="294" r:id="rId8"/>
    <p:sldId id="292" r:id="rId9"/>
    <p:sldId id="295" r:id="rId10"/>
    <p:sldId id="290" r:id="rId11"/>
    <p:sldId id="272" r:id="rId12"/>
    <p:sldId id="273" r:id="rId13"/>
    <p:sldId id="274" r:id="rId14"/>
  </p:sldIdLst>
  <p:sldSz cx="9144000" cy="6858000" type="screen4x3"/>
  <p:notesSz cx="7099300" cy="102346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0D450"/>
    <a:srgbClr val="29A428"/>
    <a:srgbClr val="1F547E"/>
    <a:srgbClr val="1F497D"/>
    <a:srgbClr val="005D92"/>
    <a:srgbClr val="B7A797"/>
    <a:srgbClr val="B1BCA4"/>
    <a:srgbClr val="000000"/>
    <a:srgbClr val="7AA6EC"/>
    <a:srgbClr val="FF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6" autoAdjust="0"/>
    <p:restoredTop sz="97771" autoAdjust="0"/>
  </p:normalViewPr>
  <p:slideViewPr>
    <p:cSldViewPr snapToGrid="0">
      <p:cViewPr>
        <p:scale>
          <a:sx n="70" d="100"/>
          <a:sy n="70" d="100"/>
        </p:scale>
        <p:origin x="-1758" y="-4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09/07/2014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09/07/2014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7" tIns="49524" rIns="99047" bIns="49524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294" y="4860581"/>
            <a:ext cx="5680712" cy="4607299"/>
          </a:xfrm>
          <a:prstGeom prst="rect">
            <a:avLst/>
          </a:prstGeom>
        </p:spPr>
        <p:txBody>
          <a:bodyPr vert="horz" lIns="99047" tIns="49524" rIns="99047" bIns="49524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10</a:t>
            </a:fld>
            <a:endParaRPr lang="fr-FR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12</a:t>
            </a:fld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481013" y="1479550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71" y="234950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44075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 smtClean="0">
                <a:solidFill>
                  <a:schemeClr val="bg1"/>
                </a:solidFill>
              </a:rPr>
              <a:t>Copyright © 2014. SB</a:t>
            </a:r>
            <a:r>
              <a:rPr lang="en-US" sz="1100" baseline="0" dirty="0" smtClean="0">
                <a:solidFill>
                  <a:schemeClr val="bg1"/>
                </a:solidFill>
              </a:rPr>
              <a:t>C4D – http://wwww.sbc4d.com</a:t>
            </a:r>
            <a:r>
              <a:rPr lang="en-US" sz="1100" dirty="0" smtClean="0">
                <a:solidFill>
                  <a:schemeClr val="bg1"/>
                </a:solidFill>
              </a:rPr>
              <a:t>. All rights reserved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434" y="54449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F8CAA-C111-4E87-A7DA-24CC277DC31B}" type="datetimeFigureOut">
              <a:rPr lang="en-US"/>
              <a:pPr>
                <a:defRPr/>
              </a:pPr>
              <a:t>7/9/2014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40E70-A7E7-45C7-B419-A5744BEC002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26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here to modify texte styles of the mask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fr-FR" smtClean="0"/>
              <a:t>T</a:t>
            </a:r>
            <a:r>
              <a:rPr lang="en-US" smtClean="0"/>
              <a:t>hird level</a:t>
            </a:r>
          </a:p>
          <a:p>
            <a:pPr lvl="3"/>
            <a:r>
              <a:rPr lang="fr-FR" smtClean="0"/>
              <a:t>F</a:t>
            </a:r>
            <a:r>
              <a:rPr lang="en-US" smtClean="0"/>
              <a:t>orth level</a:t>
            </a:r>
          </a:p>
          <a:p>
            <a:pPr lvl="4"/>
            <a:r>
              <a:rPr lang="fr-FR" smtClean="0"/>
              <a:t>F</a:t>
            </a:r>
            <a:r>
              <a:rPr lang="en-US" smtClean="0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  <p:sldLayoutId id="2147485045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1uJk9Z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1uJk9ZI" TargetMode="External"/><Relationship Id="rId2" Type="http://schemas.openxmlformats.org/officeDocument/2006/relationships/hyperlink" Target="http://www.webfoundation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4ra.org/" TargetMode="External"/><Relationship Id="rId4" Type="http://schemas.openxmlformats.org/officeDocument/2006/relationships/hyperlink" Target="http://www.sbc4d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Data in Developing Countries: State of the </a:t>
            </a:r>
            <a:r>
              <a:rPr lang="en-US" dirty="0" smtClean="0"/>
              <a:t>Art &amp; </a:t>
            </a:r>
            <a:r>
              <a:rPr lang="en-US" dirty="0" smtClean="0"/>
              <a:t>input for GODAN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78809" y="4868317"/>
            <a:ext cx="8305800" cy="1306513"/>
          </a:xfrm>
        </p:spPr>
        <p:txBody>
          <a:bodyPr/>
          <a:lstStyle/>
          <a:p>
            <a:r>
              <a:rPr lang="en-US" sz="1600" b="1" dirty="0" err="1">
                <a:latin typeface="Trebuchet MS" pitchFamily="34" charset="0"/>
              </a:rPr>
              <a:t>Stéphane</a:t>
            </a:r>
            <a:r>
              <a:rPr lang="en-US" sz="1600" b="1" dirty="0">
                <a:latin typeface="Trebuchet MS" pitchFamily="34" charset="0"/>
              </a:rPr>
              <a:t> </a:t>
            </a:r>
            <a:r>
              <a:rPr lang="en-US" sz="1600" b="1" dirty="0" err="1">
                <a:latin typeface="Trebuchet MS" pitchFamily="34" charset="0"/>
              </a:rPr>
              <a:t>Boyera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CEO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stephane@sbc4d.com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600" b="1" dirty="0" smtClean="0">
                <a:latin typeface="Trebuchet MS" pitchFamily="34" charset="0"/>
              </a:rPr>
              <a:t>SBC4D – http://www.sbc4d.com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400" b="1" dirty="0" smtClean="0"/>
              <a:t>GODAN Meeting, The Hague, </a:t>
            </a:r>
            <a:r>
              <a:rPr lang="fr-FR" sz="1400" b="1" dirty="0" err="1" smtClean="0"/>
              <a:t>Netherland</a:t>
            </a:r>
            <a:r>
              <a:rPr lang="fr-FR" sz="1400" b="1" dirty="0" smtClean="0"/>
              <a:t> - </a:t>
            </a:r>
            <a:r>
              <a:rPr lang="en-US" sz="1400" b="1" dirty="0" smtClean="0">
                <a:latin typeface="Trebuchet MS" pitchFamily="34" charset="0"/>
              </a:rPr>
              <a:t>10 July 2014</a:t>
            </a:r>
            <a:endParaRPr lang="en-US" sz="1400" b="1" dirty="0">
              <a:latin typeface="Trebuchet MS" pitchFamily="34" charset="0"/>
            </a:endParaRPr>
          </a:p>
          <a:p>
            <a:r>
              <a:rPr lang="en-US" sz="1400" b="1" dirty="0"/>
              <a:t>http</a:t>
            </a:r>
            <a:r>
              <a:rPr lang="en-US" sz="1400" b="1" dirty="0" smtClean="0"/>
              <a:t>://demo.sbc4d.com/public/2014/07/sb_godan.pptx</a:t>
            </a:r>
            <a:endParaRPr lang="en-US" sz="1200" b="1" dirty="0">
              <a:latin typeface="Trebuchet MS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2011. World Wide Web Foundation. All rights reserved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201003" y="1596788"/>
            <a:ext cx="6701051" cy="3493827"/>
          </a:xfrm>
          <a:prstGeom prst="roundRect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38232" y="2958980"/>
            <a:ext cx="50633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Introduction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90733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4" y="0"/>
            <a:ext cx="6744695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Open Data in Developing Countries: State of the Art</a:t>
            </a: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16427" y="1125833"/>
            <a:ext cx="6289675" cy="49736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400" b="1" dirty="0" smtClean="0">
                <a:latin typeface="Trebuchet MS" pitchFamily="34" charset="0"/>
                <a:cs typeface="ＭＳ Ｐゴシック" pitchFamily="34" charset="-128"/>
              </a:rPr>
              <a:t>A study of the Partnership for Open Data</a:t>
            </a:r>
            <a:endParaRPr lang="en-US" sz="2300" b="1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400" b="1" dirty="0" smtClean="0">
                <a:latin typeface="Trebuchet MS" pitchFamily="34" charset="0"/>
                <a:cs typeface="ＭＳ Ｐゴシック" pitchFamily="34" charset="-128"/>
              </a:rPr>
              <a:t>Period: March-June 2014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400" b="1" dirty="0" smtClean="0">
                <a:latin typeface="Trebuchet MS" pitchFamily="34" charset="0"/>
                <a:cs typeface="ＭＳ Ｐゴシック" pitchFamily="34" charset="-128"/>
              </a:rPr>
              <a:t>Public almost final draft: </a:t>
            </a:r>
            <a:r>
              <a:rPr lang="fr-FR" sz="2400" b="1" u="sng" dirty="0">
                <a:hlinkClick r:id="rId3"/>
              </a:rPr>
              <a:t>http://</a:t>
            </a:r>
            <a:r>
              <a:rPr lang="fr-FR" sz="2400" b="1" u="sng" dirty="0" smtClean="0">
                <a:hlinkClick r:id="rId3"/>
              </a:rPr>
              <a:t>bit.ly/1uJk9ZI</a:t>
            </a:r>
            <a:r>
              <a:rPr lang="fr-FR" sz="2400" b="1" u="sng" dirty="0" smtClean="0"/>
              <a:t> </a:t>
            </a:r>
            <a:endParaRPr lang="en-US" sz="2400" b="1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400" b="1" dirty="0" smtClean="0">
                <a:latin typeface="Trebuchet MS" pitchFamily="34" charset="0"/>
                <a:cs typeface="ＭＳ Ｐゴシック" pitchFamily="34" charset="-128"/>
              </a:rPr>
              <a:t>Objectives: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400" b="1" dirty="0" smtClean="0">
                <a:latin typeface="Trebuchet MS" pitchFamily="34" charset="0"/>
                <a:cs typeface="ＭＳ Ｐゴシック" pitchFamily="34" charset="-128"/>
              </a:rPr>
              <a:t>Identify key actors &amp; activities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400" b="1" dirty="0" smtClean="0">
                <a:latin typeface="Trebuchet MS" pitchFamily="34" charset="0"/>
                <a:cs typeface="ＭＳ Ｐゴシック" pitchFamily="34" charset="-128"/>
              </a:rPr>
              <a:t>Identify trends &amp; patterns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400" b="1" dirty="0" smtClean="0">
                <a:latin typeface="Trebuchet MS" pitchFamily="34" charset="0"/>
                <a:cs typeface="ＭＳ Ｐゴシック" pitchFamily="34" charset="-128"/>
              </a:rPr>
              <a:t>Identify promising geographical areas/countries </a:t>
            </a: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	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000" b="1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09.png" descr="POD-400px-wide-color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7028596" y="1624924"/>
            <a:ext cx="956357" cy="198772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11396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5543692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Open Data &amp; Agriculture</a:t>
            </a: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09182" y="1120796"/>
            <a:ext cx="7029805" cy="49736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Almost no work identified in the sector:</a:t>
            </a:r>
          </a:p>
          <a:p>
            <a:pPr lvl="1" eaLnBrk="0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 smtClean="0">
                <a:latin typeface="Trebuchet MS" pitchFamily="34" charset="0"/>
                <a:cs typeface="Arial" pitchFamily="34" charset="0"/>
              </a:rPr>
              <a:t> W4RA led by VU University – Sahel Region</a:t>
            </a:r>
          </a:p>
          <a:p>
            <a:pPr lvl="1" eaLnBrk="0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200" dirty="0" smtClean="0">
                <a:latin typeface="Trebuchet MS" pitchFamily="34" charset="0"/>
                <a:cs typeface="Arial" pitchFamily="34" charset="0"/>
              </a:rPr>
              <a:t>ILDA in Latin America</a:t>
            </a:r>
          </a:p>
          <a:p>
            <a:pPr lvl="1" eaLnBrk="0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200" dirty="0" smtClean="0">
                <a:latin typeface="Trebuchet MS" pitchFamily="34" charset="0"/>
                <a:cs typeface="Arial" pitchFamily="34" charset="0"/>
              </a:rPr>
              <a:t>Some national initiatives have some datasets</a:t>
            </a:r>
          </a:p>
          <a:p>
            <a:pPr lvl="2" eaLnBrk="0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200" dirty="0" smtClean="0">
                <a:latin typeface="Trebuchet MS" pitchFamily="34" charset="0"/>
                <a:cs typeface="Arial" pitchFamily="34" charset="0"/>
              </a:rPr>
              <a:t>Usually Ministries of agriculture are less tech-</a:t>
            </a:r>
            <a:r>
              <a:rPr lang="en-US" sz="2200" dirty="0" err="1" smtClean="0">
                <a:latin typeface="Trebuchet MS" pitchFamily="34" charset="0"/>
                <a:cs typeface="Arial" pitchFamily="34" charset="0"/>
              </a:rPr>
              <a:t>savy</a:t>
            </a:r>
            <a:r>
              <a:rPr lang="en-US" sz="2200" dirty="0" smtClean="0">
                <a:latin typeface="Trebuchet MS" pitchFamily="34" charset="0"/>
                <a:cs typeface="Arial" pitchFamily="34" charset="0"/>
              </a:rPr>
              <a:t> than other with some exceptions</a:t>
            </a:r>
          </a:p>
          <a:p>
            <a:pPr lvl="2" eaLnBrk="0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200" dirty="0" smtClean="0">
                <a:latin typeface="Trebuchet MS" pitchFamily="34" charset="0"/>
                <a:cs typeface="Arial" pitchFamily="34" charset="0"/>
              </a:rPr>
              <a:t>Related agencies: weather, map, etc.</a:t>
            </a:r>
            <a:endParaRPr lang="en-US" sz="2200" dirty="0">
              <a:latin typeface="Trebuchet MS" pitchFamily="34" charset="0"/>
              <a:cs typeface="Arial" pitchFamily="34" charset="0"/>
            </a:endParaRPr>
          </a:p>
          <a:p>
            <a:pPr eaLnBrk="0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200" dirty="0" smtClean="0">
                <a:latin typeface="Trebuchet MS" pitchFamily="34" charset="0"/>
                <a:cs typeface="Arial" pitchFamily="34" charset="0"/>
              </a:rPr>
              <a:t>Some related work</a:t>
            </a:r>
          </a:p>
          <a:p>
            <a:pPr lvl="1" eaLnBrk="0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200" dirty="0" smtClean="0">
                <a:latin typeface="Trebuchet MS" pitchFamily="34" charset="0"/>
                <a:cs typeface="Arial" pitchFamily="34" charset="0"/>
              </a:rPr>
              <a:t>Open Climate</a:t>
            </a:r>
          </a:p>
        </p:txBody>
      </p:sp>
      <p:pic>
        <p:nvPicPr>
          <p:cNvPr id="5" name="Picture 2" descr="C:\Users\boyera\Desktop\VBAT_F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193" y="4303651"/>
            <a:ext cx="3335604" cy="211771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16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3" y="0"/>
            <a:ext cx="6785639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What can we learn from other domains?</a:t>
            </a: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09184" y="1598474"/>
            <a:ext cx="5794636" cy="375145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What are the key ingredients of an initiative?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What are the possible position and role of a coordinating body like GODAN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?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Who are the key partners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?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What are possible approaches?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sp>
        <p:nvSpPr>
          <p:cNvPr id="5" name="Arrondir un rectangle à un seul coin 15"/>
          <p:cNvSpPr/>
          <p:nvPr/>
        </p:nvSpPr>
        <p:spPr>
          <a:xfrm rot="188771" flipH="1">
            <a:off x="5964347" y="1499004"/>
            <a:ext cx="2903364" cy="2285361"/>
          </a:xfrm>
          <a:prstGeom prst="round1Rect">
            <a:avLst/>
          </a:prstGeom>
          <a:blipFill rotWithShape="1">
            <a:blip r:embed="rId3" cstate="print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286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3" y="0"/>
            <a:ext cx="6785639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Key Ingredients of an OD-related initiative</a:t>
            </a: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09184" y="1598474"/>
            <a:ext cx="5794636" cy="375145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Splitting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the domain in specific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elements: targeted impacts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Providing Data format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Providing Tools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Providing registry(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ies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Providing shining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examples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Leveraging Innovation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Mixing global &amp; local approaches</a:t>
            </a:r>
          </a:p>
        </p:txBody>
      </p:sp>
      <p:pic>
        <p:nvPicPr>
          <p:cNvPr id="6" name="Picture 2" descr="C:\Users\boyera\Desktop\IMG_62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489" y="1940905"/>
            <a:ext cx="2859338" cy="21443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53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3" y="0"/>
            <a:ext cx="6785639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Possible Role for a coordinating body</a:t>
            </a: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09184" y="1598474"/>
            <a:ext cx="5794636" cy="375145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Coordination of activities &amp; assistance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e.g. POD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Coordination of funders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e.g. TAI, </a:t>
            </a:r>
            <a:r>
              <a:rPr lang="fr-FR" sz="2400" dirty="0"/>
              <a:t>Public </a:t>
            </a:r>
            <a:r>
              <a:rPr lang="fr-FR" sz="2400" dirty="0" err="1"/>
              <a:t>Health</a:t>
            </a:r>
            <a:r>
              <a:rPr lang="fr-FR" sz="2400" dirty="0"/>
              <a:t> </a:t>
            </a:r>
            <a:r>
              <a:rPr lang="fr-FR" sz="2400" dirty="0" err="1"/>
              <a:t>Research</a:t>
            </a:r>
            <a:r>
              <a:rPr lang="fr-FR" sz="2400" dirty="0"/>
              <a:t> Data Forum </a:t>
            </a:r>
            <a:endParaRPr lang="fr-FR" sz="2400" dirty="0" smtClean="0"/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300" dirty="0" err="1" smtClean="0">
                <a:latin typeface="Trebuchet MS" pitchFamily="34" charset="0"/>
                <a:cs typeface="ＭＳ Ｐゴシック" pitchFamily="34" charset="-128"/>
              </a:rPr>
              <a:t>Funding</a:t>
            </a:r>
            <a:r>
              <a:rPr lang="fr-FR" sz="2300" dirty="0" smtClean="0">
                <a:latin typeface="Trebuchet MS" pitchFamily="34" charset="0"/>
                <a:cs typeface="ＭＳ Ｐゴシック" pitchFamily="34" charset="-128"/>
              </a:rPr>
              <a:t> Body: </a:t>
            </a:r>
            <a:r>
              <a:rPr lang="fr-FR" sz="2300" dirty="0" err="1" smtClean="0">
                <a:latin typeface="Trebuchet MS" pitchFamily="34" charset="0"/>
                <a:cs typeface="ＭＳ Ｐゴシック" pitchFamily="34" charset="-128"/>
              </a:rPr>
              <a:t>E.g</a:t>
            </a:r>
            <a:r>
              <a:rPr lang="fr-FR" sz="2300" dirty="0" smtClean="0">
                <a:latin typeface="Trebuchet MS" pitchFamily="34" charset="0"/>
                <a:cs typeface="ＭＳ Ｐゴシック" pitchFamily="34" charset="-128"/>
              </a:rPr>
              <a:t>. MAVC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Implementation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e.g.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Landportal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, open climate portal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Resources development: tools, training, use-cases, etc.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e.g. OKF </a:t>
            </a:r>
          </a:p>
        </p:txBody>
      </p:sp>
      <p:pic>
        <p:nvPicPr>
          <p:cNvPr id="6" name="Picture 3" descr="C:\Users\boyera\Desktop\6a00d8341bfb1653ef014e890280b8970d-550wi-187x3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289" y="1598474"/>
            <a:ext cx="1781175" cy="2857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15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3" y="0"/>
            <a:ext cx="6785639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Potential Key Partners</a:t>
            </a: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204718" y="1216336"/>
            <a:ext cx="5794636" cy="375145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Partnership for Open Data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Implementation, Assistance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Governments implementing OD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OGP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ODWG: </a:t>
            </a: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Sector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agnostic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 dedicated WG?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World Bank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Potential Amplifier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Open Climate initiative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Elements of the strategy?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7" name="Picture 2" descr="C:\Users\boyera\Desktop\odword-300x16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427" y="2138355"/>
            <a:ext cx="2857500" cy="15525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101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3" y="0"/>
            <a:ext cx="6785639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Potential </a:t>
            </a:r>
            <a:r>
              <a:rPr lang="en-US" dirty="0" smtClean="0"/>
              <a:t>Approaches</a:t>
            </a:r>
            <a:endParaRPr lang="en-US" dirty="0" smtClean="0"/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204718" y="1216336"/>
            <a:ext cx="5794636" cy="375145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Tools Vs Solution or Objective Vs Mean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Defining objectives in terms of OD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measure of datasets etc.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define mission as part of OD org.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E.g.  OD country approaches, IATI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Defining objectives in terms of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Agri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Measure of GDP, production, poverty reduction, exports, etc. 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Define mission within the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Agri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sector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E.g.: Open Climate, EITI, COSTS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Harder (wider expertise required), more measurable impact, likely more interest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7" name="Picture 2" descr="C:\Users\boyera\Desktop\odword-300x16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167" y="2138355"/>
            <a:ext cx="2857500" cy="15525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9196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5298032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Other related work to leverage</a:t>
            </a: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09184" y="1216337"/>
            <a:ext cx="5794636" cy="375145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ICT for Agriculture initiatives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Different topics: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Trade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MIS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Extension Services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Weather forecast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etc.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Different technologies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Mobile (SMS/IVR)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Radio/TV/Video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etc.</a:t>
            </a:r>
          </a:p>
        </p:txBody>
      </p:sp>
      <p:pic>
        <p:nvPicPr>
          <p:cNvPr id="8" name="Picture 3" descr="C:\Users\boyera\Desktop\platfor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522" y="2964133"/>
            <a:ext cx="3383839" cy="253787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53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2011. World Wide Web Foundation. All rights reserved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201003" y="1596788"/>
            <a:ext cx="6701051" cy="3493827"/>
          </a:xfrm>
          <a:prstGeom prst="roundRect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38234" y="2710231"/>
            <a:ext cx="45174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Conclusion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27045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354842"/>
            <a:ext cx="5884886" cy="382138"/>
          </a:xfrm>
        </p:spPr>
        <p:txBody>
          <a:bodyPr/>
          <a:lstStyle/>
          <a:p>
            <a:pPr>
              <a:defRPr/>
            </a:pPr>
            <a:r>
              <a:rPr lang="fr-FR" dirty="0" smtClean="0"/>
              <a:t>Conclusion</a:t>
            </a: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/>
            </a:r>
            <a:br>
              <a:rPr lang="en-US" sz="2800" dirty="0">
                <a:latin typeface="Trebuchet MS" pitchFamily="34" charset="0"/>
                <a:cs typeface="ＭＳ Ｐゴシック" pitchFamily="34" charset="-128"/>
              </a:rPr>
            </a:br>
            <a:endParaRPr lang="en-US" dirty="0" smtClean="0"/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98315" y="1368146"/>
            <a:ext cx="8536251" cy="376341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Godan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is feeling a gap and has lots of potential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Need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to define the core mission: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What are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the objectives?</a:t>
            </a: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T&amp;A?</a:t>
            </a: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Social &amp; Economic Development?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Who are the targets?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What are the expected benefits?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There are lots of existing initiatives to leverage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Lots of potential synergies with some other partners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Lot of experience to learn from other domains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90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27653" name="TextBox 4"/>
          <p:cNvSpPr txBox="1">
            <a:spLocks noChangeArrowheads="1"/>
          </p:cNvSpPr>
          <p:nvPr/>
        </p:nvSpPr>
        <p:spPr bwMode="auto">
          <a:xfrm>
            <a:off x="620713" y="1577975"/>
            <a:ext cx="65532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2"/>
              </a:rPr>
              <a:t>Open Data in Developing </a:t>
            </a:r>
            <a:r>
              <a:rPr lang="en-US" u="sng" dirty="0">
                <a:hlinkClick r:id="rId2"/>
              </a:rPr>
              <a:t>C</a:t>
            </a:r>
            <a:r>
              <a:rPr lang="en-US" u="sng" dirty="0" smtClean="0">
                <a:hlinkClick r:id="rId2"/>
              </a:rPr>
              <a:t>ountries: State of the </a:t>
            </a:r>
            <a:r>
              <a:rPr lang="en-US" u="sng" dirty="0">
                <a:hlinkClick r:id="rId2"/>
              </a:rPr>
              <a:t>A</a:t>
            </a:r>
            <a:r>
              <a:rPr lang="en-US" u="sng" dirty="0" smtClean="0">
                <a:hlinkClick r:id="rId2"/>
              </a:rPr>
              <a:t>rt</a:t>
            </a:r>
            <a:r>
              <a:rPr lang="en-US" u="sng" dirty="0" smtClean="0">
                <a:hlinkClick r:id="rId2"/>
              </a:rPr>
              <a:t>: </a:t>
            </a:r>
            <a:r>
              <a:rPr lang="fr-FR" u="sng" dirty="0">
                <a:hlinkClick r:id="rId3"/>
              </a:rPr>
              <a:t>http://bit.ly/1uJk9ZI</a:t>
            </a:r>
            <a:r>
              <a:rPr lang="fr-FR" u="sng" dirty="0"/>
              <a:t> </a:t>
            </a:r>
            <a:r>
              <a:rPr lang="en-US" u="sng" dirty="0" smtClean="0">
                <a:hlinkClick r:id="rId2"/>
              </a:rPr>
              <a:t> </a:t>
            </a:r>
            <a:endParaRPr lang="en-US" u="sng" dirty="0" smtClean="0">
              <a:hlinkClick r:id="rId2"/>
            </a:endParaRPr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2"/>
              </a:rPr>
              <a:t>SBC4D: </a:t>
            </a:r>
            <a:r>
              <a:rPr lang="en-US" u="sng" dirty="0" smtClean="0">
                <a:hlinkClick r:id="rId4"/>
              </a:rPr>
              <a:t>http://www.sbc4d.com</a:t>
            </a:r>
            <a:endParaRPr lang="en-US" u="sng" dirty="0" smtClean="0"/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/>
              <a:t>http://www.sbc4d.com/publications-resources/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5"/>
              </a:rPr>
              <a:t>W4RA: http://www.w4ra.org/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/>
              <a:t>Personal Blog (on professional matters) http://www.stephb.org</a:t>
            </a:r>
          </a:p>
          <a:p>
            <a:pPr marL="0" indent="0" eaLnBrk="1" hangingPunct="1">
              <a:buClr>
                <a:schemeClr val="accent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75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51563</TotalTime>
  <Words>627</Words>
  <Application>Microsoft Office PowerPoint</Application>
  <PresentationFormat>Affichage à l'écran (4:3)</PresentationFormat>
  <Paragraphs>113</Paragraphs>
  <Slides>13</Slides>
  <Notes>9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Thème Office</vt:lpstr>
      <vt:lpstr>Open Data in Developing Countries: State of the Art &amp; input for GODAN</vt:lpstr>
      <vt:lpstr>Présentation PowerPoint</vt:lpstr>
      <vt:lpstr>Open Data in Developing Countries: State of the Art</vt:lpstr>
      <vt:lpstr>Open Data &amp; Agriculture</vt:lpstr>
      <vt:lpstr>What can we learn from other domains?</vt:lpstr>
      <vt:lpstr>Key Ingredients of an OD-related initiative</vt:lpstr>
      <vt:lpstr>Possible Role for a coordinating body</vt:lpstr>
      <vt:lpstr>Potential Key Partners</vt:lpstr>
      <vt:lpstr>Potential Approaches</vt:lpstr>
      <vt:lpstr>Other related work to leverage</vt:lpstr>
      <vt:lpstr>Présentation PowerPoint</vt:lpstr>
      <vt:lpstr>Conclusion </vt:lpstr>
      <vt:lpstr>References</vt:lpstr>
    </vt:vector>
  </TitlesOfParts>
  <Company>WITHYOU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boyera</cp:lastModifiedBy>
  <cp:revision>739</cp:revision>
  <cp:lastPrinted>2011-11-29T16:00:44Z</cp:lastPrinted>
  <dcterms:created xsi:type="dcterms:W3CDTF">2009-10-15T09:24:18Z</dcterms:created>
  <dcterms:modified xsi:type="dcterms:W3CDTF">2014-07-09T10:40:26Z</dcterms:modified>
</cp:coreProperties>
</file>