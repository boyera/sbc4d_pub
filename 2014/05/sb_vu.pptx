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6" r:id="rId3"/>
    <p:sldId id="277" r:id="rId4"/>
    <p:sldId id="280" r:id="rId5"/>
    <p:sldId id="283" r:id="rId6"/>
    <p:sldId id="288" r:id="rId7"/>
    <p:sldId id="287" r:id="rId8"/>
    <p:sldId id="286" r:id="rId9"/>
    <p:sldId id="270" r:id="rId10"/>
    <p:sldId id="284" r:id="rId11"/>
    <p:sldId id="285" r:id="rId12"/>
    <p:sldId id="268" r:id="rId13"/>
    <p:sldId id="266" r:id="rId14"/>
    <p:sldId id="275" r:id="rId15"/>
    <p:sldId id="271" r:id="rId16"/>
    <p:sldId id="272" r:id="rId17"/>
    <p:sldId id="273" r:id="rId18"/>
    <p:sldId id="274" r:id="rId19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0D450"/>
    <a:srgbClr val="29A428"/>
    <a:srgbClr val="1F547E"/>
    <a:srgbClr val="1F497D"/>
    <a:srgbClr val="005D92"/>
    <a:srgbClr val="B7A797"/>
    <a:srgbClr val="B1BCA4"/>
    <a:srgbClr val="000000"/>
    <a:srgbClr val="7AA6EC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6" autoAdjust="0"/>
    <p:restoredTop sz="97771" autoAdjust="0"/>
  </p:normalViewPr>
  <p:slideViewPr>
    <p:cSldViewPr snapToGrid="0">
      <p:cViewPr>
        <p:scale>
          <a:sx n="70" d="100"/>
          <a:sy n="70" d="100"/>
        </p:scale>
        <p:origin x="-810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16/05/2014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16/05/2014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17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2014.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5/16/2014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://www.google.nl/imgres?imgurl=http://www.carbones.eu/img/logo-eu.jpg&amp;imgrefurl=http://www.carbones.eu/&amp;usg=__k-Ksqf5IGDs-YgKR4P-gbZy1KTM=&amp;h=567&amp;w=859&amp;sz=262&amp;hl=nl&amp;start=6&amp;sig2=jQA9Jc3etRq_HcU5JsC27g&amp;zoom=1&amp;um=1&amp;itbs=1&amp;tbnid=0WNlKbN0webH2M:&amp;tbnh=96&amp;tbnw=145&amp;prev=/images?q=eu+fp7+logo&amp;um=1&amp;hl=nl&amp;sa=N&amp;rls=com.microsoft:nl:IE-SearchBox&amp;rlz=1I7GGLR_nl&amp;tbs=isch:1&amp;ei=zxNTTafeHo2XOtjN9K8H" TargetMode="External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gif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voices.eu/" TargetMode="External"/><Relationship Id="rId2" Type="http://schemas.openxmlformats.org/officeDocument/2006/relationships/hyperlink" Target="http://www.webfoundati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.org/TR/2009/NOTE-mw4d-roadmap-20091208/" TargetMode="External"/><Relationship Id="rId4" Type="http://schemas.openxmlformats.org/officeDocument/2006/relationships/hyperlink" Target="http://www.w4r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and Voice Technologies for Social &amp; Economic </a:t>
            </a:r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400" b="1" dirty="0"/>
              <a:t>Perspectives on ICT4D </a:t>
            </a:r>
            <a:r>
              <a:rPr lang="fr-FR" sz="1400" b="1" dirty="0" smtClean="0"/>
              <a:t>– Vu </a:t>
            </a:r>
            <a:r>
              <a:rPr lang="fr-FR" sz="1400" b="1" dirty="0" err="1" smtClean="0"/>
              <a:t>University</a:t>
            </a:r>
            <a:r>
              <a:rPr lang="fr-FR" sz="1400" b="1" dirty="0" smtClean="0"/>
              <a:t>, Amsterdam - </a:t>
            </a:r>
            <a:r>
              <a:rPr lang="en-US" sz="1400" b="1" dirty="0" smtClean="0">
                <a:latin typeface="Trebuchet MS" pitchFamily="34" charset="0"/>
              </a:rPr>
              <a:t>16 May 2014</a:t>
            </a:r>
            <a:endParaRPr lang="en-US" sz="1400" b="1" dirty="0">
              <a:latin typeface="Trebuchet MS" pitchFamily="34" charset="0"/>
            </a:endParaRPr>
          </a:p>
          <a:p>
            <a:r>
              <a:rPr lang="en-US" sz="1400" b="1" dirty="0"/>
              <a:t>http</a:t>
            </a:r>
            <a:r>
              <a:rPr lang="en-US" sz="1400" b="1" dirty="0" smtClean="0"/>
              <a:t>://demo.sbc4d.com/public/2014/05/sb_vu.pptx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Mobile Revolution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55705" y="1303361"/>
            <a:ext cx="5642924" cy="5554639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90% of the World population covered, 6 Billions subscribers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First time in history that a minimal ICT appliance is available at that scale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First time that a bi-directional interactive  communication device is available in the hands of the poorest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8" name="Picture 3" descr="C:\Users\boyera\Desktop\P1010391-m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801" y="1139001"/>
            <a:ext cx="3376570" cy="25311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boyera\Desktop\Sans titr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48" y="4080680"/>
            <a:ext cx="5134353" cy="230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Users\boyera\Desktop\mobile_phone_penetratio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148" y="3946546"/>
            <a:ext cx="3899223" cy="257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19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fr-FR" dirty="0" err="1" smtClean="0"/>
              <a:t>Barriers</a:t>
            </a:r>
            <a:r>
              <a:rPr lang="fr-FR" dirty="0" smtClean="0"/>
              <a:t> &amp; Challenges</a:t>
            </a:r>
            <a:endParaRPr lang="en-US" dirty="0" smtClean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191" y="1125833"/>
            <a:ext cx="4420329" cy="4484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16427" y="1125833"/>
            <a:ext cx="6289675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High Level of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Illiteracy</a:t>
            </a:r>
            <a:endParaRPr lang="en-US" sz="23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Lack of ICT-Skills and exposure to technology</a:t>
            </a:r>
            <a:endParaRPr lang="en-US" sz="23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Low disposable income</a:t>
            </a:r>
            <a:endParaRPr lang="en-US" sz="24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Lots of dialects</a:t>
            </a:r>
            <a:endParaRPr lang="en-US" sz="23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Most phones are basic phones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	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7" name="Picture 4" descr="C:\Users\boyera\Desktop\WF\Work\sb_conseil_propal\FINAL_Kenya BoP study (web Jan 02_2013)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39" y="3762184"/>
            <a:ext cx="2092825" cy="266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96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5543692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Voice technologies 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09182" y="1120796"/>
            <a:ext cx="7029805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200" dirty="0">
                <a:latin typeface="Trebuchet MS" pitchFamily="34" charset="0"/>
                <a:cs typeface="Arial" pitchFamily="34" charset="0"/>
              </a:rPr>
              <a:t>Bridge (most of) the hardware gap</a:t>
            </a:r>
          </a:p>
          <a:p>
            <a:pPr lvl="1" eaLnBrk="0" hangingPunct="0"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Trebuchet MS" pitchFamily="34" charset="0"/>
                <a:cs typeface="Arial" pitchFamily="34" charset="0"/>
              </a:rPr>
              <a:t>works on all phones – open ICT to </a:t>
            </a:r>
            <a:r>
              <a:rPr lang="en-US" sz="2000" dirty="0" smtClean="0">
                <a:latin typeface="Trebuchet MS" pitchFamily="34" charset="0"/>
                <a:cs typeface="Arial" pitchFamily="34" charset="0"/>
              </a:rPr>
              <a:t>6B </a:t>
            </a:r>
            <a:r>
              <a:rPr lang="en-US" sz="2000" dirty="0">
                <a:latin typeface="Trebuchet MS" pitchFamily="34" charset="0"/>
                <a:cs typeface="Arial" pitchFamily="34" charset="0"/>
              </a:rPr>
              <a:t>of people</a:t>
            </a:r>
            <a:endParaRPr lang="en-US" sz="2200" dirty="0">
              <a:latin typeface="Trebuchet MS" pitchFamily="34" charset="0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Bridge the Internet Connectivity gap</a:t>
            </a:r>
          </a:p>
          <a:p>
            <a:pPr lvl="1"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Trebuchet MS" pitchFamily="34" charset="0"/>
                <a:cs typeface="Arial" pitchFamily="34" charset="0"/>
              </a:rPr>
              <a:t>works on all phone networks – open ICT to 90% of the World Pop.</a:t>
            </a:r>
            <a:endParaRPr lang="en-US" sz="2200" dirty="0">
              <a:latin typeface="Trebuchet MS" pitchFamily="34" charset="0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Bridge the language gap</a:t>
            </a:r>
          </a:p>
          <a:p>
            <a:pPr lvl="1" eaLnBrk="0" hangingPunct="0"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Trebuchet MS" pitchFamily="34" charset="0"/>
                <a:cs typeface="Arial" pitchFamily="34" charset="0"/>
              </a:rPr>
              <a:t>Works in all languages (7000+ ) of the World (recorded audio)</a:t>
            </a:r>
            <a:endParaRPr lang="en-US" sz="2200" dirty="0">
              <a:latin typeface="Trebuchet MS" pitchFamily="34" charset="0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Bridge the literacy gap</a:t>
            </a:r>
          </a:p>
          <a:p>
            <a:pPr lvl="1" eaLnBrk="0" hangingPunct="0"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Trebuchet MS" pitchFamily="34" charset="0"/>
                <a:cs typeface="Arial" pitchFamily="34" charset="0"/>
              </a:rPr>
              <a:t>Does not require textual literacy (1+B illiterate adults)</a:t>
            </a:r>
            <a:endParaRPr lang="en-US" sz="2200" dirty="0">
              <a:latin typeface="Trebuchet MS" pitchFamily="34" charset="0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Bridge the </a:t>
            </a:r>
            <a:r>
              <a:rPr lang="en-US" sz="2200" dirty="0" smtClean="0">
                <a:latin typeface="Trebuchet MS" pitchFamily="34" charset="0"/>
                <a:cs typeface="Arial" pitchFamily="34" charset="0"/>
              </a:rPr>
              <a:t>ICT-skill </a:t>
            </a:r>
            <a:r>
              <a:rPr lang="en-US" sz="2200" dirty="0">
                <a:latin typeface="Trebuchet MS" pitchFamily="34" charset="0"/>
                <a:cs typeface="Arial" pitchFamily="34" charset="0"/>
              </a:rPr>
              <a:t>gap</a:t>
            </a:r>
          </a:p>
          <a:p>
            <a:pPr lvl="1" eaLnBrk="0" hangingPunct="0">
              <a:spcAft>
                <a:spcPts val="600"/>
              </a:spcAft>
              <a:buClr>
                <a:schemeClr val="accent1"/>
              </a:buClr>
              <a:buSzPct val="50000"/>
              <a:buFontTx/>
              <a:buChar char="o"/>
            </a:pPr>
            <a:r>
              <a:rPr lang="en-US" sz="2200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Trebuchet MS" pitchFamily="34" charset="0"/>
                <a:cs typeface="Arial" pitchFamily="34" charset="0"/>
              </a:rPr>
              <a:t>U</a:t>
            </a:r>
            <a:r>
              <a:rPr lang="en-US" sz="2000" dirty="0" smtClean="0">
                <a:latin typeface="Trebuchet MS" pitchFamily="34" charset="0"/>
                <a:cs typeface="Arial" pitchFamily="34" charset="0"/>
              </a:rPr>
              <a:t>se an obvious function of the phone</a:t>
            </a:r>
            <a:endParaRPr lang="en-US" sz="2200" dirty="0"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805" y="1318526"/>
            <a:ext cx="2005013" cy="20367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416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Adoption challenges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1069" y="1243626"/>
            <a:ext cx="6155140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Relevance, accessibility, usability, trust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Affordability &amp; Sustainability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Scalability</a:t>
            </a:r>
          </a:p>
        </p:txBody>
      </p:sp>
      <p:pic>
        <p:nvPicPr>
          <p:cNvPr id="2050" name="Picture 2" descr="C:\Users\boyera\Desktop\Adoption-Symbo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786" y="1575777"/>
            <a:ext cx="3404906" cy="2154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1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Human Factors &amp; UI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0" y="1243626"/>
            <a:ext cx="6155140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Audio interface design is a challenge: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computer and technologies are not a natural concept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Mental models are different and impact the task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complexity and depth of menus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Type of illiteracy has a huge impact on design: e.g.  DTMF navigation, Data input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Trust building is critical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Type of voice has impact (gender, known voices,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etc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7" name="Picture 2" descr="C:\Users\boyera\Desktop\IMG_62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322" y="1586064"/>
            <a:ext cx="2859338" cy="21443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14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Business Model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09184" y="1598474"/>
            <a:ext cx="5794636" cy="375145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Who pays and who benefits?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What is the Return on Investment?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What are incentives to dedicate time &amp; Money and bridge knowledge gaps?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Social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Economic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How to implement the business model?</a:t>
            </a:r>
          </a:p>
        </p:txBody>
      </p:sp>
      <p:sp>
        <p:nvSpPr>
          <p:cNvPr id="5" name="Arrondir un rectangle à un seul coin 15"/>
          <p:cNvSpPr/>
          <p:nvPr/>
        </p:nvSpPr>
        <p:spPr>
          <a:xfrm rot="188771" flipH="1">
            <a:off x="5964347" y="1499004"/>
            <a:ext cx="2903364" cy="2285361"/>
          </a:xfrm>
          <a:prstGeom prst="round1Rect">
            <a:avLst/>
          </a:prstGeom>
          <a:blipFill rotWithShape="1">
            <a:blip r:embed="rId3" cstate="print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286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Deployment Challenges</a:t>
            </a:r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50125" y="1243626"/>
            <a:ext cx="6155140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Local phone numbers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Capacities (e.g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.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Concurrent calls)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Data Center: backup, energy, etc.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Sustainability &amp; Update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Local Competencies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Negotiation with mobile operators</a:t>
            </a:r>
          </a:p>
        </p:txBody>
      </p:sp>
      <p:pic>
        <p:nvPicPr>
          <p:cNvPr id="1026" name="Picture 2" descr="C:\Users\boyera\Desktop\infrastruc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692" y="1539705"/>
            <a:ext cx="3277815" cy="26576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boyera\Desktop\platfor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775" y="3851238"/>
            <a:ext cx="3383839" cy="25378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18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077" y="0"/>
            <a:ext cx="7223029" cy="812800"/>
          </a:xfrm>
        </p:spPr>
        <p:txBody>
          <a:bodyPr/>
          <a:lstStyle/>
          <a:p>
            <a:r>
              <a:rPr lang="en-GB" sz="2800" dirty="0" err="1"/>
              <a:t>VOIce</a:t>
            </a:r>
            <a:r>
              <a:rPr lang="en-GB" sz="2800" dirty="0"/>
              <a:t>-based Community-</a:t>
            </a:r>
            <a:r>
              <a:rPr lang="en-GB" sz="2800" dirty="0" err="1"/>
              <a:t>cEntric</a:t>
            </a:r>
            <a:r>
              <a:rPr lang="en-GB" sz="2800" dirty="0"/>
              <a:t> mobile Services for social development 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721241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EU-Funded research project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Focused on voice &amp; radio services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Themes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Agriculture in Mali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Health in Senegal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Result: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 voice toolbox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 portfolio of business models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9" t="23271" r="9740" b="55354"/>
          <a:stretch>
            <a:fillRect/>
          </a:stretch>
        </p:blipFill>
        <p:spPr bwMode="auto">
          <a:xfrm>
            <a:off x="5752834" y="1189036"/>
            <a:ext cx="2616728" cy="135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ANd9GcQEM2uTfDe9B8Q9X-XYCooVRTI3AVQc0nzqMfDQKZH3J8L5SmBj6WwyAIVr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870" y="2721696"/>
            <a:ext cx="678457" cy="448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FP7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198" y="2672914"/>
            <a:ext cx="583817" cy="47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boyera\Desktop\radiomarch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637" y="3214479"/>
            <a:ext cx="2085378" cy="208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boyera\Desktop\logo_tabal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4711700"/>
            <a:ext cx="1628656" cy="164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boyera\Desktop\logo-ForobaBlon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28" y="4868498"/>
            <a:ext cx="1600544" cy="160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9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077" y="0"/>
            <a:ext cx="7223029" cy="812800"/>
          </a:xfrm>
        </p:spPr>
        <p:txBody>
          <a:bodyPr/>
          <a:lstStyle/>
          <a:p>
            <a:r>
              <a:rPr lang="en-GB" sz="2800" dirty="0" smtClean="0"/>
              <a:t>Other Applications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293850" y="1093501"/>
            <a:ext cx="721241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Election Monitoring by in Ghana (2012) and Kenya (2103) with Al Jazeera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Business Matching services for Farmers in Kenya, Fiji with International Trade Center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MTV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Shuga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Drama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Helpline for public Health (HIV/Aids) information with MTV and M. of Health in Nigeria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26" name="Picture 2" descr="C:\Users\boyera\Desktop\stayingalive-e138487215475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7" y="4107799"/>
            <a:ext cx="1307081" cy="1146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boyera\Desktop\naca-e138487213644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362" y="3809807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boyera\Desktop\aljazeera-english-logo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69" y="1093502"/>
            <a:ext cx="1342806" cy="164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boyera\Desktop\fclc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607" y="4091418"/>
            <a:ext cx="1746913" cy="74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boyera\Desktop\kac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5335588"/>
            <a:ext cx="4726964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62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WF\public\2011\12\pyramid_profi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099" y="1220704"/>
            <a:ext cx="5620104" cy="469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Multi-</a:t>
            </a:r>
            <a:r>
              <a:rPr lang="fr-FR" dirty="0" err="1" smtClean="0"/>
              <a:t>stakeholders</a:t>
            </a:r>
            <a:r>
              <a:rPr lang="fr-FR" dirty="0" smtClean="0"/>
              <a:t>: Multi-Channel</a:t>
            </a: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16427" y="1453381"/>
            <a:ext cx="5069722" cy="3279904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Organization level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Field agent level/Intermediaries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Citizen Level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2052" name="Picture 4" descr="C:\WF\VOICES\proposal\figures\char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315" y="3569948"/>
            <a:ext cx="507828" cy="69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WF\VOICES\proposal\figures\char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950" y="4587875"/>
            <a:ext cx="715963" cy="111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WF\VOICES\proposal\figures\char5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727" y="2312283"/>
            <a:ext cx="8286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072" y="3418553"/>
            <a:ext cx="1496396" cy="116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C:\Users\boyera\Desktop\i_mate_ultimate_8150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122" y="3569948"/>
            <a:ext cx="665791" cy="6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boyera\Desktop\mobile_telephone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688" y="509428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5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2" y="2958980"/>
            <a:ext cx="5063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Next Wave?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40532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5816194" cy="812800"/>
          </a:xfrm>
        </p:spPr>
        <p:txBody>
          <a:bodyPr/>
          <a:lstStyle/>
          <a:p>
            <a:r>
              <a:rPr lang="en-US" dirty="0" smtClean="0"/>
              <a:t>Open Data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6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Lots of Countries are opening their Data all over the world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see OGP commitments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Big focus on developing countries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Partnership on Open Data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Huge opportunity to develop more services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: Data==fuel for ICT services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2050" name="Picture 2" descr="C:\Users\boyera\Desktop\odword-300x16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648" y="4610098"/>
            <a:ext cx="2857500" cy="1552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932" y="1533146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47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7" y="0"/>
            <a:ext cx="6594117" cy="812800"/>
          </a:xfrm>
        </p:spPr>
        <p:txBody>
          <a:bodyPr/>
          <a:lstStyle/>
          <a:p>
            <a:r>
              <a:rPr lang="en-US" dirty="0" smtClean="0"/>
              <a:t>Data, Smartphones &amp; New Interfaces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22828" y="1190715"/>
            <a:ext cx="5813948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9" name="Picture 2" descr="C:\Users\boyera\Desktop\gsma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79" y="966025"/>
            <a:ext cx="5050396" cy="303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boyera\Desktop\gsma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883" y="3867274"/>
            <a:ext cx="4828582" cy="257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88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7" y="0"/>
            <a:ext cx="6457639" cy="812800"/>
          </a:xfrm>
        </p:spPr>
        <p:txBody>
          <a:bodyPr/>
          <a:lstStyle/>
          <a:p>
            <a:r>
              <a:rPr lang="en-US" dirty="0"/>
              <a:t>Data, Smartphones &amp; New Interfaces</a:t>
            </a:r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New UI for illiterate people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Icon-based interfaces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Multi-modal interfaces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New intuitive interfaces for newcomers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Adapted smartphones: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Prices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Energy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  <a:endParaRPr lang="en-US" sz="23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691" y="1446663"/>
            <a:ext cx="2677966" cy="20001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C:\Users\boyera\Desktop\VBAT_F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845" y="4167173"/>
            <a:ext cx="3335604" cy="21177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54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4" y="2710231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Conclusion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2704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354842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Conclusion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/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8315" y="1368146"/>
            <a:ext cx="8536251" cy="376341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 Web has a huge potential in Social &amp; Economic Development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Traditional Web access is very limited for people living at the base of the pyramid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New opportunities for providing the benefit of the Web are now arising, based on Mobile, Voice or Radio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There is a growing number of services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Open Data and new graphical interfaces are the next frontiers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620713" y="1577975"/>
            <a:ext cx="6553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2"/>
              </a:rPr>
              <a:t>http://</a:t>
            </a:r>
            <a:r>
              <a:rPr lang="en-US" u="sng" dirty="0" smtClean="0"/>
              <a:t>www.sbc4d.com</a:t>
            </a:r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3"/>
              </a:rPr>
              <a:t>http://www.mvoices.eu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4"/>
              </a:rPr>
              <a:t>http://www.w4ra.org/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5"/>
              </a:rPr>
              <a:t>http://www.w3.org/TR/2009/NOTE-mw4d-roadmap-20091208/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http://www.stephb.org</a:t>
            </a:r>
          </a:p>
          <a:p>
            <a:pPr marL="0" indent="0" eaLnBrk="1" hangingPunct="1"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5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50906</TotalTime>
  <Words>690</Words>
  <Application>Microsoft Office PowerPoint</Application>
  <PresentationFormat>Affichage à l'écran (4:3)</PresentationFormat>
  <Paragraphs>113</Paragraphs>
  <Slides>18</Slides>
  <Notes>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Thème Office</vt:lpstr>
      <vt:lpstr>Mobile and Voice Technologies for Social &amp; Economic Development</vt:lpstr>
      <vt:lpstr>Mobile Revolution</vt:lpstr>
      <vt:lpstr>Barriers &amp; Challenges</vt:lpstr>
      <vt:lpstr>Voice technologies </vt:lpstr>
      <vt:lpstr>Adoption challenges</vt:lpstr>
      <vt:lpstr>Human Factors &amp; UI</vt:lpstr>
      <vt:lpstr>Business Model</vt:lpstr>
      <vt:lpstr>Deployment Challenges</vt:lpstr>
      <vt:lpstr>VOIce-based Community-cEntric mobile Services for social development </vt:lpstr>
      <vt:lpstr>Other Applications</vt:lpstr>
      <vt:lpstr>Multi-stakeholders: Multi-Channel</vt:lpstr>
      <vt:lpstr>Présentation PowerPoint</vt:lpstr>
      <vt:lpstr>Open Data</vt:lpstr>
      <vt:lpstr>Data, Smartphones &amp; New Interfaces</vt:lpstr>
      <vt:lpstr>Data, Smartphones &amp; New Interfaces</vt:lpstr>
      <vt:lpstr>Présentation PowerPoint</vt:lpstr>
      <vt:lpstr>Conclusion </vt:lpstr>
      <vt:lpstr>References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722</cp:revision>
  <cp:lastPrinted>2011-11-29T16:00:44Z</cp:lastPrinted>
  <dcterms:created xsi:type="dcterms:W3CDTF">2009-10-15T09:24:18Z</dcterms:created>
  <dcterms:modified xsi:type="dcterms:W3CDTF">2014-05-16T20:03:56Z</dcterms:modified>
</cp:coreProperties>
</file>