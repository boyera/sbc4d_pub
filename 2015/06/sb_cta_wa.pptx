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76" r:id="rId3"/>
    <p:sldId id="290" r:id="rId4"/>
    <p:sldId id="295" r:id="rId5"/>
    <p:sldId id="293" r:id="rId6"/>
    <p:sldId id="299" r:id="rId7"/>
    <p:sldId id="300" r:id="rId8"/>
    <p:sldId id="303" r:id="rId9"/>
    <p:sldId id="304" r:id="rId10"/>
    <p:sldId id="305" r:id="rId11"/>
    <p:sldId id="307" r:id="rId12"/>
    <p:sldId id="306" r:id="rId13"/>
    <p:sldId id="273" r:id="rId14"/>
  </p:sldIdLst>
  <p:sldSz cx="9144000" cy="6858000" type="screen4x3"/>
  <p:notesSz cx="7099300" cy="10234613"/>
  <p:defaultTextStyle>
    <a:defPPr>
      <a:defRPr lang="fr-FR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browse showScrollbar="0"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AA6EC"/>
    <a:srgbClr val="50D450"/>
    <a:srgbClr val="29A428"/>
    <a:srgbClr val="1F547E"/>
    <a:srgbClr val="1F497D"/>
    <a:srgbClr val="005D92"/>
    <a:srgbClr val="B7A797"/>
    <a:srgbClr val="B1BCA4"/>
    <a:srgbClr val="000000"/>
    <a:srgbClr val="FFC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56" autoAdjust="0"/>
    <p:restoredTop sz="88970" autoAdjust="0"/>
  </p:normalViewPr>
  <p:slideViewPr>
    <p:cSldViewPr snapToGrid="0">
      <p:cViewPr>
        <p:scale>
          <a:sx n="70" d="100"/>
          <a:sy n="70" d="100"/>
        </p:scale>
        <p:origin x="-108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1884" y="-102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1984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9D06CBAB-0BA1-42AF-8B31-9DAE95BE60F2}" type="datetime1">
              <a:rPr lang="fr-FR"/>
              <a:pPr>
                <a:defRPr/>
              </a:pPr>
              <a:t>15/06/2015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1984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20D7951-8316-4B8D-BB05-64474AD63AFB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827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984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AB03E9-6C6A-42A9-8A84-DB564324CB0B}" type="datetime1">
              <a:rPr lang="fr-FR"/>
              <a:pPr>
                <a:defRPr/>
              </a:pPr>
              <a:t>15/06/2015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7" tIns="49524" rIns="99047" bIns="49524" rtlCol="0" anchor="ctr"/>
          <a:lstStyle/>
          <a:p>
            <a:pPr lvl="0"/>
            <a:endParaRPr lang="fr-FR" noProof="0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294" y="4860581"/>
            <a:ext cx="5680712" cy="4607299"/>
          </a:xfrm>
          <a:prstGeom prst="rect">
            <a:avLst/>
          </a:prstGeom>
        </p:spPr>
        <p:txBody>
          <a:bodyPr vert="horz" lIns="99047" tIns="49524" rIns="99047" bIns="49524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984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4E1596-A129-4638-9F8E-3949BA5E7CE8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99286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environment</a:t>
            </a:r>
            <a:r>
              <a:rPr lang="en-US" baseline="0" dirty="0" smtClean="0"/>
              <a:t> needs to be developed, not the direct connection.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4546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environment</a:t>
            </a:r>
            <a:r>
              <a:rPr lang="en-US" baseline="0" dirty="0" smtClean="0"/>
              <a:t> needs to be developed, not the direct connection.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4546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environment</a:t>
            </a:r>
            <a:r>
              <a:rPr lang="en-US" baseline="0" dirty="0" smtClean="0"/>
              <a:t> needs to be developed, not the direct connection.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4546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environment</a:t>
            </a:r>
            <a:r>
              <a:rPr lang="en-US" baseline="0" dirty="0" smtClean="0"/>
              <a:t> needs to be developed, not the direct connection.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4546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environment</a:t>
            </a:r>
            <a:r>
              <a:rPr lang="en-US" baseline="0" dirty="0" smtClean="0"/>
              <a:t> needs to be developed, not the direct connection.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4546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environment</a:t>
            </a:r>
            <a:r>
              <a:rPr lang="en-US" baseline="0" dirty="0" smtClean="0"/>
              <a:t> needs to be developed, not the direct connection.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45461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environment</a:t>
            </a:r>
            <a:r>
              <a:rPr lang="en-US" baseline="0" dirty="0" smtClean="0"/>
              <a:t> needs to be developed, not the direct connection.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45461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13</a:t>
            </a:fld>
            <a:endParaRPr lang="fr-F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project_cdi_desktop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ZoneTexte 7"/>
          <p:cNvSpPr txBox="1">
            <a:spLocks noChangeArrowheads="1"/>
          </p:cNvSpPr>
          <p:nvPr userDrawn="1"/>
        </p:nvSpPr>
        <p:spPr bwMode="auto">
          <a:xfrm>
            <a:off x="481013" y="1479550"/>
            <a:ext cx="4114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sz="2400" b="1" dirty="0" smtClean="0">
                <a:solidFill>
                  <a:schemeClr val="bg1"/>
                </a:solidFill>
                <a:latin typeface="Calibri" pitchFamily="34" charset="0"/>
              </a:rPr>
              <a:t>Where ICT meets Social &amp; Economic Development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3079750"/>
            <a:ext cx="9144000" cy="149225"/>
          </a:xfrm>
          <a:prstGeom prst="rect">
            <a:avLst/>
          </a:prstGeom>
          <a:solidFill>
            <a:schemeClr val="accent1"/>
          </a:solidFill>
          <a:ln>
            <a:solidFill>
              <a:srgbClr val="29A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15" name="Titre 4"/>
          <p:cNvSpPr>
            <a:spLocks noGrp="1"/>
          </p:cNvSpPr>
          <p:nvPr>
            <p:ph type="title"/>
          </p:nvPr>
        </p:nvSpPr>
        <p:spPr>
          <a:xfrm>
            <a:off x="504825" y="3608623"/>
            <a:ext cx="8229600" cy="1181101"/>
          </a:xfrm>
          <a:prstGeom prst="rect">
            <a:avLst/>
          </a:prstGeom>
        </p:spPr>
        <p:txBody>
          <a:bodyPr vert="horz"/>
          <a:lstStyle>
            <a:lvl1pPr algn="l">
              <a:defRPr sz="3600" b="1" baseline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5127625"/>
            <a:ext cx="8305800" cy="1306513"/>
          </a:xfrm>
        </p:spPr>
        <p:txBody>
          <a:bodyPr/>
          <a:lstStyle>
            <a:lvl1pPr marL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</p:txBody>
      </p:sp>
      <p:pic>
        <p:nvPicPr>
          <p:cNvPr id="1027" name="Picture 3" descr="C:\Users\boyera\Desktop\WF\Work\visio icon\sbc4d2 - Copi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171" y="234950"/>
            <a:ext cx="1117600" cy="1244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3554749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0" y="6544075"/>
            <a:ext cx="9144000" cy="327573"/>
          </a:xfrm>
          <a:prstGeom prst="rect">
            <a:avLst/>
          </a:prstGeom>
          <a:solidFill>
            <a:srgbClr val="A4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 smtClean="0">
                <a:solidFill>
                  <a:schemeClr val="bg1"/>
                </a:solidFill>
              </a:rPr>
              <a:t>Copyright © 2015. SB</a:t>
            </a:r>
            <a:r>
              <a:rPr lang="en-US" sz="1100" baseline="0" dirty="0" smtClean="0">
                <a:solidFill>
                  <a:schemeClr val="bg1"/>
                </a:solidFill>
              </a:rPr>
              <a:t>C4D – http://wwww.sbc4d.com</a:t>
            </a:r>
            <a:r>
              <a:rPr lang="en-US" sz="1100" dirty="0" smtClean="0">
                <a:solidFill>
                  <a:schemeClr val="bg1"/>
                </a:solidFill>
              </a:rPr>
              <a:t>. All rights reserved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812800"/>
            <a:ext cx="9144000" cy="152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16" name="Titre 9"/>
          <p:cNvSpPr>
            <a:spLocks noGrp="1"/>
          </p:cNvSpPr>
          <p:nvPr userDrawn="1">
            <p:ph type="title"/>
          </p:nvPr>
        </p:nvSpPr>
        <p:spPr>
          <a:xfrm>
            <a:off x="448128" y="0"/>
            <a:ext cx="4777015" cy="812800"/>
          </a:xfrm>
          <a:prstGeom prst="rect">
            <a:avLst/>
          </a:prstGeom>
        </p:spPr>
        <p:txBody>
          <a:bodyPr vert="horz" anchor="ctr"/>
          <a:lstStyle>
            <a:lvl1pPr algn="l">
              <a:defRPr sz="2600" b="1">
                <a:solidFill>
                  <a:schemeClr val="tx1"/>
                </a:solidFill>
                <a:latin typeface="+mn-lt"/>
                <a:cs typeface="Calibri (Titres)"/>
              </a:defRPr>
            </a:lvl1pPr>
          </a:lstStyle>
          <a:p>
            <a:r>
              <a:rPr lang="en-US" noProof="0" dirty="0" smtClean="0"/>
              <a:t>Click to edit Master title style</a:t>
            </a:r>
            <a:endParaRPr lang="en-US" noProof="0" dirty="0"/>
          </a:p>
        </p:txBody>
      </p:sp>
      <p:pic>
        <p:nvPicPr>
          <p:cNvPr id="2050" name="Picture 2" descr="C:\Users\boyera\Desktop\WF\Work\visio icon\sbc4d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1434" y="54449"/>
            <a:ext cx="508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numéro de diapositive 5"/>
          <p:cNvSpPr txBox="1">
            <a:spLocks/>
          </p:cNvSpPr>
          <p:nvPr userDrawn="1"/>
        </p:nvSpPr>
        <p:spPr>
          <a:xfrm>
            <a:off x="8386454" y="6555864"/>
            <a:ext cx="730250" cy="30896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bg1"/>
                </a:solidFill>
                <a:latin typeface="+mj-lt"/>
                <a:ea typeface="ＭＳ Ｐゴシック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>
              <a:defRPr/>
            </a:pPr>
            <a:fld id="{FF42B312-9817-492A-A2CE-1B0E09E6F02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9490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here to modify texte styles of the mask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fr-FR" smtClean="0"/>
              <a:t>T</a:t>
            </a:r>
            <a:r>
              <a:rPr lang="en-US" smtClean="0"/>
              <a:t>hird level</a:t>
            </a:r>
          </a:p>
          <a:p>
            <a:pPr lvl="3"/>
            <a:r>
              <a:rPr lang="fr-FR" smtClean="0"/>
              <a:t>F</a:t>
            </a:r>
            <a:r>
              <a:rPr lang="en-US" smtClean="0"/>
              <a:t>orth level</a:t>
            </a:r>
          </a:p>
          <a:p>
            <a:pPr lvl="4"/>
            <a:r>
              <a:rPr lang="fr-FR" smtClean="0"/>
              <a:t>F</a:t>
            </a:r>
            <a:r>
              <a:rPr lang="en-US" smtClean="0"/>
              <a:t>ifth level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393825" y="6645275"/>
            <a:ext cx="6051550" cy="212725"/>
          </a:xfrm>
          <a:prstGeom prst="rect">
            <a:avLst/>
          </a:prstGeom>
        </p:spPr>
        <p:txBody>
          <a:bodyPr/>
          <a:lstStyle>
            <a:lvl1pPr algn="ctr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Copyright © 2011. World Wide Web Foundation.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43" r:id="rId1"/>
    <p:sldLayoutId id="2147485044" r:id="rId2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sz="27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2000" kern="1200">
          <a:solidFill>
            <a:schemeClr val="tx1"/>
          </a:solidFill>
          <a:latin typeface="+mn-lt"/>
          <a:ea typeface="ＭＳ Ｐゴシック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kern="1200">
          <a:solidFill>
            <a:schemeClr val="tx1"/>
          </a:solidFill>
          <a:latin typeface="+mn-lt"/>
          <a:ea typeface="ＭＳ Ｐゴシック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1600" kern="1200">
          <a:solidFill>
            <a:schemeClr val="tx1"/>
          </a:solidFill>
          <a:latin typeface="+mn-lt"/>
          <a:ea typeface="ＭＳ Ｐゴシック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SzPct val="100000"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ＭＳ Ｐゴシック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Agri</a:t>
            </a:r>
            <a:r>
              <a:rPr lang="en-US" dirty="0" smtClean="0"/>
              <a:t>-tourism in South Pacific Islands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>
          <a:xfrm>
            <a:off x="478809" y="4868317"/>
            <a:ext cx="8305800" cy="1306513"/>
          </a:xfrm>
        </p:spPr>
        <p:txBody>
          <a:bodyPr/>
          <a:lstStyle/>
          <a:p>
            <a:r>
              <a:rPr lang="en-US" sz="1600" b="1" dirty="0" err="1">
                <a:latin typeface="Trebuchet MS" pitchFamily="34" charset="0"/>
              </a:rPr>
              <a:t>Stéphane</a:t>
            </a:r>
            <a:r>
              <a:rPr lang="en-US" sz="1600" b="1" dirty="0">
                <a:latin typeface="Trebuchet MS" pitchFamily="34" charset="0"/>
              </a:rPr>
              <a:t> </a:t>
            </a:r>
            <a:r>
              <a:rPr lang="en-US" sz="1600" b="1" dirty="0" err="1">
                <a:latin typeface="Trebuchet MS" pitchFamily="34" charset="0"/>
              </a:rPr>
              <a:t>Boyera</a:t>
            </a:r>
            <a:endParaRPr lang="en-US" sz="1600" b="1" dirty="0">
              <a:latin typeface="Trebuchet MS" pitchFamily="34" charset="0"/>
            </a:endParaRPr>
          </a:p>
          <a:p>
            <a:r>
              <a:rPr lang="fr-FR" sz="1600" b="1" dirty="0" smtClean="0">
                <a:latin typeface="Trebuchet MS" pitchFamily="34" charset="0"/>
              </a:rPr>
              <a:t>CEO</a:t>
            </a:r>
            <a:endParaRPr lang="en-US" sz="1600" b="1" dirty="0">
              <a:latin typeface="Trebuchet MS" pitchFamily="34" charset="0"/>
            </a:endParaRPr>
          </a:p>
          <a:p>
            <a:r>
              <a:rPr lang="fr-FR" sz="1600" b="1" dirty="0" smtClean="0">
                <a:latin typeface="Trebuchet MS" pitchFamily="34" charset="0"/>
              </a:rPr>
              <a:t>stephane@sbc4d.com</a:t>
            </a:r>
            <a:endParaRPr lang="en-US" sz="1600" b="1" dirty="0">
              <a:latin typeface="Trebuchet MS" pitchFamily="34" charset="0"/>
            </a:endParaRPr>
          </a:p>
          <a:p>
            <a:r>
              <a:rPr lang="en-US" sz="1600" b="1" dirty="0" smtClean="0">
                <a:latin typeface="Trebuchet MS" pitchFamily="34" charset="0"/>
              </a:rPr>
              <a:t>SBC4D – http://www.sbc4d.com</a:t>
            </a:r>
            <a:endParaRPr lang="en-US" sz="1600" b="1" dirty="0">
              <a:latin typeface="Trebuchet MS" pitchFamily="34" charset="0"/>
            </a:endParaRPr>
          </a:p>
          <a:p>
            <a:r>
              <a:rPr lang="en-US" sz="1400" b="1" dirty="0">
                <a:latin typeface="Trebuchet MS" pitchFamily="34" charset="0"/>
              </a:rPr>
              <a:t>9</a:t>
            </a:r>
            <a:r>
              <a:rPr lang="en-US" sz="1400" b="1" dirty="0" smtClean="0">
                <a:latin typeface="Trebuchet MS" pitchFamily="34" charset="0"/>
              </a:rPr>
              <a:t> June 2015</a:t>
            </a:r>
            <a:endParaRPr lang="en-US" sz="1400" b="1" dirty="0">
              <a:latin typeface="Trebuchet MS" pitchFamily="34" charset="0"/>
            </a:endParaRPr>
          </a:p>
          <a:p>
            <a:r>
              <a:rPr lang="en-US" sz="1400" b="1" dirty="0" smtClean="0"/>
              <a:t>https://public.sbc4d.com/2015/06/sb_cta_wa.pptx</a:t>
            </a:r>
            <a:endParaRPr lang="en-US" sz="1200" b="1" dirty="0">
              <a:latin typeface="Trebuchet MS" pitchFamily="34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7261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dirty="0" smtClean="0"/>
              <a:t>SBC4D: Where ICT meets Social &amp; Economic Development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68240" y="1175388"/>
            <a:ext cx="6687403" cy="4973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 Consulting Company specialized in ICTD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Open Data &amp; Open Linked Data: Strategy &amp; Implementation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 Supporting Governments in ACP Countries in their Open Data Initiative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Supporting International Organizations (e.g. WB, ODI, OKF, Web Foundation, </a:t>
            </a:r>
            <a:r>
              <a:rPr lang="en-US" b="1" dirty="0">
                <a:latin typeface="Trebuchet MS" pitchFamily="34" charset="0"/>
                <a:cs typeface="ＭＳ Ｐゴシック" pitchFamily="34" charset="-128"/>
              </a:rPr>
              <a:t>I</a:t>
            </a: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FAD,…) </a:t>
            </a: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in research capacity </a:t>
            </a:r>
            <a:r>
              <a:rPr lang="en-US" b="1" dirty="0" err="1" smtClean="0">
                <a:latin typeface="Trebuchet MS" pitchFamily="34" charset="0"/>
                <a:cs typeface="ＭＳ Ｐゴシック" pitchFamily="34" charset="-128"/>
              </a:rPr>
              <a:t>buildig</a:t>
            </a: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 &amp; implementation</a:t>
            </a:r>
            <a:endParaRPr lang="en-US" b="1" dirty="0" smtClean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Mobile &amp; Web services: Strategy, design, deployment. Specific expertise on multi-channel applications, and ICT for illiterate underprivileged communities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 Sector Expertise: primarily Agriculture, but also Governance, Media, Health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 Geography: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b="1" dirty="0" smtClean="0">
                <a:latin typeface="Trebuchet MS" pitchFamily="34" charset="0"/>
                <a:cs typeface="Arial" pitchFamily="34" charset="0"/>
              </a:rPr>
              <a:t>70% of activities in Sub-Saharan Africa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b="1" dirty="0" smtClean="0">
                <a:latin typeface="Trebuchet MS" pitchFamily="34" charset="0"/>
                <a:cs typeface="Arial" pitchFamily="34" charset="0"/>
              </a:rPr>
              <a:t>Operation in South Asia (India, Indonesia), Pacific Islands (Fiji), Latin America (Chile, Colombia)</a:t>
            </a:r>
            <a:endParaRPr lang="en-US" b="1" dirty="0">
              <a:latin typeface="Trebuchet MS" pitchFamily="34" charset="0"/>
              <a:cs typeface="Arial" pitchFamily="34" charset="0"/>
            </a:endParaRPr>
          </a:p>
        </p:txBody>
      </p:sp>
      <p:pic>
        <p:nvPicPr>
          <p:cNvPr id="1027" name="Picture 3" descr="D:\Apache2.2\htdocs\shuga\css\sbc4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6426" y="2912454"/>
            <a:ext cx="1797574" cy="169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0034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dirty="0" smtClean="0"/>
              <a:t>South Pacific Experience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68235" y="1216331"/>
            <a:ext cx="6178119" cy="4973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 Working in Fiji since 2013 on ICT4ag solutions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MIS for the Ministry of Agriculture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A portfolio of web &amp; SMS services for FCLC to reach farmers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A portfolio of mapping applications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mapping farmers and clusters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mapping individual fields and production info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EU-Funded projects IKSL/IKSA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Working for ITC</a:t>
            </a:r>
            <a:endParaRPr lang="en-US" sz="2000" b="1" dirty="0" smtClean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Consultant for CTA (April 2015) for</a:t>
            </a:r>
            <a:endParaRPr lang="en-US" b="1" dirty="0" smtClean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 Capturing opportunities and challenges for a sustainable ICT platform for </a:t>
            </a:r>
            <a:r>
              <a:rPr lang="en-US" b="1" dirty="0" err="1" smtClean="0">
                <a:latin typeface="Trebuchet MS" pitchFamily="34" charset="0"/>
                <a:cs typeface="ＭＳ Ｐゴシック" pitchFamily="34" charset="-128"/>
              </a:rPr>
              <a:t>Agri</a:t>
            </a: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-tourism development</a:t>
            </a:r>
            <a:endParaRPr lang="en-US" b="1" dirty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 Defining requirements, functionalities, and action plan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Covering South-Pacific and Caribbean region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b="1" dirty="0" smtClean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000" b="1" dirty="0" smtClean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1026" name="Picture 2" descr="C:\Users\boyera\Desktop\south-pacific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354" y="2052955"/>
            <a:ext cx="2897646" cy="269067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3124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dirty="0" err="1" smtClean="0"/>
              <a:t>Agri</a:t>
            </a:r>
            <a:r>
              <a:rPr lang="en-US" dirty="0" smtClean="0"/>
              <a:t>-Tourism Concept &amp; Rationale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428287" y="1473959"/>
            <a:ext cx="6687403" cy="447646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 AKA: Farm-to-fork, farm-to-table or farm-to-restaurant concept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Concept: </a:t>
            </a:r>
            <a:r>
              <a:rPr lang="en-US" sz="2000" dirty="0" smtClean="0">
                <a:latin typeface="Trebuchet MS" pitchFamily="34" charset="0"/>
                <a:cs typeface="ＭＳ Ｐゴシック" pitchFamily="34" charset="-128"/>
              </a:rPr>
              <a:t>Leverage use and consumption of locally produced commodities by hotels and restaurants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Rationale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E</a:t>
            </a:r>
            <a:r>
              <a:rPr lang="en-US" sz="2000" dirty="0" smtClean="0"/>
              <a:t>xpand </a:t>
            </a:r>
            <a:r>
              <a:rPr lang="en-US" sz="2000" dirty="0"/>
              <a:t>the benefit of tourism to a greater part of the </a:t>
            </a:r>
            <a:r>
              <a:rPr lang="en-US" sz="2000" dirty="0" smtClean="0"/>
              <a:t>population in places where tourism is well developed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/>
              <a:t> </a:t>
            </a:r>
            <a:r>
              <a:rPr lang="en-US" sz="2000" dirty="0" smtClean="0"/>
              <a:t>Increase tourist expenditure on farm/food activities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dirty="0"/>
              <a:t> </a:t>
            </a:r>
            <a:r>
              <a:rPr lang="en-US" sz="2000" dirty="0" smtClean="0"/>
              <a:t>Decrease country import bill of commodities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000" b="1" dirty="0">
              <a:latin typeface="Trebuchet MS" pitchFamily="34" charset="0"/>
              <a:cs typeface="ＭＳ Ｐゴシック" pitchFamily="34" charset="-128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Symbol"/>
              <a:buChar char="Þ"/>
              <a:defRPr/>
            </a:pP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Old idea, not much impact yet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Symbol"/>
              <a:buChar char="Þ"/>
              <a:defRPr/>
            </a:pP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Common to various regions of the world in particular South Pacific Islands or Caribbean Islands</a:t>
            </a:r>
          </a:p>
        </p:txBody>
      </p:sp>
      <p:pic>
        <p:nvPicPr>
          <p:cNvPr id="2051" name="Picture 3" descr="C:\Users\boyera\Desktop\ftof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8156" y="1921705"/>
            <a:ext cx="176530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0229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-13652" y="996282"/>
            <a:ext cx="7178725" cy="468871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Supply side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dirty="0" smtClean="0">
                <a:latin typeface="Trebuchet MS" pitchFamily="34" charset="0"/>
                <a:cs typeface="ＭＳ Ｐゴシック" pitchFamily="34" charset="-128"/>
              </a:rPr>
              <a:t>Quantity and predictable Quality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dirty="0" smtClean="0">
                <a:latin typeface="Trebuchet MS" pitchFamily="34" charset="0"/>
                <a:cs typeface="ＭＳ Ｐゴシック" pitchFamily="34" charset="-128"/>
              </a:rPr>
              <a:t>Risks and burden of managing lots of small producers or multiple providers focusing on a limited number of commodities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dirty="0" smtClean="0">
                <a:latin typeface="Trebuchet MS" pitchFamily="34" charset="0"/>
                <a:cs typeface="ＭＳ Ｐゴシック" pitchFamily="34" charset="-128"/>
              </a:rPr>
              <a:t>Inadequacy between commodities requested and commodities grown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dirty="0" smtClean="0">
                <a:latin typeface="Trebuchet MS" pitchFamily="34" charset="0"/>
                <a:cs typeface="ＭＳ Ｐゴシック" pitchFamily="34" charset="-128"/>
              </a:rPr>
              <a:t>Purchase requirements: credit, packaging, etc.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Trebuchet MS" pitchFamily="34" charset="0"/>
                <a:cs typeface="ＭＳ Ｐゴシック" pitchFamily="34" charset="-128"/>
              </a:rPr>
              <a:t>Demand Side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dirty="0" smtClean="0">
                <a:latin typeface="+mn-lt"/>
                <a:cs typeface="ＭＳ Ｐゴシック" pitchFamily="34" charset="-128"/>
              </a:rPr>
              <a:t>Using </a:t>
            </a:r>
            <a:r>
              <a:rPr lang="en-US" dirty="0">
                <a:latin typeface="+mn-lt"/>
                <a:cs typeface="ＭＳ Ｐゴシック" pitchFamily="34" charset="-128"/>
              </a:rPr>
              <a:t>local </a:t>
            </a:r>
            <a:r>
              <a:rPr lang="en-US" dirty="0" smtClean="0">
                <a:latin typeface="+mn-lt"/>
                <a:cs typeface="ＭＳ Ｐゴシック" pitchFamily="34" charset="-128"/>
              </a:rPr>
              <a:t>commodities </a:t>
            </a:r>
            <a:r>
              <a:rPr lang="en-US" dirty="0">
                <a:latin typeface="+mn-lt"/>
                <a:cs typeface="ＭＳ Ｐゴシック" pitchFamily="34" charset="-128"/>
              </a:rPr>
              <a:t>instead of western products and still fit western </a:t>
            </a:r>
            <a:r>
              <a:rPr lang="en-US" dirty="0" smtClean="0">
                <a:latin typeface="+mn-lt"/>
                <a:cs typeface="ＭＳ Ｐゴシック" pitchFamily="34" charset="-128"/>
              </a:rPr>
              <a:t>palate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dirty="0">
                <a:latin typeface="+mn-lt"/>
                <a:cs typeface="ＭＳ Ｐゴシック" pitchFamily="34" charset="-128"/>
              </a:rPr>
              <a:t> </a:t>
            </a:r>
            <a:r>
              <a:rPr lang="en-US" dirty="0">
                <a:latin typeface="+mn-lt"/>
              </a:rPr>
              <a:t>U</a:t>
            </a:r>
            <a:r>
              <a:rPr lang="en-US" dirty="0" smtClean="0">
                <a:latin typeface="+mn-lt"/>
              </a:rPr>
              <a:t>sing </a:t>
            </a:r>
            <a:r>
              <a:rPr lang="en-US" dirty="0">
                <a:latin typeface="+mn-lt"/>
              </a:rPr>
              <a:t>food as a marketing </a:t>
            </a:r>
            <a:r>
              <a:rPr lang="en-US" dirty="0" smtClean="0">
                <a:latin typeface="+mn-lt"/>
              </a:rPr>
              <a:t>element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dirty="0">
                <a:latin typeface="+mn-lt"/>
                <a:cs typeface="ＭＳ Ｐゴシック" pitchFamily="34" charset="-128"/>
              </a:rPr>
              <a:t> </a:t>
            </a:r>
            <a:r>
              <a:rPr lang="en-US" dirty="0">
                <a:latin typeface="+mn-lt"/>
              </a:rPr>
              <a:t>U</a:t>
            </a:r>
            <a:r>
              <a:rPr lang="en-US" dirty="0" smtClean="0">
                <a:latin typeface="+mn-lt"/>
              </a:rPr>
              <a:t>nderstanding </a:t>
            </a:r>
            <a:r>
              <a:rPr lang="en-US" dirty="0">
                <a:latin typeface="+mn-lt"/>
              </a:rPr>
              <a:t>the extended benefits on side activities (cooking classes, farm </a:t>
            </a:r>
            <a:r>
              <a:rPr lang="en-US" dirty="0" smtClean="0">
                <a:latin typeface="+mn-lt"/>
              </a:rPr>
              <a:t>visits, etc. )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dirty="0">
                <a:latin typeface="+mn-lt"/>
                <a:cs typeface="ＭＳ Ｐゴシック" pitchFamily="34" charset="-128"/>
              </a:rPr>
              <a:t> </a:t>
            </a:r>
            <a:r>
              <a:rPr lang="en-US" dirty="0" smtClean="0">
                <a:latin typeface="+mn-lt"/>
                <a:cs typeface="ＭＳ Ｐゴシック" pitchFamily="34" charset="-128"/>
              </a:rPr>
              <a:t>Growing tourist demand for e.g. locally produced food, organic foods, local dishes but tourism sector not really inline/focused on this trend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dirty="0" smtClean="0"/>
              <a:t>Challenges</a:t>
            </a:r>
            <a:endParaRPr lang="en-US" dirty="0"/>
          </a:p>
        </p:txBody>
      </p:sp>
      <p:pic>
        <p:nvPicPr>
          <p:cNvPr id="5122" name="Picture 2" descr="C:\Users\boyera\Desktop\2259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4323" y="2275186"/>
            <a:ext cx="2671844" cy="169394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004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42162" y="1078162"/>
            <a:ext cx="6599832" cy="468871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 smtClean="0">
                <a:latin typeface="+mn-lt"/>
                <a:cs typeface="ＭＳ Ｐゴシック" pitchFamily="34" charset="-128"/>
              </a:rPr>
              <a:t> Demand has to be nurtured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1600" b="1" dirty="0" smtClean="0">
                <a:latin typeface="+mn-lt"/>
                <a:cs typeface="ＭＳ Ｐゴシック" pitchFamily="34" charset="-128"/>
              </a:rPr>
              <a:t>Chefs need training on use of local products, innovation with local commodities, and local traditional dishes 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sz="1600" b="1" dirty="0" smtClean="0">
                <a:latin typeface="+mn-lt"/>
                <a:cs typeface="ＭＳ Ｐゴシック" pitchFamily="34" charset="-128"/>
              </a:rPr>
              <a:t>Hotels &amp; restaurants needs awareness raising on the business opportunities, and demand from tourists</a:t>
            </a:r>
          </a:p>
          <a:p>
            <a:pPr marL="285750" indent="-28575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b="1" dirty="0" smtClean="0">
                <a:latin typeface="+mn-lt"/>
                <a:cs typeface="ＭＳ Ｐゴシック" pitchFamily="34" charset="-128"/>
              </a:rPr>
              <a:t>Supply has to be structured and clustered with intermediaries (organizations, agri-business, </a:t>
            </a:r>
            <a:r>
              <a:rPr lang="en-US" b="1" dirty="0" err="1" smtClean="0">
                <a:latin typeface="+mn-lt"/>
                <a:cs typeface="ＭＳ Ｐゴシック" pitchFamily="34" charset="-128"/>
              </a:rPr>
              <a:t>ngos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 etc.) to reduce risks and offer multiple products</a:t>
            </a:r>
          </a:p>
          <a:p>
            <a:pPr marL="285750" indent="-28575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Policy has to be adapted to support the transformation</a:t>
            </a:r>
          </a:p>
          <a:p>
            <a:pPr marL="285750" indent="-28575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Connection, information sharing, and understanding between actors has to be developed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Purchase requirements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Product demands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b="1" dirty="0" smtClean="0">
                <a:latin typeface="+mn-lt"/>
                <a:cs typeface="ＭＳ Ｐゴシック" pitchFamily="34" charset="-128"/>
              </a:rPr>
              <a:t>Quantity/quality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en-US" b="1" dirty="0" smtClean="0">
                <a:latin typeface="+mn-lt"/>
                <a:cs typeface="ＭＳ Ｐゴシック" pitchFamily="34" charset="-128"/>
              </a:rPr>
              <a:t>…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dirty="0" smtClean="0"/>
              <a:t>A Possible sustainable approach</a:t>
            </a:r>
            <a:endParaRPr lang="en-US" dirty="0"/>
          </a:p>
        </p:txBody>
      </p:sp>
      <p:pic>
        <p:nvPicPr>
          <p:cNvPr id="7170" name="Picture 2" descr="C:\Users\boyera\Desktop\triplebottom-linegraphic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6544" y="3930555"/>
            <a:ext cx="2557753" cy="245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2774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42161" y="1078162"/>
            <a:ext cx="6886435" cy="468871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 smtClean="0">
                <a:latin typeface="+mn-lt"/>
                <a:cs typeface="ＭＳ Ｐゴシック" pitchFamily="34" charset="-128"/>
              </a:rPr>
              <a:t> Lots of activities but </a:t>
            </a:r>
            <a:r>
              <a:rPr lang="en-US" b="1" dirty="0" err="1" smtClean="0">
                <a:latin typeface="+mn-lt"/>
                <a:cs typeface="ＭＳ Ｐゴシック" pitchFamily="34" charset="-128"/>
              </a:rPr>
              <a:t>siloed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 activities done separately and not coordinated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Many organizations (local, regional, international) are working on coordinating farmers and farmers organizations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SPC, PIFON, ITC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FCLC (Fiji), </a:t>
            </a:r>
            <a:r>
              <a:rPr lang="en-US" b="1" dirty="0" err="1" smtClean="0">
                <a:latin typeface="+mn-lt"/>
                <a:cs typeface="ＭＳ Ｐゴシック" pitchFamily="34" charset="-128"/>
              </a:rPr>
              <a:t>Wibdi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 (Samoa)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Active private sector organizations: PIPSO &amp; their NPSO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 smtClean="0">
                <a:latin typeface="+mn-lt"/>
                <a:cs typeface="ＭＳ Ｐゴシック" pitchFamily="34" charset="-128"/>
              </a:rPr>
              <a:t> Lots of activities with chefs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Organizations: SPTO, CTA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Highly Visible ambassadors: Robert Oliver, Lance </a:t>
            </a:r>
            <a:r>
              <a:rPr lang="en-US" b="1" dirty="0" err="1" smtClean="0">
                <a:latin typeface="+mn-lt"/>
                <a:cs typeface="ＭＳ Ｐゴシック" pitchFamily="34" charset="-128"/>
              </a:rPr>
              <a:t>Seeto</a:t>
            </a:r>
            <a:endParaRPr lang="en-US" b="1" dirty="0">
              <a:latin typeface="+mn-lt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 smtClean="0">
                <a:latin typeface="+mn-lt"/>
                <a:cs typeface="ＭＳ Ｐゴシック" pitchFamily="34" charset="-128"/>
              </a:rPr>
              <a:t> Existing networks: </a:t>
            </a:r>
            <a:r>
              <a:rPr lang="en-US" b="1" dirty="0" err="1" smtClean="0">
                <a:latin typeface="+mn-lt"/>
                <a:cs typeface="ＭＳ Ｐゴシック" pitchFamily="34" charset="-128"/>
              </a:rPr>
              <a:t>Pafpnet</a:t>
            </a:r>
            <a:endParaRPr lang="en-US" b="1" dirty="0" smtClean="0">
              <a:latin typeface="+mn-lt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 smtClean="0">
                <a:latin typeface="+mn-lt"/>
                <a:cs typeface="ＭＳ Ｐゴシック" pitchFamily="34" charset="-128"/>
              </a:rPr>
              <a:t> Annual Agribusiness week: CTA, SPC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en-US" b="1" dirty="0" smtClean="0">
              <a:latin typeface="+mn-lt"/>
              <a:cs typeface="ＭＳ Ｐゴシック" pitchFamily="34" charset="-128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dirty="0" smtClean="0"/>
              <a:t>Status in South Pacific Islands</a:t>
            </a:r>
            <a:endParaRPr lang="en-US" dirty="0"/>
          </a:p>
        </p:txBody>
      </p:sp>
      <p:pic>
        <p:nvPicPr>
          <p:cNvPr id="8194" name="Picture 2" descr="C:\Users\boyera\Desktop\DSC_010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686" y="4476465"/>
            <a:ext cx="2612898" cy="174788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4842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42161" y="1078162"/>
            <a:ext cx="6886435" cy="468871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 smtClean="0">
                <a:latin typeface="+mn-lt"/>
                <a:cs typeface="ＭＳ Ｐゴシック" pitchFamily="34" charset="-128"/>
              </a:rPr>
              <a:t> various </a:t>
            </a:r>
            <a:r>
              <a:rPr lang="en-US" b="1" dirty="0">
                <a:latin typeface="+mn-lt"/>
                <a:cs typeface="ＭＳ Ｐゴシック" pitchFamily="34" charset="-128"/>
              </a:rPr>
              <a:t>actors different world: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 smtClean="0">
                <a:latin typeface="+mn-lt"/>
                <a:cs typeface="ＭＳ Ｐゴシック" pitchFamily="34" charset="-128"/>
              </a:rPr>
              <a:t> email/web </a:t>
            </a:r>
            <a:r>
              <a:rPr lang="en-US" b="1" dirty="0">
                <a:latin typeface="+mn-lt"/>
                <a:cs typeface="ＭＳ Ｐゴシック" pitchFamily="34" charset="-128"/>
              </a:rPr>
              <a:t>for accommodation, organizations,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FB/twitter </a:t>
            </a:r>
            <a:r>
              <a:rPr lang="en-US" b="1" dirty="0">
                <a:latin typeface="+mn-lt"/>
                <a:cs typeface="ＭＳ Ｐゴシック" pitchFamily="34" charset="-128"/>
              </a:rPr>
              <a:t>for chefs, not much for other. Even if social media is mentioned by all interviewees, this is not really used in a professional context to conduct business or run discussions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Completely </a:t>
            </a:r>
            <a:r>
              <a:rPr lang="en-US" b="1" dirty="0">
                <a:latin typeface="+mn-lt"/>
                <a:cs typeface="ＭＳ Ｐゴシック" pitchFamily="34" charset="-128"/>
              </a:rPr>
              <a:t>different world for farmers: basic phones but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SMS aware</a:t>
            </a:r>
            <a:r>
              <a:rPr lang="en-US" b="1" dirty="0">
                <a:latin typeface="+mn-lt"/>
                <a:cs typeface="ＭＳ Ｐゴシック" pitchFamily="34" charset="-128"/>
              </a:rPr>
              <a:t>, no internet connectivity/usage. </a:t>
            </a:r>
            <a:endParaRPr lang="en-US" b="1" dirty="0" smtClean="0">
              <a:latin typeface="+mn-lt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Fiji </a:t>
            </a:r>
            <a:r>
              <a:rPr lang="en-US" b="1" dirty="0">
                <a:latin typeface="+mn-lt"/>
                <a:cs typeface="ＭＳ Ｐゴシック" pitchFamily="34" charset="-128"/>
              </a:rPr>
              <a:t>a little bit more developed than other islands on that regards, but still almost inexistent at the farmer level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Successful </a:t>
            </a:r>
            <a:r>
              <a:rPr lang="en-US" b="1" dirty="0">
                <a:latin typeface="+mn-lt"/>
                <a:cs typeface="ＭＳ Ｐゴシック" pitchFamily="34" charset="-128"/>
              </a:rPr>
              <a:t>examples of dedicated platforms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to </a:t>
            </a:r>
            <a:r>
              <a:rPr lang="en-US" b="1" dirty="0">
                <a:latin typeface="+mn-lt"/>
                <a:cs typeface="ＭＳ Ｐゴシック" pitchFamily="34" charset="-128"/>
              </a:rPr>
              <a:t>support a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sector (</a:t>
            </a:r>
            <a:r>
              <a:rPr lang="en-US" b="1" dirty="0" err="1" smtClean="0">
                <a:latin typeface="+mn-lt"/>
                <a:cs typeface="ＭＳ Ｐゴシック" pitchFamily="34" charset="-128"/>
              </a:rPr>
              <a:t>makeitfiji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), </a:t>
            </a:r>
            <a:r>
              <a:rPr lang="en-US" b="1" dirty="0">
                <a:latin typeface="+mn-lt"/>
                <a:cs typeface="ＭＳ Ｐゴシック" pitchFamily="34" charset="-128"/>
              </a:rPr>
              <a:t>as well as failure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examples </a:t>
            </a:r>
            <a:r>
              <a:rPr lang="en-US" b="1" dirty="0">
                <a:latin typeface="+mn-lt"/>
                <a:cs typeface="ＭＳ Ｐゴシック" pitchFamily="34" charset="-128"/>
              </a:rPr>
              <a:t>(true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pacific)</a:t>
            </a:r>
            <a:endParaRPr lang="en-US" b="1" dirty="0">
              <a:latin typeface="+mn-lt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Examples </a:t>
            </a:r>
            <a:r>
              <a:rPr lang="en-US" b="1" dirty="0">
                <a:latin typeface="+mn-lt"/>
                <a:cs typeface="ＭＳ Ｐゴシック" pitchFamily="34" charset="-128"/>
              </a:rPr>
              <a:t>of active networks: Pacific Agricultural &amp; Forestry Policy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Network (PAFPNET) 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dirty="0" smtClean="0"/>
              <a:t>ICT in South Pacific Islands</a:t>
            </a:r>
            <a:endParaRPr lang="en-US" dirty="0"/>
          </a:p>
        </p:txBody>
      </p:sp>
      <p:pic>
        <p:nvPicPr>
          <p:cNvPr id="1027" name="Picture 3" descr="C:\Users\boyera\Desktop\mobile-ic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7796" y="2325878"/>
            <a:ext cx="1357134" cy="1495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8835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42160" y="996274"/>
            <a:ext cx="7459643" cy="468871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 smtClean="0">
                <a:latin typeface="+mn-lt"/>
                <a:cs typeface="ＭＳ Ｐゴシック" pitchFamily="34" charset="-128"/>
              </a:rPr>
              <a:t> Provide to a wide range of information for all stakeholders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Resources for chefs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Policy resources: studies, etc.</a:t>
            </a:r>
            <a:endParaRPr lang="en-US" b="1" dirty="0">
              <a:latin typeface="+mn-lt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 smtClean="0">
                <a:latin typeface="+mn-lt"/>
                <a:cs typeface="ＭＳ Ｐゴシック" pitchFamily="34" charset="-128"/>
              </a:rPr>
              <a:t> Directories of actors for operational exchange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Demand side:  Purchasing requirements;  Commodities, volume and quality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Supply side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A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ctors in contact with farmers and clusters &amp; services offered: e.g. MIS, mapping tools </a:t>
            </a:r>
            <a:r>
              <a:rPr lang="en-US" b="1" dirty="0" err="1" smtClean="0">
                <a:latin typeface="+mn-lt"/>
                <a:cs typeface="ＭＳ Ｐゴシック" pitchFamily="34" charset="-128"/>
              </a:rPr>
              <a:t>etc</a:t>
            </a:r>
            <a:r>
              <a:rPr lang="en-US" b="1" dirty="0">
                <a:latin typeface="+mn-lt"/>
                <a:cs typeface="ＭＳ Ｐゴシック" pitchFamily="34" charset="-128"/>
              </a:rPr>
              <a:t>/</a:t>
            </a:r>
            <a:endParaRPr lang="en-US" b="1" dirty="0" smtClean="0">
              <a:latin typeface="+mn-lt"/>
              <a:cs typeface="ＭＳ Ｐゴシック" pitchFamily="34" charset="-128"/>
            </a:endParaRP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Agri-businesses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 smtClean="0">
                <a:latin typeface="+mn-lt"/>
                <a:cs typeface="ＭＳ Ｐゴシック" pitchFamily="34" charset="-128"/>
              </a:rPr>
              <a:t> Commodities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 smtClean="0">
                <a:latin typeface="+mn-lt"/>
                <a:cs typeface="ＭＳ Ｐゴシック" pitchFamily="34" charset="-128"/>
              </a:rPr>
              <a:t> Discussions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 smtClean="0">
                <a:latin typeface="+mn-lt"/>
                <a:cs typeface="ＭＳ Ｐゴシック" pitchFamily="34" charset="-128"/>
              </a:rPr>
              <a:t> leverage cross-sector discussions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News &amp; Events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Inquiries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For each module, a multi-dimensional approach: geographic/topic/stakeholders</a:t>
            </a:r>
            <a:endParaRPr lang="en-US" b="1" dirty="0">
              <a:latin typeface="+mn-lt"/>
              <a:cs typeface="ＭＳ Ｐゴシック" pitchFamily="34" charset="-128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dirty="0" smtClean="0"/>
              <a:t>Knowledge Platform possible approach</a:t>
            </a:r>
            <a:endParaRPr lang="en-US" dirty="0"/>
          </a:p>
        </p:txBody>
      </p:sp>
      <p:pic>
        <p:nvPicPr>
          <p:cNvPr id="2050" name="Picture 2" descr="C:\Users\boyera\Desktop\website-icon2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3658" y="1888539"/>
            <a:ext cx="2035625" cy="1602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5799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boyera\Desktop\ThreePillars_Wikipedi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900" y="3814983"/>
            <a:ext cx="3401273" cy="2497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42161" y="1119106"/>
            <a:ext cx="6886435" cy="4688711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 smtClean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A business-focused professional platform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Potential for a marketing platform later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In the future, include a tourist/public entry point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A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multi-stakeholder platform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An overall leader PIPSO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Stakeholder leaders: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SPTO for Chefs &amp; hotels</a:t>
            </a:r>
          </a:p>
          <a:p>
            <a:pPr lvl="3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Need involvement/agreement of ambassadors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PIFON/SPC for farmers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PIPSO and NPSO for agri-business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Country-level leaders: 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NPSO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A Federated platform linking existing elements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A Multi-channel discussion platforms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Email, FB,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Web</a:t>
            </a:r>
            <a:endParaRPr lang="en-US" b="1" dirty="0">
              <a:latin typeface="+mn-lt"/>
              <a:cs typeface="ＭＳ Ｐゴシック" pitchFamily="34" charset="-128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dirty="0" smtClean="0"/>
              <a:t>Knowledge Platform Sustainability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174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42161" y="1119106"/>
            <a:ext cx="6886435" cy="4688711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 smtClean="0">
                <a:latin typeface="+mn-lt"/>
                <a:cs typeface="ＭＳ Ｐゴシック" pitchFamily="34" charset="-128"/>
              </a:rPr>
              <a:t>  Focus: Business-focused organizations not individual members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 smtClean="0">
                <a:latin typeface="+mn-lt"/>
                <a:cs typeface="ＭＳ Ｐゴシック" pitchFamily="34" charset="-128"/>
              </a:rPr>
              <a:t> Implementation Option 1: linking existing elements from various actors sites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Pro: quick &amp; cheap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Cons: not homogeneous access ; no easy export and exploitation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>
                <a:cs typeface="ＭＳ Ｐゴシック" pitchFamily="34" charset="-128"/>
              </a:rPr>
              <a:t>Implementation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Option 2: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O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ne directory,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 smtClean="0">
                <a:latin typeface="+mn-lt"/>
                <a:cs typeface="ＭＳ Ｐゴシック" pitchFamily="34" charset="-128"/>
              </a:rPr>
              <a:t> Multiple contributors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Multiple access from each organization site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User standardized format (agro-profiles)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Can be exported as open data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In the future can be connected to an OD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en-US" b="1" dirty="0" smtClean="0">
              <a:latin typeface="+mn-lt"/>
              <a:cs typeface="ＭＳ Ｐゴシック" pitchFamily="34" charset="-128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dirty="0" smtClean="0"/>
              <a:t>Directory </a:t>
            </a:r>
            <a:r>
              <a:rPr lang="en-US" dirty="0" smtClean="0"/>
              <a:t>Sustainability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594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42161" y="1460306"/>
            <a:ext cx="6886435" cy="4688711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 smtClean="0">
                <a:latin typeface="+mn-lt"/>
                <a:cs typeface="ＭＳ Ｐゴシック" pitchFamily="34" charset="-128"/>
              </a:rPr>
              <a:t> Commodities information (production zone etc.) and cycles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Prices information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Might be available as OD from </a:t>
            </a:r>
            <a:r>
              <a:rPr lang="en-US" b="1" dirty="0" err="1" smtClean="0">
                <a:latin typeface="+mn-lt"/>
                <a:cs typeface="ＭＳ Ｐゴシック" pitchFamily="34" charset="-128"/>
              </a:rPr>
              <a:t>MoA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 for Fiji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Might be available from other islands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Actors profiles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Policy studies (sector potentials, new activities) on both sectors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b="1" dirty="0">
                <a:latin typeface="+mn-lt"/>
                <a:cs typeface="ＭＳ Ｐゴシック" pitchFamily="34" charset="-128"/>
              </a:rPr>
              <a:t> </a:t>
            </a:r>
            <a:r>
              <a:rPr lang="en-US" b="1" dirty="0" smtClean="0">
                <a:latin typeface="+mn-lt"/>
                <a:cs typeface="ＭＳ Ｐゴシック" pitchFamily="34" charset="-128"/>
              </a:rPr>
              <a:t>Provision of all data (directories, resources, …) as open data for easy integration in other platforms or innovation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b="1" dirty="0" smtClean="0">
              <a:latin typeface="+mn-lt"/>
              <a:cs typeface="ＭＳ Ｐゴシック" pitchFamily="34" charset="-128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en-US" dirty="0" smtClean="0"/>
              <a:t>Data Needs</a:t>
            </a:r>
            <a:endParaRPr lang="en-US" dirty="0"/>
          </a:p>
        </p:txBody>
      </p:sp>
      <p:pic>
        <p:nvPicPr>
          <p:cNvPr id="5" name="Picture 2" descr="C:\Users\boyera\Desktop\6a00d8341bfb1653ef014e890280b8970d-550wi-187x3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8596" y="2446670"/>
            <a:ext cx="1781175" cy="28575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7854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447675" y="354842"/>
            <a:ext cx="5884886" cy="382138"/>
          </a:xfrm>
        </p:spPr>
        <p:txBody>
          <a:bodyPr/>
          <a:lstStyle/>
          <a:p>
            <a:pPr>
              <a:defRPr/>
            </a:pPr>
            <a:r>
              <a:rPr lang="fr-FR" dirty="0" smtClean="0"/>
              <a:t>Conclusion</a:t>
            </a: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/>
            </a:r>
            <a:br>
              <a:rPr lang="en-US" sz="2800" dirty="0">
                <a:latin typeface="Trebuchet MS" pitchFamily="34" charset="0"/>
                <a:cs typeface="ＭＳ Ｐゴシック" pitchFamily="34" charset="-128"/>
              </a:rPr>
            </a:br>
            <a:endParaRPr lang="en-US" dirty="0" smtClean="0"/>
          </a:p>
        </p:txBody>
      </p:sp>
      <p:sp>
        <p:nvSpPr>
          <p:cNvPr id="11" name="Espace réservé du contenu 1"/>
          <p:cNvSpPr>
            <a:spLocks/>
          </p:cNvSpPr>
          <p:nvPr/>
        </p:nvSpPr>
        <p:spPr bwMode="auto">
          <a:xfrm>
            <a:off x="198315" y="1354487"/>
            <a:ext cx="8536251" cy="3736122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err="1" smtClean="0">
                <a:latin typeface="Trebuchet MS" pitchFamily="34" charset="0"/>
                <a:cs typeface="ＭＳ Ｐゴシック" pitchFamily="34" charset="-128"/>
              </a:rPr>
              <a:t>Agri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-tourism is a hot topic in the south pacific islands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There are lots of activities done separately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Can all these actors cooperate and create an ecosystem to boost </a:t>
            </a:r>
            <a:r>
              <a:rPr lang="en-US" sz="2300" dirty="0" err="1" smtClean="0">
                <a:latin typeface="Trebuchet MS" pitchFamily="34" charset="0"/>
                <a:cs typeface="ＭＳ Ｐゴシック" pitchFamily="34" charset="-128"/>
              </a:rPr>
              <a:t>agri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-tourism?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All conditions are present but still to become a reality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A twofold strategy based on an annual face-to-face event and online platform seems the most promising approach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Key requirements for a knowledge platforms identified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Next steps: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V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alidation and implementation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Investigation of commonalities and differences with other ACP regions and Caribbean islands in particular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0909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web foundation 1">
      <a:dk1>
        <a:srgbClr val="535555"/>
      </a:dk1>
      <a:lt1>
        <a:srgbClr val="FFFFFF"/>
      </a:lt1>
      <a:dk2>
        <a:srgbClr val="747678"/>
      </a:dk2>
      <a:lt2>
        <a:srgbClr val="E5E6E5"/>
      </a:lt2>
      <a:accent1>
        <a:srgbClr val="A4C400"/>
      </a:accent1>
      <a:accent2>
        <a:srgbClr val="C50A1D"/>
      </a:accent2>
      <a:accent3>
        <a:srgbClr val="B5418B"/>
      </a:accent3>
      <a:accent4>
        <a:srgbClr val="38B5B8"/>
      </a:accent4>
      <a:accent5>
        <a:srgbClr val="F29400"/>
      </a:accent5>
      <a:accent6>
        <a:srgbClr val="E1DC00"/>
      </a:accent6>
      <a:hlink>
        <a:srgbClr val="363636"/>
      </a:hlink>
      <a:folHlink>
        <a:srgbClr val="B8A796"/>
      </a:folHlink>
    </a:clrScheme>
    <a:fontScheme name="Révolution">
      <a:majorFont>
        <a:latin typeface="Trebuchet MS"/>
        <a:ea typeface=""/>
        <a:cs typeface=""/>
        <a:font script="Jpan" typeface="ＭＳ ゴシック"/>
      </a:majorFont>
      <a:minorFont>
        <a:latin typeface="Trebuchet MS"/>
        <a:ea typeface=""/>
        <a:cs typeface=""/>
        <a:font script="Jpan" typeface="ＭＳ ゴシック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reflection blurRad="6350" stA="52000" endA="300" endPos="35000" dir="5400000" sy="-100000" algn="bl" rotWithShape="0"/>
        </a:effectLst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57882</TotalTime>
  <Words>1288</Words>
  <Application>Microsoft Office PowerPoint</Application>
  <PresentationFormat>On-screen Show (4:3)</PresentationFormat>
  <Paragraphs>157</Paragraphs>
  <Slides>13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Thème Office</vt:lpstr>
      <vt:lpstr>Agri-tourism in South Pacific Islands</vt:lpstr>
      <vt:lpstr>SBC4D: Where ICT meets Social &amp; Economic Development</vt:lpstr>
      <vt:lpstr>South Pacific Experience</vt:lpstr>
      <vt:lpstr>Agri-Tourism Concept &amp; Rationale</vt:lpstr>
      <vt:lpstr>Challenges</vt:lpstr>
      <vt:lpstr>A Possible sustainable approach</vt:lpstr>
      <vt:lpstr>Status in South Pacific Islands</vt:lpstr>
      <vt:lpstr>ICT in South Pacific Islands</vt:lpstr>
      <vt:lpstr>Knowledge Platform possible approach</vt:lpstr>
      <vt:lpstr>Knowledge Platform Sustainability Model</vt:lpstr>
      <vt:lpstr>Directory Sustainability Model</vt:lpstr>
      <vt:lpstr>Data Needs</vt:lpstr>
      <vt:lpstr>Conclusion </vt:lpstr>
    </vt:vector>
  </TitlesOfParts>
  <Company>WITHYOU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Fabrice de Comarmond</dc:creator>
  <cp:lastModifiedBy>boyera</cp:lastModifiedBy>
  <cp:revision>759</cp:revision>
  <cp:lastPrinted>2011-11-29T16:00:44Z</cp:lastPrinted>
  <dcterms:created xsi:type="dcterms:W3CDTF">2009-10-15T09:24:18Z</dcterms:created>
  <dcterms:modified xsi:type="dcterms:W3CDTF">2015-06-15T09:31:33Z</dcterms:modified>
</cp:coreProperties>
</file>