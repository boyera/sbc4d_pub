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76" r:id="rId3"/>
    <p:sldId id="290" r:id="rId4"/>
    <p:sldId id="295" r:id="rId5"/>
    <p:sldId id="293" r:id="rId6"/>
    <p:sldId id="299" r:id="rId7"/>
    <p:sldId id="300" r:id="rId8"/>
    <p:sldId id="301" r:id="rId9"/>
  </p:sldIdLst>
  <p:sldSz cx="9144000" cy="6858000" type="screen4x3"/>
  <p:notesSz cx="7099300" cy="10234613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browse showScrollbar="0"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F547E"/>
    <a:srgbClr val="7AA6EC"/>
    <a:srgbClr val="50D450"/>
    <a:srgbClr val="29A428"/>
    <a:srgbClr val="1F497D"/>
    <a:srgbClr val="005D92"/>
    <a:srgbClr val="B7A797"/>
    <a:srgbClr val="B1BCA4"/>
    <a:srgbClr val="000000"/>
    <a:srgbClr val="FFC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23" autoAdjust="0"/>
    <p:restoredTop sz="88970" autoAdjust="0"/>
  </p:normalViewPr>
  <p:slideViewPr>
    <p:cSldViewPr snapToGrid="0">
      <p:cViewPr>
        <p:scale>
          <a:sx n="70" d="100"/>
          <a:sy n="70" d="100"/>
        </p:scale>
        <p:origin x="-442" y="-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884" y="-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D06CBAB-0BA1-42AF-8B31-9DAE95BE60F2}" type="datetime1">
              <a:rPr lang="fr-FR"/>
              <a:pPr>
                <a:defRPr/>
              </a:pPr>
              <a:t>22/08/2015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20D7951-8316-4B8D-BB05-64474AD63AFB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827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AB03E9-6C6A-42A9-8A84-DB564324CB0B}" type="datetime1">
              <a:rPr lang="fr-FR"/>
              <a:pPr>
                <a:defRPr/>
              </a:pPr>
              <a:t>22/08/2015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7" tIns="49524" rIns="99047" bIns="49524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294" y="4860581"/>
            <a:ext cx="5680712" cy="4607299"/>
          </a:xfrm>
          <a:prstGeom prst="rect">
            <a:avLst/>
          </a:prstGeom>
        </p:spPr>
        <p:txBody>
          <a:bodyPr vert="horz" lIns="99047" tIns="49524" rIns="99047" bIns="49524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4E1596-A129-4638-9F8E-3949BA5E7CE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9286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Important to mention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those</a:t>
            </a:r>
            <a:r>
              <a:rPr lang="fr-FR" dirty="0" smtClean="0"/>
              <a:t> </a:t>
            </a:r>
            <a:r>
              <a:rPr lang="fr-FR" dirty="0" err="1" smtClean="0"/>
              <a:t>units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baseline="0" dirty="0" smtClean="0"/>
              <a:t> serve </a:t>
            </a:r>
            <a:r>
              <a:rPr lang="fr-FR" baseline="0" dirty="0" err="1" smtClean="0"/>
              <a:t>both</a:t>
            </a:r>
            <a:r>
              <a:rPr lang="fr-FR" baseline="0" dirty="0" smtClean="0"/>
              <a:t> non-</a:t>
            </a:r>
            <a:r>
              <a:rPr lang="fr-FR" baseline="0" dirty="0" err="1" smtClean="0"/>
              <a:t>gov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actors</a:t>
            </a:r>
            <a:r>
              <a:rPr lang="fr-FR" baseline="0" dirty="0" smtClean="0"/>
              <a:t> and </a:t>
            </a:r>
            <a:r>
              <a:rPr lang="fr-FR" baseline="0" dirty="0" err="1" smtClean="0"/>
              <a:t>gov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actors</a:t>
            </a:r>
            <a:r>
              <a:rPr lang="fr-FR" baseline="0" dirty="0" smtClean="0"/>
              <a:t>.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7849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Important to note that infrastructure</a:t>
            </a:r>
            <a:r>
              <a:rPr lang="en-US" baseline="0" dirty="0" smtClean="0"/>
              <a:t> can serve </a:t>
            </a:r>
            <a:r>
              <a:rPr lang="en-US" baseline="0" dirty="0" err="1" smtClean="0"/>
              <a:t>ngos</a:t>
            </a:r>
            <a:r>
              <a:rPr lang="en-US" baseline="0" dirty="0" smtClean="0"/>
              <a:t>, entrepreneurs but also internal agencies for e-</a:t>
            </a:r>
            <a:r>
              <a:rPr lang="en-US" baseline="0" dirty="0" err="1" smtClean="0"/>
              <a:t>gov</a:t>
            </a:r>
            <a:r>
              <a:rPr lang="en-US" baseline="0" dirty="0" smtClean="0"/>
              <a:t> services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4546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</a:t>
            </a:r>
            <a:r>
              <a:rPr lang="en-US" baseline="0" dirty="0" smtClean="0"/>
              <a:t> key point is to engage dialogs between </a:t>
            </a:r>
            <a:r>
              <a:rPr lang="en-US" baseline="0" dirty="0" err="1" smtClean="0"/>
              <a:t>reusuers</a:t>
            </a:r>
            <a:r>
              <a:rPr lang="en-US" baseline="0" dirty="0" smtClean="0"/>
              <a:t> and data providers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4546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9" descr="http://www.webfoundation.org/wp-content/uploads/2012/07/header.jpg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79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ZoneTexte 7"/>
          <p:cNvSpPr txBox="1">
            <a:spLocks noChangeArrowheads="1"/>
          </p:cNvSpPr>
          <p:nvPr userDrawn="1"/>
        </p:nvSpPr>
        <p:spPr bwMode="auto">
          <a:xfrm>
            <a:off x="0" y="1522186"/>
            <a:ext cx="4114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</a:rPr>
              <a:t>Where ICT meets Social &amp; Economic Development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3079750"/>
            <a:ext cx="9144000" cy="149225"/>
          </a:xfrm>
          <a:prstGeom prst="rect">
            <a:avLst/>
          </a:prstGeom>
          <a:solidFill>
            <a:srgbClr val="1F547E"/>
          </a:solidFill>
          <a:ln>
            <a:solidFill>
              <a:srgbClr val="1F54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>
              <a:solidFill>
                <a:srgbClr val="1F547E"/>
              </a:solidFill>
            </a:endParaRPr>
          </a:p>
        </p:txBody>
      </p:sp>
      <p:sp>
        <p:nvSpPr>
          <p:cNvPr id="15" name="Titre 4"/>
          <p:cNvSpPr>
            <a:spLocks noGrp="1"/>
          </p:cNvSpPr>
          <p:nvPr>
            <p:ph type="title"/>
          </p:nvPr>
        </p:nvSpPr>
        <p:spPr>
          <a:xfrm>
            <a:off x="504825" y="3608623"/>
            <a:ext cx="8229600" cy="1181101"/>
          </a:xfrm>
          <a:prstGeom prst="rect">
            <a:avLst/>
          </a:prstGeom>
        </p:spPr>
        <p:txBody>
          <a:bodyPr vert="horz"/>
          <a:lstStyle>
            <a:lvl1pPr algn="l">
              <a:defRPr sz="3600" b="1" baseline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5127625"/>
            <a:ext cx="8305800" cy="1306513"/>
          </a:xfrm>
        </p:spPr>
        <p:txBody>
          <a:bodyPr/>
          <a:lstStyle>
            <a:lvl1pPr marL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</p:txBody>
      </p:sp>
      <p:pic>
        <p:nvPicPr>
          <p:cNvPr id="1027" name="Picture 3" descr="C:\Users\boyera\Desktop\WF\Work\visio icon\sbc4d2 - Copi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57" y="136978"/>
            <a:ext cx="1117600" cy="124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355474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6544075"/>
            <a:ext cx="9144000" cy="327573"/>
          </a:xfrm>
          <a:prstGeom prst="rect">
            <a:avLst/>
          </a:prstGeom>
          <a:solidFill>
            <a:srgbClr val="1F547E"/>
          </a:solidFill>
          <a:ln>
            <a:solidFill>
              <a:srgbClr val="1F54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 smtClean="0">
                <a:solidFill>
                  <a:schemeClr val="bg1"/>
                </a:solidFill>
              </a:rPr>
              <a:t>Copyright © 2015. SB</a:t>
            </a:r>
            <a:r>
              <a:rPr lang="en-US" sz="1100" baseline="0" dirty="0" smtClean="0">
                <a:solidFill>
                  <a:schemeClr val="bg1"/>
                </a:solidFill>
              </a:rPr>
              <a:t>C4D – http://wwww.sbc4d.com</a:t>
            </a:r>
            <a:r>
              <a:rPr lang="en-US" sz="1100" dirty="0" smtClean="0">
                <a:solidFill>
                  <a:schemeClr val="bg1"/>
                </a:solidFill>
              </a:rPr>
              <a:t>. All rights reserved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812800"/>
            <a:ext cx="9144000" cy="152400"/>
          </a:xfrm>
          <a:prstGeom prst="rect">
            <a:avLst/>
          </a:prstGeom>
          <a:solidFill>
            <a:srgbClr val="1F547E"/>
          </a:solidFill>
          <a:ln>
            <a:solidFill>
              <a:srgbClr val="1F547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6" name="Titre 9"/>
          <p:cNvSpPr>
            <a:spLocks noGrp="1"/>
          </p:cNvSpPr>
          <p:nvPr userDrawn="1">
            <p:ph type="title"/>
          </p:nvPr>
        </p:nvSpPr>
        <p:spPr>
          <a:xfrm>
            <a:off x="448128" y="0"/>
            <a:ext cx="4777015" cy="812800"/>
          </a:xfrm>
          <a:prstGeom prst="rect">
            <a:avLst/>
          </a:prstGeom>
        </p:spPr>
        <p:txBody>
          <a:bodyPr vert="horz" anchor="ctr"/>
          <a:lstStyle>
            <a:lvl1pPr algn="l">
              <a:defRPr sz="2600" b="1">
                <a:solidFill>
                  <a:schemeClr val="tx1"/>
                </a:solidFill>
                <a:latin typeface="+mn-lt"/>
                <a:cs typeface="Calibri (Titres)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pic>
        <p:nvPicPr>
          <p:cNvPr id="2050" name="Picture 2" descr="C:\Users\boyera\Desktop\WF\Work\visio icon\sbc4d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434" y="54449"/>
            <a:ext cx="508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5"/>
          <p:cNvSpPr txBox="1">
            <a:spLocks/>
          </p:cNvSpPr>
          <p:nvPr userDrawn="1"/>
        </p:nvSpPr>
        <p:spPr>
          <a:xfrm>
            <a:off x="8386454" y="6555864"/>
            <a:ext cx="730250" cy="30896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bg1"/>
                </a:solidFill>
                <a:latin typeface="+mj-lt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fld id="{FF42B312-9817-492A-A2CE-1B0E09E6F02D}" type="slidenum">
              <a:rPr lang="en-US" smtClean="0"/>
              <a:pPr>
                <a:defRPr/>
              </a:pPr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490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here to modify texte styles of the mask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fr-FR" smtClean="0"/>
              <a:t>T</a:t>
            </a:r>
            <a:r>
              <a:rPr lang="en-US" smtClean="0"/>
              <a:t>hird level</a:t>
            </a:r>
          </a:p>
          <a:p>
            <a:pPr lvl="3"/>
            <a:r>
              <a:rPr lang="fr-FR" smtClean="0"/>
              <a:t>F</a:t>
            </a:r>
            <a:r>
              <a:rPr lang="en-US" smtClean="0"/>
              <a:t>orth level</a:t>
            </a:r>
          </a:p>
          <a:p>
            <a:pPr lvl="4"/>
            <a:r>
              <a:rPr lang="fr-FR" smtClean="0"/>
              <a:t>F</a:t>
            </a:r>
            <a:r>
              <a:rPr lang="en-US" smtClean="0"/>
              <a:t>ifth level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93825" y="6645275"/>
            <a:ext cx="6051550" cy="2127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Copyright © 2011. World Wide Web Foundation.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43" r:id="rId1"/>
    <p:sldLayoutId id="2147485044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sz="27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2000" kern="1200">
          <a:solidFill>
            <a:schemeClr val="tx1"/>
          </a:solidFill>
          <a:latin typeface="+mn-lt"/>
          <a:ea typeface="ＭＳ Ｐゴシック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kern="1200">
          <a:solidFill>
            <a:schemeClr val="tx1"/>
          </a:solidFill>
          <a:latin typeface="+mn-lt"/>
          <a:ea typeface="ＭＳ Ｐゴシック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ＭＳ Ｐゴシック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ＭＳ Ｐゴシック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 Data &amp; Community Engagement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478809" y="4868317"/>
            <a:ext cx="8305800" cy="1306513"/>
          </a:xfrm>
        </p:spPr>
        <p:txBody>
          <a:bodyPr/>
          <a:lstStyle/>
          <a:p>
            <a:r>
              <a:rPr lang="en-US" sz="1600" b="1" dirty="0" err="1">
                <a:latin typeface="Trebuchet MS" pitchFamily="34" charset="0"/>
              </a:rPr>
              <a:t>Stéphane</a:t>
            </a:r>
            <a:r>
              <a:rPr lang="en-US" sz="1600" b="1" dirty="0">
                <a:latin typeface="Trebuchet MS" pitchFamily="34" charset="0"/>
              </a:rPr>
              <a:t> </a:t>
            </a:r>
            <a:r>
              <a:rPr lang="en-US" sz="1600" b="1" dirty="0" err="1">
                <a:latin typeface="Trebuchet MS" pitchFamily="34" charset="0"/>
              </a:rPr>
              <a:t>Boyera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 smtClean="0">
                <a:latin typeface="Trebuchet MS" pitchFamily="34" charset="0"/>
              </a:rPr>
              <a:t>CEO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 smtClean="0">
                <a:latin typeface="Trebuchet MS" pitchFamily="34" charset="0"/>
              </a:rPr>
              <a:t>stephane@sbc4d.com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en-US" sz="1600" b="1" dirty="0" smtClean="0">
                <a:latin typeface="Trebuchet MS" pitchFamily="34" charset="0"/>
              </a:rPr>
              <a:t>SBC4D – http://www.sbc4d.com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en-US" sz="1400" b="1" dirty="0" smtClean="0">
                <a:latin typeface="Trebuchet MS" pitchFamily="34" charset="0"/>
              </a:rPr>
              <a:t>25 </a:t>
            </a:r>
            <a:r>
              <a:rPr lang="en-US" sz="1400" b="1" dirty="0" smtClean="0">
                <a:latin typeface="Trebuchet MS" pitchFamily="34" charset="0"/>
              </a:rPr>
              <a:t>August 2015 – Dar </a:t>
            </a:r>
            <a:r>
              <a:rPr lang="en-US" sz="1400" b="1" dirty="0" err="1" smtClean="0">
                <a:latin typeface="Trebuchet MS" pitchFamily="34" charset="0"/>
              </a:rPr>
              <a:t>Es</a:t>
            </a:r>
            <a:r>
              <a:rPr lang="en-US" sz="1400" b="1" dirty="0" smtClean="0">
                <a:latin typeface="Trebuchet MS" pitchFamily="34" charset="0"/>
              </a:rPr>
              <a:t> Salaam, Tanzania</a:t>
            </a:r>
            <a:endParaRPr lang="en-US" sz="1400" b="1" dirty="0">
              <a:latin typeface="Trebuchet MS" pitchFamily="34" charset="0"/>
            </a:endParaRPr>
          </a:p>
          <a:p>
            <a:r>
              <a:rPr lang="en-US" sz="1400" b="1" dirty="0" smtClean="0"/>
              <a:t>https://</a:t>
            </a:r>
            <a:r>
              <a:rPr lang="en-US" sz="1400" b="1" dirty="0" smtClean="0"/>
              <a:t>public.sbc4d.com/2015/08/sb_tz_od_reuse_ws.pptx</a:t>
            </a:r>
            <a:endParaRPr lang="en-US" sz="1200" b="1" dirty="0">
              <a:latin typeface="Trebuchet MS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726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Open Data, Innovation &amp; Impact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68240" y="1175388"/>
            <a:ext cx="6687403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Opening Data does not lead to impact but is only a mean to achieve it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000" b="1" dirty="0" smtClean="0">
                <a:latin typeface="Trebuchet MS" pitchFamily="34" charset="0"/>
                <a:cs typeface="Arial" pitchFamily="34" charset="0"/>
              </a:rPr>
              <a:t>Social &amp; Economic Impact comes from: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Data Mashup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Generating new knowledge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Trebuchet MS" pitchFamily="34" charset="0"/>
                <a:cs typeface="Arial" pitchFamily="34" charset="0"/>
              </a:rPr>
              <a:t> Providing material for transparency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Transformation of data into services for people &amp; organizations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b="1" dirty="0">
              <a:latin typeface="Trebuchet MS" pitchFamily="34" charset="0"/>
              <a:cs typeface="Arial" pitchFamily="34" charset="0"/>
            </a:endParaRPr>
          </a:p>
          <a:p>
            <a:pPr marL="742950" lvl="1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b="1" dirty="0" smtClean="0">
                <a:latin typeface="Trebuchet MS" pitchFamily="34" charset="0"/>
                <a:cs typeface="Arial" pitchFamily="34" charset="0"/>
              </a:rPr>
              <a:t>Impact does not come from data providers but from data </a:t>
            </a:r>
            <a:r>
              <a:rPr lang="en-US" b="1" dirty="0" err="1" smtClean="0">
                <a:latin typeface="Trebuchet MS" pitchFamily="34" charset="0"/>
                <a:cs typeface="Arial" pitchFamily="34" charset="0"/>
              </a:rPr>
              <a:t>reusers</a:t>
            </a:r>
            <a:endParaRPr lang="en-US" b="1" dirty="0" smtClean="0">
              <a:latin typeface="Trebuchet MS" pitchFamily="34" charset="0"/>
              <a:cs typeface="Arial" pitchFamily="34" charset="0"/>
            </a:endParaRPr>
          </a:p>
          <a:p>
            <a:pPr marL="742950" lvl="1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Success of national open data initiatives like TODI rely on leveraging reuse of datasets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b="1" dirty="0" smtClean="0">
                <a:latin typeface="Trebuchet MS" pitchFamily="34" charset="0"/>
                <a:cs typeface="Arial" pitchFamily="34" charset="0"/>
              </a:rPr>
              <a:t>Data </a:t>
            </a:r>
            <a:r>
              <a:rPr lang="en-US" b="1" dirty="0" err="1" smtClean="0">
                <a:latin typeface="Trebuchet MS" pitchFamily="34" charset="0"/>
                <a:cs typeface="Arial" pitchFamily="34" charset="0"/>
              </a:rPr>
              <a:t>reusers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 are both internal (other government agencies) and external (CSOs, entrepreneurs, etc.) </a:t>
            </a:r>
            <a:endParaRPr lang="en-US" b="1" dirty="0">
              <a:latin typeface="Trebuchet MS" pitchFamily="34" charset="0"/>
              <a:cs typeface="Arial" pitchFamily="34" charset="0"/>
            </a:endParaRPr>
          </a:p>
        </p:txBody>
      </p:sp>
      <p:pic>
        <p:nvPicPr>
          <p:cNvPr id="1026" name="Picture 2" descr="C:\Users\boyera\Desktop\actionIcon-07-25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158" y="4201660"/>
            <a:ext cx="1815646" cy="181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C:\Users\boyera\Desktop\impac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693" y="1612809"/>
            <a:ext cx="2863908" cy="183156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03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Key elements for data reuse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440169" y="1706196"/>
            <a:ext cx="6178119" cy="329034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i="1" dirty="0" smtClean="0">
                <a:latin typeface="Trebuchet MS" pitchFamily="34" charset="0"/>
                <a:cs typeface="ＭＳ Ｐゴシック" pitchFamily="34" charset="-128"/>
              </a:rPr>
              <a:t>A robust Open Data </a:t>
            </a:r>
            <a:r>
              <a:rPr lang="en-US" sz="2000" i="1" dirty="0" smtClean="0">
                <a:latin typeface="Trebuchet MS" pitchFamily="34" charset="0"/>
                <a:cs typeface="ＭＳ Ｐゴシック" pitchFamily="34" charset="-128"/>
              </a:rPr>
              <a:t>Initiative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Awareness &amp; Sustainable community building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Capacities &amp; Sustainable Capacity Building units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Robust Infrastructure 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Sustainable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Dialogs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b="1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000" b="1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2051" name="Picture 3" descr="C:\Users\boyera\Desktop\reuse_reduse_recycle-12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316" y="1216331"/>
            <a:ext cx="1698625" cy="169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boyera\Desktop\6a00d8341bfb1653ef014e890280b8970d-550wi-187x3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316" y="3332468"/>
            <a:ext cx="1781175" cy="28575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3124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Awareness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428286" y="1375985"/>
            <a:ext cx="6687403" cy="447646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Lots of organizations &amp; entrepreneurs does not know about OD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They don’t know about what is possible and what is authorized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Innovation comes from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Discovery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Understanding of application in specific sectors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Observation/understanding of shining examples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Exchanges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Activities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Meetup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Community building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Example: </a:t>
            </a:r>
            <a:r>
              <a:rPr lang="en-US" sz="2000" dirty="0" err="1" smtClean="0">
                <a:latin typeface="Trebuchet MS" pitchFamily="34" charset="0"/>
                <a:cs typeface="ＭＳ Ｐゴシック" pitchFamily="34" charset="-128"/>
              </a:rPr>
              <a:t>iHub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 in Kenya, </a:t>
            </a:r>
            <a:r>
              <a:rPr lang="en-US" sz="2000" dirty="0" err="1" smtClean="0">
                <a:latin typeface="Trebuchet MS" pitchFamily="34" charset="0"/>
                <a:cs typeface="ＭＳ Ｐゴシック" pitchFamily="34" charset="-128"/>
              </a:rPr>
              <a:t>Klab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 in Rwanda, Open data days in Uganda …</a:t>
            </a:r>
            <a:endParaRPr lang="en-US" sz="20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3074" name="Picture 2" descr="C:\Users\boyera\Desktop\adv_mktg_icon_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685" y="1349828"/>
            <a:ext cx="2208256" cy="2099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boyera\Desktop\awareness-ic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2841" y="4193268"/>
            <a:ext cx="1943100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022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82291" y="1043344"/>
            <a:ext cx="6447109" cy="521594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Sustainable Capacity building unit  on data management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 How to access and exploit existing datasets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How to automatically retrieve updated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How to build meaningful visualization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How to analyze data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Start with one shot training but focus on sustainable units with recurring sessions on different sectors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Examples: Open data labs (e.g. ODI nodes, WF Open data lab in Indonesia)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Sustainable Capacity building unit  on Capacities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on service development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Building technical capacities on Mobile technologies: SMS, IVR, USSD, smartphone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Building business capacities on Mobile services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Example: </a:t>
            </a:r>
            <a:r>
              <a:rPr lang="en-US" dirty="0" err="1" smtClean="0">
                <a:latin typeface="Trebuchet MS" pitchFamily="34" charset="0"/>
                <a:cs typeface="ＭＳ Ｐゴシック" pitchFamily="34" charset="-128"/>
              </a:rPr>
              <a:t>mLab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 East Africa in Kenya, Mobile Web Ghana</a:t>
            </a:r>
            <a:endParaRPr lang="en-US" dirty="0" smtClean="0">
              <a:latin typeface="+mn-lt"/>
              <a:cs typeface="ＭＳ Ｐゴシック" pitchFamily="34" charset="-128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Capacities</a:t>
            </a:r>
            <a:endParaRPr lang="en-US" dirty="0"/>
          </a:p>
        </p:txBody>
      </p:sp>
      <p:pic>
        <p:nvPicPr>
          <p:cNvPr id="5" name="Picture 3" descr="C:\Users\boyera\Desktop\mobile-ic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3881" y="4285307"/>
            <a:ext cx="1357134" cy="1495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C:\Users\boyera\Desktop\icon-capacity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3967" y="2012225"/>
            <a:ext cx="2052910" cy="205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004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83679" y="1100410"/>
            <a:ext cx="5823208" cy="46887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For data mashup and data publication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Innovation is incremental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New data should be publishable easily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CSOs, NGOs, private companies have lots of data to publish that could complement public official datasets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Example: Uganda CSO-led data.ug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For service deployment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Mobile service deployment infrastructure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Example: South Africa IVR infrastructure &amp; resources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Easy to use/easy to understand/pro-entrepreneur mobile service regulation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Example: Rwanda regulation on </a:t>
            </a:r>
            <a:r>
              <a:rPr lang="en-US" b="1" dirty="0" err="1" smtClean="0">
                <a:latin typeface="+mn-lt"/>
                <a:cs typeface="ＭＳ Ｐゴシック" pitchFamily="34" charset="-128"/>
              </a:rPr>
              <a:t>shortcodes</a:t>
            </a:r>
            <a:endParaRPr lang="en-US" b="1" dirty="0" smtClean="0">
              <a:latin typeface="+mn-lt"/>
              <a:cs typeface="ＭＳ Ｐゴシック" pitchFamily="34" charset="-128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Infrastructure</a:t>
            </a:r>
            <a:endParaRPr lang="en-US" dirty="0"/>
          </a:p>
        </p:txBody>
      </p:sp>
      <p:pic>
        <p:nvPicPr>
          <p:cNvPr id="5122" name="Picture 2" descr="C:\Users\boyera\Desktop\mobile-cit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487" y="4674058"/>
            <a:ext cx="3048000" cy="164941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77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42162" y="1078162"/>
            <a:ext cx="6356610" cy="46887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Critical points: Organize dialogs between data providers and data </a:t>
            </a:r>
            <a:r>
              <a:rPr lang="en-US" b="1" dirty="0" err="1" smtClean="0">
                <a:latin typeface="+mn-lt"/>
                <a:cs typeface="ＭＳ Ｐゴシック" pitchFamily="34" charset="-128"/>
              </a:rPr>
              <a:t>reusers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 (theme-focused)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Rationale for Dialogs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Prioritize datasets release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Identify quality issues and fix them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Measure impacts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Social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Economic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Improvement of public services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Identify champions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Identify resources to leverage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Identify required interventions and missing elements for impact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Capacities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Access to finance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Others </a:t>
            </a:r>
            <a:endParaRPr lang="en-US" b="1" dirty="0" smtClean="0">
              <a:latin typeface="+mn-lt"/>
              <a:cs typeface="ＭＳ Ｐゴシック" pitchFamily="34" charset="-128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Regular Public-CSOs-entrepreneurs Dialogs</a:t>
            </a:r>
            <a:endParaRPr lang="en-US" dirty="0"/>
          </a:p>
        </p:txBody>
      </p:sp>
      <p:pic>
        <p:nvPicPr>
          <p:cNvPr id="6146" name="Picture 2" descr="C:\Users\boyera\Desktop\Blog ic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275" y="3820885"/>
            <a:ext cx="2791725" cy="2560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84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354842"/>
            <a:ext cx="5884886" cy="382138"/>
          </a:xfrm>
        </p:spPr>
        <p:txBody>
          <a:bodyPr/>
          <a:lstStyle/>
          <a:p>
            <a:pPr>
              <a:defRPr/>
            </a:pPr>
            <a:r>
              <a:rPr lang="fr-FR" dirty="0" smtClean="0">
                <a:cs typeface="ＭＳ Ｐゴシック" pitchFamily="34" charset="-128"/>
              </a:rPr>
              <a:t>Discussions</a:t>
            </a: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/>
            </a:r>
            <a:br>
              <a:rPr lang="en-US" sz="2800" dirty="0">
                <a:latin typeface="Trebuchet MS" pitchFamily="34" charset="0"/>
                <a:cs typeface="ＭＳ Ｐゴシック" pitchFamily="34" charset="-128"/>
              </a:rPr>
            </a:br>
            <a:endParaRPr lang="en-US" dirty="0" smtClean="0"/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98315" y="1136767"/>
            <a:ext cx="8536251" cy="3736122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 Where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is TODI and Tanzania context in terms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Awareness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raising</a:t>
            </a:r>
            <a:endParaRPr lang="en-US" sz="20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Capacity building: data,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services, technologies</a:t>
            </a:r>
            <a:endParaRPr lang="en-US" sz="20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Infrastructure</a:t>
            </a:r>
            <a:endParaRPr lang="en-US" sz="20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Dialogs: 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Prioritization of datasets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Value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Feedback &amp; support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Possible impactful interventions?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Competition? </a:t>
            </a: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(e.g.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MAVC </a:t>
            </a: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tech4governance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competition)</a:t>
            </a:r>
            <a:endParaRPr lang="en-US" sz="20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Dedicated innovation funds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?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Capacity building (training the trainers)?</a:t>
            </a:r>
            <a:endParaRPr lang="en-US" sz="2000" dirty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others?</a:t>
            </a:r>
            <a:endParaRPr lang="en-US" sz="2000" dirty="0" smtClean="0">
              <a:latin typeface="Trebuchet MS" pitchFamily="34" charset="0"/>
              <a:cs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7937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web foundation 1">
      <a:dk1>
        <a:srgbClr val="535555"/>
      </a:dk1>
      <a:lt1>
        <a:srgbClr val="FFFFFF"/>
      </a:lt1>
      <a:dk2>
        <a:srgbClr val="747678"/>
      </a:dk2>
      <a:lt2>
        <a:srgbClr val="E5E6E5"/>
      </a:lt2>
      <a:accent1>
        <a:srgbClr val="A4C400"/>
      </a:accent1>
      <a:accent2>
        <a:srgbClr val="C50A1D"/>
      </a:accent2>
      <a:accent3>
        <a:srgbClr val="B5418B"/>
      </a:accent3>
      <a:accent4>
        <a:srgbClr val="38B5B8"/>
      </a:accent4>
      <a:accent5>
        <a:srgbClr val="F29400"/>
      </a:accent5>
      <a:accent6>
        <a:srgbClr val="E1DC00"/>
      </a:accent6>
      <a:hlink>
        <a:srgbClr val="363636"/>
      </a:hlink>
      <a:folHlink>
        <a:srgbClr val="B8A796"/>
      </a:folHlink>
    </a:clrScheme>
    <a:fontScheme name="Révolution">
      <a:majorFont>
        <a:latin typeface="Trebuchet MS"/>
        <a:ea typeface=""/>
        <a:cs typeface=""/>
        <a:font script="Jpan" typeface="ＭＳ ゴシック"/>
      </a:majorFont>
      <a:minorFont>
        <a:latin typeface="Trebuchet MS"/>
        <a:ea typeface=""/>
        <a:cs typeface=""/>
        <a:font script="Jpan" typeface="ＭＳ 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reflection blurRad="6350" stA="52000" endA="300" endPos="35000" dir="5400000" sy="-100000" algn="bl" rotWithShape="0"/>
        </a:effectLst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58034</TotalTime>
  <Words>599</Words>
  <Application>Microsoft Office PowerPoint</Application>
  <PresentationFormat>Affichage à l'écran (4:3)</PresentationFormat>
  <Paragraphs>95</Paragraphs>
  <Slides>8</Slides>
  <Notes>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Open Data &amp; Community Engagement</vt:lpstr>
      <vt:lpstr>Open Data, Innovation &amp; Impact</vt:lpstr>
      <vt:lpstr>Key elements for data reuse</vt:lpstr>
      <vt:lpstr>Awareness</vt:lpstr>
      <vt:lpstr>Capacities</vt:lpstr>
      <vt:lpstr>Infrastructure</vt:lpstr>
      <vt:lpstr>Regular Public-CSOs-entrepreneurs Dialogs</vt:lpstr>
      <vt:lpstr>Discussions </vt:lpstr>
    </vt:vector>
  </TitlesOfParts>
  <Company>WITHYOU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Fabrice de Comarmond</dc:creator>
  <cp:lastModifiedBy>boyera</cp:lastModifiedBy>
  <cp:revision>774</cp:revision>
  <cp:lastPrinted>2011-11-29T16:00:44Z</cp:lastPrinted>
  <dcterms:created xsi:type="dcterms:W3CDTF">2009-10-15T09:24:18Z</dcterms:created>
  <dcterms:modified xsi:type="dcterms:W3CDTF">2015-08-22T15:32:15Z</dcterms:modified>
</cp:coreProperties>
</file>