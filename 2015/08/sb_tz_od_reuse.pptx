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95" r:id="rId3"/>
    <p:sldId id="293" r:id="rId4"/>
    <p:sldId id="299" r:id="rId5"/>
    <p:sldId id="300" r:id="rId6"/>
    <p:sldId id="302" r:id="rId7"/>
    <p:sldId id="303" r:id="rId8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A428"/>
    <a:srgbClr val="1F547E"/>
    <a:srgbClr val="7AA6EC"/>
    <a:srgbClr val="50D450"/>
    <a:srgbClr val="1F497D"/>
    <a:srgbClr val="005D92"/>
    <a:srgbClr val="B7A797"/>
    <a:srgbClr val="B1BCA4"/>
    <a:srgbClr val="000000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23" autoAdjust="0"/>
    <p:restoredTop sz="88970" autoAdjust="0"/>
  </p:normalViewPr>
  <p:slideViewPr>
    <p:cSldViewPr snapToGrid="0">
      <p:cViewPr>
        <p:scale>
          <a:sx n="70" d="100"/>
          <a:sy n="70" d="100"/>
        </p:scale>
        <p:origin x="-686" y="-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26/08/2015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26/08/2015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Important to mention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those</a:t>
            </a:r>
            <a:r>
              <a:rPr lang="fr-FR" dirty="0" smtClean="0"/>
              <a:t> </a:t>
            </a:r>
            <a:r>
              <a:rPr lang="fr-FR" dirty="0" err="1" smtClean="0"/>
              <a:t>units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baseline="0" dirty="0" smtClean="0"/>
              <a:t> serve </a:t>
            </a:r>
            <a:r>
              <a:rPr lang="fr-FR" baseline="0" dirty="0" err="1" smtClean="0"/>
              <a:t>both</a:t>
            </a:r>
            <a:r>
              <a:rPr lang="fr-FR" baseline="0" dirty="0" smtClean="0"/>
              <a:t> non-</a:t>
            </a:r>
            <a:r>
              <a:rPr lang="fr-FR" baseline="0" dirty="0" err="1" smtClean="0"/>
              <a:t>gov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actors</a:t>
            </a:r>
            <a:r>
              <a:rPr lang="fr-FR" baseline="0" dirty="0" smtClean="0"/>
              <a:t> and </a:t>
            </a:r>
            <a:r>
              <a:rPr lang="fr-FR" baseline="0" dirty="0" err="1" smtClean="0"/>
              <a:t>gov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actors</a:t>
            </a:r>
            <a:r>
              <a:rPr lang="fr-FR" baseline="0" dirty="0" smtClean="0"/>
              <a:t>. </a:t>
            </a:r>
          </a:p>
          <a:p>
            <a:r>
              <a:rPr lang="fr-FR" baseline="0" dirty="0" err="1" smtClean="0"/>
              <a:t>Role</a:t>
            </a:r>
            <a:r>
              <a:rPr lang="fr-FR" baseline="0" dirty="0" smtClean="0"/>
              <a:t> of </a:t>
            </a:r>
            <a:r>
              <a:rPr lang="fr-FR" baseline="0" dirty="0" err="1" smtClean="0"/>
              <a:t>costech</a:t>
            </a:r>
            <a:r>
              <a:rPr lang="fr-FR" baseline="0" dirty="0" smtClean="0"/>
              <a:t>?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7849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Important to note that infrastructure</a:t>
            </a:r>
            <a:r>
              <a:rPr lang="en-US" baseline="0" dirty="0" smtClean="0"/>
              <a:t> can serve </a:t>
            </a:r>
            <a:r>
              <a:rPr lang="en-US" baseline="0" dirty="0" err="1" smtClean="0"/>
              <a:t>ngos</a:t>
            </a:r>
            <a:r>
              <a:rPr lang="en-US" baseline="0" dirty="0" smtClean="0"/>
              <a:t>, entrepreneurs but also internal agencies for e-</a:t>
            </a:r>
            <a:r>
              <a:rPr lang="en-US" baseline="0" dirty="0" err="1" smtClean="0"/>
              <a:t>gov</a:t>
            </a:r>
            <a:r>
              <a:rPr lang="en-US" baseline="0" dirty="0" smtClean="0"/>
              <a:t> services</a:t>
            </a:r>
          </a:p>
          <a:p>
            <a:r>
              <a:rPr lang="en-US" baseline="0" dirty="0" smtClean="0"/>
              <a:t>Role of </a:t>
            </a:r>
            <a:r>
              <a:rPr lang="en-US" baseline="0" dirty="0" err="1" smtClean="0"/>
              <a:t>costech</a:t>
            </a:r>
            <a:r>
              <a:rPr lang="en-US" baseline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</a:t>
            </a:r>
            <a:r>
              <a:rPr lang="en-US" baseline="0" dirty="0" smtClean="0"/>
              <a:t> key point is to engage dialogs between </a:t>
            </a:r>
            <a:r>
              <a:rPr lang="en-US" baseline="0" dirty="0" err="1" smtClean="0"/>
              <a:t>reusuers</a:t>
            </a:r>
            <a:r>
              <a:rPr lang="en-US" baseline="0" dirty="0" smtClean="0"/>
              <a:t> and data providers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9" descr="http://www.webfoundation.org/wp-content/uploads/2012/07/header.jpg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7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0" y="1522186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rgbClr val="1F547E"/>
          </a:solidFill>
          <a:ln>
            <a:solidFill>
              <a:srgbClr val="1F5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>
              <a:solidFill>
                <a:srgbClr val="1F547E"/>
              </a:solidFill>
            </a:endParaRPr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57" y="136978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1F547E"/>
          </a:solidFill>
          <a:ln>
            <a:solidFill>
              <a:srgbClr val="1F5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schemeClr val="bg1"/>
                </a:solidFill>
              </a:rPr>
              <a:t>Copyright © 2015. SB</a:t>
            </a:r>
            <a:r>
              <a:rPr lang="en-US" sz="1100" baseline="0" dirty="0" smtClean="0">
                <a:solidFill>
                  <a:schemeClr val="bg1"/>
                </a:solidFill>
              </a:rPr>
              <a:t>C4D – http://wwww.sbc4d.com</a:t>
            </a:r>
            <a:r>
              <a:rPr lang="en-US" sz="1100" dirty="0" smtClean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rgbClr val="1F547E"/>
          </a:solidFill>
          <a:ln>
            <a:solidFill>
              <a:srgbClr val="1F547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here to modify texte styles of the mask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fr-FR" smtClean="0"/>
              <a:t>T</a:t>
            </a:r>
            <a:r>
              <a:rPr lang="en-US" smtClean="0"/>
              <a:t>hird level</a:t>
            </a:r>
          </a:p>
          <a:p>
            <a:pPr lvl="3"/>
            <a:r>
              <a:rPr lang="fr-FR" smtClean="0"/>
              <a:t>F</a:t>
            </a:r>
            <a:r>
              <a:rPr lang="en-US" smtClean="0"/>
              <a:t>orth level</a:t>
            </a:r>
          </a:p>
          <a:p>
            <a:pPr lvl="4"/>
            <a:r>
              <a:rPr lang="fr-FR" smtClean="0"/>
              <a:t>F</a:t>
            </a:r>
            <a:r>
              <a:rPr lang="en-US" smtClean="0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of.gob.mx/nota_detalle.php?codigo=5382838&amp;fecha=20/02/2015" TargetMode="External"/><Relationship Id="rId3" Type="http://schemas.openxmlformats.org/officeDocument/2006/relationships/hyperlink" Target="https://www.gov.uk/government/uploads/system/uploads/attachment_data/file/78946/CM8353_acc.pdf" TargetMode="External"/><Relationship Id="rId7" Type="http://schemas.openxmlformats.org/officeDocument/2006/relationships/hyperlink" Target="http://egov.md/upload/OGD_Directive_eng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finance.gov.au/files/2012/05/Government-Response-to-Gov-2-0-Report.pdf" TargetMode="External"/><Relationship Id="rId5" Type="http://schemas.openxmlformats.org/officeDocument/2006/relationships/hyperlink" Target="http://japan.kantei.go.jp/policy/it/20120704/text.pdf" TargetMode="External"/><Relationship Id="rId4" Type="http://schemas.openxmlformats.org/officeDocument/2006/relationships/hyperlink" Target="http://www.whitehouse.gov/sites/default/files/omb/memoranda/2013/m-13-13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gov.ph/data-policy-statement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 err="1">
                <a:latin typeface="Trebuchet MS" pitchFamily="34" charset="0"/>
              </a:rPr>
              <a:t>Stéphane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Boyera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 smtClean="0">
                <a:latin typeface="Trebuchet MS" pitchFamily="34" charset="0"/>
              </a:rPr>
              <a:t>SBC4D – http://www.sbc4d.com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400" b="1" dirty="0" smtClean="0">
                <a:latin typeface="Trebuchet MS" pitchFamily="34" charset="0"/>
              </a:rPr>
              <a:t>24 August 2015 – Dar </a:t>
            </a:r>
            <a:r>
              <a:rPr lang="en-US" sz="1400" b="1" dirty="0" err="1" smtClean="0">
                <a:latin typeface="Trebuchet MS" pitchFamily="34" charset="0"/>
              </a:rPr>
              <a:t>Es</a:t>
            </a:r>
            <a:r>
              <a:rPr lang="en-US" sz="1400" b="1" dirty="0" smtClean="0">
                <a:latin typeface="Trebuchet MS" pitchFamily="34" charset="0"/>
              </a:rPr>
              <a:t> Salaam, Tanzania</a:t>
            </a:r>
            <a:endParaRPr lang="en-US" sz="1400" b="1" dirty="0">
              <a:latin typeface="Trebuchet MS" pitchFamily="34" charset="0"/>
            </a:endParaRPr>
          </a:p>
          <a:p>
            <a:r>
              <a:rPr lang="en-US" sz="1400" b="1" dirty="0" smtClean="0"/>
              <a:t>https://public.sbc4d.com/2015/08/sb_tz_od_reuse.pptx</a:t>
            </a:r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boyera\Desktop\imag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475" y="2280784"/>
            <a:ext cx="22955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Key Elements for Open Data Policies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617" y="1092954"/>
            <a:ext cx="7605383" cy="4476466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WHAT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All Government data from all agencies and public companies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May include prioritization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Only </a:t>
            </a:r>
            <a:r>
              <a:rPr lang="en-US" dirty="0" err="1">
                <a:latin typeface="Trebuchet MS" pitchFamily="34" charset="0"/>
                <a:cs typeface="ＭＳ Ｐゴシック" pitchFamily="34" charset="-128"/>
              </a:rPr>
              <a:t>anonymised</a:t>
            </a:r>
            <a:r>
              <a:rPr lang="en-US" dirty="0">
                <a:latin typeface="Trebuchet MS" pitchFamily="34" charset="0"/>
                <a:cs typeface="ＭＳ Ｐゴシック" pitchFamily="34" charset="-128"/>
              </a:rPr>
              <a:t> data released and personal data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protected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Disaggregated data at the lowest possible level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Historical and Archived data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HOW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On the national portal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Free with an open license that support use and re-use without restriction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With metadata and in a machine-readable format using open format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Regularly and in a timely way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WHO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>
                <a:latin typeface="+mn-lt"/>
              </a:rPr>
              <a:t>Oversight authority of the open data initiative created or appointed</a:t>
            </a:r>
            <a:endParaRPr lang="en-US" sz="2000" dirty="0" smtClean="0">
              <a:latin typeface="+mn-lt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dirty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022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OD Policies Comparison</a:t>
            </a:r>
            <a:endParaRPr lang="en-US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047927"/>
              </p:ext>
            </p:extLst>
          </p:nvPr>
        </p:nvGraphicFramePr>
        <p:xfrm>
          <a:off x="97971" y="1060735"/>
          <a:ext cx="8948061" cy="54268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6943"/>
                <a:gridCol w="631372"/>
                <a:gridCol w="609298"/>
                <a:gridCol w="830112"/>
                <a:gridCol w="830112"/>
                <a:gridCol w="830112"/>
                <a:gridCol w="830112"/>
              </a:tblGrid>
              <a:tr h="2917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 err="1">
                          <a:effectLst/>
                        </a:rPr>
                        <a:t>Element</a:t>
                      </a:r>
                      <a:r>
                        <a:rPr lang="fr-FR" sz="1600" b="1" dirty="0">
                          <a:effectLst/>
                        </a:rPr>
                        <a:t> of </a:t>
                      </a:r>
                      <a:r>
                        <a:rPr lang="fr-FR" sz="1600" b="1" dirty="0" err="1">
                          <a:effectLst/>
                        </a:rPr>
                        <a:t>policy</a:t>
                      </a:r>
                      <a:endParaRPr lang="fr-FR" sz="16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u="sng">
                          <a:effectLst/>
                          <a:hlinkClick r:id="rId3"/>
                        </a:rPr>
                        <a:t>UK</a:t>
                      </a:r>
                      <a:endParaRPr lang="fr-FR" sz="1200" b="1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u="sng">
                          <a:effectLst/>
                          <a:hlinkClick r:id="rId4"/>
                        </a:rPr>
                        <a:t>USA</a:t>
                      </a:r>
                      <a:endParaRPr lang="fr-FR" sz="1200" b="1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u="sng">
                          <a:effectLst/>
                          <a:hlinkClick r:id="rId5"/>
                        </a:rPr>
                        <a:t>Japan</a:t>
                      </a:r>
                      <a:endParaRPr lang="fr-FR" sz="1200" b="1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u="sng">
                          <a:effectLst/>
                          <a:hlinkClick r:id="rId6"/>
                        </a:rPr>
                        <a:t>Australia</a:t>
                      </a:r>
                      <a:endParaRPr lang="fr-FR" sz="1200" b="1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u="sng" dirty="0">
                          <a:effectLst/>
                          <a:hlinkClick r:id="rId7"/>
                        </a:rPr>
                        <a:t>Moldova</a:t>
                      </a:r>
                      <a:endParaRPr lang="fr-FR" sz="12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hlinkClick r:id="rId8"/>
                        </a:rPr>
                        <a:t>Mexico</a:t>
                      </a:r>
                      <a:endParaRPr lang="fr-FR" sz="12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  <a:tr h="525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Data will be released in an open, accessible machine readable, re usable format in a timely manner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dirty="0">
                          <a:effectLst/>
                        </a:rPr>
                        <a:t>✓</a:t>
                      </a:r>
                      <a:endParaRPr lang="fr-FR" sz="11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 smtClean="0">
                          <a:effectLst/>
                        </a:rPr>
                        <a:t>✓</a:t>
                      </a:r>
                      <a:endParaRPr lang="fr-FR" sz="1050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  <a:tr h="525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Data released will have a license for reuse and </a:t>
                      </a:r>
                      <a:r>
                        <a:rPr lang="en-US" sz="1400" dirty="0" err="1">
                          <a:effectLst/>
                        </a:rPr>
                        <a:t>remodelling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 smtClean="0">
                          <a:effectLst/>
                        </a:rPr>
                        <a:t>✓</a:t>
                      </a:r>
                      <a:endParaRPr lang="fr-FR" sz="1050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  <a:tr h="7668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Plan to release datasets quickly, and then work to make sure that it is available in open standard formats, including linked data forms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x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x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</a:rPr>
                        <a:t>x</a:t>
                      </a:r>
                      <a:endParaRPr lang="fr-FR" sz="11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  <a:tr h="525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Only </a:t>
                      </a:r>
                      <a:r>
                        <a:rPr lang="en-US" sz="1400" dirty="0" err="1">
                          <a:effectLst/>
                        </a:rPr>
                        <a:t>anonymised</a:t>
                      </a:r>
                      <a:r>
                        <a:rPr lang="en-US" sz="1400" dirty="0">
                          <a:effectLst/>
                        </a:rPr>
                        <a:t> data released and personal data protected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 smtClean="0">
                          <a:effectLst/>
                        </a:rPr>
                        <a:t>✓</a:t>
                      </a:r>
                      <a:endParaRPr lang="fr-FR" sz="1050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  <a:tr h="525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Public bodies will actively encourage the re-use of their public data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x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x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</a:rPr>
                        <a:t>x</a:t>
                      </a:r>
                      <a:endParaRPr lang="fr-FR" sz="11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  <a:tr h="525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Processes that ensure data quality promised or created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x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 smtClean="0">
                          <a:effectLst/>
                        </a:rPr>
                        <a:t>✓</a:t>
                      </a:r>
                      <a:endParaRPr lang="fr-FR" sz="1050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  <a:tr h="525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High value datasets first released based upon customer needs and goals of government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smtClean="0">
                          <a:effectLst/>
                        </a:rPr>
                        <a:t>✓ (no distinction)</a:t>
                      </a:r>
                      <a:endParaRPr lang="fr-FR" sz="105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  <a:tr h="525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Oversight authority for the open data initiative created or appointed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dirty="0">
                          <a:effectLst/>
                        </a:rPr>
                        <a:t>✓</a:t>
                      </a:r>
                      <a:endParaRPr lang="fr-FR" sz="11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 smtClean="0">
                          <a:effectLst/>
                        </a:rPr>
                        <a:t>✓</a:t>
                      </a:r>
                      <a:endParaRPr lang="fr-FR" sz="1050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  <a:tr h="525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Process for measuring successful use of data, e.g. capturing metrics on users, creating stories, </a:t>
                      </a:r>
                      <a:r>
                        <a:rPr lang="en-US" sz="1400" dirty="0" err="1">
                          <a:effectLst/>
                        </a:rPr>
                        <a:t>etc</a:t>
                      </a:r>
                      <a:endParaRPr lang="fr-FR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✓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x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/>
                        </a:rPr>
                        <a:t>x</a:t>
                      </a:r>
                      <a:endParaRPr lang="fr-FR" sz="11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dirty="0">
                          <a:effectLst/>
                        </a:rPr>
                        <a:t>x</a:t>
                      </a:r>
                      <a:endParaRPr lang="fr-FR" sz="11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</a:rPr>
                        <a:t>x</a:t>
                      </a:r>
                      <a:endParaRPr lang="fr-FR" sz="11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25400" marR="25400" marT="25400" marB="2540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0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83679" y="1535850"/>
            <a:ext cx="5823208" cy="383080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Essential for Reuse. </a:t>
            </a:r>
            <a:r>
              <a:rPr lang="en-US" b="1" dirty="0" smtClean="0">
                <a:solidFill>
                  <a:srgbClr val="FF0000"/>
                </a:solidFill>
                <a:latin typeface="+mn-lt"/>
                <a:cs typeface="ＭＳ Ｐゴシック" pitchFamily="34" charset="-128"/>
              </a:rPr>
              <a:t>A data portal without an open license is not an open data portal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2 main options: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Reuse existing open licenses (short-term)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Develop your own (mid-long term)</a:t>
            </a:r>
            <a:endParaRPr lang="en-US" b="1" dirty="0" smtClean="0">
              <a:latin typeface="+mn-lt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Existing Licenses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Creative Commons licenses: CC*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Creative Commons Zero: CC0 similar to public domain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Open Data Commons: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ODc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* map into CC*</a:t>
            </a:r>
            <a:endParaRPr lang="en-US" b="1" dirty="0" smtClean="0">
              <a:latin typeface="+mn-lt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Open Government License (UK)</a:t>
            </a:r>
            <a:endParaRPr lang="en-US" b="1" dirty="0" smtClean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Open License</a:t>
            </a:r>
            <a:endParaRPr lang="en-US" dirty="0"/>
          </a:p>
        </p:txBody>
      </p:sp>
      <p:pic>
        <p:nvPicPr>
          <p:cNvPr id="4098" name="Picture 2" descr="C:\Users\boyera\Desktop\licensinglogo_large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11338"/>
            <a:ext cx="30480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77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2162" y="1078162"/>
            <a:ext cx="6356610" cy="46887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Sunlight foundation Open Data </a:t>
            </a:r>
            <a:r>
              <a:rPr lang="en-US" b="1" dirty="0">
                <a:latin typeface="+mn-lt"/>
                <a:cs typeface="ＭＳ Ｐゴシック" pitchFamily="34" charset="-128"/>
              </a:rPr>
              <a:t>Policy Guidelines: </a:t>
            </a:r>
            <a:r>
              <a:rPr lang="en-US" dirty="0">
                <a:latin typeface="+mn-lt"/>
                <a:cs typeface="ＭＳ Ｐゴシック" pitchFamily="34" charset="-128"/>
              </a:rPr>
              <a:t>http://sunlightfoundation.com/opendataguidelines/</a:t>
            </a:r>
            <a:endParaRPr lang="en-US" dirty="0" smtClean="0">
              <a:latin typeface="+mn-lt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Developing Countries Policies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Mexico (Feb </a:t>
            </a:r>
            <a:r>
              <a:rPr lang="en-US" b="1" dirty="0">
                <a:latin typeface="+mn-lt"/>
                <a:cs typeface="ＭＳ Ｐゴシック" pitchFamily="34" charset="-128"/>
              </a:rPr>
              <a:t>2015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): </a:t>
            </a:r>
            <a:r>
              <a:rPr lang="en-US" dirty="0" smtClean="0">
                <a:latin typeface="+mn-lt"/>
                <a:cs typeface="ＭＳ Ｐゴシック" pitchFamily="34" charset="-128"/>
              </a:rPr>
              <a:t>http</a:t>
            </a:r>
            <a:r>
              <a:rPr lang="en-US" dirty="0">
                <a:latin typeface="+mn-lt"/>
                <a:cs typeface="ＭＳ Ｐゴシック" pitchFamily="34" charset="-128"/>
              </a:rPr>
              <a:t>://</a:t>
            </a:r>
            <a:r>
              <a:rPr lang="en-US" dirty="0" smtClean="0">
                <a:latin typeface="+mn-lt"/>
                <a:cs typeface="ＭＳ Ｐゴシック" pitchFamily="34" charset="-128"/>
              </a:rPr>
              <a:t>www.dof.gob.mx/nota_detalle.php?codigo=5382838&amp;fecha=20/02/2015 </a:t>
            </a:r>
            <a:endParaRPr lang="en-US" dirty="0" smtClean="0">
              <a:latin typeface="+mn-lt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Philippines: </a:t>
            </a:r>
            <a:r>
              <a:rPr lang="en-US" dirty="0">
                <a:latin typeface="+mn-lt"/>
                <a:cs typeface="ＭＳ Ｐゴシック" pitchFamily="34" charset="-128"/>
                <a:hlinkClick r:id="rId3"/>
              </a:rPr>
              <a:t>http://</a:t>
            </a:r>
            <a:r>
              <a:rPr lang="en-US" dirty="0" smtClean="0">
                <a:latin typeface="+mn-lt"/>
                <a:cs typeface="ＭＳ Ｐゴシック" pitchFamily="34" charset="-128"/>
                <a:hlinkClick r:id="rId3"/>
              </a:rPr>
              <a:t>data.gov.ph/data-policy-statements</a:t>
            </a:r>
            <a:endParaRPr lang="en-US" dirty="0">
              <a:latin typeface="+mn-lt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 smtClean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/>
              <a:t>Licensing </a:t>
            </a:r>
            <a:r>
              <a:rPr lang="en-US" b="1" dirty="0"/>
              <a:t>Open Data: A Practical </a:t>
            </a:r>
            <a:r>
              <a:rPr lang="en-US" b="1" dirty="0" smtClean="0"/>
              <a:t>Guide</a:t>
            </a:r>
            <a:r>
              <a:rPr lang="en-US" dirty="0" smtClean="0"/>
              <a:t>: </a:t>
            </a:r>
            <a:r>
              <a:rPr lang="en-US" dirty="0" smtClean="0">
                <a:latin typeface="+mn-lt"/>
                <a:cs typeface="ＭＳ Ｐゴシック" pitchFamily="34" charset="-128"/>
              </a:rPr>
              <a:t>http</a:t>
            </a:r>
            <a:r>
              <a:rPr lang="en-US" dirty="0">
                <a:latin typeface="+mn-lt"/>
                <a:cs typeface="ＭＳ Ｐゴシック" pitchFamily="34" charset="-128"/>
              </a:rPr>
              <a:t>://</a:t>
            </a:r>
            <a:r>
              <a:rPr lang="en-US" dirty="0" smtClean="0">
                <a:latin typeface="+mn-lt"/>
                <a:cs typeface="ＭＳ Ｐゴシック" pitchFamily="34" charset="-128"/>
              </a:rPr>
              <a:t>discovery.ac.uk/files/pdf/Licensing_Open_Data_A_Practical_Guide.pdf</a:t>
            </a:r>
            <a:endParaRPr lang="en-US" dirty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pic>
        <p:nvPicPr>
          <p:cNvPr id="2050" name="Picture 2" descr="C:\Users\boyera\Desktop\images (1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079" y="2516868"/>
            <a:ext cx="136207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84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Open Data, Innovation &amp; Impact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68240" y="1175388"/>
            <a:ext cx="6687403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Opening Data does not lead to impact but is only a mean to achieve it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Trebuchet MS" pitchFamily="34" charset="0"/>
                <a:cs typeface="Arial" pitchFamily="34" charset="0"/>
              </a:rPr>
              <a:t>Social &amp; Economic Impact comes from: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Data Mashup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Generating new knowledge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Arial" pitchFamily="34" charset="0"/>
              </a:rPr>
              <a:t> Providing material for transparency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Transformation of data into services for people &amp; organizations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b="1" dirty="0">
              <a:latin typeface="Trebuchet MS" pitchFamily="34" charset="0"/>
              <a:cs typeface="Arial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b="1" dirty="0" smtClean="0">
                <a:latin typeface="Trebuchet MS" pitchFamily="34" charset="0"/>
                <a:cs typeface="Arial" pitchFamily="34" charset="0"/>
              </a:rPr>
              <a:t>Impact does not come from data providers but from data </a:t>
            </a:r>
            <a:r>
              <a:rPr lang="en-US" b="1" dirty="0" err="1" smtClean="0">
                <a:latin typeface="Trebuchet MS" pitchFamily="34" charset="0"/>
                <a:cs typeface="Arial" pitchFamily="34" charset="0"/>
              </a:rPr>
              <a:t>reusers</a:t>
            </a:r>
            <a:endParaRPr lang="en-US" b="1" dirty="0" smtClean="0">
              <a:latin typeface="Trebuchet MS" pitchFamily="34" charset="0"/>
              <a:cs typeface="Arial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Success of national open data initiatives like TODI rely on leveraging reuse of datasets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b="1" dirty="0" smtClean="0">
                <a:latin typeface="Trebuchet MS" pitchFamily="34" charset="0"/>
                <a:cs typeface="Arial" pitchFamily="34" charset="0"/>
              </a:rPr>
              <a:t>Data </a:t>
            </a:r>
            <a:r>
              <a:rPr lang="en-US" b="1" dirty="0" err="1" smtClean="0">
                <a:latin typeface="Trebuchet MS" pitchFamily="34" charset="0"/>
                <a:cs typeface="Arial" pitchFamily="34" charset="0"/>
              </a:rPr>
              <a:t>reusers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 are </a:t>
            </a:r>
            <a:r>
              <a:rPr lang="en-US" sz="2000" b="1" dirty="0" smtClean="0">
                <a:solidFill>
                  <a:srgbClr val="29A428"/>
                </a:solidFill>
                <a:latin typeface="Trebuchet MS" pitchFamily="34" charset="0"/>
                <a:cs typeface="Arial" pitchFamily="34" charset="0"/>
              </a:rPr>
              <a:t>internal (other government agencies) and external (CSOs, entrepreneurs, etc.) </a:t>
            </a:r>
            <a:endParaRPr lang="en-US" sz="2000" b="1" dirty="0">
              <a:solidFill>
                <a:srgbClr val="29A428"/>
              </a:solidFill>
              <a:latin typeface="Trebuchet MS" pitchFamily="34" charset="0"/>
              <a:cs typeface="Arial" pitchFamily="34" charset="0"/>
            </a:endParaRPr>
          </a:p>
        </p:txBody>
      </p:sp>
      <p:pic>
        <p:nvPicPr>
          <p:cNvPr id="1026" name="Picture 2" descr="C:\Users\boyera\Desktop\actionIcon-07-25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158" y="4201660"/>
            <a:ext cx="1815646" cy="181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Users\boyera\Desktop\impac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693" y="1612809"/>
            <a:ext cx="2863908" cy="183156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01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Key elements for data reuse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27254" y="2370216"/>
            <a:ext cx="6178119" cy="213646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i="1" dirty="0" smtClean="0">
                <a:latin typeface="Trebuchet MS" pitchFamily="34" charset="0"/>
                <a:cs typeface="ＭＳ Ｐゴシック" pitchFamily="34" charset="-128"/>
              </a:rPr>
              <a:t>A robust Open Data </a:t>
            </a:r>
            <a:r>
              <a:rPr lang="en-US" sz="2000" i="1" dirty="0" smtClean="0">
                <a:latin typeface="Trebuchet MS" pitchFamily="34" charset="0"/>
                <a:cs typeface="ＭＳ Ｐゴシック" pitchFamily="34" charset="-128"/>
              </a:rPr>
              <a:t>Initiative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Awareness &amp; Sustainable community building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Capacities &amp; Sustainable Capacity Building units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Robust Infrastructure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Sustainable Dialogs</a:t>
            </a:r>
            <a:endParaRPr lang="en-US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2051" name="Picture 3" descr="C:\Users\boyera\Desktop\reuse_reduse_recycle-12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316" y="1216331"/>
            <a:ext cx="1698625" cy="169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boyera\Desktop\6a00d8341bfb1653ef014e890280b8970d-550wi-187x3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316" y="3332468"/>
            <a:ext cx="1781175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00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58056</TotalTime>
  <Words>613</Words>
  <Application>Microsoft Office PowerPoint</Application>
  <PresentationFormat>Affichage à l'écran (4:3)</PresentationFormat>
  <Paragraphs>132</Paragraphs>
  <Slides>7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Présentation PowerPoint</vt:lpstr>
      <vt:lpstr>Key Elements for Open Data Policies</vt:lpstr>
      <vt:lpstr>OD Policies Comparison</vt:lpstr>
      <vt:lpstr>Open License</vt:lpstr>
      <vt:lpstr>Resources</vt:lpstr>
      <vt:lpstr>Open Data, Innovation &amp; Impact</vt:lpstr>
      <vt:lpstr>Key elements for data reuse</vt:lpstr>
    </vt:vector>
  </TitlesOfParts>
  <Company>WITHYOU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783</cp:revision>
  <cp:lastPrinted>2011-11-29T16:00:44Z</cp:lastPrinted>
  <dcterms:created xsi:type="dcterms:W3CDTF">2009-10-15T09:24:18Z</dcterms:created>
  <dcterms:modified xsi:type="dcterms:W3CDTF">2015-08-26T11:54:29Z</dcterms:modified>
</cp:coreProperties>
</file>