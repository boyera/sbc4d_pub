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6" r:id="rId3"/>
    <p:sldId id="290" r:id="rId4"/>
    <p:sldId id="296" r:id="rId5"/>
    <p:sldId id="295" r:id="rId6"/>
    <p:sldId id="291" r:id="rId7"/>
    <p:sldId id="293" r:id="rId8"/>
    <p:sldId id="273" r:id="rId9"/>
    <p:sldId id="274" r:id="rId10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A6EC"/>
    <a:srgbClr val="50D450"/>
    <a:srgbClr val="29A428"/>
    <a:srgbClr val="1F547E"/>
    <a:srgbClr val="1F497D"/>
    <a:srgbClr val="005D92"/>
    <a:srgbClr val="B7A797"/>
    <a:srgbClr val="B1BCA4"/>
    <a:srgbClr val="000000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56" autoAdjust="0"/>
    <p:restoredTop sz="97771" autoAdjust="0"/>
  </p:normalViewPr>
  <p:slideViewPr>
    <p:cSldViewPr snapToGrid="0">
      <p:cViewPr>
        <p:scale>
          <a:sx n="70" d="100"/>
          <a:sy n="70" d="100"/>
        </p:scale>
        <p:origin x="-1842" y="-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17/02/2015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17/02/2015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2015.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stephb.org/2013/03/demystifying-voice-technologies-for-development/" TargetMode="External"/><Relationship Id="rId3" Type="http://schemas.openxmlformats.org/officeDocument/2006/relationships/hyperlink" Target="http://www.sbc4d.com/product-services/demo/" TargetMode="External"/><Relationship Id="rId7" Type="http://schemas.openxmlformats.org/officeDocument/2006/relationships/hyperlink" Target="http://stephb.org/2012/12/mobile-ict-small-scale-farmers/" TargetMode="External"/><Relationship Id="rId2" Type="http://schemas.openxmlformats.org/officeDocument/2006/relationships/hyperlink" Target="http://www.sbc4d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4ra.org/" TargetMode="External"/><Relationship Id="rId5" Type="http://schemas.openxmlformats.org/officeDocument/2006/relationships/hyperlink" Target="http://www.mvoices.eu/" TargetMode="External"/><Relationship Id="rId10" Type="http://schemas.openxmlformats.org/officeDocument/2006/relationships/hyperlink" Target="mailto:stephane@sbc4d.com" TargetMode="External"/><Relationship Id="rId4" Type="http://schemas.openxmlformats.org/officeDocument/2006/relationships/hyperlink" Target="http://www.sbc4d.com/publications-resources/" TargetMode="External"/><Relationship Id="rId9" Type="http://schemas.openxmlformats.org/officeDocument/2006/relationships/hyperlink" Target="http://www.w3.org/TR/2009/NOTE-mw4d-roadmap-2009120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Opening </a:t>
            </a:r>
            <a:r>
              <a:rPr lang="en-US" dirty="0"/>
              <a:t>Government Data to support Agriculture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400" b="1" dirty="0" smtClean="0">
                <a:latin typeface="Trebuchet MS" pitchFamily="34" charset="0"/>
              </a:rPr>
              <a:t>18 </a:t>
            </a:r>
            <a:r>
              <a:rPr lang="en-US" sz="1400" b="1" smtClean="0">
                <a:latin typeface="Trebuchet MS" pitchFamily="34" charset="0"/>
              </a:rPr>
              <a:t>February 2015</a:t>
            </a:r>
            <a:endParaRPr lang="en-US" sz="1400" b="1" dirty="0">
              <a:latin typeface="Trebuchet MS" pitchFamily="34" charset="0"/>
            </a:endParaRPr>
          </a:p>
          <a:p>
            <a:r>
              <a:rPr lang="en-US" sz="1400" b="1" dirty="0" smtClean="0"/>
              <a:t>https://public.sbc4d.com/2015/02/sb_cta_bru.pptx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SBC4D: Where ICT meets Social &amp; Economic Development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0" y="1270924"/>
            <a:ext cx="6687403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Consulting Company specialized in ICTD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Open Data &amp; Open Linked Data: Strategy &amp; Implementation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 Supporting Governments in ACP Countries in their Open Data Initiative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Supporting International Organizations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Mobile &amp; Web services: Strategy, design, deployment. Specific expertise on multi-channel applications, and ICT for illiterate underprivileged communities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Sector Expertise: Agriculture, Governance, Media, Health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Geography: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70% of activities in Sub-Saharan Africa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Operation in South Asia (India, Indonesia), Pacific Islands (Fiji), Latin America (Chile, Colombia)</a:t>
            </a:r>
            <a:endParaRPr lang="en-US" b="1" dirty="0"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1027" name="Picture 3" descr="D:\Apache2.2\htdocs\shuga\css\sbc4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426" y="2912454"/>
            <a:ext cx="1797574" cy="16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3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Open Government Data?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86602" y="1270923"/>
            <a:ext cx="7137779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A new approach started in 2009 in UK &amp; US, now with more than 60 countries (OGP) over the world </a:t>
            </a: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Leveraging access and reuse of public data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Releasing public data in a machine readable format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Releasing data with an open licenses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Rationale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 Lots of Datasets available at country level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 Increase value of public Data for all actors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 Private sector &amp; Businesses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Civil Society organizations &amp; NGOs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Academics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Improve transparency &amp; accountability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Improve public service delivery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Leads to social and economic development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Develop the ICT sector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2050" name="Picture 2" descr="C:\Users\boyera\Desktop\6a00d8341bfb1653ef014e890280b8970d-550wi-187x3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979" y="2446670"/>
            <a:ext cx="1781175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12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Open Government Data: A global movement?</a:t>
            </a:r>
            <a:endParaRPr lang="en-US" dirty="0"/>
          </a:p>
        </p:txBody>
      </p:sp>
      <p:pic>
        <p:nvPicPr>
          <p:cNvPr id="5" name="Picture 4" descr="Screen Shot 2014-02-04 at 9.00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70" y="1196454"/>
            <a:ext cx="8483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612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OGD Approach &amp; Challenges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28288" y="4573682"/>
            <a:ext cx="6687403" cy="167699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Specific LMIC Challenges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Legal Framework: Lack of </a:t>
            </a:r>
            <a:r>
              <a:rPr lang="en-US" sz="2000" b="1" dirty="0" err="1" smtClean="0">
                <a:latin typeface="Trebuchet MS" pitchFamily="34" charset="0"/>
                <a:cs typeface="ＭＳ Ｐゴシック" pitchFamily="34" charset="-128"/>
              </a:rPr>
              <a:t>FoI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/RTI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Data Collection &amp; electronic Storage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Web/ICT Access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606700" y="2502397"/>
            <a:ext cx="716666" cy="716666"/>
            <a:chOff x="2442016" y="1199321"/>
            <a:chExt cx="716666" cy="716666"/>
          </a:xfrm>
          <a:solidFill>
            <a:srgbClr val="00B0F0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2" name="Oval 41"/>
            <p:cNvSpPr/>
            <p:nvPr/>
          </p:nvSpPr>
          <p:spPr>
            <a:xfrm>
              <a:off x="2442016" y="1199321"/>
              <a:ext cx="716666" cy="716666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Oval 4"/>
            <p:cNvSpPr/>
            <p:nvPr/>
          </p:nvSpPr>
          <p:spPr>
            <a:xfrm>
              <a:off x="2546969" y="1304274"/>
              <a:ext cx="506760" cy="50676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kern="1200" dirty="0"/>
                <a:t>Open </a:t>
              </a:r>
              <a:r>
                <a:rPr lang="es-ES" sz="1100" kern="1200" dirty="0" err="1"/>
                <a:t>Govt</a:t>
              </a:r>
              <a:r>
                <a:rPr lang="es-ES" sz="1100" kern="1200" dirty="0"/>
                <a:t>/ Data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25795" y="2263415"/>
            <a:ext cx="278476" cy="168880"/>
            <a:chOff x="2661111" y="960339"/>
            <a:chExt cx="278476" cy="168880"/>
          </a:xfrm>
        </p:grpSpPr>
        <p:sp>
          <p:nvSpPr>
            <p:cNvPr id="40" name="Right Arrow 39"/>
            <p:cNvSpPr/>
            <p:nvPr/>
          </p:nvSpPr>
          <p:spPr>
            <a:xfrm rot="16200000">
              <a:off x="2715909" y="905541"/>
              <a:ext cx="168880" cy="27847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Right Arrow 6"/>
            <p:cNvSpPr/>
            <p:nvPr/>
          </p:nvSpPr>
          <p:spPr>
            <a:xfrm rot="16200000">
              <a:off x="2741241" y="986568"/>
              <a:ext cx="118216" cy="167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900" kern="12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324756" y="2465055"/>
            <a:ext cx="168880" cy="278476"/>
            <a:chOff x="3160072" y="1161979"/>
            <a:chExt cx="168880" cy="278476"/>
          </a:xfrm>
        </p:grpSpPr>
        <p:sp>
          <p:nvSpPr>
            <p:cNvPr id="36" name="Right Arrow 35"/>
            <p:cNvSpPr/>
            <p:nvPr/>
          </p:nvSpPr>
          <p:spPr>
            <a:xfrm rot="19800000">
              <a:off x="3160072" y="1161979"/>
              <a:ext cx="168880" cy="27847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Right Arrow 10"/>
            <p:cNvSpPr/>
            <p:nvPr/>
          </p:nvSpPr>
          <p:spPr>
            <a:xfrm rot="19800000">
              <a:off x="3163466" y="1230340"/>
              <a:ext cx="118216" cy="167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900" kern="12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324756" y="2977930"/>
            <a:ext cx="168880" cy="278476"/>
            <a:chOff x="3160072" y="1674854"/>
            <a:chExt cx="168880" cy="278476"/>
          </a:xfrm>
        </p:grpSpPr>
        <p:sp>
          <p:nvSpPr>
            <p:cNvPr id="32" name="Right Arrow 31"/>
            <p:cNvSpPr/>
            <p:nvPr/>
          </p:nvSpPr>
          <p:spPr>
            <a:xfrm rot="1800000">
              <a:off x="3160072" y="1674854"/>
              <a:ext cx="168880" cy="27847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Right Arrow 14"/>
            <p:cNvSpPr/>
            <p:nvPr/>
          </p:nvSpPr>
          <p:spPr>
            <a:xfrm rot="1800000">
              <a:off x="3163466" y="1717883"/>
              <a:ext cx="118216" cy="167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900" kern="120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25795" y="3289166"/>
            <a:ext cx="278476" cy="168880"/>
            <a:chOff x="2661111" y="1986090"/>
            <a:chExt cx="278476" cy="168880"/>
          </a:xfrm>
        </p:grpSpPr>
        <p:sp>
          <p:nvSpPr>
            <p:cNvPr id="28" name="Right Arrow 27"/>
            <p:cNvSpPr/>
            <p:nvPr/>
          </p:nvSpPr>
          <p:spPr>
            <a:xfrm rot="5400000">
              <a:off x="2715909" y="1931292"/>
              <a:ext cx="168880" cy="27847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ight Arrow 18"/>
            <p:cNvSpPr/>
            <p:nvPr/>
          </p:nvSpPr>
          <p:spPr>
            <a:xfrm rot="5400000">
              <a:off x="2741241" y="1961655"/>
              <a:ext cx="118216" cy="167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900" kern="12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361605" y="3537707"/>
            <a:ext cx="1304024" cy="1267991"/>
            <a:chOff x="2331600" y="2234631"/>
            <a:chExt cx="937498" cy="937498"/>
          </a:xfrm>
          <a:solidFill>
            <a:srgbClr val="7AA6EC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6" name="Oval 25"/>
            <p:cNvSpPr/>
            <p:nvPr/>
          </p:nvSpPr>
          <p:spPr>
            <a:xfrm>
              <a:off x="2331600" y="2234631"/>
              <a:ext cx="937498" cy="937498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Oval 20"/>
            <p:cNvSpPr/>
            <p:nvPr/>
          </p:nvSpPr>
          <p:spPr>
            <a:xfrm>
              <a:off x="2468893" y="2371924"/>
              <a:ext cx="662912" cy="66291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600" kern="1200" dirty="0" err="1"/>
                <a:t>Technical</a:t>
              </a:r>
              <a:endParaRPr lang="es-ES" sz="800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436430" y="2977930"/>
            <a:ext cx="168880" cy="278476"/>
            <a:chOff x="2271746" y="1674854"/>
            <a:chExt cx="168880" cy="278476"/>
          </a:xfrm>
        </p:grpSpPr>
        <p:sp>
          <p:nvSpPr>
            <p:cNvPr id="24" name="Right Arrow 23"/>
            <p:cNvSpPr/>
            <p:nvPr/>
          </p:nvSpPr>
          <p:spPr>
            <a:xfrm rot="9000000">
              <a:off x="2271746" y="1674854"/>
              <a:ext cx="168880" cy="27847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ight Arrow 22"/>
            <p:cNvSpPr/>
            <p:nvPr/>
          </p:nvSpPr>
          <p:spPr>
            <a:xfrm rot="19800000">
              <a:off x="2319016" y="1717883"/>
              <a:ext cx="118216" cy="167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900" kern="120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961573" y="3042630"/>
            <a:ext cx="1342689" cy="1268799"/>
            <a:chOff x="1339373" y="1661768"/>
            <a:chExt cx="937498" cy="937498"/>
          </a:xfrm>
          <a:solidFill>
            <a:srgbClr val="92D050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2" name="Oval 21"/>
            <p:cNvSpPr/>
            <p:nvPr/>
          </p:nvSpPr>
          <p:spPr>
            <a:xfrm>
              <a:off x="1339373" y="1661768"/>
              <a:ext cx="937498" cy="937498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Oval 24"/>
            <p:cNvSpPr/>
            <p:nvPr/>
          </p:nvSpPr>
          <p:spPr>
            <a:xfrm>
              <a:off x="1476666" y="1799061"/>
              <a:ext cx="662912" cy="66291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600" kern="1200" dirty="0" err="1"/>
                <a:t>Economic</a:t>
              </a:r>
              <a:endParaRPr lang="es-ES" sz="800" kern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436430" y="2465055"/>
            <a:ext cx="168880" cy="278476"/>
            <a:chOff x="2271746" y="1161979"/>
            <a:chExt cx="168880" cy="278476"/>
          </a:xfrm>
        </p:grpSpPr>
        <p:sp>
          <p:nvSpPr>
            <p:cNvPr id="20" name="Right Arrow 19"/>
            <p:cNvSpPr/>
            <p:nvPr/>
          </p:nvSpPr>
          <p:spPr>
            <a:xfrm rot="12600000">
              <a:off x="2271746" y="1161979"/>
              <a:ext cx="168880" cy="27847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ight Arrow 26"/>
            <p:cNvSpPr/>
            <p:nvPr/>
          </p:nvSpPr>
          <p:spPr>
            <a:xfrm rot="23400000">
              <a:off x="2319016" y="1230340"/>
              <a:ext cx="118216" cy="167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900" kern="120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043450" y="1555362"/>
            <a:ext cx="1383639" cy="1323499"/>
            <a:chOff x="1339373" y="516043"/>
            <a:chExt cx="937498" cy="937498"/>
          </a:xfrm>
          <a:solidFill>
            <a:srgbClr val="00B0F0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8" name="Oval 17"/>
            <p:cNvSpPr/>
            <p:nvPr/>
          </p:nvSpPr>
          <p:spPr>
            <a:xfrm>
              <a:off x="1339373" y="516043"/>
              <a:ext cx="937498" cy="93749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Oval 28"/>
            <p:cNvSpPr/>
            <p:nvPr/>
          </p:nvSpPr>
          <p:spPr>
            <a:xfrm>
              <a:off x="1476666" y="653336"/>
              <a:ext cx="662912" cy="662912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600" kern="1200" dirty="0"/>
                <a:t>Social</a:t>
              </a:r>
              <a:endParaRPr lang="es-ES" sz="800" kern="1200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698123" y="2903711"/>
            <a:ext cx="1304024" cy="1267991"/>
            <a:chOff x="2331600" y="2234631"/>
            <a:chExt cx="937498" cy="937498"/>
          </a:xfrm>
          <a:solidFill>
            <a:srgbClr val="7AA6EC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5" name="Oval 44"/>
            <p:cNvSpPr/>
            <p:nvPr/>
          </p:nvSpPr>
          <p:spPr>
            <a:xfrm>
              <a:off x="2331600" y="2234631"/>
              <a:ext cx="937498" cy="937498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6" name="Oval 20"/>
            <p:cNvSpPr/>
            <p:nvPr/>
          </p:nvSpPr>
          <p:spPr>
            <a:xfrm>
              <a:off x="2468893" y="2371924"/>
              <a:ext cx="662912" cy="66291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600" kern="1200" dirty="0" err="1" smtClean="0"/>
                <a:t>Organizational</a:t>
              </a:r>
              <a:endParaRPr lang="es-ES" sz="800" kern="1200" dirty="0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679268" y="1515197"/>
            <a:ext cx="1304024" cy="1267991"/>
            <a:chOff x="2331600" y="2234631"/>
            <a:chExt cx="937498" cy="937498"/>
          </a:xfrm>
          <a:solidFill>
            <a:srgbClr val="7AA6EC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8" name="Oval 47"/>
            <p:cNvSpPr/>
            <p:nvPr/>
          </p:nvSpPr>
          <p:spPr>
            <a:xfrm>
              <a:off x="2331600" y="2234631"/>
              <a:ext cx="937498" cy="937498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9" name="Oval 20"/>
            <p:cNvSpPr/>
            <p:nvPr/>
          </p:nvSpPr>
          <p:spPr>
            <a:xfrm>
              <a:off x="2468893" y="2371924"/>
              <a:ext cx="662912" cy="66291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600" kern="1200" dirty="0" smtClean="0"/>
                <a:t>Legal</a:t>
              </a:r>
              <a:endParaRPr lang="es-ES" sz="800" kern="1200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361605" y="947921"/>
            <a:ext cx="1304024" cy="1267991"/>
            <a:chOff x="2331600" y="2234631"/>
            <a:chExt cx="937498" cy="937498"/>
          </a:xfrm>
          <a:solidFill>
            <a:srgbClr val="7AA6EC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1" name="Oval 50"/>
            <p:cNvSpPr/>
            <p:nvPr/>
          </p:nvSpPr>
          <p:spPr>
            <a:xfrm>
              <a:off x="2331600" y="2234631"/>
              <a:ext cx="937498" cy="937498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" name="Oval 20"/>
            <p:cNvSpPr/>
            <p:nvPr/>
          </p:nvSpPr>
          <p:spPr>
            <a:xfrm>
              <a:off x="2468893" y="2371924"/>
              <a:ext cx="662912" cy="66291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600" dirty="0" err="1" smtClean="0"/>
                <a:t>Polit</a:t>
              </a:r>
              <a:r>
                <a:rPr lang="es-ES" sz="1600" kern="1200" dirty="0" err="1" smtClean="0"/>
                <a:t>ical</a:t>
              </a:r>
              <a:endParaRPr lang="es-ES" sz="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4022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oyera\Desktop\icon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455" y="3503361"/>
            <a:ext cx="3213953" cy="241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Technical Level Challenges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27545" y="1571175"/>
            <a:ext cx="6018663" cy="24868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Growing importance of ICT and ICT tools within LMIC governments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Not all platform are OD ready</a:t>
            </a:r>
            <a:endParaRPr lang="en-US" sz="2000" b="1" dirty="0">
              <a:latin typeface="Trebuchet MS" pitchFamily="34" charset="0"/>
              <a:cs typeface="ＭＳ Ｐゴシック" pitchFamily="34" charset="-128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Symbol"/>
              <a:buChar char="Þ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Align your ICT strategy with OD requirements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Be Ready at the technical level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at the country level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at the international organization level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Adapt technical assistance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Example: Market Information System in Fiji</a:t>
            </a:r>
          </a:p>
        </p:txBody>
      </p:sp>
    </p:spTree>
    <p:extLst>
      <p:ext uri="{BB962C8B-B14F-4D97-AF65-F5344CB8AC3E}">
        <p14:creationId xmlns:p14="http://schemas.microsoft.com/office/powerpoint/2010/main" val="164949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ICT for Agriculture &amp; Open Data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" y="1161740"/>
            <a:ext cx="6400800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ICT and mobile are a great opportunities to develop agriculture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More data available to the public more innovation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Entrepreneurs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err="1" smtClean="0">
                <a:latin typeface="Trebuchet MS" pitchFamily="34" charset="0"/>
                <a:cs typeface="ＭＳ Ｐゴシック" pitchFamily="34" charset="-128"/>
              </a:rPr>
              <a:t>Agri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Private Sector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The most important piece of information is still farmer mapping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Arial" pitchFamily="34" charset="0"/>
              </a:rPr>
              <a:t> To know who is where doing what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Arial" pitchFamily="34" charset="0"/>
              </a:rPr>
              <a:t> To provide appropriate information to the right people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To prevent data overload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Using existing organizational structure instead of replacing it (ICT as a tool vs a solution)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Extension agent network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Cooperatives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…</a:t>
            </a:r>
            <a:endParaRPr lang="en-US" b="1" dirty="0"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4098" name="Picture 2" descr="C:\Users\boyera\Desktop\farm_small-300x22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58" y="4170172"/>
            <a:ext cx="2857500" cy="21431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0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354842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Conclusion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/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98315" y="1709335"/>
            <a:ext cx="8536251" cy="3736122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 biggest source of Data that are relevant to people is at the country level</a:t>
            </a:r>
            <a:endParaRPr lang="en-US" sz="20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They are few challenges to solve to launch a national open data initiative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It is possible to prepare today the future and support the political agenda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Integrate OD principles in ICT tools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Align ICT strategies with OD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9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620713" y="1577975"/>
            <a:ext cx="65532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2"/>
              </a:rPr>
              <a:t>http://www.sbc4d.com</a:t>
            </a:r>
            <a:endParaRPr lang="en-US" u="sng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>
                <a:hlinkClick r:id="rId3"/>
              </a:rPr>
              <a:t>http://www.sbc4d.com/product-services/demo</a:t>
            </a:r>
            <a:r>
              <a:rPr lang="fr-FR" dirty="0" smtClean="0">
                <a:hlinkClick r:id="rId3"/>
              </a:rPr>
              <a:t>/</a:t>
            </a:r>
            <a:endParaRPr lang="fr-FR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>
                <a:hlinkClick r:id="rId4"/>
              </a:rPr>
              <a:t>http://www.sbc4d.com/publications-resources</a:t>
            </a:r>
            <a:r>
              <a:rPr lang="en-US" u="sng" dirty="0" smtClean="0">
                <a:hlinkClick r:id="rId4"/>
              </a:rPr>
              <a:t>/</a:t>
            </a:r>
            <a:endParaRPr lang="en-US" u="sng" dirty="0" smtClean="0"/>
          </a:p>
          <a:p>
            <a:pPr lvl="2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Open Data Readiness Assessments</a:t>
            </a:r>
          </a:p>
          <a:p>
            <a:pPr lvl="2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Open Data in developing countries State of the art</a:t>
            </a:r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5"/>
              </a:rPr>
              <a:t>http://www.mvoices.eu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6"/>
              </a:rPr>
              <a:t>http://www.w4ra.org/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 err="1" smtClean="0">
                <a:hlinkClick r:id="rId7"/>
              </a:rPr>
              <a:t>Some</a:t>
            </a:r>
            <a:r>
              <a:rPr lang="fr-FR" dirty="0" smtClean="0">
                <a:hlinkClick r:id="rId7"/>
              </a:rPr>
              <a:t> relevant blog </a:t>
            </a:r>
            <a:r>
              <a:rPr lang="fr-FR" dirty="0" err="1" smtClean="0">
                <a:hlinkClick r:id="rId7"/>
              </a:rPr>
              <a:t>posts</a:t>
            </a:r>
            <a:r>
              <a:rPr lang="fr-FR" dirty="0" smtClean="0">
                <a:hlinkClick r:id="rId7"/>
              </a:rPr>
              <a:t>: </a:t>
            </a:r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 smtClean="0">
                <a:hlinkClick r:id="rId7"/>
              </a:rPr>
              <a:t>http</a:t>
            </a:r>
            <a:r>
              <a:rPr lang="fr-FR" dirty="0">
                <a:hlinkClick r:id="rId7"/>
              </a:rPr>
              <a:t>://stephb.org/2012/12/mobile-ict-small-scale-farmers</a:t>
            </a:r>
            <a:r>
              <a:rPr lang="fr-FR" dirty="0" smtClean="0">
                <a:hlinkClick r:id="rId7"/>
              </a:rPr>
              <a:t>/</a:t>
            </a:r>
            <a:endParaRPr lang="fr-FR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>
                <a:hlinkClick r:id="rId8"/>
              </a:rPr>
              <a:t>http://stephb.org/2013/03/demystifying-voice-technologies-for-development/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9"/>
              </a:rPr>
              <a:t>http://www.w3.org/TR/2009/NOTE-mw4d-roadmap-20091208/</a:t>
            </a:r>
            <a:endParaRPr lang="en-US" dirty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Contact: Stephane </a:t>
            </a:r>
            <a:r>
              <a:rPr lang="en-US" u="sng" dirty="0" err="1" smtClean="0"/>
              <a:t>Boyera</a:t>
            </a:r>
            <a:r>
              <a:rPr lang="en-US" u="sng" dirty="0" smtClean="0"/>
              <a:t> - </a:t>
            </a:r>
            <a:r>
              <a:rPr lang="en-US" u="sng" dirty="0" smtClean="0">
                <a:hlinkClick r:id="rId10"/>
              </a:rPr>
              <a:t>stephane@sbc4d.com</a:t>
            </a:r>
            <a:endParaRPr lang="en-US" u="sng" dirty="0" smtClean="0"/>
          </a:p>
        </p:txBody>
      </p:sp>
    </p:spTree>
    <p:extLst>
      <p:ext uri="{BB962C8B-B14F-4D97-AF65-F5344CB8AC3E}">
        <p14:creationId xmlns:p14="http://schemas.microsoft.com/office/powerpoint/2010/main" val="389275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56296</TotalTime>
  <Words>541</Words>
  <Application>Microsoft Office PowerPoint</Application>
  <PresentationFormat>On-screen Show (4:3)</PresentationFormat>
  <Paragraphs>88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Thème Office</vt:lpstr>
      <vt:lpstr>Opening Government Data to support Agriculture</vt:lpstr>
      <vt:lpstr>SBC4D: Where ICT meets Social &amp; Economic Development</vt:lpstr>
      <vt:lpstr>Open Government Data?</vt:lpstr>
      <vt:lpstr>Open Government Data: A global movement?</vt:lpstr>
      <vt:lpstr>OGD Approach &amp; Challenges</vt:lpstr>
      <vt:lpstr>Technical Level Challenges</vt:lpstr>
      <vt:lpstr>ICT for Agriculture &amp; Open Data</vt:lpstr>
      <vt:lpstr>Conclusion </vt:lpstr>
      <vt:lpstr>References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731</cp:revision>
  <cp:lastPrinted>2011-11-29T16:00:44Z</cp:lastPrinted>
  <dcterms:created xsi:type="dcterms:W3CDTF">2009-10-15T09:24:18Z</dcterms:created>
  <dcterms:modified xsi:type="dcterms:W3CDTF">2015-02-17T18:42:14Z</dcterms:modified>
</cp:coreProperties>
</file>